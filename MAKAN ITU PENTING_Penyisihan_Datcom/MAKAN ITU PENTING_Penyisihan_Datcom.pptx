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Bricolage Grotesque" charset="1" panose="020B0605040402000204"/>
      <p:regular r:id="rId34"/>
    </p:embeddedFont>
    <p:embeddedFont>
      <p:font typeface="Bricolage Grotesque Bold" charset="1" panose="020B0605040402000204"/>
      <p:regular r:id="rId35"/>
    </p:embeddedFont>
    <p:embeddedFont>
      <p:font typeface="Rubik One" charset="1" panose="02000604000000020004"/>
      <p:regular r:id="rId36"/>
    </p:embeddedFont>
    <p:embeddedFont>
      <p:font typeface="Bricolage Grotesque Semi-Bold" charset="1" panose="020B0605040402000204"/>
      <p:regular r:id="rId37"/>
    </p:embeddedFont>
    <p:embeddedFont>
      <p:font typeface="Bricolage Grotesque Ultra-Bold" charset="1" panose="020B06050404020002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 Id="rId5" Target="../media/image11.jpe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4.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5.pn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11" Target="../media/image33.jpeg" Type="http://schemas.openxmlformats.org/officeDocument/2006/relationships/image"/><Relationship Id="rId2" Target="../media/image26.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 Id="rId8" Target="../media/image30.svg" Type="http://schemas.openxmlformats.org/officeDocument/2006/relationships/image"/><Relationship Id="rId9" Target="../media/image3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svg" Type="http://schemas.openxmlformats.org/officeDocument/2006/relationships/image"/><Relationship Id="rId12" Target="../media/image42.png" Type="http://schemas.openxmlformats.org/officeDocument/2006/relationships/image"/><Relationship Id="rId13" Target="../media/image43.svg" Type="http://schemas.openxmlformats.org/officeDocument/2006/relationships/image"/><Relationship Id="rId14" Target="../media/image44.png" Type="http://schemas.openxmlformats.org/officeDocument/2006/relationships/image"/><Relationship Id="rId15" Target="../media/image45.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 Id="rId7" Target="../media/image4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jpe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 Id="rId8" Target="../media/image63.png" Type="http://schemas.openxmlformats.org/officeDocument/2006/relationships/image"/><Relationship Id="rId9" Target="../media/image6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66.jpeg" Type="http://schemas.openxmlformats.org/officeDocument/2006/relationships/image"/><Relationship Id="rId5" Target="../media/image2.pn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 Id="rId8" Target="../media/image5.png" Type="http://schemas.openxmlformats.org/officeDocument/2006/relationships/image"/><Relationship Id="rId9"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864736" y="808478"/>
            <a:ext cx="4583015" cy="8032825"/>
            <a:chOff x="0" y="0"/>
            <a:chExt cx="1183774" cy="2074846"/>
          </a:xfrm>
        </p:grpSpPr>
        <p:sp>
          <p:nvSpPr>
            <p:cNvPr name="Freeform 3" id="3"/>
            <p:cNvSpPr/>
            <p:nvPr/>
          </p:nvSpPr>
          <p:spPr>
            <a:xfrm flipH="false" flipV="false" rot="0">
              <a:off x="0" y="0"/>
              <a:ext cx="1183774" cy="2074846"/>
            </a:xfrm>
            <a:custGeom>
              <a:avLst/>
              <a:gdLst/>
              <a:ahLst/>
              <a:cxnLst/>
              <a:rect r="r" b="b" t="t" l="l"/>
              <a:pathLst>
                <a:path h="2074846" w="1183774">
                  <a:moveTo>
                    <a:pt x="101356" y="0"/>
                  </a:moveTo>
                  <a:lnTo>
                    <a:pt x="1082418" y="0"/>
                  </a:lnTo>
                  <a:cubicBezTo>
                    <a:pt x="1138396" y="0"/>
                    <a:pt x="1183774" y="45379"/>
                    <a:pt x="1183774" y="101356"/>
                  </a:cubicBezTo>
                  <a:lnTo>
                    <a:pt x="1183774" y="1973490"/>
                  </a:lnTo>
                  <a:cubicBezTo>
                    <a:pt x="1183774" y="2029467"/>
                    <a:pt x="1138396" y="2074846"/>
                    <a:pt x="1082418" y="2074846"/>
                  </a:cubicBezTo>
                  <a:lnTo>
                    <a:pt x="101356" y="2074846"/>
                  </a:lnTo>
                  <a:cubicBezTo>
                    <a:pt x="74475" y="2074846"/>
                    <a:pt x="48694" y="2064167"/>
                    <a:pt x="29686" y="2045160"/>
                  </a:cubicBezTo>
                  <a:cubicBezTo>
                    <a:pt x="10679" y="2026152"/>
                    <a:pt x="0" y="2000372"/>
                    <a:pt x="0" y="1973490"/>
                  </a:cubicBezTo>
                  <a:lnTo>
                    <a:pt x="0" y="101356"/>
                  </a:lnTo>
                  <a:cubicBezTo>
                    <a:pt x="0" y="45379"/>
                    <a:pt x="45379" y="0"/>
                    <a:pt x="101356" y="0"/>
                  </a:cubicBezTo>
                  <a:close/>
                </a:path>
              </a:pathLst>
            </a:custGeom>
            <a:ln w="19050" cap="rnd">
              <a:solidFill>
                <a:srgbClr val="00B58F"/>
              </a:solidFill>
              <a:prstDash val="solid"/>
              <a:round/>
            </a:ln>
          </p:spPr>
        </p:sp>
        <p:sp>
          <p:nvSpPr>
            <p:cNvPr name="TextBox 4" id="4"/>
            <p:cNvSpPr txBox="true"/>
            <p:nvPr/>
          </p:nvSpPr>
          <p:spPr>
            <a:xfrm>
              <a:off x="0" y="-38100"/>
              <a:ext cx="1183774" cy="211294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150242" y="9960324"/>
            <a:ext cx="9960587" cy="1142074"/>
            <a:chOff x="0" y="0"/>
            <a:chExt cx="2572779" cy="294993"/>
          </a:xfrm>
        </p:grpSpPr>
        <p:sp>
          <p:nvSpPr>
            <p:cNvPr name="Freeform 6" id="6"/>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7" id="7"/>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2139361" y="1028700"/>
            <a:ext cx="5329489" cy="8229600"/>
            <a:chOff x="0" y="0"/>
            <a:chExt cx="4112260" cy="6350000"/>
          </a:xfrm>
        </p:grpSpPr>
        <p:sp>
          <p:nvSpPr>
            <p:cNvPr name="Freeform 9" id="9"/>
            <p:cNvSpPr/>
            <p:nvPr/>
          </p:nvSpPr>
          <p:spPr>
            <a:xfrm flipH="false" flipV="false" rot="0">
              <a:off x="0" y="0"/>
              <a:ext cx="4112260" cy="6350000"/>
            </a:xfrm>
            <a:custGeom>
              <a:avLst/>
              <a:gdLst/>
              <a:ahLst/>
              <a:cxnLst/>
              <a:rect r="r" b="b" t="t" l="l"/>
              <a:pathLst>
                <a:path h="6350000" w="411226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2"/>
              <a:stretch>
                <a:fillRect l="-7906" t="0" r="-7906" b="0"/>
              </a:stretch>
            </a:blipFill>
          </p:spPr>
        </p:sp>
      </p:grpSp>
      <p:grpSp>
        <p:nvGrpSpPr>
          <p:cNvPr name="Group 10" id="10"/>
          <p:cNvGrpSpPr/>
          <p:nvPr/>
        </p:nvGrpSpPr>
        <p:grpSpPr>
          <a:xfrm rot="5400000">
            <a:off x="15570345" y="6689578"/>
            <a:ext cx="3444583" cy="352427"/>
            <a:chOff x="0" y="0"/>
            <a:chExt cx="2588106" cy="264798"/>
          </a:xfrm>
        </p:grpSpPr>
        <p:sp>
          <p:nvSpPr>
            <p:cNvPr name="Freeform 11" id="11"/>
            <p:cNvSpPr/>
            <p:nvPr/>
          </p:nvSpPr>
          <p:spPr>
            <a:xfrm flipH="false" flipV="false" rot="0">
              <a:off x="34177" y="0"/>
              <a:ext cx="2519753" cy="264798"/>
            </a:xfrm>
            <a:custGeom>
              <a:avLst/>
              <a:gdLst/>
              <a:ahLst/>
              <a:cxnLst/>
              <a:rect r="r" b="b" t="t" l="l"/>
              <a:pathLst>
                <a:path h="264798" w="2519753">
                  <a:moveTo>
                    <a:pt x="2283303" y="0"/>
                  </a:moveTo>
                  <a:lnTo>
                    <a:pt x="33250" y="0"/>
                  </a:lnTo>
                  <a:cubicBezTo>
                    <a:pt x="20590" y="0"/>
                    <a:pt x="9028" y="7190"/>
                    <a:pt x="3429" y="18544"/>
                  </a:cubicBezTo>
                  <a:cubicBezTo>
                    <a:pt x="-2171" y="29899"/>
                    <a:pt x="-836" y="43448"/>
                    <a:pt x="6872" y="53492"/>
                  </a:cubicBezTo>
                  <a:lnTo>
                    <a:pt x="127974" y="211306"/>
                  </a:lnTo>
                  <a:cubicBezTo>
                    <a:pt x="153852" y="245029"/>
                    <a:pt x="193942" y="264798"/>
                    <a:pt x="236450" y="264798"/>
                  </a:cubicBezTo>
                  <a:lnTo>
                    <a:pt x="2486503" y="264798"/>
                  </a:lnTo>
                  <a:cubicBezTo>
                    <a:pt x="2499163" y="264798"/>
                    <a:pt x="2510725" y="257608"/>
                    <a:pt x="2516324" y="246254"/>
                  </a:cubicBezTo>
                  <a:cubicBezTo>
                    <a:pt x="2521923" y="234899"/>
                    <a:pt x="2520588" y="221350"/>
                    <a:pt x="2512881" y="211306"/>
                  </a:cubicBezTo>
                  <a:lnTo>
                    <a:pt x="2391778" y="53492"/>
                  </a:lnTo>
                  <a:cubicBezTo>
                    <a:pt x="2365900" y="19769"/>
                    <a:pt x="2325810" y="0"/>
                    <a:pt x="2283303" y="0"/>
                  </a:cubicBezTo>
                  <a:close/>
                </a:path>
              </a:pathLst>
            </a:custGeom>
            <a:solidFill>
              <a:srgbClr val="00B58F"/>
            </a:solidFill>
          </p:spPr>
        </p:sp>
        <p:sp>
          <p:nvSpPr>
            <p:cNvPr name="TextBox 12" id="12"/>
            <p:cNvSpPr txBox="true"/>
            <p:nvPr/>
          </p:nvSpPr>
          <p:spPr>
            <a:xfrm>
              <a:off x="101600" y="-38100"/>
              <a:ext cx="2384906" cy="302898"/>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9980785" y="3526008"/>
            <a:ext cx="3901567" cy="6292851"/>
          </a:xfrm>
          <a:custGeom>
            <a:avLst/>
            <a:gdLst/>
            <a:ahLst/>
            <a:cxnLst/>
            <a:rect r="r" b="b" t="t" l="l"/>
            <a:pathLst>
              <a:path h="6292851" w="3901567">
                <a:moveTo>
                  <a:pt x="0" y="0"/>
                </a:moveTo>
                <a:lnTo>
                  <a:pt x="3901568" y="0"/>
                </a:lnTo>
                <a:lnTo>
                  <a:pt x="3901568" y="6292851"/>
                </a:lnTo>
                <a:lnTo>
                  <a:pt x="0" y="6292851"/>
                </a:lnTo>
                <a:lnTo>
                  <a:pt x="0" y="0"/>
                </a:lnTo>
                <a:close/>
              </a:path>
            </a:pathLst>
          </a:custGeom>
          <a:blipFill>
            <a:blip r:embed="rId3"/>
            <a:stretch>
              <a:fillRect l="0" t="0" r="0" b="0"/>
            </a:stretch>
          </a:blipFill>
        </p:spPr>
      </p:sp>
      <p:grpSp>
        <p:nvGrpSpPr>
          <p:cNvPr name="Group 14" id="14"/>
          <p:cNvGrpSpPr/>
          <p:nvPr/>
        </p:nvGrpSpPr>
        <p:grpSpPr>
          <a:xfrm rot="0">
            <a:off x="10585209" y="3704870"/>
            <a:ext cx="2682192" cy="5790829"/>
            <a:chOff x="0" y="0"/>
            <a:chExt cx="692799" cy="1495748"/>
          </a:xfrm>
        </p:grpSpPr>
        <p:sp>
          <p:nvSpPr>
            <p:cNvPr name="Freeform 15" id="15"/>
            <p:cNvSpPr/>
            <p:nvPr/>
          </p:nvSpPr>
          <p:spPr>
            <a:xfrm flipH="false" flipV="false" rot="0">
              <a:off x="0" y="0"/>
              <a:ext cx="692799" cy="1495748"/>
            </a:xfrm>
            <a:custGeom>
              <a:avLst/>
              <a:gdLst/>
              <a:ahLst/>
              <a:cxnLst/>
              <a:rect r="r" b="b" t="t" l="l"/>
              <a:pathLst>
                <a:path h="1495748" w="692799">
                  <a:moveTo>
                    <a:pt x="72160" y="0"/>
                  </a:moveTo>
                  <a:lnTo>
                    <a:pt x="620639" y="0"/>
                  </a:lnTo>
                  <a:cubicBezTo>
                    <a:pt x="660492" y="0"/>
                    <a:pt x="692799" y="32307"/>
                    <a:pt x="692799" y="72160"/>
                  </a:cubicBezTo>
                  <a:lnTo>
                    <a:pt x="692799" y="1423587"/>
                  </a:lnTo>
                  <a:cubicBezTo>
                    <a:pt x="692799" y="1463440"/>
                    <a:pt x="660492" y="1495748"/>
                    <a:pt x="620639" y="1495748"/>
                  </a:cubicBezTo>
                  <a:lnTo>
                    <a:pt x="72160" y="1495748"/>
                  </a:lnTo>
                  <a:cubicBezTo>
                    <a:pt x="32307" y="1495748"/>
                    <a:pt x="0" y="1463440"/>
                    <a:pt x="0" y="1423587"/>
                  </a:cubicBezTo>
                  <a:lnTo>
                    <a:pt x="0" y="72160"/>
                  </a:lnTo>
                  <a:cubicBezTo>
                    <a:pt x="0" y="32307"/>
                    <a:pt x="32307" y="0"/>
                    <a:pt x="72160" y="0"/>
                  </a:cubicBezTo>
                  <a:close/>
                </a:path>
              </a:pathLst>
            </a:custGeom>
            <a:solidFill>
              <a:srgbClr val="00B58F"/>
            </a:solidFill>
          </p:spPr>
        </p:sp>
        <p:sp>
          <p:nvSpPr>
            <p:cNvPr name="TextBox 16" id="16"/>
            <p:cNvSpPr txBox="true"/>
            <p:nvPr/>
          </p:nvSpPr>
          <p:spPr>
            <a:xfrm>
              <a:off x="0" y="-38100"/>
              <a:ext cx="692799" cy="1533848"/>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0616201" y="3840437"/>
            <a:ext cx="2620208" cy="2606127"/>
            <a:chOff x="0" y="0"/>
            <a:chExt cx="3493611" cy="3474836"/>
          </a:xfrm>
        </p:grpSpPr>
        <p:grpSp>
          <p:nvGrpSpPr>
            <p:cNvPr name="Group 18" id="18"/>
            <p:cNvGrpSpPr/>
            <p:nvPr/>
          </p:nvGrpSpPr>
          <p:grpSpPr>
            <a:xfrm rot="0">
              <a:off x="0" y="0"/>
              <a:ext cx="3493611" cy="3474836"/>
              <a:chOff x="0" y="0"/>
              <a:chExt cx="635070" cy="631657"/>
            </a:xfrm>
          </p:grpSpPr>
          <p:sp>
            <p:nvSpPr>
              <p:cNvPr name="Freeform 19" id="19"/>
              <p:cNvSpPr/>
              <p:nvPr/>
            </p:nvSpPr>
            <p:spPr>
              <a:xfrm flipH="false" flipV="false" rot="0">
                <a:off x="0" y="0"/>
                <a:ext cx="635070" cy="631657"/>
              </a:xfrm>
              <a:custGeom>
                <a:avLst/>
                <a:gdLst/>
                <a:ahLst/>
                <a:cxnLst/>
                <a:rect r="r" b="b" t="t" l="l"/>
                <a:pathLst>
                  <a:path h="631657" w="635070">
                    <a:moveTo>
                      <a:pt x="31488" y="0"/>
                    </a:moveTo>
                    <a:lnTo>
                      <a:pt x="603582" y="0"/>
                    </a:lnTo>
                    <a:cubicBezTo>
                      <a:pt x="611933" y="0"/>
                      <a:pt x="619943" y="3317"/>
                      <a:pt x="625848" y="9223"/>
                    </a:cubicBezTo>
                    <a:cubicBezTo>
                      <a:pt x="631753" y="15128"/>
                      <a:pt x="635070" y="23137"/>
                      <a:pt x="635070" y="31488"/>
                    </a:cubicBezTo>
                    <a:lnTo>
                      <a:pt x="635070" y="600169"/>
                    </a:lnTo>
                    <a:cubicBezTo>
                      <a:pt x="635070" y="617560"/>
                      <a:pt x="620973" y="631657"/>
                      <a:pt x="603582" y="631657"/>
                    </a:cubicBezTo>
                    <a:lnTo>
                      <a:pt x="31488" y="631657"/>
                    </a:lnTo>
                    <a:cubicBezTo>
                      <a:pt x="23137" y="631657"/>
                      <a:pt x="15128" y="628340"/>
                      <a:pt x="9223" y="622435"/>
                    </a:cubicBezTo>
                    <a:cubicBezTo>
                      <a:pt x="3317" y="616530"/>
                      <a:pt x="0" y="608521"/>
                      <a:pt x="0" y="600169"/>
                    </a:cubicBezTo>
                    <a:lnTo>
                      <a:pt x="0" y="31488"/>
                    </a:lnTo>
                    <a:cubicBezTo>
                      <a:pt x="0" y="14098"/>
                      <a:pt x="14098" y="0"/>
                      <a:pt x="31488" y="0"/>
                    </a:cubicBezTo>
                    <a:close/>
                  </a:path>
                </a:pathLst>
              </a:custGeom>
              <a:solidFill>
                <a:srgbClr val="00B58F"/>
              </a:solidFill>
              <a:ln cap="sq">
                <a:noFill/>
                <a:prstDash val="solid"/>
                <a:miter/>
              </a:ln>
            </p:spPr>
          </p:sp>
          <p:sp>
            <p:nvSpPr>
              <p:cNvPr name="TextBox 20" id="20"/>
              <p:cNvSpPr txBox="true"/>
              <p:nvPr/>
            </p:nvSpPr>
            <p:spPr>
              <a:xfrm>
                <a:off x="0" y="-38100"/>
                <a:ext cx="635070" cy="669757"/>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381522" y="341781"/>
              <a:ext cx="2795729" cy="2795729"/>
            </a:xfrm>
            <a:custGeom>
              <a:avLst/>
              <a:gdLst/>
              <a:ahLst/>
              <a:cxnLst/>
              <a:rect r="r" b="b" t="t" l="l"/>
              <a:pathLst>
                <a:path h="2795729" w="2795729">
                  <a:moveTo>
                    <a:pt x="0" y="0"/>
                  </a:moveTo>
                  <a:lnTo>
                    <a:pt x="2795728" y="0"/>
                  </a:lnTo>
                  <a:lnTo>
                    <a:pt x="2795728" y="2795729"/>
                  </a:lnTo>
                  <a:lnTo>
                    <a:pt x="0" y="2795729"/>
                  </a:lnTo>
                  <a:lnTo>
                    <a:pt x="0" y="0"/>
                  </a:lnTo>
                  <a:close/>
                </a:path>
              </a:pathLst>
            </a:custGeom>
            <a:blipFill>
              <a:blip r:embed="rId4"/>
              <a:stretch>
                <a:fillRect l="0" t="0" r="0" b="0"/>
              </a:stretch>
            </a:blipFill>
          </p:spPr>
        </p:sp>
      </p:grpSp>
      <p:sp>
        <p:nvSpPr>
          <p:cNvPr name="TextBox 22" id="22"/>
          <p:cNvSpPr txBox="true"/>
          <p:nvPr/>
        </p:nvSpPr>
        <p:spPr>
          <a:xfrm rot="0">
            <a:off x="1028700" y="4427390"/>
            <a:ext cx="8669598" cy="1918654"/>
          </a:xfrm>
          <a:prstGeom prst="rect">
            <a:avLst/>
          </a:prstGeom>
        </p:spPr>
        <p:txBody>
          <a:bodyPr anchor="t" rtlCol="false" tIns="0" lIns="0" bIns="0" rIns="0">
            <a:spAutoFit/>
          </a:bodyPr>
          <a:lstStyle/>
          <a:p>
            <a:pPr algn="just">
              <a:lnSpc>
                <a:spcPts val="3835"/>
              </a:lnSpc>
            </a:pPr>
            <a:r>
              <a:rPr lang="en-US" sz="2739" spc="68">
                <a:solidFill>
                  <a:srgbClr val="0B132B"/>
                </a:solidFill>
                <a:latin typeface="Bricolage Grotesque"/>
                <a:ea typeface="Bricolage Grotesque"/>
                <a:cs typeface="Bricolage Grotesque"/>
                <a:sym typeface="Bricolage Grotesque"/>
              </a:rPr>
              <a:t>Sistem analitik p</a:t>
            </a:r>
            <a:r>
              <a:rPr lang="en-US" sz="2739" spc="68">
                <a:solidFill>
                  <a:srgbClr val="0B132B"/>
                </a:solidFill>
                <a:latin typeface="Bricolage Grotesque"/>
                <a:ea typeface="Bricolage Grotesque"/>
                <a:cs typeface="Bricolage Grotesque"/>
                <a:sym typeface="Bricolage Grotesque"/>
              </a:rPr>
              <a:t>rediktif granularitas 30 menit berbasis machine learning untuk memitigasi krisis demand charges utilitas listrik dan mengurai antrean stasiun pengisian daya secara presisi.</a:t>
            </a:r>
          </a:p>
        </p:txBody>
      </p:sp>
      <p:grpSp>
        <p:nvGrpSpPr>
          <p:cNvPr name="Group 23" id="23"/>
          <p:cNvGrpSpPr/>
          <p:nvPr/>
        </p:nvGrpSpPr>
        <p:grpSpPr>
          <a:xfrm rot="0">
            <a:off x="1028700" y="6784194"/>
            <a:ext cx="7446141" cy="1961653"/>
            <a:chOff x="0" y="0"/>
            <a:chExt cx="9928188" cy="2615537"/>
          </a:xfrm>
        </p:grpSpPr>
        <p:grpSp>
          <p:nvGrpSpPr>
            <p:cNvPr name="Group 24" id="24"/>
            <p:cNvGrpSpPr/>
            <p:nvPr/>
          </p:nvGrpSpPr>
          <p:grpSpPr>
            <a:xfrm rot="0">
              <a:off x="0" y="0"/>
              <a:ext cx="2944005" cy="2178625"/>
              <a:chOff x="0" y="0"/>
              <a:chExt cx="257783" cy="190765"/>
            </a:xfrm>
          </p:grpSpPr>
          <p:sp>
            <p:nvSpPr>
              <p:cNvPr name="Freeform 25" id="25"/>
              <p:cNvSpPr/>
              <p:nvPr/>
            </p:nvSpPr>
            <p:spPr>
              <a:xfrm flipH="false" flipV="false" rot="0">
                <a:off x="0" y="0"/>
                <a:ext cx="257783" cy="190765"/>
              </a:xfrm>
              <a:custGeom>
                <a:avLst/>
                <a:gdLst/>
                <a:ahLst/>
                <a:cxnLst/>
                <a:rect r="r" b="b" t="t" l="l"/>
                <a:pathLst>
                  <a:path h="190765" w="257783">
                    <a:moveTo>
                      <a:pt x="41253" y="0"/>
                    </a:moveTo>
                    <a:lnTo>
                      <a:pt x="216530" y="0"/>
                    </a:lnTo>
                    <a:cubicBezTo>
                      <a:pt x="227471" y="0"/>
                      <a:pt x="237964" y="4346"/>
                      <a:pt x="245700" y="12083"/>
                    </a:cubicBezTo>
                    <a:cubicBezTo>
                      <a:pt x="253437" y="19819"/>
                      <a:pt x="257783" y="30312"/>
                      <a:pt x="257783" y="41253"/>
                    </a:cubicBezTo>
                    <a:lnTo>
                      <a:pt x="257783" y="149512"/>
                    </a:lnTo>
                    <a:cubicBezTo>
                      <a:pt x="257783" y="160453"/>
                      <a:pt x="253437" y="170946"/>
                      <a:pt x="245700" y="178682"/>
                    </a:cubicBezTo>
                    <a:cubicBezTo>
                      <a:pt x="237964" y="186419"/>
                      <a:pt x="227471" y="190765"/>
                      <a:pt x="216530" y="190765"/>
                    </a:cubicBezTo>
                    <a:lnTo>
                      <a:pt x="41253" y="190765"/>
                    </a:lnTo>
                    <a:cubicBezTo>
                      <a:pt x="30312" y="190765"/>
                      <a:pt x="19819" y="186419"/>
                      <a:pt x="12083" y="178682"/>
                    </a:cubicBezTo>
                    <a:cubicBezTo>
                      <a:pt x="4346" y="170946"/>
                      <a:pt x="0" y="160453"/>
                      <a:pt x="0" y="149512"/>
                    </a:cubicBezTo>
                    <a:lnTo>
                      <a:pt x="0" y="41253"/>
                    </a:lnTo>
                    <a:cubicBezTo>
                      <a:pt x="0" y="30312"/>
                      <a:pt x="4346" y="19819"/>
                      <a:pt x="12083" y="12083"/>
                    </a:cubicBezTo>
                    <a:cubicBezTo>
                      <a:pt x="19819" y="4346"/>
                      <a:pt x="30312" y="0"/>
                      <a:pt x="41253" y="0"/>
                    </a:cubicBezTo>
                    <a:close/>
                  </a:path>
                </a:pathLst>
              </a:custGeom>
              <a:ln w="19050" cap="sq">
                <a:solidFill>
                  <a:srgbClr val="00B58F"/>
                </a:solidFill>
                <a:prstDash val="solid"/>
                <a:miter/>
              </a:ln>
            </p:spPr>
          </p:sp>
          <p:sp>
            <p:nvSpPr>
              <p:cNvPr name="TextBox 26" id="26"/>
              <p:cNvSpPr txBox="true"/>
              <p:nvPr/>
            </p:nvSpPr>
            <p:spPr>
              <a:xfrm>
                <a:off x="0" y="-38100"/>
                <a:ext cx="257783" cy="228865"/>
              </a:xfrm>
              <a:prstGeom prst="rect">
                <a:avLst/>
              </a:prstGeom>
            </p:spPr>
            <p:txBody>
              <a:bodyPr anchor="ctr" rtlCol="false" tIns="59484" lIns="59484" bIns="59484" rIns="59484"/>
              <a:lstStyle/>
              <a:p>
                <a:pPr algn="ctr">
                  <a:lnSpc>
                    <a:spcPts val="2660"/>
                  </a:lnSpc>
                  <a:spcBef>
                    <a:spcPct val="0"/>
                  </a:spcBef>
                </a:pPr>
              </a:p>
            </p:txBody>
          </p:sp>
        </p:grpSp>
        <p:grpSp>
          <p:nvGrpSpPr>
            <p:cNvPr name="Group 27" id="27"/>
            <p:cNvGrpSpPr/>
            <p:nvPr/>
          </p:nvGrpSpPr>
          <p:grpSpPr>
            <a:xfrm rot="0">
              <a:off x="249743" y="236729"/>
              <a:ext cx="3205499" cy="2378808"/>
              <a:chOff x="0" y="0"/>
              <a:chExt cx="1095267" cy="812800"/>
            </a:xfrm>
          </p:grpSpPr>
          <p:sp>
            <p:nvSpPr>
              <p:cNvPr name="Freeform 28" id="28"/>
              <p:cNvSpPr/>
              <p:nvPr/>
            </p:nvSpPr>
            <p:spPr>
              <a:xfrm flipH="false" flipV="false" rot="0">
                <a:off x="0" y="0"/>
                <a:ext cx="1095267" cy="812800"/>
              </a:xfrm>
              <a:custGeom>
                <a:avLst/>
                <a:gdLst/>
                <a:ahLst/>
                <a:cxnLst/>
                <a:rect r="r" b="b" t="t" l="l"/>
                <a:pathLst>
                  <a:path h="812800" w="1095267">
                    <a:moveTo>
                      <a:pt x="87142" y="0"/>
                    </a:moveTo>
                    <a:lnTo>
                      <a:pt x="1008125" y="0"/>
                    </a:lnTo>
                    <a:cubicBezTo>
                      <a:pt x="1031236" y="0"/>
                      <a:pt x="1053401" y="9181"/>
                      <a:pt x="1069744" y="25523"/>
                    </a:cubicBezTo>
                    <a:cubicBezTo>
                      <a:pt x="1086086" y="41866"/>
                      <a:pt x="1095267" y="64031"/>
                      <a:pt x="1095267" y="87142"/>
                    </a:cubicBezTo>
                    <a:lnTo>
                      <a:pt x="1095267" y="725658"/>
                    </a:lnTo>
                    <a:cubicBezTo>
                      <a:pt x="1095267" y="748769"/>
                      <a:pt x="1086086" y="770934"/>
                      <a:pt x="1069744" y="787277"/>
                    </a:cubicBezTo>
                    <a:cubicBezTo>
                      <a:pt x="1053401" y="803619"/>
                      <a:pt x="1031236" y="812800"/>
                      <a:pt x="1008125" y="812800"/>
                    </a:cubicBezTo>
                    <a:lnTo>
                      <a:pt x="87142" y="812800"/>
                    </a:lnTo>
                    <a:cubicBezTo>
                      <a:pt x="64031" y="812800"/>
                      <a:pt x="41866" y="803619"/>
                      <a:pt x="25523" y="787277"/>
                    </a:cubicBezTo>
                    <a:cubicBezTo>
                      <a:pt x="9181" y="770934"/>
                      <a:pt x="0" y="748769"/>
                      <a:pt x="0" y="725658"/>
                    </a:cubicBezTo>
                    <a:lnTo>
                      <a:pt x="0" y="87142"/>
                    </a:lnTo>
                    <a:cubicBezTo>
                      <a:pt x="0" y="64031"/>
                      <a:pt x="9181" y="41866"/>
                      <a:pt x="25523" y="25523"/>
                    </a:cubicBezTo>
                    <a:cubicBezTo>
                      <a:pt x="41866" y="9181"/>
                      <a:pt x="64031" y="0"/>
                      <a:pt x="87142" y="0"/>
                    </a:cubicBezTo>
                    <a:close/>
                  </a:path>
                </a:pathLst>
              </a:custGeom>
              <a:blipFill>
                <a:blip r:embed="rId5"/>
                <a:stretch>
                  <a:fillRect l="-48243" t="-42499" r="-87188" b="-36151"/>
                </a:stretch>
              </a:blipFill>
            </p:spPr>
          </p:sp>
        </p:grpSp>
        <p:sp>
          <p:nvSpPr>
            <p:cNvPr name="TextBox 29" id="29"/>
            <p:cNvSpPr txBox="true"/>
            <p:nvPr/>
          </p:nvSpPr>
          <p:spPr>
            <a:xfrm rot="0">
              <a:off x="3937562" y="-76200"/>
              <a:ext cx="5990626" cy="734023"/>
            </a:xfrm>
            <a:prstGeom prst="rect">
              <a:avLst/>
            </a:prstGeom>
          </p:spPr>
          <p:txBody>
            <a:bodyPr anchor="t" rtlCol="false" tIns="0" lIns="0" bIns="0" rIns="0">
              <a:spAutoFit/>
            </a:bodyPr>
            <a:lstStyle/>
            <a:p>
              <a:pPr algn="l">
                <a:lnSpc>
                  <a:spcPts val="4628"/>
                </a:lnSpc>
              </a:pPr>
              <a:r>
                <a:rPr lang="en-US" sz="3306" spc="82" b="true">
                  <a:solidFill>
                    <a:srgbClr val="0B132B"/>
                  </a:solidFill>
                  <a:latin typeface="Bricolage Grotesque Bold"/>
                  <a:ea typeface="Bricolage Grotesque Bold"/>
                  <a:cs typeface="Bricolage Grotesque Bold"/>
                  <a:sym typeface="Bricolage Grotesque Bold"/>
                </a:rPr>
                <a:t>MAKAN ITU PENTING</a:t>
              </a:r>
            </a:p>
          </p:txBody>
        </p:sp>
        <p:sp>
          <p:nvSpPr>
            <p:cNvPr name="TextBox 30" id="30"/>
            <p:cNvSpPr txBox="true"/>
            <p:nvPr/>
          </p:nvSpPr>
          <p:spPr>
            <a:xfrm rot="0">
              <a:off x="3941353" y="694269"/>
              <a:ext cx="4415457" cy="540986"/>
            </a:xfrm>
            <a:prstGeom prst="rect">
              <a:avLst/>
            </a:prstGeom>
          </p:spPr>
          <p:txBody>
            <a:bodyPr anchor="t" rtlCol="false" tIns="0" lIns="0" bIns="0" rIns="0">
              <a:spAutoFit/>
            </a:bodyPr>
            <a:lstStyle/>
            <a:p>
              <a:pPr algn="l">
                <a:lnSpc>
                  <a:spcPts val="3471"/>
                </a:lnSpc>
              </a:pPr>
              <a:r>
                <a:rPr lang="en-US" sz="2479" spc="61">
                  <a:solidFill>
                    <a:srgbClr val="0B132B"/>
                  </a:solidFill>
                  <a:latin typeface="Bricolage Grotesque"/>
                  <a:ea typeface="Bricolage Grotesque"/>
                  <a:cs typeface="Bricolage Grotesque"/>
                  <a:sym typeface="Bricolage Grotesque"/>
                </a:rPr>
                <a:t>Alfin Jayadi</a:t>
              </a:r>
            </a:p>
          </p:txBody>
        </p:sp>
        <p:sp>
          <p:nvSpPr>
            <p:cNvPr name="TextBox 31" id="31"/>
            <p:cNvSpPr txBox="true"/>
            <p:nvPr/>
          </p:nvSpPr>
          <p:spPr>
            <a:xfrm rot="0">
              <a:off x="3915304" y="1267527"/>
              <a:ext cx="4658929" cy="540986"/>
            </a:xfrm>
            <a:prstGeom prst="rect">
              <a:avLst/>
            </a:prstGeom>
          </p:spPr>
          <p:txBody>
            <a:bodyPr anchor="t" rtlCol="false" tIns="0" lIns="0" bIns="0" rIns="0">
              <a:spAutoFit/>
            </a:bodyPr>
            <a:lstStyle/>
            <a:p>
              <a:pPr algn="l">
                <a:lnSpc>
                  <a:spcPts val="3471"/>
                </a:lnSpc>
              </a:pPr>
              <a:r>
                <a:rPr lang="en-US" sz="2479" spc="61">
                  <a:solidFill>
                    <a:srgbClr val="0B132B"/>
                  </a:solidFill>
                  <a:latin typeface="Bricolage Grotesque"/>
                  <a:ea typeface="Bricolage Grotesque"/>
                  <a:cs typeface="Bricolage Grotesque"/>
                  <a:sym typeface="Bricolage Grotesque"/>
                </a:rPr>
                <a:t>Muhammad Habib NA</a:t>
              </a:r>
            </a:p>
          </p:txBody>
        </p:sp>
        <p:sp>
          <p:nvSpPr>
            <p:cNvPr name="TextBox 32" id="32"/>
            <p:cNvSpPr txBox="true"/>
            <p:nvPr/>
          </p:nvSpPr>
          <p:spPr>
            <a:xfrm rot="0">
              <a:off x="3941353" y="1855854"/>
              <a:ext cx="4415457" cy="541026"/>
            </a:xfrm>
            <a:prstGeom prst="rect">
              <a:avLst/>
            </a:prstGeom>
          </p:spPr>
          <p:txBody>
            <a:bodyPr anchor="t" rtlCol="false" tIns="0" lIns="0" bIns="0" rIns="0">
              <a:spAutoFit/>
            </a:bodyPr>
            <a:lstStyle/>
            <a:p>
              <a:pPr algn="l">
                <a:lnSpc>
                  <a:spcPts val="3471"/>
                </a:lnSpc>
              </a:pPr>
              <a:r>
                <a:rPr lang="en-US" sz="2479" spc="61">
                  <a:solidFill>
                    <a:srgbClr val="0B132B"/>
                  </a:solidFill>
                  <a:latin typeface="Bricolage Grotesque"/>
                  <a:ea typeface="Bricolage Grotesque"/>
                  <a:cs typeface="Bricolage Grotesque"/>
                  <a:sym typeface="Bricolage Grotesque"/>
                </a:rPr>
                <a:t>Rizki Piji Fathoni</a:t>
              </a:r>
            </a:p>
          </p:txBody>
        </p:sp>
      </p:grpSp>
      <p:grpSp>
        <p:nvGrpSpPr>
          <p:cNvPr name="Group 33" id="33"/>
          <p:cNvGrpSpPr/>
          <p:nvPr/>
        </p:nvGrpSpPr>
        <p:grpSpPr>
          <a:xfrm rot="0">
            <a:off x="1028700" y="9002664"/>
            <a:ext cx="4776281" cy="696888"/>
            <a:chOff x="0" y="0"/>
            <a:chExt cx="6368374" cy="929185"/>
          </a:xfrm>
        </p:grpSpPr>
        <p:sp>
          <p:nvSpPr>
            <p:cNvPr name="TextBox 34" id="34"/>
            <p:cNvSpPr txBox="true"/>
            <p:nvPr/>
          </p:nvSpPr>
          <p:spPr>
            <a:xfrm rot="0">
              <a:off x="0" y="-38100"/>
              <a:ext cx="6368374" cy="440267"/>
            </a:xfrm>
            <a:prstGeom prst="rect">
              <a:avLst/>
            </a:prstGeom>
          </p:spPr>
          <p:txBody>
            <a:bodyPr anchor="t" rtlCol="false" tIns="0" lIns="0" bIns="0" rIns="0">
              <a:spAutoFit/>
            </a:bodyPr>
            <a:lstStyle/>
            <a:p>
              <a:pPr algn="ctr" marL="0" indent="0" lvl="0">
                <a:lnSpc>
                  <a:spcPts val="2799"/>
                </a:lnSpc>
                <a:spcBef>
                  <a:spcPct val="0"/>
                </a:spcBef>
              </a:pPr>
              <a:r>
                <a:rPr lang="en-US" b="true" sz="1999" spc="49">
                  <a:solidFill>
                    <a:srgbClr val="0B132B"/>
                  </a:solidFill>
                  <a:latin typeface="Bricolage Grotesque Bold"/>
                  <a:ea typeface="Bricolage Grotesque Bold"/>
                  <a:cs typeface="Bricolage Grotesque Bold"/>
                  <a:sym typeface="Bricolage Grotesque Bold"/>
                </a:rPr>
                <a:t>Liv</a:t>
              </a:r>
              <a:r>
                <a:rPr lang="en-US" b="true" sz="1999" spc="49" strike="noStrike" u="none">
                  <a:solidFill>
                    <a:srgbClr val="0B132B"/>
                  </a:solidFill>
                  <a:latin typeface="Bricolage Grotesque Bold"/>
                  <a:ea typeface="Bricolage Grotesque Bold"/>
                  <a:cs typeface="Bricolage Grotesque Bold"/>
                  <a:sym typeface="Bricolage Grotesque Bold"/>
                </a:rPr>
                <a:t>e </a:t>
              </a:r>
              <a:r>
                <a:rPr lang="en-US" b="true" sz="1999" spc="49" strike="noStrike" u="none">
                  <a:solidFill>
                    <a:srgbClr val="0B132B"/>
                  </a:solidFill>
                  <a:latin typeface="Bricolage Grotesque Bold"/>
                  <a:ea typeface="Bricolage Grotesque Bold"/>
                  <a:cs typeface="Bricolage Grotesque Bold"/>
                  <a:sym typeface="Bricolage Grotesque Bold"/>
                </a:rPr>
                <a:t>Das</a:t>
              </a:r>
              <a:r>
                <a:rPr lang="en-US" b="true" sz="1999" spc="49" strike="noStrike" u="none">
                  <a:solidFill>
                    <a:srgbClr val="0B132B"/>
                  </a:solidFill>
                  <a:latin typeface="Bricolage Grotesque Bold"/>
                  <a:ea typeface="Bricolage Grotesque Bold"/>
                  <a:cs typeface="Bricolage Grotesque Bold"/>
                  <a:sym typeface="Bricolage Grotesque Bold"/>
                </a:rPr>
                <a:t>h</a:t>
              </a:r>
              <a:r>
                <a:rPr lang="en-US" b="true" sz="1999" spc="49" strike="noStrike" u="none">
                  <a:solidFill>
                    <a:srgbClr val="0B132B"/>
                  </a:solidFill>
                  <a:latin typeface="Bricolage Grotesque Bold"/>
                  <a:ea typeface="Bricolage Grotesque Bold"/>
                  <a:cs typeface="Bricolage Grotesque Bold"/>
                  <a:sym typeface="Bricolage Grotesque Bold"/>
                </a:rPr>
                <a:t>board</a:t>
              </a:r>
              <a:r>
                <a:rPr lang="en-US" b="true" sz="1999" spc="49" strike="noStrike" u="none">
                  <a:solidFill>
                    <a:srgbClr val="0B132B"/>
                  </a:solidFill>
                  <a:latin typeface="Bricolage Grotesque Bold"/>
                  <a:ea typeface="Bricolage Grotesque Bold"/>
                  <a:cs typeface="Bricolage Grotesque Bold"/>
                  <a:sym typeface="Bricolage Grotesque Bold"/>
                </a:rPr>
                <a:t> </a:t>
              </a:r>
              <a:r>
                <a:rPr lang="en-US" b="true" sz="1999" spc="49" strike="noStrike" u="none">
                  <a:solidFill>
                    <a:srgbClr val="0B132B"/>
                  </a:solidFill>
                  <a:latin typeface="Bricolage Grotesque Bold"/>
                  <a:ea typeface="Bricolage Grotesque Bold"/>
                  <a:cs typeface="Bricolage Grotesque Bold"/>
                  <a:sym typeface="Bricolage Grotesque Bold"/>
                </a:rPr>
                <a:t>&amp;</a:t>
              </a:r>
              <a:r>
                <a:rPr lang="en-US" b="true" sz="1999" spc="49" strike="noStrike" u="none">
                  <a:solidFill>
                    <a:srgbClr val="0B132B"/>
                  </a:solidFill>
                  <a:latin typeface="Bricolage Grotesque Bold"/>
                  <a:ea typeface="Bricolage Grotesque Bold"/>
                  <a:cs typeface="Bricolage Grotesque Bold"/>
                  <a:sym typeface="Bricolage Grotesque Bold"/>
                </a:rPr>
                <a:t> </a:t>
              </a:r>
              <a:r>
                <a:rPr lang="en-US" b="true" sz="1999" spc="49" strike="noStrike" u="none">
                  <a:solidFill>
                    <a:srgbClr val="0B132B"/>
                  </a:solidFill>
                  <a:latin typeface="Bricolage Grotesque Bold"/>
                  <a:ea typeface="Bricolage Grotesque Bold"/>
                  <a:cs typeface="Bricolage Grotesque Bold"/>
                  <a:sym typeface="Bricolage Grotesque Bold"/>
                </a:rPr>
                <a:t>R</a:t>
              </a:r>
              <a:r>
                <a:rPr lang="en-US" b="true" sz="1999" spc="49" strike="noStrike" u="none">
                  <a:solidFill>
                    <a:srgbClr val="0B132B"/>
                  </a:solidFill>
                  <a:latin typeface="Bricolage Grotesque Bold"/>
                  <a:ea typeface="Bricolage Grotesque Bold"/>
                  <a:cs typeface="Bricolage Grotesque Bold"/>
                  <a:sym typeface="Bricolage Grotesque Bold"/>
                </a:rPr>
                <a:t>e</a:t>
              </a:r>
              <a:r>
                <a:rPr lang="en-US" b="true" sz="1999" spc="49" strike="noStrike" u="none">
                  <a:solidFill>
                    <a:srgbClr val="0B132B"/>
                  </a:solidFill>
                  <a:latin typeface="Bricolage Grotesque Bold"/>
                  <a:ea typeface="Bricolage Grotesque Bold"/>
                  <a:cs typeface="Bricolage Grotesque Bold"/>
                  <a:sym typeface="Bricolage Grotesque Bold"/>
                </a:rPr>
                <a:t>po</a:t>
              </a:r>
              <a:r>
                <a:rPr lang="en-US" b="true" sz="1999" spc="49" strike="noStrike" u="none">
                  <a:solidFill>
                    <a:srgbClr val="0B132B"/>
                  </a:solidFill>
                  <a:latin typeface="Bricolage Grotesque Bold"/>
                  <a:ea typeface="Bricolage Grotesque Bold"/>
                  <a:cs typeface="Bricolage Grotesque Bold"/>
                  <a:sym typeface="Bricolage Grotesque Bold"/>
                </a:rPr>
                <a:t>s</a:t>
              </a:r>
              <a:r>
                <a:rPr lang="en-US" b="true" sz="1999" spc="49" strike="noStrike" u="none">
                  <a:solidFill>
                    <a:srgbClr val="0B132B"/>
                  </a:solidFill>
                  <a:latin typeface="Bricolage Grotesque Bold"/>
                  <a:ea typeface="Bricolage Grotesque Bold"/>
                  <a:cs typeface="Bricolage Grotesque Bold"/>
                  <a:sym typeface="Bricolage Grotesque Bold"/>
                </a:rPr>
                <a:t>i</a:t>
              </a:r>
              <a:r>
                <a:rPr lang="en-US" b="true" sz="1999" spc="49" strike="noStrike" u="none">
                  <a:solidFill>
                    <a:srgbClr val="0B132B"/>
                  </a:solidFill>
                  <a:latin typeface="Bricolage Grotesque Bold"/>
                  <a:ea typeface="Bricolage Grotesque Bold"/>
                  <a:cs typeface="Bricolage Grotesque Bold"/>
                  <a:sym typeface="Bricolage Grotesque Bold"/>
                </a:rPr>
                <a:t>t</a:t>
              </a:r>
              <a:r>
                <a:rPr lang="en-US" b="true" sz="1999" spc="49" strike="noStrike" u="none">
                  <a:solidFill>
                    <a:srgbClr val="0B132B"/>
                  </a:solidFill>
                  <a:latin typeface="Bricolage Grotesque Bold"/>
                  <a:ea typeface="Bricolage Grotesque Bold"/>
                  <a:cs typeface="Bricolage Grotesque Bold"/>
                  <a:sym typeface="Bricolage Grotesque Bold"/>
                </a:rPr>
                <a:t>o</a:t>
              </a:r>
              <a:r>
                <a:rPr lang="en-US" b="true" sz="1999" spc="49" strike="noStrike" u="none">
                  <a:solidFill>
                    <a:srgbClr val="0B132B"/>
                  </a:solidFill>
                  <a:latin typeface="Bricolage Grotesque Bold"/>
                  <a:ea typeface="Bricolage Grotesque Bold"/>
                  <a:cs typeface="Bricolage Grotesque Bold"/>
                  <a:sym typeface="Bricolage Grotesque Bold"/>
                </a:rPr>
                <a:t>r</a:t>
              </a:r>
              <a:r>
                <a:rPr lang="en-US" b="true" sz="1999" spc="49" strike="noStrike" u="none">
                  <a:solidFill>
                    <a:srgbClr val="0B132B"/>
                  </a:solidFill>
                  <a:latin typeface="Bricolage Grotesque Bold"/>
                  <a:ea typeface="Bricolage Grotesque Bold"/>
                  <a:cs typeface="Bricolage Grotesque Bold"/>
                  <a:sym typeface="Bricolage Grotesque Bold"/>
                </a:rPr>
                <a:t>y</a:t>
              </a:r>
            </a:p>
          </p:txBody>
        </p:sp>
        <p:sp>
          <p:nvSpPr>
            <p:cNvPr name="TextBox 35" id="35"/>
            <p:cNvSpPr txBox="true"/>
            <p:nvPr/>
          </p:nvSpPr>
          <p:spPr>
            <a:xfrm rot="0">
              <a:off x="0" y="488918"/>
              <a:ext cx="6368374" cy="440267"/>
            </a:xfrm>
            <a:prstGeom prst="rect">
              <a:avLst/>
            </a:prstGeom>
          </p:spPr>
          <p:txBody>
            <a:bodyPr anchor="t" rtlCol="false" tIns="0" lIns="0" bIns="0" rIns="0">
              <a:spAutoFit/>
            </a:bodyPr>
            <a:lstStyle/>
            <a:p>
              <a:pPr algn="ctr">
                <a:lnSpc>
                  <a:spcPts val="2799"/>
                </a:lnSpc>
              </a:pPr>
              <a:r>
                <a:rPr lang="en-US" sz="1999" spc="49">
                  <a:solidFill>
                    <a:srgbClr val="0B132B"/>
                  </a:solidFill>
                  <a:latin typeface="Bricolage Grotesque"/>
                  <a:ea typeface="Bricolage Grotesque"/>
                  <a:cs typeface="Bricolage Grotesque"/>
                  <a:sym typeface="Bricolage Grotesque"/>
                </a:rPr>
                <a:t>chargeiq-isfest.vercel.app</a:t>
              </a:r>
            </a:p>
          </p:txBody>
        </p:sp>
      </p:grpSp>
      <p:sp>
        <p:nvSpPr>
          <p:cNvPr name="TextBox 36" id="36"/>
          <p:cNvSpPr txBox="true"/>
          <p:nvPr/>
        </p:nvSpPr>
        <p:spPr>
          <a:xfrm rot="0">
            <a:off x="14877675" y="9322533"/>
            <a:ext cx="2381625" cy="240690"/>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- 01</a:t>
            </a:r>
          </a:p>
        </p:txBody>
      </p:sp>
      <p:sp>
        <p:nvSpPr>
          <p:cNvPr name="Freeform 37" id="37"/>
          <p:cNvSpPr/>
          <p:nvPr/>
        </p:nvSpPr>
        <p:spPr>
          <a:xfrm flipH="false" flipV="false" rot="0">
            <a:off x="1028700" y="1467039"/>
            <a:ext cx="8669598" cy="2669057"/>
          </a:xfrm>
          <a:custGeom>
            <a:avLst/>
            <a:gdLst/>
            <a:ahLst/>
            <a:cxnLst/>
            <a:rect r="r" b="b" t="t" l="l"/>
            <a:pathLst>
              <a:path h="2669057" w="8669598">
                <a:moveTo>
                  <a:pt x="0" y="0"/>
                </a:moveTo>
                <a:lnTo>
                  <a:pt x="8669598" y="0"/>
                </a:lnTo>
                <a:lnTo>
                  <a:pt x="8669598" y="2669057"/>
                </a:lnTo>
                <a:lnTo>
                  <a:pt x="0" y="2669057"/>
                </a:lnTo>
                <a:lnTo>
                  <a:pt x="0" y="0"/>
                </a:lnTo>
                <a:close/>
              </a:path>
            </a:pathLst>
          </a:custGeom>
          <a:blipFill>
            <a:blip r:embed="rId6"/>
            <a:stretch>
              <a:fillRect l="-3129" t="0" r="-4084" b="-15815"/>
            </a:stretch>
          </a:blipFill>
        </p:spPr>
      </p:sp>
      <p:grpSp>
        <p:nvGrpSpPr>
          <p:cNvPr name="Group 38" id="38"/>
          <p:cNvGrpSpPr/>
          <p:nvPr/>
        </p:nvGrpSpPr>
        <p:grpSpPr>
          <a:xfrm rot="0">
            <a:off x="14338615" y="-784283"/>
            <a:ext cx="12457569" cy="1142074"/>
            <a:chOff x="0" y="0"/>
            <a:chExt cx="3217739" cy="294993"/>
          </a:xfrm>
        </p:grpSpPr>
        <p:sp>
          <p:nvSpPr>
            <p:cNvPr name="Freeform 39" id="39"/>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40" id="40"/>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41" id="41"/>
          <p:cNvGrpSpPr/>
          <p:nvPr/>
        </p:nvGrpSpPr>
        <p:grpSpPr>
          <a:xfrm rot="0">
            <a:off x="1028700" y="793061"/>
            <a:ext cx="4463067" cy="235560"/>
            <a:chOff x="0" y="0"/>
            <a:chExt cx="5950756" cy="314080"/>
          </a:xfrm>
        </p:grpSpPr>
        <p:sp>
          <p:nvSpPr>
            <p:cNvPr name="Freeform 42" id="42"/>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43" id="43"/>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grpSp>
        <p:nvGrpSpPr>
          <p:cNvPr name="Group 44" id="44"/>
          <p:cNvGrpSpPr/>
          <p:nvPr/>
        </p:nvGrpSpPr>
        <p:grpSpPr>
          <a:xfrm rot="0">
            <a:off x="10789445" y="6446563"/>
            <a:ext cx="2284248" cy="1157811"/>
            <a:chOff x="0" y="0"/>
            <a:chExt cx="590012" cy="299058"/>
          </a:xfrm>
        </p:grpSpPr>
        <p:sp>
          <p:nvSpPr>
            <p:cNvPr name="Freeform 45" id="45"/>
            <p:cNvSpPr/>
            <p:nvPr/>
          </p:nvSpPr>
          <p:spPr>
            <a:xfrm flipH="false" flipV="false" rot="0">
              <a:off x="0" y="0"/>
              <a:ext cx="590012" cy="299058"/>
            </a:xfrm>
            <a:custGeom>
              <a:avLst/>
              <a:gdLst/>
              <a:ahLst/>
              <a:cxnLst/>
              <a:rect r="r" b="b" t="t" l="l"/>
              <a:pathLst>
                <a:path h="299058" w="590012">
                  <a:moveTo>
                    <a:pt x="33893" y="0"/>
                  </a:moveTo>
                  <a:lnTo>
                    <a:pt x="556119" y="0"/>
                  </a:lnTo>
                  <a:cubicBezTo>
                    <a:pt x="565108" y="0"/>
                    <a:pt x="573729" y="3571"/>
                    <a:pt x="580085" y="9927"/>
                  </a:cubicBezTo>
                  <a:cubicBezTo>
                    <a:pt x="586441" y="16283"/>
                    <a:pt x="590012" y="24904"/>
                    <a:pt x="590012" y="33893"/>
                  </a:cubicBezTo>
                  <a:lnTo>
                    <a:pt x="590012" y="265165"/>
                  </a:lnTo>
                  <a:cubicBezTo>
                    <a:pt x="590012" y="274154"/>
                    <a:pt x="586441" y="282775"/>
                    <a:pt x="580085" y="289131"/>
                  </a:cubicBezTo>
                  <a:cubicBezTo>
                    <a:pt x="573729" y="295487"/>
                    <a:pt x="565108" y="299058"/>
                    <a:pt x="556119" y="299058"/>
                  </a:cubicBezTo>
                  <a:lnTo>
                    <a:pt x="33893" y="299058"/>
                  </a:lnTo>
                  <a:cubicBezTo>
                    <a:pt x="24904" y="299058"/>
                    <a:pt x="16283" y="295487"/>
                    <a:pt x="9927" y="289131"/>
                  </a:cubicBezTo>
                  <a:cubicBezTo>
                    <a:pt x="3571" y="282775"/>
                    <a:pt x="0" y="274154"/>
                    <a:pt x="0" y="265165"/>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sp>
        <p:sp>
          <p:nvSpPr>
            <p:cNvPr name="TextBox 46" id="46"/>
            <p:cNvSpPr txBox="true"/>
            <p:nvPr/>
          </p:nvSpPr>
          <p:spPr>
            <a:xfrm>
              <a:off x="0" y="-38100"/>
              <a:ext cx="590012" cy="337158"/>
            </a:xfrm>
            <a:prstGeom prst="rect">
              <a:avLst/>
            </a:prstGeom>
          </p:spPr>
          <p:txBody>
            <a:bodyPr anchor="ctr" rtlCol="false" tIns="50800" lIns="50800" bIns="50800" rIns="50800"/>
            <a:lstStyle/>
            <a:p>
              <a:pPr algn="ctr">
                <a:lnSpc>
                  <a:spcPts val="2659"/>
                </a:lnSpc>
                <a:spcBef>
                  <a:spcPct val="0"/>
                </a:spcBef>
              </a:pPr>
            </a:p>
          </p:txBody>
        </p:sp>
      </p:grpSp>
      <p:grpSp>
        <p:nvGrpSpPr>
          <p:cNvPr name="Group 47" id="47"/>
          <p:cNvGrpSpPr/>
          <p:nvPr/>
        </p:nvGrpSpPr>
        <p:grpSpPr>
          <a:xfrm rot="0">
            <a:off x="10789445" y="7760377"/>
            <a:ext cx="2284248" cy="663414"/>
            <a:chOff x="0" y="0"/>
            <a:chExt cx="590012" cy="171357"/>
          </a:xfrm>
        </p:grpSpPr>
        <p:sp>
          <p:nvSpPr>
            <p:cNvPr name="Freeform 48" id="48"/>
            <p:cNvSpPr/>
            <p:nvPr/>
          </p:nvSpPr>
          <p:spPr>
            <a:xfrm flipH="false" flipV="false" rot="0">
              <a:off x="0" y="0"/>
              <a:ext cx="590012" cy="171357"/>
            </a:xfrm>
            <a:custGeom>
              <a:avLst/>
              <a:gdLst/>
              <a:ahLst/>
              <a:cxnLst/>
              <a:rect r="r" b="b" t="t" l="l"/>
              <a:pathLst>
                <a:path h="171357" w="590012">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sp>
        <p:sp>
          <p:nvSpPr>
            <p:cNvPr name="TextBox 49" id="49"/>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grpSp>
        <p:nvGrpSpPr>
          <p:cNvPr name="Group 50" id="50"/>
          <p:cNvGrpSpPr/>
          <p:nvPr/>
        </p:nvGrpSpPr>
        <p:grpSpPr>
          <a:xfrm rot="0">
            <a:off x="10789445" y="8579794"/>
            <a:ext cx="2284248" cy="663414"/>
            <a:chOff x="0" y="0"/>
            <a:chExt cx="590012" cy="171357"/>
          </a:xfrm>
        </p:grpSpPr>
        <p:sp>
          <p:nvSpPr>
            <p:cNvPr name="Freeform 51" id="51"/>
            <p:cNvSpPr/>
            <p:nvPr/>
          </p:nvSpPr>
          <p:spPr>
            <a:xfrm flipH="false" flipV="false" rot="0">
              <a:off x="0" y="0"/>
              <a:ext cx="590012" cy="171357"/>
            </a:xfrm>
            <a:custGeom>
              <a:avLst/>
              <a:gdLst/>
              <a:ahLst/>
              <a:cxnLst/>
              <a:rect r="r" b="b" t="t" l="l"/>
              <a:pathLst>
                <a:path h="171357" w="590012">
                  <a:moveTo>
                    <a:pt x="33893" y="0"/>
                  </a:moveTo>
                  <a:lnTo>
                    <a:pt x="556119" y="0"/>
                  </a:lnTo>
                  <a:cubicBezTo>
                    <a:pt x="565108" y="0"/>
                    <a:pt x="573729" y="3571"/>
                    <a:pt x="580085" y="9927"/>
                  </a:cubicBezTo>
                  <a:cubicBezTo>
                    <a:pt x="586441" y="16283"/>
                    <a:pt x="590012" y="24904"/>
                    <a:pt x="590012" y="33893"/>
                  </a:cubicBezTo>
                  <a:lnTo>
                    <a:pt x="590012" y="137464"/>
                  </a:lnTo>
                  <a:cubicBezTo>
                    <a:pt x="590012" y="146453"/>
                    <a:pt x="586441" y="155074"/>
                    <a:pt x="580085" y="161430"/>
                  </a:cubicBezTo>
                  <a:cubicBezTo>
                    <a:pt x="573729" y="167786"/>
                    <a:pt x="565108" y="171357"/>
                    <a:pt x="556119" y="171357"/>
                  </a:cubicBezTo>
                  <a:lnTo>
                    <a:pt x="33893" y="171357"/>
                  </a:lnTo>
                  <a:cubicBezTo>
                    <a:pt x="24904" y="171357"/>
                    <a:pt x="16283" y="167786"/>
                    <a:pt x="9927" y="161430"/>
                  </a:cubicBezTo>
                  <a:cubicBezTo>
                    <a:pt x="3571" y="155074"/>
                    <a:pt x="0" y="146453"/>
                    <a:pt x="0" y="137464"/>
                  </a:cubicBezTo>
                  <a:lnTo>
                    <a:pt x="0" y="33893"/>
                  </a:lnTo>
                  <a:cubicBezTo>
                    <a:pt x="0" y="24904"/>
                    <a:pt x="3571" y="16283"/>
                    <a:pt x="9927" y="9927"/>
                  </a:cubicBezTo>
                  <a:cubicBezTo>
                    <a:pt x="16283" y="3571"/>
                    <a:pt x="24904" y="0"/>
                    <a:pt x="33893" y="0"/>
                  </a:cubicBezTo>
                  <a:close/>
                </a:path>
              </a:pathLst>
            </a:custGeom>
            <a:solidFill>
              <a:srgbClr val="FFFFFF"/>
            </a:solidFill>
            <a:ln cap="sq">
              <a:noFill/>
              <a:prstDash val="solid"/>
              <a:miter/>
            </a:ln>
          </p:spPr>
        </p:sp>
        <p:sp>
          <p:nvSpPr>
            <p:cNvPr name="TextBox 52" id="52"/>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sp>
        <p:nvSpPr>
          <p:cNvPr name="TextBox 53" id="53"/>
          <p:cNvSpPr txBox="true"/>
          <p:nvPr/>
        </p:nvSpPr>
        <p:spPr>
          <a:xfrm rot="0">
            <a:off x="10922228" y="7875611"/>
            <a:ext cx="2008154" cy="508050"/>
          </a:xfrm>
          <a:prstGeom prst="rect">
            <a:avLst/>
          </a:prstGeom>
        </p:spPr>
        <p:txBody>
          <a:bodyPr anchor="t" rtlCol="false" tIns="0" lIns="0" bIns="0" rIns="0">
            <a:spAutoFit/>
          </a:bodyPr>
          <a:lstStyle/>
          <a:p>
            <a:pPr algn="ctr">
              <a:lnSpc>
                <a:spcPts val="2000"/>
              </a:lnSpc>
            </a:pPr>
            <a:r>
              <a:rPr lang="en-US" sz="2000">
                <a:solidFill>
                  <a:srgbClr val="112752"/>
                </a:solidFill>
                <a:latin typeface="Rubik One"/>
                <a:ea typeface="Rubik One"/>
                <a:cs typeface="Rubik One"/>
                <a:sym typeface="Rubik One"/>
              </a:rPr>
              <a:t>Ensemble 6-GBDT</a:t>
            </a:r>
          </a:p>
        </p:txBody>
      </p:sp>
      <p:sp>
        <p:nvSpPr>
          <p:cNvPr name="TextBox 54" id="54"/>
          <p:cNvSpPr txBox="true"/>
          <p:nvPr/>
        </p:nvSpPr>
        <p:spPr>
          <a:xfrm rot="0">
            <a:off x="10778918" y="8676551"/>
            <a:ext cx="2294775" cy="508001"/>
          </a:xfrm>
          <a:prstGeom prst="rect">
            <a:avLst/>
          </a:prstGeom>
        </p:spPr>
        <p:txBody>
          <a:bodyPr anchor="t" rtlCol="false" tIns="0" lIns="0" bIns="0" rIns="0">
            <a:spAutoFit/>
          </a:bodyPr>
          <a:lstStyle/>
          <a:p>
            <a:pPr algn="ctr">
              <a:lnSpc>
                <a:spcPts val="2000"/>
              </a:lnSpc>
            </a:pPr>
            <a:r>
              <a:rPr lang="en-US" sz="2000">
                <a:solidFill>
                  <a:srgbClr val="112752"/>
                </a:solidFill>
                <a:latin typeface="Rubik One"/>
                <a:ea typeface="Rubik One"/>
                <a:cs typeface="Rubik One"/>
                <a:sym typeface="Rubik One"/>
              </a:rPr>
              <a:t>CV RMSE </a:t>
            </a:r>
          </a:p>
          <a:p>
            <a:pPr algn="ctr">
              <a:lnSpc>
                <a:spcPts val="2000"/>
              </a:lnSpc>
            </a:pPr>
            <a:r>
              <a:rPr lang="en-US" sz="2000">
                <a:solidFill>
                  <a:srgbClr val="112752"/>
                </a:solidFill>
                <a:latin typeface="Rubik One"/>
                <a:ea typeface="Rubik One"/>
                <a:cs typeface="Rubik One"/>
                <a:sym typeface="Rubik One"/>
              </a:rPr>
              <a:t>0,06776</a:t>
            </a:r>
          </a:p>
        </p:txBody>
      </p:sp>
      <p:sp>
        <p:nvSpPr>
          <p:cNvPr name="TextBox 55" id="55"/>
          <p:cNvSpPr txBox="true"/>
          <p:nvPr/>
        </p:nvSpPr>
        <p:spPr>
          <a:xfrm rot="0">
            <a:off x="10853205" y="6666694"/>
            <a:ext cx="2220488" cy="755651"/>
          </a:xfrm>
          <a:prstGeom prst="rect">
            <a:avLst/>
          </a:prstGeom>
        </p:spPr>
        <p:txBody>
          <a:bodyPr anchor="t" rtlCol="false" tIns="0" lIns="0" bIns="0" rIns="0">
            <a:spAutoFit/>
          </a:bodyPr>
          <a:lstStyle/>
          <a:p>
            <a:pPr algn="ctr">
              <a:lnSpc>
                <a:spcPts val="2000"/>
              </a:lnSpc>
            </a:pPr>
            <a:r>
              <a:rPr lang="en-US" sz="2000">
                <a:solidFill>
                  <a:srgbClr val="112752"/>
                </a:solidFill>
                <a:latin typeface="Rubik One"/>
                <a:ea typeface="Rubik One"/>
                <a:cs typeface="Rubik One"/>
                <a:sym typeface="Rubik One"/>
              </a:rPr>
              <a:t>CHARGEIQ LIVE! </a:t>
            </a:r>
          </a:p>
          <a:p>
            <a:pPr algn="ctr">
              <a:lnSpc>
                <a:spcPts val="2000"/>
              </a:lnSpc>
            </a:pPr>
            <a:r>
              <a:rPr lang="en-US" sz="2000">
                <a:solidFill>
                  <a:srgbClr val="112752"/>
                </a:solidFill>
                <a:latin typeface="Rubik One"/>
                <a:ea typeface="Rubik One"/>
                <a:cs typeface="Rubik One"/>
                <a:sym typeface="Rubik One"/>
              </a:rPr>
              <a:t>on Vercel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406211" y="2655425"/>
            <a:ext cx="1945182" cy="1810965"/>
            <a:chOff x="0" y="0"/>
            <a:chExt cx="6350000" cy="5911850"/>
          </a:xfrm>
        </p:grpSpPr>
        <p:sp>
          <p:nvSpPr>
            <p:cNvPr name="Freeform 3" id="3"/>
            <p:cNvSpPr/>
            <p:nvPr/>
          </p:nvSpPr>
          <p:spPr>
            <a:xfrm flipH="false" flipV="false" rot="0">
              <a:off x="302" y="0"/>
              <a:ext cx="6348428" cy="5911850"/>
            </a:xfrm>
            <a:custGeom>
              <a:avLst/>
              <a:gdLst/>
              <a:ahLst/>
              <a:cxnLst/>
              <a:rect r="r" b="b" t="t" l="l"/>
              <a:pathLst>
                <a:path h="5911850" w="6348428">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2"/>
              <a:stretch>
                <a:fillRect l="-15579" t="0" r="-15579" b="0"/>
              </a:stretch>
            </a:blipFill>
          </p:spPr>
        </p:sp>
      </p:grpSp>
      <p:grpSp>
        <p:nvGrpSpPr>
          <p:cNvPr name="Group 4" id="4"/>
          <p:cNvGrpSpPr/>
          <p:nvPr/>
        </p:nvGrpSpPr>
        <p:grpSpPr>
          <a:xfrm rot="0">
            <a:off x="1406211" y="4962483"/>
            <a:ext cx="1945182" cy="1810965"/>
            <a:chOff x="0" y="0"/>
            <a:chExt cx="6350000" cy="5911850"/>
          </a:xfrm>
        </p:grpSpPr>
        <p:sp>
          <p:nvSpPr>
            <p:cNvPr name="Freeform 5" id="5"/>
            <p:cNvSpPr/>
            <p:nvPr/>
          </p:nvSpPr>
          <p:spPr>
            <a:xfrm flipH="false" flipV="false" rot="0">
              <a:off x="302" y="0"/>
              <a:ext cx="6348428" cy="5911850"/>
            </a:xfrm>
            <a:custGeom>
              <a:avLst/>
              <a:gdLst/>
              <a:ahLst/>
              <a:cxnLst/>
              <a:rect r="r" b="b" t="t" l="l"/>
              <a:pathLst>
                <a:path h="5911850" w="6348428">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3"/>
              <a:stretch>
                <a:fillRect l="-33145" t="0" r="-33145" b="0"/>
              </a:stretch>
            </a:blipFill>
          </p:spPr>
        </p:sp>
      </p:grpSp>
      <p:grpSp>
        <p:nvGrpSpPr>
          <p:cNvPr name="Group 6" id="6"/>
          <p:cNvGrpSpPr/>
          <p:nvPr/>
        </p:nvGrpSpPr>
        <p:grpSpPr>
          <a:xfrm rot="0">
            <a:off x="1406211" y="7339325"/>
            <a:ext cx="1945182" cy="1810965"/>
            <a:chOff x="0" y="0"/>
            <a:chExt cx="6350000" cy="5911850"/>
          </a:xfrm>
        </p:grpSpPr>
        <p:sp>
          <p:nvSpPr>
            <p:cNvPr name="Freeform 7" id="7"/>
            <p:cNvSpPr/>
            <p:nvPr/>
          </p:nvSpPr>
          <p:spPr>
            <a:xfrm flipH="false" flipV="false" rot="0">
              <a:off x="302" y="0"/>
              <a:ext cx="6348428" cy="5911850"/>
            </a:xfrm>
            <a:custGeom>
              <a:avLst/>
              <a:gdLst/>
              <a:ahLst/>
              <a:cxnLst/>
              <a:rect r="r" b="b" t="t" l="l"/>
              <a:pathLst>
                <a:path h="5911850" w="6348428">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4"/>
              <a:stretch>
                <a:fillRect l="-20017" t="0" r="-20017" b="0"/>
              </a:stretch>
            </a:blipFill>
          </p:spPr>
        </p:sp>
      </p:grpSp>
      <p:grpSp>
        <p:nvGrpSpPr>
          <p:cNvPr name="Group 8" id="8"/>
          <p:cNvGrpSpPr/>
          <p:nvPr/>
        </p:nvGrpSpPr>
        <p:grpSpPr>
          <a:xfrm rot="-7965846">
            <a:off x="1099825" y="4000293"/>
            <a:ext cx="1057761" cy="331909"/>
            <a:chOff x="0" y="0"/>
            <a:chExt cx="4431354" cy="1390492"/>
          </a:xfrm>
        </p:grpSpPr>
        <p:sp>
          <p:nvSpPr>
            <p:cNvPr name="Freeform 9" id="9"/>
            <p:cNvSpPr/>
            <p:nvPr/>
          </p:nvSpPr>
          <p:spPr>
            <a:xfrm flipH="false" flipV="false" rot="0">
              <a:off x="52126" y="21064"/>
              <a:ext cx="4327103" cy="1369428"/>
            </a:xfrm>
            <a:custGeom>
              <a:avLst/>
              <a:gdLst/>
              <a:ahLst/>
              <a:cxnLst/>
              <a:rect r="r" b="b" t="t" l="l"/>
              <a:pathLst>
                <a:path h="1369428" w="4327103">
                  <a:moveTo>
                    <a:pt x="2225546" y="17842"/>
                  </a:moveTo>
                  <a:lnTo>
                    <a:pt x="4317233" y="1330522"/>
                  </a:lnTo>
                  <a:cubicBezTo>
                    <a:pt x="4325187" y="1335513"/>
                    <a:pt x="4328876" y="1345166"/>
                    <a:pt x="4326279" y="1354189"/>
                  </a:cubicBezTo>
                  <a:cubicBezTo>
                    <a:pt x="4323682" y="1363213"/>
                    <a:pt x="4315426" y="1369428"/>
                    <a:pt x="4306036" y="1369428"/>
                  </a:cubicBezTo>
                  <a:lnTo>
                    <a:pt x="21066" y="1369428"/>
                  </a:lnTo>
                  <a:cubicBezTo>
                    <a:pt x="11676" y="1369428"/>
                    <a:pt x="3420" y="1363213"/>
                    <a:pt x="823" y="1354189"/>
                  </a:cubicBezTo>
                  <a:cubicBezTo>
                    <a:pt x="-1774" y="1345166"/>
                    <a:pt x="1915" y="1335513"/>
                    <a:pt x="9869" y="1330522"/>
                  </a:cubicBezTo>
                  <a:lnTo>
                    <a:pt x="2101556" y="17842"/>
                  </a:lnTo>
                  <a:cubicBezTo>
                    <a:pt x="2139463" y="-5947"/>
                    <a:pt x="2187639" y="-5947"/>
                    <a:pt x="2225546" y="17842"/>
                  </a:cubicBezTo>
                  <a:close/>
                </a:path>
              </a:pathLst>
            </a:custGeom>
            <a:solidFill>
              <a:srgbClr val="00B58F"/>
            </a:solidFill>
          </p:spPr>
        </p:sp>
        <p:sp>
          <p:nvSpPr>
            <p:cNvPr name="TextBox 10" id="10"/>
            <p:cNvSpPr txBox="true"/>
            <p:nvPr/>
          </p:nvSpPr>
          <p:spPr>
            <a:xfrm>
              <a:off x="692399" y="607486"/>
              <a:ext cx="3046556" cy="68368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7965846">
            <a:off x="1099825" y="6307352"/>
            <a:ext cx="1057761" cy="331909"/>
            <a:chOff x="0" y="0"/>
            <a:chExt cx="4431354" cy="1390492"/>
          </a:xfrm>
        </p:grpSpPr>
        <p:sp>
          <p:nvSpPr>
            <p:cNvPr name="Freeform 12" id="12"/>
            <p:cNvSpPr/>
            <p:nvPr/>
          </p:nvSpPr>
          <p:spPr>
            <a:xfrm flipH="false" flipV="false" rot="0">
              <a:off x="52126" y="21064"/>
              <a:ext cx="4327103" cy="1369428"/>
            </a:xfrm>
            <a:custGeom>
              <a:avLst/>
              <a:gdLst/>
              <a:ahLst/>
              <a:cxnLst/>
              <a:rect r="r" b="b" t="t" l="l"/>
              <a:pathLst>
                <a:path h="1369428" w="4327103">
                  <a:moveTo>
                    <a:pt x="2225546" y="17842"/>
                  </a:moveTo>
                  <a:lnTo>
                    <a:pt x="4317233" y="1330522"/>
                  </a:lnTo>
                  <a:cubicBezTo>
                    <a:pt x="4325187" y="1335513"/>
                    <a:pt x="4328876" y="1345166"/>
                    <a:pt x="4326279" y="1354189"/>
                  </a:cubicBezTo>
                  <a:cubicBezTo>
                    <a:pt x="4323682" y="1363213"/>
                    <a:pt x="4315426" y="1369428"/>
                    <a:pt x="4306036" y="1369428"/>
                  </a:cubicBezTo>
                  <a:lnTo>
                    <a:pt x="21066" y="1369428"/>
                  </a:lnTo>
                  <a:cubicBezTo>
                    <a:pt x="11676" y="1369428"/>
                    <a:pt x="3420" y="1363213"/>
                    <a:pt x="823" y="1354189"/>
                  </a:cubicBezTo>
                  <a:cubicBezTo>
                    <a:pt x="-1774" y="1345166"/>
                    <a:pt x="1915" y="1335513"/>
                    <a:pt x="9869" y="1330522"/>
                  </a:cubicBezTo>
                  <a:lnTo>
                    <a:pt x="2101556" y="17842"/>
                  </a:lnTo>
                  <a:cubicBezTo>
                    <a:pt x="2139463" y="-5947"/>
                    <a:pt x="2187639" y="-5947"/>
                    <a:pt x="2225546" y="17842"/>
                  </a:cubicBezTo>
                  <a:close/>
                </a:path>
              </a:pathLst>
            </a:custGeom>
            <a:solidFill>
              <a:srgbClr val="00B58F"/>
            </a:solidFill>
          </p:spPr>
        </p:sp>
        <p:sp>
          <p:nvSpPr>
            <p:cNvPr name="TextBox 13" id="13"/>
            <p:cNvSpPr txBox="true"/>
            <p:nvPr/>
          </p:nvSpPr>
          <p:spPr>
            <a:xfrm>
              <a:off x="692399" y="607486"/>
              <a:ext cx="3046556" cy="683686"/>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7965846">
            <a:off x="1099825" y="8684193"/>
            <a:ext cx="1057761" cy="331909"/>
            <a:chOff x="0" y="0"/>
            <a:chExt cx="4431354" cy="1390492"/>
          </a:xfrm>
        </p:grpSpPr>
        <p:sp>
          <p:nvSpPr>
            <p:cNvPr name="Freeform 15" id="15"/>
            <p:cNvSpPr/>
            <p:nvPr/>
          </p:nvSpPr>
          <p:spPr>
            <a:xfrm flipH="false" flipV="false" rot="0">
              <a:off x="52126" y="21064"/>
              <a:ext cx="4327103" cy="1369428"/>
            </a:xfrm>
            <a:custGeom>
              <a:avLst/>
              <a:gdLst/>
              <a:ahLst/>
              <a:cxnLst/>
              <a:rect r="r" b="b" t="t" l="l"/>
              <a:pathLst>
                <a:path h="1369428" w="4327103">
                  <a:moveTo>
                    <a:pt x="2225546" y="17842"/>
                  </a:moveTo>
                  <a:lnTo>
                    <a:pt x="4317233" y="1330522"/>
                  </a:lnTo>
                  <a:cubicBezTo>
                    <a:pt x="4325187" y="1335513"/>
                    <a:pt x="4328876" y="1345166"/>
                    <a:pt x="4326279" y="1354189"/>
                  </a:cubicBezTo>
                  <a:cubicBezTo>
                    <a:pt x="4323682" y="1363213"/>
                    <a:pt x="4315426" y="1369428"/>
                    <a:pt x="4306036" y="1369428"/>
                  </a:cubicBezTo>
                  <a:lnTo>
                    <a:pt x="21066" y="1369428"/>
                  </a:lnTo>
                  <a:cubicBezTo>
                    <a:pt x="11676" y="1369428"/>
                    <a:pt x="3420" y="1363213"/>
                    <a:pt x="823" y="1354189"/>
                  </a:cubicBezTo>
                  <a:cubicBezTo>
                    <a:pt x="-1774" y="1345166"/>
                    <a:pt x="1915" y="1335513"/>
                    <a:pt x="9869" y="1330522"/>
                  </a:cubicBezTo>
                  <a:lnTo>
                    <a:pt x="2101556" y="17842"/>
                  </a:lnTo>
                  <a:cubicBezTo>
                    <a:pt x="2139463" y="-5947"/>
                    <a:pt x="2187639" y="-5947"/>
                    <a:pt x="2225546" y="17842"/>
                  </a:cubicBezTo>
                  <a:close/>
                </a:path>
              </a:pathLst>
            </a:custGeom>
            <a:solidFill>
              <a:srgbClr val="00B58F"/>
            </a:solidFill>
          </p:spPr>
        </p:sp>
        <p:sp>
          <p:nvSpPr>
            <p:cNvPr name="TextBox 16" id="16"/>
            <p:cNvSpPr txBox="true"/>
            <p:nvPr/>
          </p:nvSpPr>
          <p:spPr>
            <a:xfrm>
              <a:off x="692399" y="607486"/>
              <a:ext cx="3046556" cy="683686"/>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9384496" y="1286312"/>
            <a:ext cx="7719339" cy="3438142"/>
            <a:chOff x="0" y="0"/>
            <a:chExt cx="1993874" cy="888058"/>
          </a:xfrm>
        </p:grpSpPr>
        <p:sp>
          <p:nvSpPr>
            <p:cNvPr name="Freeform 18" id="18"/>
            <p:cNvSpPr/>
            <p:nvPr/>
          </p:nvSpPr>
          <p:spPr>
            <a:xfrm flipH="false" flipV="false" rot="0">
              <a:off x="0" y="0"/>
              <a:ext cx="1993874" cy="888058"/>
            </a:xfrm>
            <a:custGeom>
              <a:avLst/>
              <a:gdLst/>
              <a:ahLst/>
              <a:cxnLst/>
              <a:rect r="r" b="b" t="t" l="l"/>
              <a:pathLst>
                <a:path h="888058" w="1993874">
                  <a:moveTo>
                    <a:pt x="60176" y="0"/>
                  </a:moveTo>
                  <a:lnTo>
                    <a:pt x="1933698" y="0"/>
                  </a:lnTo>
                  <a:cubicBezTo>
                    <a:pt x="1966932" y="0"/>
                    <a:pt x="1993874" y="26941"/>
                    <a:pt x="1993874" y="60176"/>
                  </a:cubicBezTo>
                  <a:lnTo>
                    <a:pt x="1993874" y="827883"/>
                  </a:lnTo>
                  <a:cubicBezTo>
                    <a:pt x="1993874" y="843842"/>
                    <a:pt x="1987534" y="859148"/>
                    <a:pt x="1976249" y="870433"/>
                  </a:cubicBezTo>
                  <a:cubicBezTo>
                    <a:pt x="1964964" y="881718"/>
                    <a:pt x="1949658" y="888058"/>
                    <a:pt x="1933698" y="888058"/>
                  </a:cubicBezTo>
                  <a:lnTo>
                    <a:pt x="60176" y="888058"/>
                  </a:lnTo>
                  <a:cubicBezTo>
                    <a:pt x="26941" y="888058"/>
                    <a:pt x="0" y="861117"/>
                    <a:pt x="0" y="827883"/>
                  </a:cubicBezTo>
                  <a:lnTo>
                    <a:pt x="0" y="60176"/>
                  </a:lnTo>
                  <a:cubicBezTo>
                    <a:pt x="0" y="44216"/>
                    <a:pt x="6340" y="28910"/>
                    <a:pt x="17625" y="17625"/>
                  </a:cubicBezTo>
                  <a:cubicBezTo>
                    <a:pt x="28910" y="6340"/>
                    <a:pt x="44216" y="0"/>
                    <a:pt x="60176" y="0"/>
                  </a:cubicBezTo>
                  <a:close/>
                </a:path>
              </a:pathLst>
            </a:custGeom>
            <a:ln w="19050" cap="rnd">
              <a:solidFill>
                <a:srgbClr val="00B58F"/>
              </a:solidFill>
              <a:prstDash val="solid"/>
              <a:round/>
            </a:ln>
          </p:spPr>
        </p:sp>
        <p:sp>
          <p:nvSpPr>
            <p:cNvPr name="TextBox 19" id="19"/>
            <p:cNvSpPr txBox="true"/>
            <p:nvPr/>
          </p:nvSpPr>
          <p:spPr>
            <a:xfrm>
              <a:off x="0" y="-38100"/>
              <a:ext cx="1993874" cy="926158"/>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9144000" y="1213373"/>
            <a:ext cx="7483052" cy="4033028"/>
            <a:chOff x="0" y="0"/>
            <a:chExt cx="7071593" cy="3811270"/>
          </a:xfrm>
        </p:grpSpPr>
        <p:sp>
          <p:nvSpPr>
            <p:cNvPr name="Freeform 21" id="21"/>
            <p:cNvSpPr/>
            <p:nvPr/>
          </p:nvSpPr>
          <p:spPr>
            <a:xfrm flipH="false" flipV="false" rot="0">
              <a:off x="0" y="0"/>
              <a:ext cx="7071592" cy="3811270"/>
            </a:xfrm>
            <a:custGeom>
              <a:avLst/>
              <a:gdLst/>
              <a:ahLst/>
              <a:cxnLst/>
              <a:rect r="r" b="b" t="t" l="l"/>
              <a:pathLst>
                <a:path h="3811270" w="7071592">
                  <a:moveTo>
                    <a:pt x="1835785" y="0"/>
                  </a:moveTo>
                  <a:lnTo>
                    <a:pt x="6473336" y="0"/>
                  </a:lnTo>
                  <a:cubicBezTo>
                    <a:pt x="6804287" y="0"/>
                    <a:pt x="7071592" y="240030"/>
                    <a:pt x="7071592" y="537210"/>
                  </a:cubicBezTo>
                  <a:lnTo>
                    <a:pt x="7071592" y="2466340"/>
                  </a:lnTo>
                  <a:cubicBezTo>
                    <a:pt x="7071592" y="2763520"/>
                    <a:pt x="6804287" y="3003550"/>
                    <a:pt x="6473336" y="3003550"/>
                  </a:cubicBezTo>
                  <a:lnTo>
                    <a:pt x="5290966" y="3003550"/>
                  </a:lnTo>
                  <a:cubicBezTo>
                    <a:pt x="5108519" y="3003550"/>
                    <a:pt x="4934557" y="3078480"/>
                    <a:pt x="4821412" y="3208020"/>
                  </a:cubicBezTo>
                  <a:lnTo>
                    <a:pt x="4469247" y="3606800"/>
                  </a:lnTo>
                  <a:cubicBezTo>
                    <a:pt x="4356101" y="3735070"/>
                    <a:pt x="4183554" y="3811270"/>
                    <a:pt x="3999693" y="3811270"/>
                  </a:cubicBezTo>
                  <a:lnTo>
                    <a:pt x="598257" y="3811270"/>
                  </a:lnTo>
                  <a:cubicBezTo>
                    <a:pt x="267306" y="3811270"/>
                    <a:pt x="0" y="3571240"/>
                    <a:pt x="0" y="3274060"/>
                  </a:cubicBezTo>
                  <a:lnTo>
                    <a:pt x="0" y="1375410"/>
                  </a:lnTo>
                  <a:cubicBezTo>
                    <a:pt x="0" y="1206500"/>
                    <a:pt x="87688" y="1047750"/>
                    <a:pt x="237606" y="946150"/>
                  </a:cubicBezTo>
                  <a:lnTo>
                    <a:pt x="1475134" y="107950"/>
                  </a:lnTo>
                  <a:cubicBezTo>
                    <a:pt x="1578380" y="38100"/>
                    <a:pt x="1705668" y="0"/>
                    <a:pt x="1835785" y="0"/>
                  </a:cubicBezTo>
                  <a:close/>
                </a:path>
              </a:pathLst>
            </a:custGeom>
            <a:blipFill>
              <a:blip r:embed="rId5"/>
              <a:stretch>
                <a:fillRect l="0" t="-19579" r="0" b="-19579"/>
              </a:stretch>
            </a:blipFill>
          </p:spPr>
        </p:sp>
      </p:grpSp>
      <p:grpSp>
        <p:nvGrpSpPr>
          <p:cNvPr name="Group 22" id="22"/>
          <p:cNvGrpSpPr/>
          <p:nvPr/>
        </p:nvGrpSpPr>
        <p:grpSpPr>
          <a:xfrm rot="0">
            <a:off x="14260252" y="4429151"/>
            <a:ext cx="2366800" cy="476850"/>
            <a:chOff x="0" y="0"/>
            <a:chExt cx="1977575" cy="398431"/>
          </a:xfrm>
        </p:grpSpPr>
        <p:sp>
          <p:nvSpPr>
            <p:cNvPr name="Freeform 23" id="23"/>
            <p:cNvSpPr/>
            <p:nvPr/>
          </p:nvSpPr>
          <p:spPr>
            <a:xfrm flipH="false" flipV="false" rot="0">
              <a:off x="38022" y="0"/>
              <a:ext cx="1901531" cy="398431"/>
            </a:xfrm>
            <a:custGeom>
              <a:avLst/>
              <a:gdLst/>
              <a:ahLst/>
              <a:cxnLst/>
              <a:rect r="r" b="b" t="t" l="l"/>
              <a:pathLst>
                <a:path h="398431" w="1901531">
                  <a:moveTo>
                    <a:pt x="263309" y="0"/>
                  </a:moveTo>
                  <a:lnTo>
                    <a:pt x="1841422" y="0"/>
                  </a:lnTo>
                  <a:cubicBezTo>
                    <a:pt x="1862340" y="0"/>
                    <a:pt x="1881753" y="10875"/>
                    <a:pt x="1892679" y="28712"/>
                  </a:cubicBezTo>
                  <a:cubicBezTo>
                    <a:pt x="1903606" y="46550"/>
                    <a:pt x="1904473" y="68785"/>
                    <a:pt x="1894969" y="87419"/>
                  </a:cubicBezTo>
                  <a:lnTo>
                    <a:pt x="1780937" y="311012"/>
                  </a:lnTo>
                  <a:cubicBezTo>
                    <a:pt x="1753577" y="364659"/>
                    <a:pt x="1698443" y="398431"/>
                    <a:pt x="1638222" y="398431"/>
                  </a:cubicBezTo>
                  <a:lnTo>
                    <a:pt x="60109" y="398431"/>
                  </a:lnTo>
                  <a:cubicBezTo>
                    <a:pt x="39192" y="398431"/>
                    <a:pt x="19778" y="387556"/>
                    <a:pt x="8852" y="369719"/>
                  </a:cubicBezTo>
                  <a:cubicBezTo>
                    <a:pt x="-2074" y="351881"/>
                    <a:pt x="-2942" y="329646"/>
                    <a:pt x="6562" y="311012"/>
                  </a:cubicBezTo>
                  <a:lnTo>
                    <a:pt x="120594" y="87419"/>
                  </a:lnTo>
                  <a:cubicBezTo>
                    <a:pt x="147954" y="33772"/>
                    <a:pt x="203088" y="0"/>
                    <a:pt x="263309" y="0"/>
                  </a:cubicBezTo>
                  <a:close/>
                </a:path>
              </a:pathLst>
            </a:custGeom>
            <a:solidFill>
              <a:srgbClr val="00B58F"/>
            </a:solidFill>
          </p:spPr>
        </p:sp>
        <p:sp>
          <p:nvSpPr>
            <p:cNvPr name="TextBox 24" id="24"/>
            <p:cNvSpPr txBox="true"/>
            <p:nvPr/>
          </p:nvSpPr>
          <p:spPr>
            <a:xfrm>
              <a:off x="101600" y="-38100"/>
              <a:ext cx="1774375" cy="436531"/>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502671" y="9960324"/>
            <a:ext cx="9960587" cy="1142074"/>
            <a:chOff x="0" y="0"/>
            <a:chExt cx="2572779" cy="294993"/>
          </a:xfrm>
        </p:grpSpPr>
        <p:sp>
          <p:nvSpPr>
            <p:cNvPr name="Freeform 26" id="26"/>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7" id="27"/>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5959063" y="-784283"/>
            <a:ext cx="9960587" cy="1142074"/>
            <a:chOff x="0" y="0"/>
            <a:chExt cx="2572779" cy="294993"/>
          </a:xfrm>
        </p:grpSpPr>
        <p:sp>
          <p:nvSpPr>
            <p:cNvPr name="Freeform 29" id="29"/>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30" id="30"/>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0">
            <a:off x="1028700" y="793061"/>
            <a:ext cx="4463067" cy="235560"/>
            <a:chOff x="0" y="0"/>
            <a:chExt cx="5950756" cy="314080"/>
          </a:xfrm>
        </p:grpSpPr>
        <p:sp>
          <p:nvSpPr>
            <p:cNvPr name="Freeform 32" id="32"/>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3" id="33"/>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34" id="34"/>
          <p:cNvSpPr txBox="true"/>
          <p:nvPr/>
        </p:nvSpPr>
        <p:spPr>
          <a:xfrm rot="0">
            <a:off x="14877675" y="9322533"/>
            <a:ext cx="2381625" cy="240690"/>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- 02</a:t>
            </a:r>
          </a:p>
        </p:txBody>
      </p:sp>
      <p:sp>
        <p:nvSpPr>
          <p:cNvPr name="TextBox 35" id="35"/>
          <p:cNvSpPr txBox="true"/>
          <p:nvPr/>
        </p:nvSpPr>
        <p:spPr>
          <a:xfrm rot="0">
            <a:off x="1028700" y="1289573"/>
            <a:ext cx="7302139" cy="1181101"/>
          </a:xfrm>
          <a:prstGeom prst="rect">
            <a:avLst/>
          </a:prstGeom>
        </p:spPr>
        <p:txBody>
          <a:bodyPr anchor="t" rtlCol="false" tIns="0" lIns="0" bIns="0" rIns="0">
            <a:spAutoFit/>
          </a:bodyPr>
          <a:lstStyle/>
          <a:p>
            <a:pPr algn="l">
              <a:lnSpc>
                <a:spcPts val="4500"/>
              </a:lnSpc>
            </a:pPr>
            <a:r>
              <a:rPr lang="en-US" sz="4500">
                <a:solidFill>
                  <a:srgbClr val="0B132B"/>
                </a:solidFill>
                <a:latin typeface="Rubik One"/>
                <a:ea typeface="Rubik One"/>
                <a:cs typeface="Rubik One"/>
                <a:sym typeface="Rubik One"/>
              </a:rPr>
              <a:t>KRISIS UTAMA DAN URGENSI</a:t>
            </a:r>
          </a:p>
        </p:txBody>
      </p:sp>
      <p:sp>
        <p:nvSpPr>
          <p:cNvPr name="TextBox 36" id="36"/>
          <p:cNvSpPr txBox="true"/>
          <p:nvPr/>
        </p:nvSpPr>
        <p:spPr>
          <a:xfrm rot="0">
            <a:off x="3739024" y="2795287"/>
            <a:ext cx="4431380" cy="320625"/>
          </a:xfrm>
          <a:prstGeom prst="rect">
            <a:avLst/>
          </a:prstGeom>
        </p:spPr>
        <p:txBody>
          <a:bodyPr anchor="t" rtlCol="false" tIns="0" lIns="0" bIns="0" rIns="0">
            <a:spAutoFit/>
          </a:bodyPr>
          <a:lstStyle/>
          <a:p>
            <a:pPr algn="l">
              <a:lnSpc>
                <a:spcPts val="2499"/>
              </a:lnSpc>
            </a:pPr>
            <a:r>
              <a:rPr lang="en-US" sz="2499">
                <a:solidFill>
                  <a:srgbClr val="000000"/>
                </a:solidFill>
                <a:latin typeface="Rubik One"/>
                <a:ea typeface="Rubik One"/>
                <a:cs typeface="Rubik One"/>
                <a:sym typeface="Rubik One"/>
              </a:rPr>
              <a:t>The Demand Charge Trap</a:t>
            </a:r>
          </a:p>
        </p:txBody>
      </p:sp>
      <p:sp>
        <p:nvSpPr>
          <p:cNvPr name="TextBox 37" id="37"/>
          <p:cNvSpPr txBox="true"/>
          <p:nvPr/>
        </p:nvSpPr>
        <p:spPr>
          <a:xfrm rot="0">
            <a:off x="3739024" y="5102346"/>
            <a:ext cx="4431380" cy="320625"/>
          </a:xfrm>
          <a:prstGeom prst="rect">
            <a:avLst/>
          </a:prstGeom>
        </p:spPr>
        <p:txBody>
          <a:bodyPr anchor="t" rtlCol="false" tIns="0" lIns="0" bIns="0" rIns="0">
            <a:spAutoFit/>
          </a:bodyPr>
          <a:lstStyle/>
          <a:p>
            <a:pPr algn="l">
              <a:lnSpc>
                <a:spcPts val="2499"/>
              </a:lnSpc>
            </a:pPr>
            <a:r>
              <a:rPr lang="en-US" sz="2499">
                <a:solidFill>
                  <a:srgbClr val="0B132B"/>
                </a:solidFill>
                <a:latin typeface="Rubik One"/>
                <a:ea typeface="Rubik One"/>
                <a:cs typeface="Rubik One"/>
                <a:sym typeface="Rubik One"/>
              </a:rPr>
              <a:t>Disekuilibrium &amp; Antrean</a:t>
            </a:r>
          </a:p>
        </p:txBody>
      </p:sp>
      <p:sp>
        <p:nvSpPr>
          <p:cNvPr name="TextBox 38" id="38"/>
          <p:cNvSpPr txBox="true"/>
          <p:nvPr/>
        </p:nvSpPr>
        <p:spPr>
          <a:xfrm rot="0">
            <a:off x="3739024" y="7479187"/>
            <a:ext cx="4192549" cy="320625"/>
          </a:xfrm>
          <a:prstGeom prst="rect">
            <a:avLst/>
          </a:prstGeom>
        </p:spPr>
        <p:txBody>
          <a:bodyPr anchor="t" rtlCol="false" tIns="0" lIns="0" bIns="0" rIns="0">
            <a:spAutoFit/>
          </a:bodyPr>
          <a:lstStyle/>
          <a:p>
            <a:pPr algn="l">
              <a:lnSpc>
                <a:spcPts val="2499"/>
              </a:lnSpc>
            </a:pPr>
            <a:r>
              <a:rPr lang="en-US" sz="2499">
                <a:solidFill>
                  <a:srgbClr val="0B132B"/>
                </a:solidFill>
                <a:latin typeface="Rubik One"/>
                <a:ea typeface="Rubik One"/>
                <a:cs typeface="Rubik One"/>
                <a:sym typeface="Rubik One"/>
              </a:rPr>
              <a:t>Cold-Gating Penalty</a:t>
            </a:r>
          </a:p>
        </p:txBody>
      </p:sp>
      <p:sp>
        <p:nvSpPr>
          <p:cNvPr name="TextBox 39" id="39"/>
          <p:cNvSpPr txBox="true"/>
          <p:nvPr/>
        </p:nvSpPr>
        <p:spPr>
          <a:xfrm rot="0">
            <a:off x="3739024" y="3281103"/>
            <a:ext cx="4591815" cy="1102360"/>
          </a:xfrm>
          <a:prstGeom prst="rect">
            <a:avLst/>
          </a:prstGeom>
        </p:spPr>
        <p:txBody>
          <a:bodyPr anchor="t" rtlCol="false" tIns="0" lIns="0" bIns="0" rIns="0">
            <a:spAutoFit/>
          </a:bodyPr>
          <a:lstStyle/>
          <a:p>
            <a:pPr algn="just">
              <a:lnSpc>
                <a:spcPts val="2239"/>
              </a:lnSpc>
            </a:pPr>
            <a:r>
              <a:rPr lang="en-US" sz="1599" spc="39">
                <a:solidFill>
                  <a:srgbClr val="0B132B"/>
                </a:solidFill>
                <a:latin typeface="Bricolage Grotesque"/>
                <a:ea typeface="Bricolage Grotesque"/>
                <a:cs typeface="Bricolage Grotesque"/>
                <a:sym typeface="Bricolage Grotesque"/>
              </a:rPr>
              <a:t>Tarikan </a:t>
            </a:r>
            <a:r>
              <a:rPr lang="en-US" b="true" sz="1599" spc="39">
                <a:solidFill>
                  <a:srgbClr val="0B132B"/>
                </a:solidFill>
                <a:latin typeface="Bricolage Grotesque Bold"/>
                <a:ea typeface="Bricolage Grotesque Bold"/>
                <a:cs typeface="Bricolage Grotesque Bold"/>
                <a:sym typeface="Bricolage Grotesque Bold"/>
              </a:rPr>
              <a:t>b</a:t>
            </a:r>
            <a:r>
              <a:rPr lang="en-US" b="true" sz="1599" spc="39">
                <a:solidFill>
                  <a:srgbClr val="0B132B"/>
                </a:solidFill>
                <a:latin typeface="Bricolage Grotesque Bold"/>
                <a:ea typeface="Bricolage Grotesque Bold"/>
                <a:cs typeface="Bricolage Grotesque Bold"/>
                <a:sym typeface="Bricolage Grotesque Bold"/>
              </a:rPr>
              <a:t>eban puncak</a:t>
            </a:r>
            <a:r>
              <a:rPr lang="en-US" sz="1599" spc="39">
                <a:solidFill>
                  <a:srgbClr val="0B132B"/>
                </a:solidFill>
                <a:latin typeface="Bricolage Grotesque"/>
                <a:ea typeface="Bricolage Grotesque"/>
                <a:cs typeface="Bricolage Grotesque"/>
                <a:sym typeface="Bricolage Grotesque"/>
              </a:rPr>
              <a:t> sesaat di jam komuter menyumbang </a:t>
            </a:r>
            <a:r>
              <a:rPr lang="en-US" b="true" sz="1599" spc="39">
                <a:solidFill>
                  <a:srgbClr val="0B132B"/>
                </a:solidFill>
                <a:latin typeface="Bricolage Grotesque Bold"/>
                <a:ea typeface="Bricolage Grotesque Bold"/>
                <a:cs typeface="Bricolage Grotesque Bold"/>
                <a:sym typeface="Bricolage Grotesque Bold"/>
              </a:rPr>
              <a:t>50%–80%</a:t>
            </a:r>
            <a:r>
              <a:rPr lang="en-US" sz="1599" spc="39">
                <a:solidFill>
                  <a:srgbClr val="0B132B"/>
                </a:solidFill>
                <a:latin typeface="Bricolage Grotesque"/>
                <a:ea typeface="Bricolage Grotesque"/>
                <a:cs typeface="Bricolage Grotesque"/>
                <a:sym typeface="Bricolage Grotesque"/>
              </a:rPr>
              <a:t> dari total tagihan </a:t>
            </a:r>
            <a:r>
              <a:rPr lang="en-US" b="true" sz="1599" spc="39">
                <a:solidFill>
                  <a:srgbClr val="0B132B"/>
                </a:solidFill>
                <a:latin typeface="Bricolage Grotesque Bold"/>
                <a:ea typeface="Bricolage Grotesque Bold"/>
                <a:cs typeface="Bricolage Grotesque Bold"/>
                <a:sym typeface="Bricolage Grotesque Bold"/>
              </a:rPr>
              <a:t>listrik bulanan</a:t>
            </a:r>
            <a:r>
              <a:rPr lang="en-US" sz="1599" spc="39">
                <a:solidFill>
                  <a:srgbClr val="0B132B"/>
                </a:solidFill>
                <a:latin typeface="Bricolage Grotesque"/>
                <a:ea typeface="Bricolage Grotesque"/>
                <a:cs typeface="Bricolage Grotesque"/>
                <a:sym typeface="Bricolage Grotesque"/>
              </a:rPr>
              <a:t> CPO, </a:t>
            </a:r>
            <a:r>
              <a:rPr lang="en-US" b="true" sz="1599" spc="39">
                <a:solidFill>
                  <a:srgbClr val="0B132B"/>
                </a:solidFill>
                <a:latin typeface="Bricolage Grotesque Bold"/>
                <a:ea typeface="Bricolage Grotesque Bold"/>
                <a:cs typeface="Bricolage Grotesque Bold"/>
                <a:sym typeface="Bricolage Grotesque Bold"/>
              </a:rPr>
              <a:t>menguras </a:t>
            </a:r>
            <a:r>
              <a:rPr lang="en-US" sz="1599" spc="39">
                <a:solidFill>
                  <a:srgbClr val="0B132B"/>
                </a:solidFill>
                <a:latin typeface="Bricolage Grotesque"/>
                <a:ea typeface="Bricolage Grotesque"/>
                <a:cs typeface="Bricolage Grotesque"/>
                <a:sym typeface="Bricolage Grotesque"/>
              </a:rPr>
              <a:t>habis margin </a:t>
            </a:r>
            <a:r>
              <a:rPr lang="en-US" b="true" sz="1599" spc="39">
                <a:solidFill>
                  <a:srgbClr val="0B132B"/>
                </a:solidFill>
                <a:latin typeface="Bricolage Grotesque Bold"/>
                <a:ea typeface="Bricolage Grotesque Bold"/>
                <a:cs typeface="Bricolage Grotesque Bold"/>
                <a:sym typeface="Bricolage Grotesque Bold"/>
              </a:rPr>
              <a:t>pendapatan</a:t>
            </a:r>
            <a:r>
              <a:rPr lang="en-US" sz="1599" spc="39">
                <a:solidFill>
                  <a:srgbClr val="0B132B"/>
                </a:solidFill>
                <a:latin typeface="Bricolage Grotesque"/>
                <a:ea typeface="Bricolage Grotesque"/>
                <a:cs typeface="Bricolage Grotesque"/>
                <a:sym typeface="Bricolage Grotesque"/>
              </a:rPr>
              <a:t>. </a:t>
            </a:r>
          </a:p>
        </p:txBody>
      </p:sp>
      <p:sp>
        <p:nvSpPr>
          <p:cNvPr name="TextBox 40" id="40"/>
          <p:cNvSpPr txBox="true"/>
          <p:nvPr/>
        </p:nvSpPr>
        <p:spPr>
          <a:xfrm rot="0">
            <a:off x="3739024" y="5588161"/>
            <a:ext cx="4591815" cy="110236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K</a:t>
            </a:r>
            <a:r>
              <a:rPr lang="en-US" b="true" sz="1599" spc="39">
                <a:solidFill>
                  <a:srgbClr val="0B132B"/>
                </a:solidFill>
                <a:latin typeface="Bricolage Grotesque Bold"/>
                <a:ea typeface="Bricolage Grotesque Bold"/>
                <a:cs typeface="Bricolage Grotesque Bold"/>
                <a:sym typeface="Bricolage Grotesque Bold"/>
              </a:rPr>
              <a:t>etimpangan </a:t>
            </a:r>
            <a:r>
              <a:rPr lang="en-US" sz="1599" spc="39">
                <a:solidFill>
                  <a:srgbClr val="0B132B"/>
                </a:solidFill>
                <a:latin typeface="Bricolage Grotesque"/>
                <a:ea typeface="Bricolage Grotesque"/>
                <a:cs typeface="Bricolage Grotesque"/>
                <a:sym typeface="Bricolage Grotesque"/>
              </a:rPr>
              <a:t>ekstrem antara </a:t>
            </a:r>
            <a:r>
              <a:rPr lang="en-US" b="true" sz="1599" spc="39">
                <a:solidFill>
                  <a:srgbClr val="0B132B"/>
                </a:solidFill>
                <a:latin typeface="Bricolage Grotesque Bold"/>
                <a:ea typeface="Bricolage Grotesque Bold"/>
                <a:cs typeface="Bricolage Grotesque Bold"/>
                <a:sym typeface="Bricolage Grotesque Bold"/>
              </a:rPr>
              <a:t>antrean padat</a:t>
            </a:r>
            <a:r>
              <a:rPr lang="en-US" sz="1599" spc="39">
                <a:solidFill>
                  <a:srgbClr val="0B132B"/>
                </a:solidFill>
                <a:latin typeface="Bricolage Grotesque"/>
                <a:ea typeface="Bricolage Grotesque"/>
                <a:cs typeface="Bricolage Grotesque"/>
                <a:sym typeface="Bricolage Grotesque"/>
              </a:rPr>
              <a:t> </a:t>
            </a:r>
            <a:r>
              <a:rPr lang="en-US" b="true" sz="1599" spc="39">
                <a:solidFill>
                  <a:srgbClr val="0B132B"/>
                </a:solidFill>
                <a:latin typeface="Bricolage Grotesque Bold"/>
                <a:ea typeface="Bricolage Grotesque Bold"/>
                <a:cs typeface="Bricolage Grotesque Bold"/>
                <a:sym typeface="Bricolage Grotesque Bold"/>
              </a:rPr>
              <a:t>&gt; 75%</a:t>
            </a:r>
            <a:r>
              <a:rPr lang="en-US" sz="1599" spc="39">
                <a:solidFill>
                  <a:srgbClr val="0B132B"/>
                </a:solidFill>
                <a:latin typeface="Bricolage Grotesque"/>
                <a:ea typeface="Bricolage Grotesque"/>
                <a:cs typeface="Bricolage Grotesque"/>
                <a:sym typeface="Bricolage Grotesque"/>
              </a:rPr>
              <a:t> di jam sibuk (20% pengguna batal isi daya) dan stasiun </a:t>
            </a:r>
            <a:r>
              <a:rPr lang="en-US" b="true" sz="1599" spc="39">
                <a:solidFill>
                  <a:srgbClr val="0B132B"/>
                </a:solidFill>
                <a:latin typeface="Bricolage Grotesque Bold"/>
                <a:ea typeface="Bricolage Grotesque Bold"/>
                <a:cs typeface="Bricolage Grotesque Bold"/>
                <a:sym typeface="Bricolage Grotesque Bold"/>
              </a:rPr>
              <a:t>sekunder sepi</a:t>
            </a:r>
            <a:r>
              <a:rPr lang="en-US" sz="1599" spc="39">
                <a:solidFill>
                  <a:srgbClr val="0B132B"/>
                </a:solidFill>
                <a:latin typeface="Bricolage Grotesque"/>
                <a:ea typeface="Bricolage Grotesque"/>
                <a:cs typeface="Bricolage Grotesque"/>
                <a:sym typeface="Bricolage Grotesque"/>
              </a:rPr>
              <a:t> &lt;</a:t>
            </a:r>
            <a:r>
              <a:rPr lang="en-US" b="true" sz="1599" spc="39">
                <a:solidFill>
                  <a:srgbClr val="0B132B"/>
                </a:solidFill>
                <a:latin typeface="Bricolage Grotesque Bold"/>
                <a:ea typeface="Bricolage Grotesque Bold"/>
                <a:cs typeface="Bricolage Grotesque Bold"/>
                <a:sym typeface="Bricolage Grotesque Bold"/>
              </a:rPr>
              <a:t> 15% </a:t>
            </a:r>
            <a:r>
              <a:rPr lang="en-US" sz="1599" spc="39">
                <a:solidFill>
                  <a:srgbClr val="0B132B"/>
                </a:solidFill>
                <a:latin typeface="Bricolage Grotesque"/>
                <a:ea typeface="Bricolage Grotesque"/>
                <a:cs typeface="Bricolage Grotesque"/>
                <a:sym typeface="Bricolage Grotesque"/>
              </a:rPr>
              <a:t>yang membekukan modal CAPEX</a:t>
            </a:r>
          </a:p>
        </p:txBody>
      </p:sp>
      <p:sp>
        <p:nvSpPr>
          <p:cNvPr name="TextBox 41" id="41"/>
          <p:cNvSpPr txBox="true"/>
          <p:nvPr/>
        </p:nvSpPr>
        <p:spPr>
          <a:xfrm rot="0">
            <a:off x="9384496" y="6135454"/>
            <a:ext cx="7463257" cy="2830830"/>
          </a:xfrm>
          <a:prstGeom prst="rect">
            <a:avLst/>
          </a:prstGeom>
        </p:spPr>
        <p:txBody>
          <a:bodyPr anchor="t" rtlCol="false" tIns="0" lIns="0" bIns="0" rIns="0">
            <a:spAutoFit/>
          </a:bodyPr>
          <a:lstStyle/>
          <a:p>
            <a:pPr algn="just" marL="388618" indent="-194309" lvl="1">
              <a:lnSpc>
                <a:spcPts val="2519"/>
              </a:lnSpc>
              <a:buFont typeface="Arial"/>
              <a:buChar char="•"/>
            </a:pPr>
            <a:r>
              <a:rPr lang="en-US" b="true" sz="1799" spc="44">
                <a:solidFill>
                  <a:srgbClr val="0B132B"/>
                </a:solidFill>
                <a:latin typeface="Bricolage Grotesque Bold"/>
                <a:ea typeface="Bricolage Grotesque Bold"/>
                <a:cs typeface="Bricolage Grotesque Bold"/>
                <a:sym typeface="Bricolage Grotesque Bold"/>
              </a:rPr>
              <a:t>Lonjakan </a:t>
            </a:r>
            <a:r>
              <a:rPr lang="en-US" sz="1799" spc="44">
                <a:solidFill>
                  <a:srgbClr val="0B132B"/>
                </a:solidFill>
                <a:latin typeface="Bricolage Grotesque"/>
                <a:ea typeface="Bricolage Grotesque"/>
                <a:cs typeface="Bricolage Grotesque"/>
                <a:sym typeface="Bricolage Grotesque"/>
              </a:rPr>
              <a:t>beban saat </a:t>
            </a:r>
            <a:r>
              <a:rPr lang="en-US" b="true" sz="1799" spc="44">
                <a:solidFill>
                  <a:srgbClr val="0B132B"/>
                </a:solidFill>
                <a:latin typeface="Bricolage Grotesque Bold"/>
                <a:ea typeface="Bricolage Grotesque Bold"/>
                <a:cs typeface="Bricolage Grotesque Bold"/>
                <a:sym typeface="Bricolage Grotesque Bold"/>
              </a:rPr>
              <a:t>jam sibuk</a:t>
            </a:r>
            <a:r>
              <a:rPr lang="en-US" sz="1799" spc="44">
                <a:solidFill>
                  <a:srgbClr val="0B132B"/>
                </a:solidFill>
                <a:latin typeface="Bricolage Grotesque"/>
                <a:ea typeface="Bricolage Grotesque"/>
                <a:cs typeface="Bricolage Grotesque"/>
                <a:sym typeface="Bricolage Grotesque"/>
              </a:rPr>
              <a:t> dapat </a:t>
            </a:r>
            <a:r>
              <a:rPr lang="en-US" b="true" sz="1799" spc="44">
                <a:solidFill>
                  <a:srgbClr val="0B132B"/>
                </a:solidFill>
                <a:latin typeface="Bricolage Grotesque Bold"/>
                <a:ea typeface="Bricolage Grotesque Bold"/>
                <a:cs typeface="Bricolage Grotesque Bold"/>
                <a:sym typeface="Bricolage Grotesque Bold"/>
              </a:rPr>
              <a:t>menaikkan tagihan </a:t>
            </a:r>
            <a:r>
              <a:rPr lang="en-US" sz="1799" spc="44">
                <a:solidFill>
                  <a:srgbClr val="0B132B"/>
                </a:solidFill>
                <a:latin typeface="Bricolage Grotesque"/>
                <a:ea typeface="Bricolage Grotesque"/>
                <a:cs typeface="Bricolage Grotesque"/>
                <a:sym typeface="Bricolage Grotesque"/>
              </a:rPr>
              <a:t>demand charg</a:t>
            </a:r>
            <a:r>
              <a:rPr lang="en-US" sz="1799" spc="44">
                <a:solidFill>
                  <a:srgbClr val="0B132B"/>
                </a:solidFill>
                <a:latin typeface="Bricolage Grotesque"/>
                <a:ea typeface="Bricolage Grotesque"/>
                <a:cs typeface="Bricolage Grotesque"/>
                <a:sym typeface="Bricolage Grotesque"/>
              </a:rPr>
              <a:t>e, </a:t>
            </a:r>
            <a:r>
              <a:rPr lang="en-US" b="true" sz="1799" spc="44">
                <a:solidFill>
                  <a:srgbClr val="0B132B"/>
                </a:solidFill>
                <a:latin typeface="Bricolage Grotesque Bold"/>
                <a:ea typeface="Bricolage Grotesque Bold"/>
                <a:cs typeface="Bricolage Grotesque Bold"/>
                <a:sym typeface="Bricolage Grotesque Bold"/>
              </a:rPr>
              <a:t>menekan margin</a:t>
            </a:r>
            <a:r>
              <a:rPr lang="en-US" sz="1799" spc="44">
                <a:solidFill>
                  <a:srgbClr val="0B132B"/>
                </a:solidFill>
                <a:latin typeface="Bricolage Grotesque"/>
                <a:ea typeface="Bricolage Grotesque"/>
                <a:cs typeface="Bricolage Grotesque"/>
                <a:sym typeface="Bricolage Grotesque"/>
              </a:rPr>
              <a:t> operator, dan </a:t>
            </a:r>
            <a:r>
              <a:rPr lang="en-US" b="true" sz="1799" spc="44">
                <a:solidFill>
                  <a:srgbClr val="0B132B"/>
                </a:solidFill>
                <a:latin typeface="Bricolage Grotesque Bold"/>
                <a:ea typeface="Bricolage Grotesque Bold"/>
                <a:cs typeface="Bricolage Grotesque Bold"/>
                <a:sym typeface="Bricolage Grotesque Bold"/>
              </a:rPr>
              <a:t>mengurangi </a:t>
            </a:r>
            <a:r>
              <a:rPr lang="en-US" sz="1799" spc="44">
                <a:solidFill>
                  <a:srgbClr val="0B132B"/>
                </a:solidFill>
                <a:latin typeface="Bricolage Grotesque"/>
                <a:ea typeface="Bricolage Grotesque"/>
                <a:cs typeface="Bricolage Grotesque"/>
                <a:sym typeface="Bricolage Grotesque"/>
              </a:rPr>
              <a:t>kemampuan mereka membiayai </a:t>
            </a:r>
            <a:r>
              <a:rPr lang="en-US" b="true" sz="1799" spc="44">
                <a:solidFill>
                  <a:srgbClr val="0B132B"/>
                </a:solidFill>
                <a:latin typeface="Bricolage Grotesque Bold"/>
                <a:ea typeface="Bricolage Grotesque Bold"/>
                <a:cs typeface="Bricolage Grotesque Bold"/>
                <a:sym typeface="Bricolage Grotesque Bold"/>
              </a:rPr>
              <a:t>ekspansi </a:t>
            </a:r>
            <a:r>
              <a:rPr lang="en-US" sz="1799" spc="44">
                <a:solidFill>
                  <a:srgbClr val="0B132B"/>
                </a:solidFill>
                <a:latin typeface="Bricolage Grotesque"/>
                <a:ea typeface="Bricolage Grotesque"/>
                <a:cs typeface="Bricolage Grotesque"/>
                <a:sym typeface="Bricolage Grotesque"/>
              </a:rPr>
              <a:t>stasiun.</a:t>
            </a:r>
          </a:p>
          <a:p>
            <a:pPr algn="just" marL="388618" indent="-194309" lvl="1">
              <a:lnSpc>
                <a:spcPts val="2519"/>
              </a:lnSpc>
              <a:buFont typeface="Arial"/>
              <a:buChar char="•"/>
            </a:pPr>
            <a:r>
              <a:rPr lang="en-US" b="true" sz="1799" spc="44">
                <a:solidFill>
                  <a:srgbClr val="0B132B"/>
                </a:solidFill>
                <a:latin typeface="Bricolage Grotesque Bold"/>
                <a:ea typeface="Bricolage Grotesque Bold"/>
                <a:cs typeface="Bricolage Grotesque Bold"/>
                <a:sym typeface="Bricolage Grotesque Bold"/>
              </a:rPr>
              <a:t>A</a:t>
            </a:r>
            <a:r>
              <a:rPr lang="en-US" b="true" sz="1799" spc="44">
                <a:solidFill>
                  <a:srgbClr val="0B132B"/>
                </a:solidFill>
                <a:latin typeface="Bricolage Grotesque Bold"/>
                <a:ea typeface="Bricolage Grotesque Bold"/>
                <a:cs typeface="Bricolage Grotesque Bold"/>
                <a:sym typeface="Bricolage Grotesque Bold"/>
              </a:rPr>
              <a:t>ntrean </a:t>
            </a:r>
            <a:r>
              <a:rPr lang="en-US" sz="1799" spc="44">
                <a:solidFill>
                  <a:srgbClr val="0B132B"/>
                </a:solidFill>
                <a:latin typeface="Bricolage Grotesque"/>
                <a:ea typeface="Bricolage Grotesque"/>
                <a:cs typeface="Bricolage Grotesque"/>
                <a:sym typeface="Bricolage Grotesque"/>
              </a:rPr>
              <a:t>di stasiun </a:t>
            </a:r>
            <a:r>
              <a:rPr lang="en-US" b="true" sz="1799" spc="44">
                <a:solidFill>
                  <a:srgbClr val="0B132B"/>
                </a:solidFill>
                <a:latin typeface="Bricolage Grotesque Bold"/>
                <a:ea typeface="Bricolage Grotesque Bold"/>
                <a:cs typeface="Bricolage Grotesque Bold"/>
                <a:sym typeface="Bricolage Grotesque Bold"/>
              </a:rPr>
              <a:t>ramai </a:t>
            </a:r>
            <a:r>
              <a:rPr lang="en-US" sz="1799" spc="44">
                <a:solidFill>
                  <a:srgbClr val="0B132B"/>
                </a:solidFill>
                <a:latin typeface="Bricolage Grotesque"/>
                <a:ea typeface="Bricolage Grotesque"/>
                <a:cs typeface="Bricolage Grotesque"/>
                <a:sym typeface="Bricolage Grotesque"/>
              </a:rPr>
              <a:t>beresiko </a:t>
            </a:r>
            <a:r>
              <a:rPr lang="en-US" b="true" sz="1799" spc="44">
                <a:solidFill>
                  <a:srgbClr val="0B132B"/>
                </a:solidFill>
                <a:latin typeface="Bricolage Grotesque Bold"/>
                <a:ea typeface="Bricolage Grotesque Bold"/>
                <a:cs typeface="Bricolage Grotesque Bold"/>
                <a:sym typeface="Bricolage Grotesque Bold"/>
              </a:rPr>
              <a:t>menurunkan kenyamanan </a:t>
            </a:r>
            <a:r>
              <a:rPr lang="en-US" sz="1799" spc="44">
                <a:solidFill>
                  <a:srgbClr val="0B132B"/>
                </a:solidFill>
                <a:latin typeface="Bricolage Grotesque"/>
                <a:ea typeface="Bricolage Grotesque"/>
                <a:cs typeface="Bricolage Grotesque"/>
                <a:sym typeface="Bricolage Grotesque"/>
              </a:rPr>
              <a:t>pengguna, sementara stasiun yang </a:t>
            </a:r>
            <a:r>
              <a:rPr lang="en-US" b="true" sz="1799" spc="44">
                <a:solidFill>
                  <a:srgbClr val="0B132B"/>
                </a:solidFill>
                <a:latin typeface="Bricolage Grotesque Bold"/>
                <a:ea typeface="Bricolage Grotesque Bold"/>
                <a:cs typeface="Bricolage Grotesque Bold"/>
                <a:sym typeface="Bricolage Grotesque Bold"/>
              </a:rPr>
              <a:t>sepi </a:t>
            </a:r>
            <a:r>
              <a:rPr lang="en-US" sz="1799" spc="44">
                <a:solidFill>
                  <a:srgbClr val="0B132B"/>
                </a:solidFill>
                <a:latin typeface="Bricolage Grotesque"/>
                <a:ea typeface="Bricolage Grotesque"/>
                <a:cs typeface="Bricolage Grotesque"/>
                <a:sym typeface="Bricolage Grotesque"/>
              </a:rPr>
              <a:t>tetap </a:t>
            </a:r>
            <a:r>
              <a:rPr lang="en-US" b="true" sz="1799" spc="44">
                <a:solidFill>
                  <a:srgbClr val="0B132B"/>
                </a:solidFill>
                <a:latin typeface="Bricolage Grotesque Bold"/>
                <a:ea typeface="Bricolage Grotesque Bold"/>
                <a:cs typeface="Bricolage Grotesque Bold"/>
                <a:sym typeface="Bricolage Grotesque Bold"/>
              </a:rPr>
              <a:t>kurang produkti</a:t>
            </a:r>
            <a:r>
              <a:rPr lang="en-US" sz="1799" spc="44">
                <a:solidFill>
                  <a:srgbClr val="0B132B"/>
                </a:solidFill>
                <a:latin typeface="Bricolage Grotesque"/>
                <a:ea typeface="Bricolage Grotesque"/>
                <a:cs typeface="Bricolage Grotesque"/>
                <a:sym typeface="Bricolage Grotesque"/>
              </a:rPr>
              <a:t>f dan membuat </a:t>
            </a:r>
            <a:r>
              <a:rPr lang="en-US" b="true" sz="1799" spc="44">
                <a:solidFill>
                  <a:srgbClr val="0B132B"/>
                </a:solidFill>
                <a:latin typeface="Bricolage Grotesque Bold"/>
                <a:ea typeface="Bricolage Grotesque Bold"/>
                <a:cs typeface="Bricolage Grotesque Bold"/>
                <a:sym typeface="Bricolage Grotesque Bold"/>
              </a:rPr>
              <a:t>investasi </a:t>
            </a:r>
            <a:r>
              <a:rPr lang="en-US" sz="1799" spc="44">
                <a:solidFill>
                  <a:srgbClr val="0B132B"/>
                </a:solidFill>
                <a:latin typeface="Bricolage Grotesque"/>
                <a:ea typeface="Bricolage Grotesque"/>
                <a:cs typeface="Bricolage Grotesque"/>
                <a:sym typeface="Bricolage Grotesque"/>
              </a:rPr>
              <a:t>operator </a:t>
            </a:r>
            <a:r>
              <a:rPr lang="en-US" b="true" sz="1799" spc="44">
                <a:solidFill>
                  <a:srgbClr val="0B132B"/>
                </a:solidFill>
                <a:latin typeface="Bricolage Grotesque Bold"/>
                <a:ea typeface="Bricolage Grotesque Bold"/>
                <a:cs typeface="Bricolage Grotesque Bold"/>
                <a:sym typeface="Bricolage Grotesque Bold"/>
              </a:rPr>
              <a:t>tidak optimal</a:t>
            </a:r>
            <a:r>
              <a:rPr lang="en-US" sz="1799" spc="44">
                <a:solidFill>
                  <a:srgbClr val="0B132B"/>
                </a:solidFill>
                <a:latin typeface="Bricolage Grotesque"/>
                <a:ea typeface="Bricolage Grotesque"/>
                <a:cs typeface="Bricolage Grotesque"/>
                <a:sym typeface="Bricolage Grotesque"/>
              </a:rPr>
              <a:t>.</a:t>
            </a:r>
          </a:p>
          <a:p>
            <a:pPr algn="just" marL="388618" indent="-194309" lvl="1">
              <a:lnSpc>
                <a:spcPts val="2519"/>
              </a:lnSpc>
              <a:buFont typeface="Arial"/>
              <a:buChar char="•"/>
            </a:pPr>
            <a:r>
              <a:rPr lang="en-US" b="true" sz="1799" spc="44">
                <a:solidFill>
                  <a:srgbClr val="0B132B"/>
                </a:solidFill>
                <a:latin typeface="Bricolage Grotesque Bold"/>
                <a:ea typeface="Bricolage Grotesque Bold"/>
                <a:cs typeface="Bricolage Grotesque Bold"/>
                <a:sym typeface="Bricolage Grotesque Bold"/>
              </a:rPr>
              <a:t>P</a:t>
            </a:r>
            <a:r>
              <a:rPr lang="en-US" b="true" sz="1799" spc="44">
                <a:solidFill>
                  <a:srgbClr val="0B132B"/>
                </a:solidFill>
                <a:latin typeface="Bricolage Grotesque Bold"/>
                <a:ea typeface="Bricolage Grotesque Bold"/>
                <a:cs typeface="Bricolage Grotesque Bold"/>
                <a:sym typeface="Bricolage Grotesque Bold"/>
              </a:rPr>
              <a:t>engisian </a:t>
            </a:r>
            <a:r>
              <a:rPr lang="en-US" sz="1799" spc="44">
                <a:solidFill>
                  <a:srgbClr val="0B132B"/>
                </a:solidFill>
                <a:latin typeface="Bricolage Grotesque"/>
                <a:ea typeface="Bricolage Grotesque"/>
                <a:cs typeface="Bricolage Grotesque"/>
                <a:sym typeface="Bricolage Grotesque"/>
              </a:rPr>
              <a:t>yang lebih </a:t>
            </a:r>
            <a:r>
              <a:rPr lang="en-US" b="true" sz="1799" spc="44">
                <a:solidFill>
                  <a:srgbClr val="0B132B"/>
                </a:solidFill>
                <a:latin typeface="Bricolage Grotesque Bold"/>
                <a:ea typeface="Bricolage Grotesque Bold"/>
                <a:cs typeface="Bricolage Grotesque Bold"/>
                <a:sym typeface="Bricolage Grotesque Bold"/>
              </a:rPr>
              <a:t>lama </a:t>
            </a:r>
            <a:r>
              <a:rPr lang="en-US" sz="1799" spc="44">
                <a:solidFill>
                  <a:srgbClr val="0B132B"/>
                </a:solidFill>
                <a:latin typeface="Bricolage Grotesque"/>
                <a:ea typeface="Bricolage Grotesque"/>
                <a:cs typeface="Bricolage Grotesque"/>
                <a:sym typeface="Bricolage Grotesque"/>
              </a:rPr>
              <a:t>berpotensi</a:t>
            </a:r>
            <a:r>
              <a:rPr lang="en-US" b="true" sz="1799" spc="44">
                <a:solidFill>
                  <a:srgbClr val="0B132B"/>
                </a:solidFill>
                <a:latin typeface="Bricolage Grotesque Bold"/>
                <a:ea typeface="Bricolage Grotesque Bold"/>
                <a:cs typeface="Bricolage Grotesque Bold"/>
                <a:sym typeface="Bricolage Grotesque Bold"/>
              </a:rPr>
              <a:t> mengurangi ketersediaan </a:t>
            </a:r>
            <a:r>
              <a:rPr lang="en-US" sz="1799" spc="44">
                <a:solidFill>
                  <a:srgbClr val="0B132B"/>
                </a:solidFill>
                <a:latin typeface="Bricolage Grotesque"/>
                <a:ea typeface="Bricolage Grotesque"/>
                <a:cs typeface="Bricolage Grotesque"/>
                <a:sym typeface="Bricolage Grotesque"/>
              </a:rPr>
              <a:t>port, </a:t>
            </a:r>
            <a:r>
              <a:rPr lang="en-US" b="true" sz="1799" spc="44">
                <a:solidFill>
                  <a:srgbClr val="0B132B"/>
                </a:solidFill>
                <a:latin typeface="Bricolage Grotesque Bold"/>
                <a:ea typeface="Bricolage Grotesque Bold"/>
                <a:cs typeface="Bricolage Grotesque Bold"/>
                <a:sym typeface="Bricolage Grotesque Bold"/>
              </a:rPr>
              <a:t>memperlambat pergantian </a:t>
            </a:r>
            <a:r>
              <a:rPr lang="en-US" sz="1799" spc="44">
                <a:solidFill>
                  <a:srgbClr val="0B132B"/>
                </a:solidFill>
                <a:latin typeface="Bricolage Grotesque"/>
                <a:ea typeface="Bricolage Grotesque"/>
                <a:cs typeface="Bricolage Grotesque"/>
                <a:sym typeface="Bricolage Grotesque"/>
              </a:rPr>
              <a:t>kendaraan, dan </a:t>
            </a:r>
            <a:r>
              <a:rPr lang="en-US" b="true" sz="1799" spc="44">
                <a:solidFill>
                  <a:srgbClr val="0B132B"/>
                </a:solidFill>
                <a:latin typeface="Bricolage Grotesque Bold"/>
                <a:ea typeface="Bricolage Grotesque Bold"/>
                <a:cs typeface="Bricolage Grotesque Bold"/>
                <a:sym typeface="Bricolage Grotesque Bold"/>
              </a:rPr>
              <a:t>memperparah antrean </a:t>
            </a:r>
            <a:r>
              <a:rPr lang="en-US" sz="1799" spc="44">
                <a:solidFill>
                  <a:srgbClr val="0B132B"/>
                </a:solidFill>
                <a:latin typeface="Bricolage Grotesque"/>
                <a:ea typeface="Bricolage Grotesque"/>
                <a:cs typeface="Bricolage Grotesque"/>
                <a:sym typeface="Bricolage Grotesque"/>
              </a:rPr>
              <a:t>saat permintaan sedang </a:t>
            </a:r>
            <a:r>
              <a:rPr lang="en-US" b="true" sz="1799" spc="44">
                <a:solidFill>
                  <a:srgbClr val="0B132B"/>
                </a:solidFill>
                <a:latin typeface="Bricolage Grotesque Bold"/>
                <a:ea typeface="Bricolage Grotesque Bold"/>
                <a:cs typeface="Bricolage Grotesque Bold"/>
                <a:sym typeface="Bricolage Grotesque Bold"/>
              </a:rPr>
              <a:t>tinggi</a:t>
            </a:r>
            <a:r>
              <a:rPr lang="en-US" sz="1799" spc="44">
                <a:solidFill>
                  <a:srgbClr val="0B132B"/>
                </a:solidFill>
                <a:latin typeface="Bricolage Grotesque"/>
                <a:ea typeface="Bricolage Grotesque"/>
                <a:cs typeface="Bricolage Grotesque"/>
                <a:sym typeface="Bricolage Grotesque"/>
              </a:rPr>
              <a:t>.</a:t>
            </a:r>
          </a:p>
        </p:txBody>
      </p:sp>
      <p:sp>
        <p:nvSpPr>
          <p:cNvPr name="TextBox 42" id="42"/>
          <p:cNvSpPr txBox="true"/>
          <p:nvPr/>
        </p:nvSpPr>
        <p:spPr>
          <a:xfrm rot="0">
            <a:off x="3739024" y="7965003"/>
            <a:ext cx="4431380" cy="1102360"/>
          </a:xfrm>
          <a:prstGeom prst="rect">
            <a:avLst/>
          </a:prstGeom>
        </p:spPr>
        <p:txBody>
          <a:bodyPr anchor="t" rtlCol="false" tIns="0" lIns="0" bIns="0" rIns="0">
            <a:spAutoFit/>
          </a:bodyPr>
          <a:lstStyle/>
          <a:p>
            <a:pPr algn="just">
              <a:lnSpc>
                <a:spcPts val="2239"/>
              </a:lnSpc>
            </a:pPr>
            <a:r>
              <a:rPr lang="en-US" sz="1599" spc="39">
                <a:solidFill>
                  <a:srgbClr val="0B132B"/>
                </a:solidFill>
                <a:latin typeface="Bricolage Grotesque"/>
                <a:ea typeface="Bricolage Grotesque"/>
                <a:cs typeface="Bricolage Grotesque"/>
                <a:sym typeface="Bricolage Grotesque"/>
              </a:rPr>
              <a:t>Suhu</a:t>
            </a:r>
            <a:r>
              <a:rPr lang="en-US" sz="1599" spc="39">
                <a:solidFill>
                  <a:srgbClr val="0B132B"/>
                </a:solidFill>
                <a:latin typeface="Bricolage Grotesque"/>
                <a:ea typeface="Bricolage Grotesque"/>
                <a:cs typeface="Bricolage Grotesque"/>
                <a:sym typeface="Bricolage Grotesque"/>
              </a:rPr>
              <a:t> </a:t>
            </a:r>
            <a:r>
              <a:rPr lang="en-US" b="true" sz="1599" spc="39">
                <a:solidFill>
                  <a:srgbClr val="0B132B"/>
                </a:solidFill>
                <a:latin typeface="Bricolage Grotesque Bold"/>
                <a:ea typeface="Bricolage Grotesque Bold"/>
                <a:cs typeface="Bricolage Grotesque Bold"/>
                <a:sym typeface="Bricolage Grotesque Bold"/>
              </a:rPr>
              <a:t>beku </a:t>
            </a:r>
            <a:r>
              <a:rPr lang="en-US" sz="1599" spc="39">
                <a:solidFill>
                  <a:srgbClr val="0B132B"/>
                </a:solidFill>
                <a:latin typeface="Bricolage Grotesque"/>
                <a:ea typeface="Bricolage Grotesque"/>
                <a:cs typeface="Bricolage Grotesque"/>
                <a:sym typeface="Bricolage Grotesque"/>
              </a:rPr>
              <a:t>(&lt; 32°F) </a:t>
            </a:r>
            <a:r>
              <a:rPr lang="en-US" b="true" sz="1599" spc="39">
                <a:solidFill>
                  <a:srgbClr val="0B132B"/>
                </a:solidFill>
                <a:latin typeface="Bricolage Grotesque Bold"/>
                <a:ea typeface="Bricolage Grotesque Bold"/>
                <a:cs typeface="Bricolage Grotesque Bold"/>
                <a:sym typeface="Bricolage Grotesque Bold"/>
              </a:rPr>
              <a:t>memangkas </a:t>
            </a:r>
            <a:r>
              <a:rPr lang="en-US" sz="1599" spc="39">
                <a:solidFill>
                  <a:srgbClr val="0B132B"/>
                </a:solidFill>
                <a:latin typeface="Bricolage Grotesque"/>
                <a:ea typeface="Bricolage Grotesque"/>
                <a:cs typeface="Bricolage Grotesque"/>
                <a:sym typeface="Bricolage Grotesque"/>
              </a:rPr>
              <a:t>jarak tempuh hingga </a:t>
            </a:r>
            <a:r>
              <a:rPr lang="en-US" b="true" sz="1599" spc="39">
                <a:solidFill>
                  <a:srgbClr val="0B132B"/>
                </a:solidFill>
                <a:latin typeface="Bricolage Grotesque Bold"/>
                <a:ea typeface="Bricolage Grotesque Bold"/>
                <a:cs typeface="Bricolage Grotesque Bold"/>
                <a:sym typeface="Bricolage Grotesque Bold"/>
              </a:rPr>
              <a:t>41%</a:t>
            </a:r>
            <a:r>
              <a:rPr lang="en-US" sz="1599" spc="39">
                <a:solidFill>
                  <a:srgbClr val="0B132B"/>
                </a:solidFill>
                <a:latin typeface="Bricolage Grotesque"/>
                <a:ea typeface="Bricolage Grotesque"/>
                <a:cs typeface="Bricolage Grotesque"/>
                <a:sym typeface="Bricolage Grotesque"/>
              </a:rPr>
              <a:t> dan memicu fenomena cold-gating yang memperpanjang durasi colok baterai </a:t>
            </a:r>
            <a:r>
              <a:rPr lang="en-US" b="true" sz="1599" spc="39">
                <a:solidFill>
                  <a:srgbClr val="0B132B"/>
                </a:solidFill>
                <a:latin typeface="Bricolage Grotesque Bold"/>
                <a:ea typeface="Bricolage Grotesque Bold"/>
                <a:cs typeface="Bricolage Grotesque Bold"/>
                <a:sym typeface="Bricolage Grotesque Bold"/>
              </a:rPr>
              <a:t>30%–50%</a:t>
            </a:r>
            <a:r>
              <a:rPr lang="en-US" sz="1599" spc="39">
                <a:solidFill>
                  <a:srgbClr val="0B132B"/>
                </a:solidFill>
                <a:latin typeface="Bricolage Grotesque"/>
                <a:ea typeface="Bricolage Grotesque"/>
                <a:cs typeface="Bricolage Grotesque"/>
                <a:sym typeface="Bricolage Grotesque"/>
              </a:rPr>
              <a:t> (Recurrent Auto).</a:t>
            </a:r>
          </a:p>
        </p:txBody>
      </p:sp>
      <p:sp>
        <p:nvSpPr>
          <p:cNvPr name="TextBox 43" id="43"/>
          <p:cNvSpPr txBox="true"/>
          <p:nvPr/>
        </p:nvSpPr>
        <p:spPr>
          <a:xfrm rot="0">
            <a:off x="9384496" y="5619987"/>
            <a:ext cx="7325318" cy="378460"/>
          </a:xfrm>
          <a:prstGeom prst="rect">
            <a:avLst/>
          </a:prstGeom>
        </p:spPr>
        <p:txBody>
          <a:bodyPr anchor="t" rtlCol="false" tIns="0" lIns="0" bIns="0" rIns="0">
            <a:spAutoFit/>
          </a:bodyPr>
          <a:lstStyle/>
          <a:p>
            <a:pPr algn="l">
              <a:lnSpc>
                <a:spcPts val="2899"/>
              </a:lnSpc>
            </a:pPr>
            <a:r>
              <a:rPr lang="en-US" sz="2899">
                <a:solidFill>
                  <a:srgbClr val="0B132B"/>
                </a:solidFill>
                <a:latin typeface="Rubik One"/>
                <a:ea typeface="Rubik One"/>
                <a:cs typeface="Rubik One"/>
                <a:sym typeface="Rubik One"/>
              </a:rPr>
              <a:t>JIKA KRISIS TERSEBUT DIBIARKAN: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3150242"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4877675" y="9322533"/>
            <a:ext cx="2381625" cy="240665"/>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- 03</a:t>
            </a:r>
          </a:p>
        </p:txBody>
      </p:sp>
      <p:sp>
        <p:nvSpPr>
          <p:cNvPr name="TextBox 6" id="6"/>
          <p:cNvSpPr txBox="true"/>
          <p:nvPr/>
        </p:nvSpPr>
        <p:spPr>
          <a:xfrm rot="0">
            <a:off x="1706956" y="2623472"/>
            <a:ext cx="6217021" cy="1049457"/>
          </a:xfrm>
          <a:prstGeom prst="rect">
            <a:avLst/>
          </a:prstGeom>
        </p:spPr>
        <p:txBody>
          <a:bodyPr anchor="t" rtlCol="false" tIns="0" lIns="0" bIns="0" rIns="0">
            <a:spAutoFit/>
          </a:bodyPr>
          <a:lstStyle/>
          <a:p>
            <a:pPr algn="l">
              <a:lnSpc>
                <a:spcPts val="7942"/>
              </a:lnSpc>
            </a:pPr>
            <a:r>
              <a:rPr lang="en-US" sz="7942">
                <a:solidFill>
                  <a:srgbClr val="0B132B"/>
                </a:solidFill>
                <a:latin typeface="Rubik One"/>
                <a:ea typeface="Rubik One"/>
                <a:cs typeface="Rubik One"/>
                <a:sym typeface="Rubik One"/>
              </a:rPr>
              <a:t>Fear </a:t>
            </a:r>
            <a:r>
              <a:rPr lang="en-US" sz="7942">
                <a:solidFill>
                  <a:srgbClr val="00B58F"/>
                </a:solidFill>
                <a:latin typeface="Rubik One"/>
                <a:ea typeface="Rubik One"/>
                <a:cs typeface="Rubik One"/>
                <a:sym typeface="Rubik One"/>
              </a:rPr>
              <a:t>Not, </a:t>
            </a:r>
          </a:p>
        </p:txBody>
      </p:sp>
      <p:sp>
        <p:nvSpPr>
          <p:cNvPr name="TextBox 7" id="7"/>
          <p:cNvSpPr txBox="true"/>
          <p:nvPr/>
        </p:nvSpPr>
        <p:spPr>
          <a:xfrm rot="0">
            <a:off x="12329169" y="6876833"/>
            <a:ext cx="4515953" cy="1049457"/>
          </a:xfrm>
          <a:prstGeom prst="rect">
            <a:avLst/>
          </a:prstGeom>
        </p:spPr>
        <p:txBody>
          <a:bodyPr anchor="t" rtlCol="false" tIns="0" lIns="0" bIns="0" rIns="0">
            <a:spAutoFit/>
          </a:bodyPr>
          <a:lstStyle/>
          <a:p>
            <a:pPr algn="l">
              <a:lnSpc>
                <a:spcPts val="7942"/>
              </a:lnSpc>
            </a:pPr>
            <a:r>
              <a:rPr lang="en-US" sz="7942">
                <a:solidFill>
                  <a:srgbClr val="00B58F"/>
                </a:solidFill>
                <a:latin typeface="Rubik One"/>
                <a:ea typeface="Rubik One"/>
                <a:cs typeface="Rubik One"/>
                <a:sym typeface="Rubik One"/>
              </a:rPr>
              <a:t>Is</a:t>
            </a:r>
            <a:r>
              <a:rPr lang="en-US" sz="7942">
                <a:solidFill>
                  <a:srgbClr val="0B132B"/>
                </a:solidFill>
                <a:latin typeface="Rubik One"/>
                <a:ea typeface="Rubik One"/>
                <a:cs typeface="Rubik One"/>
                <a:sym typeface="Rubik One"/>
              </a:rPr>
              <a:t> Here.</a:t>
            </a:r>
          </a:p>
        </p:txBody>
      </p:sp>
      <p:grpSp>
        <p:nvGrpSpPr>
          <p:cNvPr name="Group 8" id="8"/>
          <p:cNvGrpSpPr/>
          <p:nvPr/>
        </p:nvGrpSpPr>
        <p:grpSpPr>
          <a:xfrm rot="0">
            <a:off x="1028700" y="793061"/>
            <a:ext cx="4463067" cy="235560"/>
            <a:chOff x="0" y="0"/>
            <a:chExt cx="5950756" cy="314080"/>
          </a:xfrm>
        </p:grpSpPr>
        <p:sp>
          <p:nvSpPr>
            <p:cNvPr name="Freeform 9" id="9"/>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Freeform 11" id="11"/>
          <p:cNvSpPr/>
          <p:nvPr/>
        </p:nvSpPr>
        <p:spPr>
          <a:xfrm flipH="false" flipV="false" rot="0">
            <a:off x="2702361" y="3160351"/>
            <a:ext cx="12311653" cy="3790315"/>
          </a:xfrm>
          <a:custGeom>
            <a:avLst/>
            <a:gdLst/>
            <a:ahLst/>
            <a:cxnLst/>
            <a:rect r="r" b="b" t="t" l="l"/>
            <a:pathLst>
              <a:path h="3790315" w="12311653">
                <a:moveTo>
                  <a:pt x="0" y="0"/>
                </a:moveTo>
                <a:lnTo>
                  <a:pt x="12311653" y="0"/>
                </a:lnTo>
                <a:lnTo>
                  <a:pt x="12311653" y="3790315"/>
                </a:lnTo>
                <a:lnTo>
                  <a:pt x="0" y="3790315"/>
                </a:lnTo>
                <a:lnTo>
                  <a:pt x="0" y="0"/>
                </a:lnTo>
                <a:close/>
              </a:path>
            </a:pathLst>
          </a:custGeom>
          <a:blipFill>
            <a:blip r:embed="rId4"/>
            <a:stretch>
              <a:fillRect l="-3129" t="0" r="-4084" b="-15815"/>
            </a:stretch>
          </a:blipFill>
        </p:spPr>
      </p:sp>
      <p:grpSp>
        <p:nvGrpSpPr>
          <p:cNvPr name="Group 12" id="12"/>
          <p:cNvGrpSpPr/>
          <p:nvPr/>
        </p:nvGrpSpPr>
        <p:grpSpPr>
          <a:xfrm rot="0">
            <a:off x="14338615" y="-784283"/>
            <a:ext cx="12457569" cy="1142074"/>
            <a:chOff x="0" y="0"/>
            <a:chExt cx="3217739" cy="294993"/>
          </a:xfrm>
        </p:grpSpPr>
        <p:sp>
          <p:nvSpPr>
            <p:cNvPr name="Freeform 13" id="13"/>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14" id="14"/>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1502671"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959063" y="-784283"/>
            <a:ext cx="9960587" cy="1142074"/>
            <a:chOff x="0" y="0"/>
            <a:chExt cx="2572779" cy="294993"/>
          </a:xfrm>
        </p:grpSpPr>
        <p:sp>
          <p:nvSpPr>
            <p:cNvPr name="Freeform 6" id="6"/>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7" id="7"/>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021146" y="1206238"/>
            <a:ext cx="4677088" cy="738552"/>
            <a:chOff x="0" y="0"/>
            <a:chExt cx="6236117" cy="984735"/>
          </a:xfrm>
        </p:grpSpPr>
        <p:grpSp>
          <p:nvGrpSpPr>
            <p:cNvPr name="Group 9" id="9"/>
            <p:cNvGrpSpPr/>
            <p:nvPr/>
          </p:nvGrpSpPr>
          <p:grpSpPr>
            <a:xfrm rot="0">
              <a:off x="0" y="0"/>
              <a:ext cx="6236117" cy="984735"/>
              <a:chOff x="0" y="0"/>
              <a:chExt cx="1208073" cy="190765"/>
            </a:xfrm>
          </p:grpSpPr>
          <p:sp>
            <p:nvSpPr>
              <p:cNvPr name="Freeform 10" id="10"/>
              <p:cNvSpPr/>
              <p:nvPr/>
            </p:nvSpPr>
            <p:spPr>
              <a:xfrm flipH="false" flipV="false" rot="0">
                <a:off x="0" y="0"/>
                <a:ext cx="1208073" cy="190765"/>
              </a:xfrm>
              <a:custGeom>
                <a:avLst/>
                <a:gdLst/>
                <a:ahLst/>
                <a:cxnLst/>
                <a:rect r="r" b="b" t="t" l="l"/>
                <a:pathLst>
                  <a:path h="190765" w="1208073">
                    <a:moveTo>
                      <a:pt x="16553" y="0"/>
                    </a:moveTo>
                    <a:lnTo>
                      <a:pt x="1191520" y="0"/>
                    </a:lnTo>
                    <a:cubicBezTo>
                      <a:pt x="1195910" y="0"/>
                      <a:pt x="1200120" y="1744"/>
                      <a:pt x="1203225" y="4848"/>
                    </a:cubicBezTo>
                    <a:cubicBezTo>
                      <a:pt x="1206329" y="7952"/>
                      <a:pt x="1208073" y="12163"/>
                      <a:pt x="1208073" y="16553"/>
                    </a:cubicBezTo>
                    <a:lnTo>
                      <a:pt x="1208073" y="174212"/>
                    </a:lnTo>
                    <a:cubicBezTo>
                      <a:pt x="1208073" y="178602"/>
                      <a:pt x="1206329" y="182812"/>
                      <a:pt x="1203225" y="185917"/>
                    </a:cubicBezTo>
                    <a:cubicBezTo>
                      <a:pt x="1200120" y="189021"/>
                      <a:pt x="1195910" y="190765"/>
                      <a:pt x="1191520" y="190765"/>
                    </a:cubicBezTo>
                    <a:lnTo>
                      <a:pt x="16553" y="190765"/>
                    </a:lnTo>
                    <a:cubicBezTo>
                      <a:pt x="12163" y="190765"/>
                      <a:pt x="7952" y="189021"/>
                      <a:pt x="4848" y="185917"/>
                    </a:cubicBezTo>
                    <a:cubicBezTo>
                      <a:pt x="1744" y="182812"/>
                      <a:pt x="0" y="178602"/>
                      <a:pt x="0" y="174212"/>
                    </a:cubicBezTo>
                    <a:lnTo>
                      <a:pt x="0" y="16553"/>
                    </a:lnTo>
                    <a:cubicBezTo>
                      <a:pt x="0" y="12163"/>
                      <a:pt x="1744" y="7952"/>
                      <a:pt x="4848" y="4848"/>
                    </a:cubicBezTo>
                    <a:cubicBezTo>
                      <a:pt x="7952" y="1744"/>
                      <a:pt x="12163" y="0"/>
                      <a:pt x="16553" y="0"/>
                    </a:cubicBezTo>
                    <a:close/>
                  </a:path>
                </a:pathLst>
              </a:custGeom>
              <a:solidFill>
                <a:srgbClr val="112752"/>
              </a:solidFill>
              <a:ln cap="sq">
                <a:noFill/>
                <a:prstDash val="solid"/>
                <a:miter/>
              </a:ln>
            </p:spPr>
          </p:sp>
          <p:sp>
            <p:nvSpPr>
              <p:cNvPr name="TextBox 11" id="11"/>
              <p:cNvSpPr txBox="true"/>
              <p:nvPr/>
            </p:nvSpPr>
            <p:spPr>
              <a:xfrm>
                <a:off x="0" y="-38100"/>
                <a:ext cx="1208073" cy="228865"/>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10800000">
              <a:off x="5279761" y="253735"/>
              <a:ext cx="711397" cy="622472"/>
              <a:chOff x="0" y="0"/>
              <a:chExt cx="812800" cy="711200"/>
            </a:xfrm>
          </p:grpSpPr>
          <p:sp>
            <p:nvSpPr>
              <p:cNvPr name="Freeform 13" id="13"/>
              <p:cNvSpPr/>
              <p:nvPr/>
            </p:nvSpPr>
            <p:spPr>
              <a:xfrm flipH="false" flipV="false" rot="0">
                <a:off x="60896" y="84206"/>
                <a:ext cx="691007" cy="626994"/>
              </a:xfrm>
              <a:custGeom>
                <a:avLst/>
                <a:gdLst/>
                <a:ahLst/>
                <a:cxnLst/>
                <a:rect r="r" b="b" t="t" l="l"/>
                <a:pathLst>
                  <a:path h="626994" w="691007">
                    <a:moveTo>
                      <a:pt x="417495" y="41778"/>
                    </a:moveTo>
                    <a:lnTo>
                      <a:pt x="679913" y="501010"/>
                    </a:lnTo>
                    <a:cubicBezTo>
                      <a:pt x="694806" y="527072"/>
                      <a:pt x="694699" y="559091"/>
                      <a:pt x="679632" y="585053"/>
                    </a:cubicBezTo>
                    <a:cubicBezTo>
                      <a:pt x="664566" y="611015"/>
                      <a:pt x="636818" y="626994"/>
                      <a:pt x="606801" y="626994"/>
                    </a:cubicBezTo>
                    <a:lnTo>
                      <a:pt x="84207" y="626994"/>
                    </a:lnTo>
                    <a:cubicBezTo>
                      <a:pt x="54190" y="626994"/>
                      <a:pt x="26442" y="611015"/>
                      <a:pt x="11376" y="585053"/>
                    </a:cubicBezTo>
                    <a:cubicBezTo>
                      <a:pt x="-3691" y="559091"/>
                      <a:pt x="-3798" y="527072"/>
                      <a:pt x="11095" y="501010"/>
                    </a:cubicBezTo>
                    <a:lnTo>
                      <a:pt x="273513" y="41778"/>
                    </a:lnTo>
                    <a:cubicBezTo>
                      <a:pt x="288275" y="15944"/>
                      <a:pt x="315749" y="0"/>
                      <a:pt x="345504" y="0"/>
                    </a:cubicBezTo>
                    <a:cubicBezTo>
                      <a:pt x="375259" y="0"/>
                      <a:pt x="402733" y="15944"/>
                      <a:pt x="417495" y="41778"/>
                    </a:cubicBezTo>
                    <a:close/>
                  </a:path>
                </a:pathLst>
              </a:custGeom>
              <a:solidFill>
                <a:srgbClr val="112752"/>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grpSp>
        <p:nvGrpSpPr>
          <p:cNvPr name="Group 15" id="15"/>
          <p:cNvGrpSpPr/>
          <p:nvPr/>
        </p:nvGrpSpPr>
        <p:grpSpPr>
          <a:xfrm rot="0">
            <a:off x="8325946" y="1202671"/>
            <a:ext cx="75130" cy="2066039"/>
            <a:chOff x="0" y="0"/>
            <a:chExt cx="19787" cy="544142"/>
          </a:xfrm>
        </p:grpSpPr>
        <p:sp>
          <p:nvSpPr>
            <p:cNvPr name="Freeform 16" id="16"/>
            <p:cNvSpPr/>
            <p:nvPr/>
          </p:nvSpPr>
          <p:spPr>
            <a:xfrm flipH="false" flipV="false" rot="0">
              <a:off x="0" y="0"/>
              <a:ext cx="19787" cy="544142"/>
            </a:xfrm>
            <a:custGeom>
              <a:avLst/>
              <a:gdLst/>
              <a:ahLst/>
              <a:cxnLst/>
              <a:rect r="r" b="b" t="t" l="l"/>
              <a:pathLst>
                <a:path h="544142" w="19787">
                  <a:moveTo>
                    <a:pt x="0" y="0"/>
                  </a:moveTo>
                  <a:lnTo>
                    <a:pt x="19787" y="0"/>
                  </a:lnTo>
                  <a:lnTo>
                    <a:pt x="19787" y="544142"/>
                  </a:lnTo>
                  <a:lnTo>
                    <a:pt x="0" y="544142"/>
                  </a:lnTo>
                  <a:close/>
                </a:path>
              </a:pathLst>
            </a:custGeom>
            <a:solidFill>
              <a:srgbClr val="00B58F"/>
            </a:solidFill>
          </p:spPr>
        </p:sp>
        <p:sp>
          <p:nvSpPr>
            <p:cNvPr name="TextBox 17" id="17"/>
            <p:cNvSpPr txBox="true"/>
            <p:nvPr/>
          </p:nvSpPr>
          <p:spPr>
            <a:xfrm>
              <a:off x="0" y="-38100"/>
              <a:ext cx="19787" cy="58224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5400000">
            <a:off x="9272483" y="-4579783"/>
            <a:ext cx="64303" cy="16551868"/>
            <a:chOff x="0" y="0"/>
            <a:chExt cx="16936" cy="4359340"/>
          </a:xfrm>
        </p:grpSpPr>
        <p:sp>
          <p:nvSpPr>
            <p:cNvPr name="Freeform 19" id="19"/>
            <p:cNvSpPr/>
            <p:nvPr/>
          </p:nvSpPr>
          <p:spPr>
            <a:xfrm flipH="false" flipV="false" rot="0">
              <a:off x="0" y="0"/>
              <a:ext cx="16936" cy="4359340"/>
            </a:xfrm>
            <a:custGeom>
              <a:avLst/>
              <a:gdLst/>
              <a:ahLst/>
              <a:cxnLst/>
              <a:rect r="r" b="b" t="t" l="l"/>
              <a:pathLst>
                <a:path h="4359340" w="16936">
                  <a:moveTo>
                    <a:pt x="0" y="0"/>
                  </a:moveTo>
                  <a:lnTo>
                    <a:pt x="16936" y="0"/>
                  </a:lnTo>
                  <a:lnTo>
                    <a:pt x="16936" y="4359340"/>
                  </a:lnTo>
                  <a:lnTo>
                    <a:pt x="0" y="4359340"/>
                  </a:lnTo>
                  <a:close/>
                </a:path>
              </a:pathLst>
            </a:custGeom>
            <a:solidFill>
              <a:srgbClr val="00B58F"/>
            </a:solidFill>
          </p:spPr>
        </p:sp>
        <p:sp>
          <p:nvSpPr>
            <p:cNvPr name="TextBox 20" id="20"/>
            <p:cNvSpPr txBox="true"/>
            <p:nvPr/>
          </p:nvSpPr>
          <p:spPr>
            <a:xfrm>
              <a:off x="0" y="-38100"/>
              <a:ext cx="16936" cy="439744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028700" y="793061"/>
            <a:ext cx="4463067" cy="235560"/>
            <a:chOff x="0" y="0"/>
            <a:chExt cx="5950756" cy="314080"/>
          </a:xfrm>
        </p:grpSpPr>
        <p:sp>
          <p:nvSpPr>
            <p:cNvPr name="Freeform 22" id="22"/>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3" id="23"/>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24" id="24"/>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- 04</a:t>
            </a:r>
          </a:p>
        </p:txBody>
      </p:sp>
      <p:grpSp>
        <p:nvGrpSpPr>
          <p:cNvPr name="Group 25" id="25"/>
          <p:cNvGrpSpPr/>
          <p:nvPr/>
        </p:nvGrpSpPr>
        <p:grpSpPr>
          <a:xfrm rot="0">
            <a:off x="10695121" y="1346402"/>
            <a:ext cx="2136135" cy="414481"/>
            <a:chOff x="0" y="0"/>
            <a:chExt cx="551755" cy="107059"/>
          </a:xfrm>
        </p:grpSpPr>
        <p:sp>
          <p:nvSpPr>
            <p:cNvPr name="Freeform 26" id="26"/>
            <p:cNvSpPr/>
            <p:nvPr/>
          </p:nvSpPr>
          <p:spPr>
            <a:xfrm flipH="false" flipV="false" rot="0">
              <a:off x="0" y="0"/>
              <a:ext cx="551755" cy="107059"/>
            </a:xfrm>
            <a:custGeom>
              <a:avLst/>
              <a:gdLst/>
              <a:ahLst/>
              <a:cxnLst/>
              <a:rect r="r" b="b" t="t" l="l"/>
              <a:pathLst>
                <a:path h="107059" w="551755">
                  <a:moveTo>
                    <a:pt x="36243" y="0"/>
                  </a:moveTo>
                  <a:lnTo>
                    <a:pt x="515512" y="0"/>
                  </a:lnTo>
                  <a:cubicBezTo>
                    <a:pt x="535529" y="0"/>
                    <a:pt x="551755" y="16226"/>
                    <a:pt x="551755" y="36243"/>
                  </a:cubicBezTo>
                  <a:lnTo>
                    <a:pt x="551755" y="70816"/>
                  </a:lnTo>
                  <a:cubicBezTo>
                    <a:pt x="551755" y="80428"/>
                    <a:pt x="547937" y="89647"/>
                    <a:pt x="541140" y="96444"/>
                  </a:cubicBezTo>
                  <a:cubicBezTo>
                    <a:pt x="534343" y="103240"/>
                    <a:pt x="525124" y="107059"/>
                    <a:pt x="515512" y="107059"/>
                  </a:cubicBezTo>
                  <a:lnTo>
                    <a:pt x="36243" y="107059"/>
                  </a:lnTo>
                  <a:cubicBezTo>
                    <a:pt x="16226" y="107059"/>
                    <a:pt x="0" y="90832"/>
                    <a:pt x="0" y="70816"/>
                  </a:cubicBezTo>
                  <a:lnTo>
                    <a:pt x="0" y="36243"/>
                  </a:lnTo>
                  <a:cubicBezTo>
                    <a:pt x="0" y="26631"/>
                    <a:pt x="3818" y="17412"/>
                    <a:pt x="10615" y="10615"/>
                  </a:cubicBezTo>
                  <a:cubicBezTo>
                    <a:pt x="17412" y="3818"/>
                    <a:pt x="26631" y="0"/>
                    <a:pt x="36243" y="0"/>
                  </a:cubicBezTo>
                  <a:close/>
                </a:path>
              </a:pathLst>
            </a:custGeom>
            <a:solidFill>
              <a:srgbClr val="FFFFFF"/>
            </a:solidFill>
            <a:ln cap="sq">
              <a:noFill/>
              <a:prstDash val="solid"/>
              <a:miter/>
            </a:ln>
          </p:spPr>
        </p:sp>
        <p:sp>
          <p:nvSpPr>
            <p:cNvPr name="TextBox 27" id="27"/>
            <p:cNvSpPr txBox="true"/>
            <p:nvPr/>
          </p:nvSpPr>
          <p:spPr>
            <a:xfrm>
              <a:off x="0" y="-38100"/>
              <a:ext cx="551755" cy="145159"/>
            </a:xfrm>
            <a:prstGeom prst="rect">
              <a:avLst/>
            </a:prstGeom>
          </p:spPr>
          <p:txBody>
            <a:bodyPr anchor="ctr" rtlCol="false" tIns="50800" lIns="50800" bIns="50800" rIns="50800"/>
            <a:lstStyle/>
            <a:p>
              <a:pPr algn="ctr">
                <a:lnSpc>
                  <a:spcPts val="2659"/>
                </a:lnSpc>
                <a:spcBef>
                  <a:spcPct val="0"/>
                </a:spcBef>
              </a:pPr>
            </a:p>
          </p:txBody>
        </p:sp>
      </p:grpSp>
      <p:sp>
        <p:nvSpPr>
          <p:cNvPr name="TextBox 28" id="28"/>
          <p:cNvSpPr txBox="true"/>
          <p:nvPr/>
        </p:nvSpPr>
        <p:spPr>
          <a:xfrm rot="0">
            <a:off x="9258300" y="1440209"/>
            <a:ext cx="3727548" cy="320675"/>
          </a:xfrm>
          <a:prstGeom prst="rect">
            <a:avLst/>
          </a:prstGeom>
        </p:spPr>
        <p:txBody>
          <a:bodyPr anchor="t" rtlCol="false" tIns="0" lIns="0" bIns="0" rIns="0">
            <a:spAutoFit/>
          </a:bodyPr>
          <a:lstStyle/>
          <a:p>
            <a:pPr algn="l">
              <a:lnSpc>
                <a:spcPts val="2499"/>
              </a:lnSpc>
            </a:pPr>
            <a:r>
              <a:rPr lang="en-US" sz="2499">
                <a:solidFill>
                  <a:srgbClr val="FFFFFF"/>
                </a:solidFill>
                <a:latin typeface="Rubik One"/>
                <a:ea typeface="Rubik One"/>
                <a:cs typeface="Rubik One"/>
                <a:sym typeface="Rubik One"/>
              </a:rPr>
              <a:t>APA ITU </a:t>
            </a:r>
            <a:r>
              <a:rPr lang="en-US" sz="2499">
                <a:solidFill>
                  <a:srgbClr val="112752"/>
                </a:solidFill>
                <a:latin typeface="Rubik One"/>
                <a:ea typeface="Rubik One"/>
                <a:cs typeface="Rubik One"/>
                <a:sym typeface="Rubik One"/>
              </a:rPr>
              <a:t>CHARGE</a:t>
            </a:r>
            <a:r>
              <a:rPr lang="en-US" sz="2499">
                <a:solidFill>
                  <a:srgbClr val="00B58F"/>
                </a:solidFill>
                <a:latin typeface="Rubik One"/>
                <a:ea typeface="Rubik One"/>
                <a:cs typeface="Rubik One"/>
                <a:sym typeface="Rubik One"/>
              </a:rPr>
              <a:t>IQ?</a:t>
            </a:r>
          </a:p>
        </p:txBody>
      </p:sp>
      <p:sp>
        <p:nvSpPr>
          <p:cNvPr name="TextBox 29" id="29"/>
          <p:cNvSpPr txBox="true"/>
          <p:nvPr/>
        </p:nvSpPr>
        <p:spPr>
          <a:xfrm rot="0">
            <a:off x="9021146" y="2130915"/>
            <a:ext cx="8559422" cy="1102360"/>
          </a:xfrm>
          <a:prstGeom prst="rect">
            <a:avLst/>
          </a:prstGeom>
        </p:spPr>
        <p:txBody>
          <a:bodyPr anchor="t" rtlCol="false" tIns="0" lIns="0" bIns="0" rIns="0">
            <a:spAutoFit/>
          </a:bodyPr>
          <a:lstStyle/>
          <a:p>
            <a:pPr algn="just">
              <a:lnSpc>
                <a:spcPts val="2239"/>
              </a:lnSpc>
            </a:pPr>
            <a:r>
              <a:rPr lang="en-US" b="true" sz="1599" spc="39">
                <a:solidFill>
                  <a:srgbClr val="0B132B"/>
                </a:solidFill>
                <a:latin typeface="Bricolage Grotesque Bold"/>
                <a:ea typeface="Bricolage Grotesque Bold"/>
                <a:cs typeface="Bricolage Grotesque Bold"/>
                <a:sym typeface="Bricolage Grotesque Bold"/>
              </a:rPr>
              <a:t>Cha</a:t>
            </a:r>
            <a:r>
              <a:rPr lang="en-US" b="true" sz="1599" spc="39">
                <a:solidFill>
                  <a:srgbClr val="0B132B"/>
                </a:solidFill>
                <a:latin typeface="Bricolage Grotesque Bold"/>
                <a:ea typeface="Bricolage Grotesque Bold"/>
                <a:cs typeface="Bricolage Grotesque Bold"/>
                <a:sym typeface="Bricolage Grotesque Bold"/>
              </a:rPr>
              <a:t>rgeIQ</a:t>
            </a:r>
            <a:r>
              <a:rPr lang="en-US" sz="1599" spc="39">
                <a:solidFill>
                  <a:srgbClr val="0B132B"/>
                </a:solidFill>
                <a:latin typeface="Bricolage Grotesque"/>
                <a:ea typeface="Bricolage Grotesque"/>
                <a:cs typeface="Bricolage Grotesque"/>
                <a:sym typeface="Bricolage Grotesque"/>
              </a:rPr>
              <a:t> hadir sebagai solusi </a:t>
            </a:r>
            <a:r>
              <a:rPr lang="en-US" b="true" sz="1599" spc="39">
                <a:solidFill>
                  <a:srgbClr val="0B132B"/>
                </a:solidFill>
                <a:latin typeface="Bricolage Grotesque Bold"/>
                <a:ea typeface="Bricolage Grotesque Bold"/>
                <a:cs typeface="Bricolage Grotesque Bold"/>
                <a:sym typeface="Bricolage Grotesque Bold"/>
              </a:rPr>
              <a:t>prediktif </a:t>
            </a:r>
            <a:r>
              <a:rPr lang="en-US" sz="1599" spc="39">
                <a:solidFill>
                  <a:srgbClr val="0B132B"/>
                </a:solidFill>
                <a:latin typeface="Bricolage Grotesque"/>
                <a:ea typeface="Bricolage Grotesque"/>
                <a:cs typeface="Bricolage Grotesque"/>
                <a:sym typeface="Bricolage Grotesque"/>
              </a:rPr>
              <a:t>terpadu yang </a:t>
            </a:r>
            <a:r>
              <a:rPr lang="en-US" b="true" sz="1599" spc="39">
                <a:solidFill>
                  <a:srgbClr val="0B132B"/>
                </a:solidFill>
                <a:latin typeface="Bricolage Grotesque Bold"/>
                <a:ea typeface="Bricolage Grotesque Bold"/>
                <a:cs typeface="Bricolage Grotesque Bold"/>
                <a:sym typeface="Bricolage Grotesque Bold"/>
              </a:rPr>
              <a:t>bertujuan </a:t>
            </a:r>
            <a:r>
              <a:rPr lang="en-US" sz="1599" spc="39">
                <a:solidFill>
                  <a:srgbClr val="0B132B"/>
                </a:solidFill>
                <a:latin typeface="Bricolage Grotesque"/>
                <a:ea typeface="Bricolage Grotesque"/>
                <a:cs typeface="Bricolage Grotesque"/>
                <a:sym typeface="Bricolage Grotesque"/>
              </a:rPr>
              <a:t>untuk mengubah </a:t>
            </a:r>
            <a:r>
              <a:rPr lang="en-US" b="true" sz="1599" spc="39">
                <a:solidFill>
                  <a:srgbClr val="0B132B"/>
                </a:solidFill>
                <a:latin typeface="Bricolage Grotesque Bold"/>
                <a:ea typeface="Bricolage Grotesque Bold"/>
                <a:cs typeface="Bricolage Grotesque Bold"/>
                <a:sym typeface="Bricolage Grotesque Bold"/>
              </a:rPr>
              <a:t>pengelolaan SPKLU</a:t>
            </a:r>
            <a:r>
              <a:rPr lang="en-US" sz="1599" spc="39">
                <a:solidFill>
                  <a:srgbClr val="0B132B"/>
                </a:solidFill>
                <a:latin typeface="Bricolage Grotesque"/>
                <a:ea typeface="Bricolage Grotesque"/>
                <a:cs typeface="Bricolage Grotesque"/>
                <a:sym typeface="Bricolage Grotesque"/>
              </a:rPr>
              <a:t> dari </a:t>
            </a:r>
            <a:r>
              <a:rPr lang="en-US" b="true" sz="1599" spc="39">
                <a:solidFill>
                  <a:srgbClr val="0B132B"/>
                </a:solidFill>
                <a:latin typeface="Bricolage Grotesque Bold"/>
                <a:ea typeface="Bricolage Grotesque Bold"/>
                <a:cs typeface="Bricolage Grotesque Bold"/>
                <a:sym typeface="Bricolage Grotesque Bold"/>
              </a:rPr>
              <a:t>reaktif </a:t>
            </a:r>
            <a:r>
              <a:rPr lang="en-US" sz="1599" spc="39">
                <a:solidFill>
                  <a:srgbClr val="0B132B"/>
                </a:solidFill>
                <a:latin typeface="Bricolage Grotesque"/>
                <a:ea typeface="Bricolage Grotesque"/>
                <a:cs typeface="Bricolage Grotesque"/>
                <a:sym typeface="Bricolage Grotesque"/>
              </a:rPr>
              <a:t>menjadi </a:t>
            </a:r>
            <a:r>
              <a:rPr lang="en-US" b="true" sz="1599" spc="39">
                <a:solidFill>
                  <a:srgbClr val="0B132B"/>
                </a:solidFill>
                <a:latin typeface="Bricolage Grotesque Bold"/>
                <a:ea typeface="Bricolage Grotesque Bold"/>
                <a:cs typeface="Bricolage Grotesque Bold"/>
                <a:sym typeface="Bricolage Grotesque Bold"/>
              </a:rPr>
              <a:t>preventif</a:t>
            </a:r>
            <a:r>
              <a:rPr lang="en-US" sz="1599" spc="39">
                <a:solidFill>
                  <a:srgbClr val="0B132B"/>
                </a:solidFill>
                <a:latin typeface="Bricolage Grotesque"/>
                <a:ea typeface="Bricolage Grotesque"/>
                <a:cs typeface="Bricolage Grotesque"/>
                <a:sym typeface="Bricolage Grotesque"/>
              </a:rPr>
              <a:t>: </a:t>
            </a:r>
            <a:r>
              <a:rPr lang="en-US" b="true" sz="1599" spc="39">
                <a:solidFill>
                  <a:srgbClr val="0B132B"/>
                </a:solidFill>
                <a:latin typeface="Bricolage Grotesque Bold"/>
                <a:ea typeface="Bricolage Grotesque Bold"/>
                <a:cs typeface="Bricolage Grotesque Bold"/>
                <a:sym typeface="Bricolage Grotesque Bold"/>
              </a:rPr>
              <a:t>meratakan </a:t>
            </a:r>
            <a:r>
              <a:rPr lang="en-US" sz="1599" spc="39">
                <a:solidFill>
                  <a:srgbClr val="0B132B"/>
                </a:solidFill>
                <a:latin typeface="Bricolage Grotesque"/>
                <a:ea typeface="Bricolage Grotesque"/>
                <a:cs typeface="Bricolage Grotesque"/>
                <a:sym typeface="Bricolage Grotesque"/>
              </a:rPr>
              <a:t>lonjakan beban komuter, </a:t>
            </a:r>
            <a:r>
              <a:rPr lang="en-US" b="true" sz="1599" spc="39">
                <a:solidFill>
                  <a:srgbClr val="0B132B"/>
                </a:solidFill>
                <a:latin typeface="Bricolage Grotesque Bold"/>
                <a:ea typeface="Bricolage Grotesque Bold"/>
                <a:cs typeface="Bricolage Grotesque Bold"/>
                <a:sym typeface="Bricolage Grotesque Bold"/>
              </a:rPr>
              <a:t>memitigasi </a:t>
            </a:r>
            <a:r>
              <a:rPr lang="en-US" sz="1599" spc="39">
                <a:solidFill>
                  <a:srgbClr val="0B132B"/>
                </a:solidFill>
                <a:latin typeface="Bricolage Grotesque"/>
                <a:ea typeface="Bricolage Grotesque"/>
                <a:cs typeface="Bricolage Grotesque"/>
                <a:sym typeface="Bricolage Grotesque"/>
              </a:rPr>
              <a:t>hambatan pengisian di cuaca ekstrem, serta </a:t>
            </a:r>
            <a:r>
              <a:rPr lang="en-US" b="true" sz="1599" spc="39">
                <a:solidFill>
                  <a:srgbClr val="0B132B"/>
                </a:solidFill>
                <a:latin typeface="Bricolage Grotesque Bold"/>
                <a:ea typeface="Bricolage Grotesque Bold"/>
                <a:cs typeface="Bricolage Grotesque Bold"/>
                <a:sym typeface="Bricolage Grotesque Bold"/>
              </a:rPr>
              <a:t>menjaga </a:t>
            </a:r>
            <a:r>
              <a:rPr lang="en-US" sz="1599" spc="39">
                <a:solidFill>
                  <a:srgbClr val="0B132B"/>
                </a:solidFill>
                <a:latin typeface="Bricolage Grotesque"/>
                <a:ea typeface="Bricolage Grotesque"/>
                <a:cs typeface="Bricolage Grotesque"/>
                <a:sym typeface="Bricolage Grotesque"/>
              </a:rPr>
              <a:t>margin bisnis operator secara berkelanjutan.</a:t>
            </a:r>
          </a:p>
        </p:txBody>
      </p:sp>
      <p:grpSp>
        <p:nvGrpSpPr>
          <p:cNvPr name="Group 30" id="30"/>
          <p:cNvGrpSpPr/>
          <p:nvPr/>
        </p:nvGrpSpPr>
        <p:grpSpPr>
          <a:xfrm rot="0">
            <a:off x="1143393" y="3899753"/>
            <a:ext cx="9551728" cy="738552"/>
            <a:chOff x="0" y="0"/>
            <a:chExt cx="2467172" cy="190765"/>
          </a:xfrm>
        </p:grpSpPr>
        <p:sp>
          <p:nvSpPr>
            <p:cNvPr name="Freeform 31" id="31"/>
            <p:cNvSpPr/>
            <p:nvPr/>
          </p:nvSpPr>
          <p:spPr>
            <a:xfrm flipH="false" flipV="false" rot="0">
              <a:off x="0" y="0"/>
              <a:ext cx="2467172" cy="190765"/>
            </a:xfrm>
            <a:custGeom>
              <a:avLst/>
              <a:gdLst/>
              <a:ahLst/>
              <a:cxnLst/>
              <a:rect r="r" b="b" t="t" l="l"/>
              <a:pathLst>
                <a:path h="190765" w="2467172">
                  <a:moveTo>
                    <a:pt x="8105" y="0"/>
                  </a:moveTo>
                  <a:lnTo>
                    <a:pt x="2459067" y="0"/>
                  </a:lnTo>
                  <a:cubicBezTo>
                    <a:pt x="2461217" y="0"/>
                    <a:pt x="2463279" y="854"/>
                    <a:pt x="2464799" y="2374"/>
                  </a:cubicBezTo>
                  <a:cubicBezTo>
                    <a:pt x="2466318" y="3894"/>
                    <a:pt x="2467172" y="5956"/>
                    <a:pt x="2467172" y="8105"/>
                  </a:cubicBezTo>
                  <a:lnTo>
                    <a:pt x="2467172" y="182660"/>
                  </a:lnTo>
                  <a:cubicBezTo>
                    <a:pt x="2467172" y="184809"/>
                    <a:pt x="2466318" y="186871"/>
                    <a:pt x="2464799" y="188391"/>
                  </a:cubicBezTo>
                  <a:cubicBezTo>
                    <a:pt x="2463279" y="189911"/>
                    <a:pt x="2461217" y="190765"/>
                    <a:pt x="2459067" y="190765"/>
                  </a:cubicBezTo>
                  <a:lnTo>
                    <a:pt x="8105" y="190765"/>
                  </a:lnTo>
                  <a:cubicBezTo>
                    <a:pt x="5956" y="190765"/>
                    <a:pt x="3894" y="189911"/>
                    <a:pt x="2374" y="188391"/>
                  </a:cubicBezTo>
                  <a:cubicBezTo>
                    <a:pt x="854" y="186871"/>
                    <a:pt x="0" y="184809"/>
                    <a:pt x="0" y="182660"/>
                  </a:cubicBezTo>
                  <a:lnTo>
                    <a:pt x="0" y="8105"/>
                  </a:lnTo>
                  <a:cubicBezTo>
                    <a:pt x="0" y="5956"/>
                    <a:pt x="854" y="3894"/>
                    <a:pt x="2374" y="2374"/>
                  </a:cubicBezTo>
                  <a:cubicBezTo>
                    <a:pt x="3894" y="854"/>
                    <a:pt x="5956" y="0"/>
                    <a:pt x="8105" y="0"/>
                  </a:cubicBezTo>
                  <a:close/>
                </a:path>
              </a:pathLst>
            </a:custGeom>
            <a:solidFill>
              <a:srgbClr val="112752"/>
            </a:solidFill>
            <a:ln cap="sq">
              <a:noFill/>
              <a:prstDash val="solid"/>
              <a:miter/>
            </a:ln>
          </p:spPr>
        </p:sp>
        <p:sp>
          <p:nvSpPr>
            <p:cNvPr name="TextBox 32" id="32"/>
            <p:cNvSpPr txBox="true"/>
            <p:nvPr/>
          </p:nvSpPr>
          <p:spPr>
            <a:xfrm>
              <a:off x="0" y="-38100"/>
              <a:ext cx="2467172" cy="228865"/>
            </a:xfrm>
            <a:prstGeom prst="rect">
              <a:avLst/>
            </a:prstGeom>
          </p:spPr>
          <p:txBody>
            <a:bodyPr anchor="ctr" rtlCol="false" tIns="50800" lIns="50800" bIns="50800" rIns="50800"/>
            <a:lstStyle/>
            <a:p>
              <a:pPr algn="ctr">
                <a:lnSpc>
                  <a:spcPts val="2659"/>
                </a:lnSpc>
                <a:spcBef>
                  <a:spcPct val="0"/>
                </a:spcBef>
              </a:pPr>
            </a:p>
          </p:txBody>
        </p:sp>
      </p:grpSp>
      <p:grpSp>
        <p:nvGrpSpPr>
          <p:cNvPr name="Group 33" id="33"/>
          <p:cNvGrpSpPr/>
          <p:nvPr/>
        </p:nvGrpSpPr>
        <p:grpSpPr>
          <a:xfrm rot="-10800000">
            <a:off x="9953212" y="4090054"/>
            <a:ext cx="503784" cy="466854"/>
            <a:chOff x="0" y="0"/>
            <a:chExt cx="767458" cy="711200"/>
          </a:xfrm>
        </p:grpSpPr>
        <p:sp>
          <p:nvSpPr>
            <p:cNvPr name="Freeform 34" id="34"/>
            <p:cNvSpPr/>
            <p:nvPr/>
          </p:nvSpPr>
          <p:spPr>
            <a:xfrm flipH="false" flipV="false" rot="0">
              <a:off x="61974" y="91701"/>
              <a:ext cx="643511" cy="619499"/>
            </a:xfrm>
            <a:custGeom>
              <a:avLst/>
              <a:gdLst/>
              <a:ahLst/>
              <a:cxnLst/>
              <a:rect r="r" b="b" t="t" l="l"/>
              <a:pathLst>
                <a:path h="619499" w="643511">
                  <a:moveTo>
                    <a:pt x="394727" y="43544"/>
                  </a:moveTo>
                  <a:lnTo>
                    <a:pt x="632513" y="484254"/>
                  </a:lnTo>
                  <a:cubicBezTo>
                    <a:pt x="647846" y="512672"/>
                    <a:pt x="647102" y="547059"/>
                    <a:pt x="630556" y="574788"/>
                  </a:cubicBezTo>
                  <a:cubicBezTo>
                    <a:pt x="614010" y="602516"/>
                    <a:pt x="584099" y="619499"/>
                    <a:pt x="551809" y="619499"/>
                  </a:cubicBezTo>
                  <a:lnTo>
                    <a:pt x="91701" y="619499"/>
                  </a:lnTo>
                  <a:cubicBezTo>
                    <a:pt x="59411" y="619499"/>
                    <a:pt x="29501" y="602516"/>
                    <a:pt x="12954" y="574788"/>
                  </a:cubicBezTo>
                  <a:cubicBezTo>
                    <a:pt x="-3592" y="547059"/>
                    <a:pt x="-4335" y="512672"/>
                    <a:pt x="10998" y="484254"/>
                  </a:cubicBezTo>
                  <a:lnTo>
                    <a:pt x="248784" y="43544"/>
                  </a:lnTo>
                  <a:cubicBezTo>
                    <a:pt x="263256" y="16721"/>
                    <a:pt x="291277" y="0"/>
                    <a:pt x="321755" y="0"/>
                  </a:cubicBezTo>
                  <a:cubicBezTo>
                    <a:pt x="352233" y="0"/>
                    <a:pt x="380255" y="16721"/>
                    <a:pt x="394727" y="43544"/>
                  </a:cubicBezTo>
                  <a:close/>
                </a:path>
              </a:pathLst>
            </a:custGeom>
            <a:solidFill>
              <a:srgbClr val="FFFFFF"/>
            </a:solidFill>
          </p:spPr>
        </p:sp>
        <p:sp>
          <p:nvSpPr>
            <p:cNvPr name="TextBox 35" id="35"/>
            <p:cNvSpPr txBox="true"/>
            <p:nvPr/>
          </p:nvSpPr>
          <p:spPr>
            <a:xfrm>
              <a:off x="119915" y="292100"/>
              <a:ext cx="527628" cy="3683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3089100" y="4061788"/>
            <a:ext cx="1900005" cy="414481"/>
            <a:chOff x="0" y="0"/>
            <a:chExt cx="490763" cy="107059"/>
          </a:xfrm>
        </p:grpSpPr>
        <p:sp>
          <p:nvSpPr>
            <p:cNvPr name="Freeform 37" id="37"/>
            <p:cNvSpPr/>
            <p:nvPr/>
          </p:nvSpPr>
          <p:spPr>
            <a:xfrm flipH="false" flipV="false" rot="0">
              <a:off x="0" y="0"/>
              <a:ext cx="490763" cy="107059"/>
            </a:xfrm>
            <a:custGeom>
              <a:avLst/>
              <a:gdLst/>
              <a:ahLst/>
              <a:cxnLst/>
              <a:rect r="r" b="b" t="t" l="l"/>
              <a:pathLst>
                <a:path h="107059" w="490763">
                  <a:moveTo>
                    <a:pt x="40747" y="0"/>
                  </a:moveTo>
                  <a:lnTo>
                    <a:pt x="450017" y="0"/>
                  </a:lnTo>
                  <a:cubicBezTo>
                    <a:pt x="460823" y="0"/>
                    <a:pt x="471187" y="4293"/>
                    <a:pt x="478829" y="11934"/>
                  </a:cubicBezTo>
                  <a:cubicBezTo>
                    <a:pt x="486471" y="19576"/>
                    <a:pt x="490763" y="29940"/>
                    <a:pt x="490763" y="40747"/>
                  </a:cubicBezTo>
                  <a:lnTo>
                    <a:pt x="490763" y="66312"/>
                  </a:lnTo>
                  <a:cubicBezTo>
                    <a:pt x="490763" y="77119"/>
                    <a:pt x="486471" y="87483"/>
                    <a:pt x="478829" y="95124"/>
                  </a:cubicBezTo>
                  <a:cubicBezTo>
                    <a:pt x="471187" y="102766"/>
                    <a:pt x="460823" y="107059"/>
                    <a:pt x="450017" y="107059"/>
                  </a:cubicBezTo>
                  <a:lnTo>
                    <a:pt x="40747" y="107059"/>
                  </a:lnTo>
                  <a:cubicBezTo>
                    <a:pt x="29940" y="107059"/>
                    <a:pt x="19576" y="102766"/>
                    <a:pt x="11934" y="95124"/>
                  </a:cubicBezTo>
                  <a:cubicBezTo>
                    <a:pt x="4293" y="87483"/>
                    <a:pt x="0" y="77119"/>
                    <a:pt x="0" y="66312"/>
                  </a:cubicBezTo>
                  <a:lnTo>
                    <a:pt x="0" y="40747"/>
                  </a:lnTo>
                  <a:cubicBezTo>
                    <a:pt x="0" y="29940"/>
                    <a:pt x="4293" y="19576"/>
                    <a:pt x="11934" y="11934"/>
                  </a:cubicBezTo>
                  <a:cubicBezTo>
                    <a:pt x="19576" y="4293"/>
                    <a:pt x="29940" y="0"/>
                    <a:pt x="40747" y="0"/>
                  </a:cubicBezTo>
                  <a:close/>
                </a:path>
              </a:pathLst>
            </a:custGeom>
            <a:solidFill>
              <a:srgbClr val="FFFFFF"/>
            </a:solidFill>
            <a:ln cap="sq">
              <a:noFill/>
              <a:prstDash val="solid"/>
              <a:miter/>
            </a:ln>
          </p:spPr>
        </p:sp>
        <p:sp>
          <p:nvSpPr>
            <p:cNvPr name="TextBox 38" id="38"/>
            <p:cNvSpPr txBox="true"/>
            <p:nvPr/>
          </p:nvSpPr>
          <p:spPr>
            <a:xfrm>
              <a:off x="0" y="-38100"/>
              <a:ext cx="490763" cy="145159"/>
            </a:xfrm>
            <a:prstGeom prst="rect">
              <a:avLst/>
            </a:prstGeom>
          </p:spPr>
          <p:txBody>
            <a:bodyPr anchor="ctr" rtlCol="false" tIns="50800" lIns="50800" bIns="50800" rIns="50800"/>
            <a:lstStyle/>
            <a:p>
              <a:pPr algn="ctr">
                <a:lnSpc>
                  <a:spcPts val="2659"/>
                </a:lnSpc>
                <a:spcBef>
                  <a:spcPct val="0"/>
                </a:spcBef>
              </a:pPr>
            </a:p>
          </p:txBody>
        </p:sp>
      </p:grpSp>
      <p:sp>
        <p:nvSpPr>
          <p:cNvPr name="TextBox 39" id="39"/>
          <p:cNvSpPr txBox="true"/>
          <p:nvPr/>
        </p:nvSpPr>
        <p:spPr>
          <a:xfrm rot="0">
            <a:off x="1372072" y="4155594"/>
            <a:ext cx="8506560" cy="320675"/>
          </a:xfrm>
          <a:prstGeom prst="rect">
            <a:avLst/>
          </a:prstGeom>
        </p:spPr>
        <p:txBody>
          <a:bodyPr anchor="t" rtlCol="false" tIns="0" lIns="0" bIns="0" rIns="0">
            <a:spAutoFit/>
          </a:bodyPr>
          <a:lstStyle/>
          <a:p>
            <a:pPr algn="l">
              <a:lnSpc>
                <a:spcPts val="2499"/>
              </a:lnSpc>
            </a:pPr>
            <a:r>
              <a:rPr lang="en-US" sz="2499">
                <a:solidFill>
                  <a:srgbClr val="FFFFFF"/>
                </a:solidFill>
                <a:latin typeface="Rubik One"/>
                <a:ea typeface="Rubik One"/>
                <a:cs typeface="Rubik One"/>
                <a:sym typeface="Rubik One"/>
              </a:rPr>
              <a:t>LANGKAH </a:t>
            </a:r>
            <a:r>
              <a:rPr lang="en-US" sz="2499">
                <a:solidFill>
                  <a:srgbClr val="112752"/>
                </a:solidFill>
                <a:latin typeface="Rubik One"/>
                <a:ea typeface="Rubik One"/>
                <a:cs typeface="Rubik One"/>
                <a:sym typeface="Rubik One"/>
              </a:rPr>
              <a:t>CHARGE</a:t>
            </a:r>
            <a:r>
              <a:rPr lang="en-US" sz="2499">
                <a:solidFill>
                  <a:srgbClr val="00B58F"/>
                </a:solidFill>
                <a:latin typeface="Rubik One"/>
                <a:ea typeface="Rubik One"/>
                <a:cs typeface="Rubik One"/>
                <a:sym typeface="Rubik One"/>
              </a:rPr>
              <a:t>IQ </a:t>
            </a:r>
            <a:r>
              <a:rPr lang="en-US" sz="2499">
                <a:solidFill>
                  <a:srgbClr val="FFFFFF"/>
                </a:solidFill>
                <a:latin typeface="Rubik One"/>
                <a:ea typeface="Rubik One"/>
                <a:cs typeface="Rubik One"/>
                <a:sym typeface="Rubik One"/>
              </a:rPr>
              <a:t>UNTUK MENCAPAI TUJUAN</a:t>
            </a:r>
          </a:p>
        </p:txBody>
      </p:sp>
      <p:grpSp>
        <p:nvGrpSpPr>
          <p:cNvPr name="Group 40" id="40"/>
          <p:cNvGrpSpPr/>
          <p:nvPr/>
        </p:nvGrpSpPr>
        <p:grpSpPr>
          <a:xfrm rot="0">
            <a:off x="6639988" y="5133904"/>
            <a:ext cx="5008023" cy="4057721"/>
            <a:chOff x="0" y="0"/>
            <a:chExt cx="1293552" cy="1048093"/>
          </a:xfrm>
        </p:grpSpPr>
        <p:sp>
          <p:nvSpPr>
            <p:cNvPr name="Freeform 41" id="41"/>
            <p:cNvSpPr/>
            <p:nvPr/>
          </p:nvSpPr>
          <p:spPr>
            <a:xfrm flipH="false" flipV="false" rot="0">
              <a:off x="0" y="0"/>
              <a:ext cx="1293552" cy="1048093"/>
            </a:xfrm>
            <a:custGeom>
              <a:avLst/>
              <a:gdLst/>
              <a:ahLst/>
              <a:cxnLst/>
              <a:rect r="r" b="b" t="t" l="l"/>
              <a:pathLst>
                <a:path h="1048093" w="1293552">
                  <a:moveTo>
                    <a:pt x="30918" y="0"/>
                  </a:moveTo>
                  <a:lnTo>
                    <a:pt x="1262634" y="0"/>
                  </a:lnTo>
                  <a:cubicBezTo>
                    <a:pt x="1270834" y="0"/>
                    <a:pt x="1278698" y="3257"/>
                    <a:pt x="1284496" y="9056"/>
                  </a:cubicBezTo>
                  <a:cubicBezTo>
                    <a:pt x="1290294" y="14854"/>
                    <a:pt x="1293552" y="22718"/>
                    <a:pt x="1293552" y="30918"/>
                  </a:cubicBezTo>
                  <a:lnTo>
                    <a:pt x="1293552" y="1017175"/>
                  </a:lnTo>
                  <a:cubicBezTo>
                    <a:pt x="1293552" y="1025375"/>
                    <a:pt x="1290294" y="1033239"/>
                    <a:pt x="1284496" y="1039037"/>
                  </a:cubicBezTo>
                  <a:cubicBezTo>
                    <a:pt x="1278698" y="1044835"/>
                    <a:pt x="1270834" y="1048093"/>
                    <a:pt x="1262634" y="1048093"/>
                  </a:cubicBezTo>
                  <a:lnTo>
                    <a:pt x="30918" y="1048093"/>
                  </a:lnTo>
                  <a:cubicBezTo>
                    <a:pt x="22718" y="1048093"/>
                    <a:pt x="14854" y="1044835"/>
                    <a:pt x="9056" y="1039037"/>
                  </a:cubicBezTo>
                  <a:cubicBezTo>
                    <a:pt x="3257" y="1033239"/>
                    <a:pt x="0" y="1025375"/>
                    <a:pt x="0" y="1017175"/>
                  </a:cubicBezTo>
                  <a:lnTo>
                    <a:pt x="0" y="30918"/>
                  </a:lnTo>
                  <a:cubicBezTo>
                    <a:pt x="0" y="22718"/>
                    <a:pt x="3257" y="14854"/>
                    <a:pt x="9056" y="9056"/>
                  </a:cubicBezTo>
                  <a:cubicBezTo>
                    <a:pt x="14854" y="3257"/>
                    <a:pt x="22718" y="0"/>
                    <a:pt x="30918" y="0"/>
                  </a:cubicBezTo>
                  <a:close/>
                </a:path>
              </a:pathLst>
            </a:custGeom>
            <a:solidFill>
              <a:srgbClr val="00B58F"/>
            </a:solidFill>
            <a:ln cap="sq">
              <a:noFill/>
              <a:prstDash val="solid"/>
              <a:miter/>
            </a:ln>
          </p:spPr>
        </p:sp>
        <p:sp>
          <p:nvSpPr>
            <p:cNvPr name="TextBox 42" id="42"/>
            <p:cNvSpPr txBox="true"/>
            <p:nvPr/>
          </p:nvSpPr>
          <p:spPr>
            <a:xfrm>
              <a:off x="0" y="-38100"/>
              <a:ext cx="1293552" cy="1086193"/>
            </a:xfrm>
            <a:prstGeom prst="rect">
              <a:avLst/>
            </a:prstGeom>
          </p:spPr>
          <p:txBody>
            <a:bodyPr anchor="ctr" rtlCol="false" tIns="50800" lIns="50800" bIns="50800" rIns="50800"/>
            <a:lstStyle/>
            <a:p>
              <a:pPr algn="ctr">
                <a:lnSpc>
                  <a:spcPts val="2659"/>
                </a:lnSpc>
                <a:spcBef>
                  <a:spcPct val="0"/>
                </a:spcBef>
              </a:pPr>
            </a:p>
          </p:txBody>
        </p:sp>
      </p:grpSp>
      <p:grpSp>
        <p:nvGrpSpPr>
          <p:cNvPr name="Group 43" id="43"/>
          <p:cNvGrpSpPr/>
          <p:nvPr/>
        </p:nvGrpSpPr>
        <p:grpSpPr>
          <a:xfrm rot="0">
            <a:off x="12136584" y="5133904"/>
            <a:ext cx="5008023" cy="4057721"/>
            <a:chOff x="0" y="0"/>
            <a:chExt cx="1293552" cy="1048093"/>
          </a:xfrm>
        </p:grpSpPr>
        <p:sp>
          <p:nvSpPr>
            <p:cNvPr name="Freeform 44" id="44"/>
            <p:cNvSpPr/>
            <p:nvPr/>
          </p:nvSpPr>
          <p:spPr>
            <a:xfrm flipH="false" flipV="false" rot="0">
              <a:off x="0" y="0"/>
              <a:ext cx="1293552" cy="1048093"/>
            </a:xfrm>
            <a:custGeom>
              <a:avLst/>
              <a:gdLst/>
              <a:ahLst/>
              <a:cxnLst/>
              <a:rect r="r" b="b" t="t" l="l"/>
              <a:pathLst>
                <a:path h="1048093" w="1293552">
                  <a:moveTo>
                    <a:pt x="30918" y="0"/>
                  </a:moveTo>
                  <a:lnTo>
                    <a:pt x="1262634" y="0"/>
                  </a:lnTo>
                  <a:cubicBezTo>
                    <a:pt x="1270834" y="0"/>
                    <a:pt x="1278698" y="3257"/>
                    <a:pt x="1284496" y="9056"/>
                  </a:cubicBezTo>
                  <a:cubicBezTo>
                    <a:pt x="1290294" y="14854"/>
                    <a:pt x="1293552" y="22718"/>
                    <a:pt x="1293552" y="30918"/>
                  </a:cubicBezTo>
                  <a:lnTo>
                    <a:pt x="1293552" y="1017175"/>
                  </a:lnTo>
                  <a:cubicBezTo>
                    <a:pt x="1293552" y="1025375"/>
                    <a:pt x="1290294" y="1033239"/>
                    <a:pt x="1284496" y="1039037"/>
                  </a:cubicBezTo>
                  <a:cubicBezTo>
                    <a:pt x="1278698" y="1044835"/>
                    <a:pt x="1270834" y="1048093"/>
                    <a:pt x="1262634" y="1048093"/>
                  </a:cubicBezTo>
                  <a:lnTo>
                    <a:pt x="30918" y="1048093"/>
                  </a:lnTo>
                  <a:cubicBezTo>
                    <a:pt x="22718" y="1048093"/>
                    <a:pt x="14854" y="1044835"/>
                    <a:pt x="9056" y="1039037"/>
                  </a:cubicBezTo>
                  <a:cubicBezTo>
                    <a:pt x="3257" y="1033239"/>
                    <a:pt x="0" y="1025375"/>
                    <a:pt x="0" y="1017175"/>
                  </a:cubicBezTo>
                  <a:lnTo>
                    <a:pt x="0" y="30918"/>
                  </a:lnTo>
                  <a:cubicBezTo>
                    <a:pt x="0" y="22718"/>
                    <a:pt x="3257" y="14854"/>
                    <a:pt x="9056" y="9056"/>
                  </a:cubicBezTo>
                  <a:cubicBezTo>
                    <a:pt x="14854" y="3257"/>
                    <a:pt x="22718" y="0"/>
                    <a:pt x="30918" y="0"/>
                  </a:cubicBezTo>
                  <a:close/>
                </a:path>
              </a:pathLst>
            </a:custGeom>
            <a:solidFill>
              <a:srgbClr val="00B58F"/>
            </a:solidFill>
            <a:ln cap="sq">
              <a:noFill/>
              <a:prstDash val="solid"/>
              <a:miter/>
            </a:ln>
          </p:spPr>
        </p:sp>
        <p:sp>
          <p:nvSpPr>
            <p:cNvPr name="TextBox 45" id="45"/>
            <p:cNvSpPr txBox="true"/>
            <p:nvPr/>
          </p:nvSpPr>
          <p:spPr>
            <a:xfrm>
              <a:off x="0" y="-38100"/>
              <a:ext cx="1293552" cy="1086193"/>
            </a:xfrm>
            <a:prstGeom prst="rect">
              <a:avLst/>
            </a:prstGeom>
          </p:spPr>
          <p:txBody>
            <a:bodyPr anchor="ctr" rtlCol="false" tIns="50800" lIns="50800" bIns="50800" rIns="50800"/>
            <a:lstStyle/>
            <a:p>
              <a:pPr algn="ctr">
                <a:lnSpc>
                  <a:spcPts val="2659"/>
                </a:lnSpc>
                <a:spcBef>
                  <a:spcPct val="0"/>
                </a:spcBef>
              </a:pPr>
            </a:p>
          </p:txBody>
        </p:sp>
      </p:grpSp>
      <p:grpSp>
        <p:nvGrpSpPr>
          <p:cNvPr name="Group 46" id="46"/>
          <p:cNvGrpSpPr/>
          <p:nvPr/>
        </p:nvGrpSpPr>
        <p:grpSpPr>
          <a:xfrm rot="0">
            <a:off x="6392176" y="5019855"/>
            <a:ext cx="4315820" cy="823887"/>
            <a:chOff x="0" y="0"/>
            <a:chExt cx="3842235" cy="733480"/>
          </a:xfrm>
        </p:grpSpPr>
        <p:sp>
          <p:nvSpPr>
            <p:cNvPr name="Freeform 47" id="47"/>
            <p:cNvSpPr/>
            <p:nvPr/>
          </p:nvSpPr>
          <p:spPr>
            <a:xfrm flipH="false" flipV="false" rot="0">
              <a:off x="6441" y="0"/>
              <a:ext cx="3829354" cy="733480"/>
            </a:xfrm>
            <a:custGeom>
              <a:avLst/>
              <a:gdLst/>
              <a:ahLst/>
              <a:cxnLst/>
              <a:rect r="r" b="b" t="t" l="l"/>
              <a:pathLst>
                <a:path h="733480" w="3829354">
                  <a:moveTo>
                    <a:pt x="223667" y="0"/>
                  </a:moveTo>
                  <a:lnTo>
                    <a:pt x="3808887" y="0"/>
                  </a:lnTo>
                  <a:cubicBezTo>
                    <a:pt x="3815280" y="0"/>
                    <a:pt x="3821306" y="2988"/>
                    <a:pt x="3825177" y="8076"/>
                  </a:cubicBezTo>
                  <a:cubicBezTo>
                    <a:pt x="3829047" y="13165"/>
                    <a:pt x="3830317" y="19770"/>
                    <a:pt x="3828611" y="25931"/>
                  </a:cubicBezTo>
                  <a:lnTo>
                    <a:pt x="3639778" y="707549"/>
                  </a:lnTo>
                  <a:cubicBezTo>
                    <a:pt x="3635533" y="722872"/>
                    <a:pt x="3621586" y="733480"/>
                    <a:pt x="3605687" y="733480"/>
                  </a:cubicBezTo>
                  <a:lnTo>
                    <a:pt x="20467" y="733480"/>
                  </a:lnTo>
                  <a:cubicBezTo>
                    <a:pt x="14073" y="733480"/>
                    <a:pt x="8047" y="730493"/>
                    <a:pt x="4177" y="725404"/>
                  </a:cubicBezTo>
                  <a:cubicBezTo>
                    <a:pt x="306" y="720316"/>
                    <a:pt x="-964" y="713711"/>
                    <a:pt x="743" y="707549"/>
                  </a:cubicBezTo>
                  <a:lnTo>
                    <a:pt x="189575" y="25931"/>
                  </a:lnTo>
                  <a:cubicBezTo>
                    <a:pt x="193820" y="10608"/>
                    <a:pt x="207767" y="0"/>
                    <a:pt x="223667" y="0"/>
                  </a:cubicBezTo>
                  <a:close/>
                </a:path>
              </a:pathLst>
            </a:custGeom>
            <a:solidFill>
              <a:srgbClr val="EDF6F9"/>
            </a:solidFill>
          </p:spPr>
        </p:sp>
        <p:sp>
          <p:nvSpPr>
            <p:cNvPr name="TextBox 48" id="48"/>
            <p:cNvSpPr txBox="true"/>
            <p:nvPr/>
          </p:nvSpPr>
          <p:spPr>
            <a:xfrm>
              <a:off x="101600" y="-38100"/>
              <a:ext cx="3639035" cy="771580"/>
            </a:xfrm>
            <a:prstGeom prst="rect">
              <a:avLst/>
            </a:prstGeom>
          </p:spPr>
          <p:txBody>
            <a:bodyPr anchor="ctr" rtlCol="false" tIns="50800" lIns="50800" bIns="50800" rIns="50800"/>
            <a:lstStyle/>
            <a:p>
              <a:pPr algn="ctr">
                <a:lnSpc>
                  <a:spcPts val="2659"/>
                </a:lnSpc>
              </a:pPr>
            </a:p>
          </p:txBody>
        </p:sp>
      </p:grpSp>
      <p:sp>
        <p:nvSpPr>
          <p:cNvPr name="TextBox 49" id="49"/>
          <p:cNvSpPr txBox="true"/>
          <p:nvPr/>
        </p:nvSpPr>
        <p:spPr>
          <a:xfrm rot="0">
            <a:off x="7219646" y="5333629"/>
            <a:ext cx="2927581" cy="424179"/>
          </a:xfrm>
          <a:prstGeom prst="rect">
            <a:avLst/>
          </a:prstGeom>
        </p:spPr>
        <p:txBody>
          <a:bodyPr anchor="t" rtlCol="false" tIns="0" lIns="0" bIns="0" rIns="0">
            <a:spAutoFit/>
          </a:bodyPr>
          <a:lstStyle/>
          <a:p>
            <a:pPr algn="l">
              <a:lnSpc>
                <a:spcPts val="3199"/>
              </a:lnSpc>
            </a:pPr>
            <a:r>
              <a:rPr lang="en-US" sz="3199">
                <a:solidFill>
                  <a:srgbClr val="112752"/>
                </a:solidFill>
                <a:latin typeface="Rubik One"/>
                <a:ea typeface="Rubik One"/>
                <a:cs typeface="Rubik One"/>
                <a:sym typeface="Rubik One"/>
              </a:rPr>
              <a:t>“WHAT</a:t>
            </a:r>
            <a:r>
              <a:rPr lang="en-US" sz="3199">
                <a:solidFill>
                  <a:srgbClr val="00B58F"/>
                </a:solidFill>
                <a:latin typeface="Rubik One"/>
                <a:ea typeface="Rubik One"/>
                <a:cs typeface="Rubik One"/>
                <a:sym typeface="Rubik One"/>
              </a:rPr>
              <a:t>-IF?”</a:t>
            </a:r>
          </a:p>
        </p:txBody>
      </p:sp>
      <p:sp>
        <p:nvSpPr>
          <p:cNvPr name="TextBox 50" id="50"/>
          <p:cNvSpPr txBox="true"/>
          <p:nvPr/>
        </p:nvSpPr>
        <p:spPr>
          <a:xfrm rot="0">
            <a:off x="6860883" y="5977093"/>
            <a:ext cx="4566234" cy="2947670"/>
          </a:xfrm>
          <a:prstGeom prst="rect">
            <a:avLst/>
          </a:prstGeom>
        </p:spPr>
        <p:txBody>
          <a:bodyPr anchor="t" rtlCol="false" tIns="0" lIns="0" bIns="0" rIns="0">
            <a:spAutoFit/>
          </a:bodyPr>
          <a:lstStyle/>
          <a:p>
            <a:pPr algn="just">
              <a:lnSpc>
                <a:spcPts val="2379"/>
              </a:lnSpc>
            </a:pPr>
            <a:r>
              <a:rPr lang="en-US" b="true" sz="1699" spc="42">
                <a:solidFill>
                  <a:srgbClr val="FFFFFF"/>
                </a:solidFill>
                <a:latin typeface="Bricolage Grotesque Semi-Bold"/>
                <a:ea typeface="Bricolage Grotesque Semi-Bold"/>
                <a:cs typeface="Bricolage Grotesque Semi-Bold"/>
                <a:sym typeface="Bricolage Grotesque Semi-Bold"/>
              </a:rPr>
              <a:t>P</a:t>
            </a:r>
            <a:r>
              <a:rPr lang="en-US" b="true" sz="1699" spc="42">
                <a:solidFill>
                  <a:srgbClr val="FFFFFF"/>
                </a:solidFill>
                <a:latin typeface="Bricolage Grotesque Semi-Bold"/>
                <a:ea typeface="Bricolage Grotesque Semi-Bold"/>
                <a:cs typeface="Bricolage Grotesque Semi-Bold"/>
                <a:sym typeface="Bricolage Grotesque Semi-Bold"/>
              </a:rPr>
              <a:t>rediksi diuji melalui berbagai skenario gangguan (What-if? Simulation), seperti lonjakan perjalanan liburan, cuaca beku, dan kombinasi keduanya. Simulasi ini membantu mengidentifikasi stasiun yang berpotensi menjadi bottleneck serta mengukur peningkatan risiko antrean sebelum kondisi tersebut terjadi. Sehingga operator dapat menyiapkan mitigasi.</a:t>
            </a:r>
          </a:p>
        </p:txBody>
      </p:sp>
      <p:grpSp>
        <p:nvGrpSpPr>
          <p:cNvPr name="Group 51" id="51"/>
          <p:cNvGrpSpPr/>
          <p:nvPr/>
        </p:nvGrpSpPr>
        <p:grpSpPr>
          <a:xfrm rot="0">
            <a:off x="11788421" y="5062083"/>
            <a:ext cx="4315820" cy="823887"/>
            <a:chOff x="0" y="0"/>
            <a:chExt cx="3842235" cy="733480"/>
          </a:xfrm>
        </p:grpSpPr>
        <p:sp>
          <p:nvSpPr>
            <p:cNvPr name="Freeform 52" id="52"/>
            <p:cNvSpPr/>
            <p:nvPr/>
          </p:nvSpPr>
          <p:spPr>
            <a:xfrm flipH="false" flipV="false" rot="0">
              <a:off x="6441" y="0"/>
              <a:ext cx="3829354" cy="733480"/>
            </a:xfrm>
            <a:custGeom>
              <a:avLst/>
              <a:gdLst/>
              <a:ahLst/>
              <a:cxnLst/>
              <a:rect r="r" b="b" t="t" l="l"/>
              <a:pathLst>
                <a:path h="733480" w="3829354">
                  <a:moveTo>
                    <a:pt x="223667" y="0"/>
                  </a:moveTo>
                  <a:lnTo>
                    <a:pt x="3808887" y="0"/>
                  </a:lnTo>
                  <a:cubicBezTo>
                    <a:pt x="3815280" y="0"/>
                    <a:pt x="3821306" y="2988"/>
                    <a:pt x="3825177" y="8076"/>
                  </a:cubicBezTo>
                  <a:cubicBezTo>
                    <a:pt x="3829047" y="13165"/>
                    <a:pt x="3830317" y="19770"/>
                    <a:pt x="3828611" y="25931"/>
                  </a:cubicBezTo>
                  <a:lnTo>
                    <a:pt x="3639778" y="707549"/>
                  </a:lnTo>
                  <a:cubicBezTo>
                    <a:pt x="3635533" y="722872"/>
                    <a:pt x="3621586" y="733480"/>
                    <a:pt x="3605687" y="733480"/>
                  </a:cubicBezTo>
                  <a:lnTo>
                    <a:pt x="20467" y="733480"/>
                  </a:lnTo>
                  <a:cubicBezTo>
                    <a:pt x="14073" y="733480"/>
                    <a:pt x="8047" y="730493"/>
                    <a:pt x="4177" y="725404"/>
                  </a:cubicBezTo>
                  <a:cubicBezTo>
                    <a:pt x="306" y="720316"/>
                    <a:pt x="-964" y="713711"/>
                    <a:pt x="743" y="707549"/>
                  </a:cubicBezTo>
                  <a:lnTo>
                    <a:pt x="189575" y="25931"/>
                  </a:lnTo>
                  <a:cubicBezTo>
                    <a:pt x="193820" y="10608"/>
                    <a:pt x="207767" y="0"/>
                    <a:pt x="223667" y="0"/>
                  </a:cubicBezTo>
                  <a:close/>
                </a:path>
              </a:pathLst>
            </a:custGeom>
            <a:solidFill>
              <a:srgbClr val="EDF6F9"/>
            </a:solidFill>
          </p:spPr>
        </p:sp>
        <p:sp>
          <p:nvSpPr>
            <p:cNvPr name="TextBox 53" id="53"/>
            <p:cNvSpPr txBox="true"/>
            <p:nvPr/>
          </p:nvSpPr>
          <p:spPr>
            <a:xfrm>
              <a:off x="101600" y="-38100"/>
              <a:ext cx="3639035" cy="771580"/>
            </a:xfrm>
            <a:prstGeom prst="rect">
              <a:avLst/>
            </a:prstGeom>
          </p:spPr>
          <p:txBody>
            <a:bodyPr anchor="ctr" rtlCol="false" tIns="50800" lIns="50800" bIns="50800" rIns="50800"/>
            <a:lstStyle/>
            <a:p>
              <a:pPr algn="ctr">
                <a:lnSpc>
                  <a:spcPts val="2659"/>
                </a:lnSpc>
              </a:pPr>
            </a:p>
          </p:txBody>
        </p:sp>
      </p:grpSp>
      <p:sp>
        <p:nvSpPr>
          <p:cNvPr name="TextBox 54" id="54"/>
          <p:cNvSpPr txBox="true"/>
          <p:nvPr/>
        </p:nvSpPr>
        <p:spPr>
          <a:xfrm rot="0">
            <a:off x="12600512" y="5333629"/>
            <a:ext cx="3254530" cy="424179"/>
          </a:xfrm>
          <a:prstGeom prst="rect">
            <a:avLst/>
          </a:prstGeom>
        </p:spPr>
        <p:txBody>
          <a:bodyPr anchor="t" rtlCol="false" tIns="0" lIns="0" bIns="0" rIns="0">
            <a:spAutoFit/>
          </a:bodyPr>
          <a:lstStyle/>
          <a:p>
            <a:pPr algn="l">
              <a:lnSpc>
                <a:spcPts val="3199"/>
              </a:lnSpc>
            </a:pPr>
            <a:r>
              <a:rPr lang="en-US" sz="3199">
                <a:solidFill>
                  <a:srgbClr val="112752"/>
                </a:solidFill>
                <a:latin typeface="Rubik One"/>
                <a:ea typeface="Rubik One"/>
                <a:cs typeface="Rubik One"/>
                <a:sym typeface="Rubik One"/>
              </a:rPr>
              <a:t>DASH</a:t>
            </a:r>
            <a:r>
              <a:rPr lang="en-US" sz="3199">
                <a:solidFill>
                  <a:srgbClr val="00B58F"/>
                </a:solidFill>
                <a:latin typeface="Rubik One"/>
                <a:ea typeface="Rubik One"/>
                <a:cs typeface="Rubik One"/>
                <a:sym typeface="Rubik One"/>
              </a:rPr>
              <a:t>BOARD</a:t>
            </a:r>
          </a:p>
        </p:txBody>
      </p:sp>
      <p:sp>
        <p:nvSpPr>
          <p:cNvPr name="TextBox 55" id="55"/>
          <p:cNvSpPr txBox="true"/>
          <p:nvPr/>
        </p:nvSpPr>
        <p:spPr>
          <a:xfrm rot="0">
            <a:off x="12352862" y="5977093"/>
            <a:ext cx="4566234" cy="2652395"/>
          </a:xfrm>
          <a:prstGeom prst="rect">
            <a:avLst/>
          </a:prstGeom>
        </p:spPr>
        <p:txBody>
          <a:bodyPr anchor="t" rtlCol="false" tIns="0" lIns="0" bIns="0" rIns="0">
            <a:spAutoFit/>
          </a:bodyPr>
          <a:lstStyle/>
          <a:p>
            <a:pPr algn="just">
              <a:lnSpc>
                <a:spcPts val="2379"/>
              </a:lnSpc>
            </a:pPr>
            <a:r>
              <a:rPr lang="en-US" b="true" sz="1699" spc="42">
                <a:solidFill>
                  <a:srgbClr val="FFFFFF"/>
                </a:solidFill>
                <a:latin typeface="Bricolage Grotesque Semi-Bold"/>
                <a:ea typeface="Bricolage Grotesque Semi-Bold"/>
                <a:cs typeface="Bricolage Grotesque Semi-Bold"/>
                <a:sym typeface="Bricolage Grotesque Semi-Bold"/>
              </a:rPr>
              <a:t>Hasil p</a:t>
            </a:r>
            <a:r>
              <a:rPr lang="en-US" b="true" sz="1699" spc="42">
                <a:solidFill>
                  <a:srgbClr val="FFFFFF"/>
                </a:solidFill>
                <a:latin typeface="Bricolage Grotesque Semi-Bold"/>
                <a:ea typeface="Bricolage Grotesque Semi-Bold"/>
                <a:cs typeface="Bricolage Grotesque Semi-Bold"/>
                <a:sym typeface="Bricolage Grotesque Semi-Bold"/>
              </a:rPr>
              <a:t>rediksi ChargeIQ disajikan melalui dasbor sebagai informasi pendukung keputusan, sehingga operator dapat memantau pola utilisasi secara berkala, mengidentifikasi stasiun dan periode yang berpotensi mengalami kepadatan, serta merencanakan respons operasional yang lebih cepat, tepat, dan sesuai dengan kondisi jaringan.</a:t>
            </a:r>
          </a:p>
        </p:txBody>
      </p:sp>
      <p:grpSp>
        <p:nvGrpSpPr>
          <p:cNvPr name="Group 56" id="56"/>
          <p:cNvGrpSpPr/>
          <p:nvPr/>
        </p:nvGrpSpPr>
        <p:grpSpPr>
          <a:xfrm rot="0">
            <a:off x="991072" y="5019855"/>
            <a:ext cx="5503118" cy="4331253"/>
            <a:chOff x="0" y="0"/>
            <a:chExt cx="7337491" cy="5775004"/>
          </a:xfrm>
        </p:grpSpPr>
        <p:grpSp>
          <p:nvGrpSpPr>
            <p:cNvPr name="Group 57" id="57"/>
            <p:cNvGrpSpPr/>
            <p:nvPr/>
          </p:nvGrpSpPr>
          <p:grpSpPr>
            <a:xfrm rot="0">
              <a:off x="203094" y="152065"/>
              <a:ext cx="6677364" cy="5410294"/>
              <a:chOff x="0" y="0"/>
              <a:chExt cx="1293552" cy="1048093"/>
            </a:xfrm>
          </p:grpSpPr>
          <p:sp>
            <p:nvSpPr>
              <p:cNvPr name="Freeform 58" id="58"/>
              <p:cNvSpPr/>
              <p:nvPr/>
            </p:nvSpPr>
            <p:spPr>
              <a:xfrm flipH="false" flipV="false" rot="0">
                <a:off x="0" y="0"/>
                <a:ext cx="1293552" cy="1048093"/>
              </a:xfrm>
              <a:custGeom>
                <a:avLst/>
                <a:gdLst/>
                <a:ahLst/>
                <a:cxnLst/>
                <a:rect r="r" b="b" t="t" l="l"/>
                <a:pathLst>
                  <a:path h="1048093" w="1293552">
                    <a:moveTo>
                      <a:pt x="30918" y="0"/>
                    </a:moveTo>
                    <a:lnTo>
                      <a:pt x="1262634" y="0"/>
                    </a:lnTo>
                    <a:cubicBezTo>
                      <a:pt x="1270834" y="0"/>
                      <a:pt x="1278698" y="3257"/>
                      <a:pt x="1284496" y="9056"/>
                    </a:cubicBezTo>
                    <a:cubicBezTo>
                      <a:pt x="1290294" y="14854"/>
                      <a:pt x="1293552" y="22718"/>
                      <a:pt x="1293552" y="30918"/>
                    </a:cubicBezTo>
                    <a:lnTo>
                      <a:pt x="1293552" y="1017175"/>
                    </a:lnTo>
                    <a:cubicBezTo>
                      <a:pt x="1293552" y="1025375"/>
                      <a:pt x="1290294" y="1033239"/>
                      <a:pt x="1284496" y="1039037"/>
                    </a:cubicBezTo>
                    <a:cubicBezTo>
                      <a:pt x="1278698" y="1044835"/>
                      <a:pt x="1270834" y="1048093"/>
                      <a:pt x="1262634" y="1048093"/>
                    </a:cubicBezTo>
                    <a:lnTo>
                      <a:pt x="30918" y="1048093"/>
                    </a:lnTo>
                    <a:cubicBezTo>
                      <a:pt x="22718" y="1048093"/>
                      <a:pt x="14854" y="1044835"/>
                      <a:pt x="9056" y="1039037"/>
                    </a:cubicBezTo>
                    <a:cubicBezTo>
                      <a:pt x="3257" y="1033239"/>
                      <a:pt x="0" y="1025375"/>
                      <a:pt x="0" y="1017175"/>
                    </a:cubicBezTo>
                    <a:lnTo>
                      <a:pt x="0" y="30918"/>
                    </a:lnTo>
                    <a:cubicBezTo>
                      <a:pt x="0" y="22718"/>
                      <a:pt x="3257" y="14854"/>
                      <a:pt x="9056" y="9056"/>
                    </a:cubicBezTo>
                    <a:cubicBezTo>
                      <a:pt x="14854" y="3257"/>
                      <a:pt x="22718" y="0"/>
                      <a:pt x="30918" y="0"/>
                    </a:cubicBezTo>
                    <a:close/>
                  </a:path>
                </a:pathLst>
              </a:custGeom>
              <a:solidFill>
                <a:srgbClr val="00B58F"/>
              </a:solidFill>
              <a:ln cap="sq">
                <a:noFill/>
                <a:prstDash val="solid"/>
                <a:miter/>
              </a:ln>
            </p:spPr>
          </p:sp>
          <p:sp>
            <p:nvSpPr>
              <p:cNvPr name="TextBox 59" id="59"/>
              <p:cNvSpPr txBox="true"/>
              <p:nvPr/>
            </p:nvSpPr>
            <p:spPr>
              <a:xfrm>
                <a:off x="0" y="-38100"/>
                <a:ext cx="1293552" cy="1086193"/>
              </a:xfrm>
              <a:prstGeom prst="rect">
                <a:avLst/>
              </a:prstGeom>
            </p:spPr>
            <p:txBody>
              <a:bodyPr anchor="ctr" rtlCol="false" tIns="50800" lIns="50800" bIns="50800" rIns="50800"/>
              <a:lstStyle/>
              <a:p>
                <a:pPr algn="ctr">
                  <a:lnSpc>
                    <a:spcPts val="2659"/>
                  </a:lnSpc>
                  <a:spcBef>
                    <a:spcPct val="0"/>
                  </a:spcBef>
                </a:pPr>
              </a:p>
            </p:txBody>
          </p:sp>
        </p:grpSp>
        <p:sp>
          <p:nvSpPr>
            <p:cNvPr name="TextBox 60" id="60"/>
            <p:cNvSpPr txBox="true"/>
            <p:nvPr/>
          </p:nvSpPr>
          <p:spPr>
            <a:xfrm rot="0">
              <a:off x="482600" y="1301717"/>
              <a:ext cx="6088313" cy="3916939"/>
            </a:xfrm>
            <a:prstGeom prst="rect">
              <a:avLst/>
            </a:prstGeom>
          </p:spPr>
          <p:txBody>
            <a:bodyPr anchor="t" rtlCol="false" tIns="0" lIns="0" bIns="0" rIns="0">
              <a:spAutoFit/>
            </a:bodyPr>
            <a:lstStyle/>
            <a:p>
              <a:pPr algn="just">
                <a:lnSpc>
                  <a:spcPts val="2379"/>
                </a:lnSpc>
              </a:pPr>
              <a:r>
                <a:rPr lang="en-US" b="true" sz="1699" spc="42">
                  <a:solidFill>
                    <a:srgbClr val="FFFFFF"/>
                  </a:solidFill>
                  <a:latin typeface="Bricolage Grotesque Semi-Bold"/>
                  <a:ea typeface="Bricolage Grotesque Semi-Bold"/>
                  <a:cs typeface="Bricolage Grotesque Semi-Bold"/>
                  <a:sym typeface="Bricolage Grotesque Semi-Bold"/>
                </a:rPr>
                <a:t>Cha</a:t>
              </a:r>
              <a:r>
                <a:rPr lang="en-US" b="true" sz="1699" spc="42">
                  <a:solidFill>
                    <a:srgbClr val="FFFFFF"/>
                  </a:solidFill>
                  <a:latin typeface="Bricolage Grotesque Semi-Bold"/>
                  <a:ea typeface="Bricolage Grotesque Semi-Bold"/>
                  <a:cs typeface="Bricolage Grotesque Semi-Bold"/>
                  <a:sym typeface="Bricolage Grotesque Semi-Bold"/>
                </a:rPr>
                <a:t>rgeIQ mengolah pola waktu, karakteristik stasiun, kondisi cuaca, serta riwayat utilisasi untuk memprediksi risiko kepadatan SPKLU setiap 30 menit. Proses ini menggunakan 83 fitur bebas kebocoran dan 30 varian model GBDT dari LightGBM, CatBoost, dan XGBoost yang digabungkan melalui stacking untuk menghasilkan prediksi yang lebih akurat dan stabil.</a:t>
              </a:r>
            </a:p>
          </p:txBody>
        </p:sp>
        <p:grpSp>
          <p:nvGrpSpPr>
            <p:cNvPr name="Group 61" id="61"/>
            <p:cNvGrpSpPr/>
            <p:nvPr/>
          </p:nvGrpSpPr>
          <p:grpSpPr>
            <a:xfrm rot="0">
              <a:off x="0" y="0"/>
              <a:ext cx="5754427" cy="1098517"/>
              <a:chOff x="0" y="0"/>
              <a:chExt cx="3842235" cy="733480"/>
            </a:xfrm>
          </p:grpSpPr>
          <p:sp>
            <p:nvSpPr>
              <p:cNvPr name="Freeform 62" id="62"/>
              <p:cNvSpPr/>
              <p:nvPr/>
            </p:nvSpPr>
            <p:spPr>
              <a:xfrm flipH="false" flipV="false" rot="0">
                <a:off x="6441" y="0"/>
                <a:ext cx="3829354" cy="733480"/>
              </a:xfrm>
              <a:custGeom>
                <a:avLst/>
                <a:gdLst/>
                <a:ahLst/>
                <a:cxnLst/>
                <a:rect r="r" b="b" t="t" l="l"/>
                <a:pathLst>
                  <a:path h="733480" w="3829354">
                    <a:moveTo>
                      <a:pt x="223667" y="0"/>
                    </a:moveTo>
                    <a:lnTo>
                      <a:pt x="3808887" y="0"/>
                    </a:lnTo>
                    <a:cubicBezTo>
                      <a:pt x="3815280" y="0"/>
                      <a:pt x="3821306" y="2988"/>
                      <a:pt x="3825177" y="8076"/>
                    </a:cubicBezTo>
                    <a:cubicBezTo>
                      <a:pt x="3829047" y="13165"/>
                      <a:pt x="3830317" y="19770"/>
                      <a:pt x="3828611" y="25931"/>
                    </a:cubicBezTo>
                    <a:lnTo>
                      <a:pt x="3639778" y="707549"/>
                    </a:lnTo>
                    <a:cubicBezTo>
                      <a:pt x="3635533" y="722872"/>
                      <a:pt x="3621586" y="733480"/>
                      <a:pt x="3605687" y="733480"/>
                    </a:cubicBezTo>
                    <a:lnTo>
                      <a:pt x="20467" y="733480"/>
                    </a:lnTo>
                    <a:cubicBezTo>
                      <a:pt x="14073" y="733480"/>
                      <a:pt x="8047" y="730493"/>
                      <a:pt x="4177" y="725404"/>
                    </a:cubicBezTo>
                    <a:cubicBezTo>
                      <a:pt x="306" y="720316"/>
                      <a:pt x="-964" y="713711"/>
                      <a:pt x="743" y="707549"/>
                    </a:cubicBezTo>
                    <a:lnTo>
                      <a:pt x="189575" y="25931"/>
                    </a:lnTo>
                    <a:cubicBezTo>
                      <a:pt x="193820" y="10608"/>
                      <a:pt x="207767" y="0"/>
                      <a:pt x="223667" y="0"/>
                    </a:cubicBezTo>
                    <a:close/>
                  </a:path>
                </a:pathLst>
              </a:custGeom>
              <a:solidFill>
                <a:srgbClr val="EDF6F9"/>
              </a:solidFill>
            </p:spPr>
          </p:sp>
          <p:sp>
            <p:nvSpPr>
              <p:cNvPr name="TextBox 63" id="63"/>
              <p:cNvSpPr txBox="true"/>
              <p:nvPr/>
            </p:nvSpPr>
            <p:spPr>
              <a:xfrm>
                <a:off x="101600" y="-38100"/>
                <a:ext cx="3639035" cy="771580"/>
              </a:xfrm>
              <a:prstGeom prst="rect">
                <a:avLst/>
              </a:prstGeom>
            </p:spPr>
            <p:txBody>
              <a:bodyPr anchor="ctr" rtlCol="false" tIns="50800" lIns="50800" bIns="50800" rIns="50800"/>
              <a:lstStyle/>
              <a:p>
                <a:pPr algn="ctr">
                  <a:lnSpc>
                    <a:spcPts val="2659"/>
                  </a:lnSpc>
                </a:pPr>
              </a:p>
            </p:txBody>
          </p:sp>
        </p:grpSp>
        <p:sp>
          <p:nvSpPr>
            <p:cNvPr name="TextBox 64" id="64"/>
            <p:cNvSpPr txBox="true"/>
            <p:nvPr/>
          </p:nvSpPr>
          <p:spPr>
            <a:xfrm rot="0">
              <a:off x="367739" y="399315"/>
              <a:ext cx="4738988" cy="584623"/>
            </a:xfrm>
            <a:prstGeom prst="rect">
              <a:avLst/>
            </a:prstGeom>
          </p:spPr>
          <p:txBody>
            <a:bodyPr anchor="t" rtlCol="false" tIns="0" lIns="0" bIns="0" rIns="0">
              <a:spAutoFit/>
            </a:bodyPr>
            <a:lstStyle/>
            <a:p>
              <a:pPr algn="l">
                <a:lnSpc>
                  <a:spcPts val="3199"/>
                </a:lnSpc>
              </a:pPr>
              <a:r>
                <a:rPr lang="en-US" sz="3199">
                  <a:solidFill>
                    <a:srgbClr val="112752"/>
                  </a:solidFill>
                  <a:latin typeface="Rubik One"/>
                  <a:ea typeface="Rubik One"/>
                  <a:cs typeface="Rubik One"/>
                  <a:sym typeface="Rubik One"/>
                </a:rPr>
                <a:t>RISK</a:t>
              </a:r>
              <a:r>
                <a:rPr lang="en-US" sz="3199">
                  <a:solidFill>
                    <a:srgbClr val="FFFFFF"/>
                  </a:solidFill>
                  <a:latin typeface="Rubik One"/>
                  <a:ea typeface="Rubik One"/>
                  <a:cs typeface="Rubik One"/>
                  <a:sym typeface="Rubik One"/>
                </a:rPr>
                <a:t> </a:t>
              </a:r>
              <a:r>
                <a:rPr lang="en-US" sz="3199">
                  <a:solidFill>
                    <a:srgbClr val="00B58F"/>
                  </a:solidFill>
                  <a:latin typeface="Rubik One"/>
                  <a:ea typeface="Rubik One"/>
                  <a:cs typeface="Rubik One"/>
                  <a:sym typeface="Rubik One"/>
                </a:rPr>
                <a:t>MODELING</a:t>
              </a:r>
            </a:p>
          </p:txBody>
        </p:sp>
        <p:grpSp>
          <p:nvGrpSpPr>
            <p:cNvPr name="Group 65" id="65"/>
            <p:cNvGrpSpPr/>
            <p:nvPr/>
          </p:nvGrpSpPr>
          <p:grpSpPr>
            <a:xfrm rot="0">
              <a:off x="3526756" y="5047537"/>
              <a:ext cx="3810735" cy="727467"/>
              <a:chOff x="0" y="0"/>
              <a:chExt cx="3842235" cy="733480"/>
            </a:xfrm>
          </p:grpSpPr>
          <p:sp>
            <p:nvSpPr>
              <p:cNvPr name="Freeform 66" id="66"/>
              <p:cNvSpPr/>
              <p:nvPr/>
            </p:nvSpPr>
            <p:spPr>
              <a:xfrm flipH="false" flipV="false" rot="0">
                <a:off x="9726" y="0"/>
                <a:ext cx="3822784" cy="733480"/>
              </a:xfrm>
              <a:custGeom>
                <a:avLst/>
                <a:gdLst/>
                <a:ahLst/>
                <a:cxnLst/>
                <a:rect r="r" b="b" t="t" l="l"/>
                <a:pathLst>
                  <a:path h="733480" w="3822784">
                    <a:moveTo>
                      <a:pt x="234106" y="0"/>
                    </a:moveTo>
                    <a:lnTo>
                      <a:pt x="3791877" y="0"/>
                    </a:lnTo>
                    <a:cubicBezTo>
                      <a:pt x="3801531" y="0"/>
                      <a:pt x="3810631" y="4511"/>
                      <a:pt x="3816476" y="12195"/>
                    </a:cubicBezTo>
                    <a:cubicBezTo>
                      <a:pt x="3822321" y="19880"/>
                      <a:pt x="3824239" y="29853"/>
                      <a:pt x="3821661" y="39157"/>
                    </a:cubicBezTo>
                    <a:lnTo>
                      <a:pt x="3640157" y="694323"/>
                    </a:lnTo>
                    <a:cubicBezTo>
                      <a:pt x="3633747" y="717462"/>
                      <a:pt x="3612687" y="733480"/>
                      <a:pt x="3588677" y="733480"/>
                    </a:cubicBezTo>
                    <a:lnTo>
                      <a:pt x="30906" y="733480"/>
                    </a:lnTo>
                    <a:cubicBezTo>
                      <a:pt x="21252" y="733480"/>
                      <a:pt x="12152" y="728969"/>
                      <a:pt x="6307" y="721285"/>
                    </a:cubicBezTo>
                    <a:cubicBezTo>
                      <a:pt x="463" y="713601"/>
                      <a:pt x="-1456" y="703627"/>
                      <a:pt x="1122" y="694323"/>
                    </a:cubicBezTo>
                    <a:lnTo>
                      <a:pt x="182626" y="39157"/>
                    </a:lnTo>
                    <a:cubicBezTo>
                      <a:pt x="189036" y="16019"/>
                      <a:pt x="210096" y="0"/>
                      <a:pt x="234106" y="0"/>
                    </a:cubicBezTo>
                    <a:close/>
                  </a:path>
                </a:pathLst>
              </a:custGeom>
              <a:solidFill>
                <a:srgbClr val="EDF6F9"/>
              </a:solidFill>
            </p:spPr>
          </p:sp>
          <p:sp>
            <p:nvSpPr>
              <p:cNvPr name="TextBox 67" id="67"/>
              <p:cNvSpPr txBox="true"/>
              <p:nvPr/>
            </p:nvSpPr>
            <p:spPr>
              <a:xfrm>
                <a:off x="101600" y="-38100"/>
                <a:ext cx="3639035" cy="771580"/>
              </a:xfrm>
              <a:prstGeom prst="rect">
                <a:avLst/>
              </a:prstGeom>
            </p:spPr>
            <p:txBody>
              <a:bodyPr anchor="ctr" rtlCol="false" tIns="50800" lIns="50800" bIns="50800" rIns="50800"/>
              <a:lstStyle/>
              <a:p>
                <a:pPr algn="ctr">
                  <a:lnSpc>
                    <a:spcPts val="2659"/>
                  </a:lnSpc>
                </a:pPr>
              </a:p>
            </p:txBody>
          </p:sp>
        </p:grpSp>
      </p:grpSp>
      <p:grpSp>
        <p:nvGrpSpPr>
          <p:cNvPr name="Group 68" id="68"/>
          <p:cNvGrpSpPr/>
          <p:nvPr/>
        </p:nvGrpSpPr>
        <p:grpSpPr>
          <a:xfrm rot="0">
            <a:off x="9021146" y="8805508"/>
            <a:ext cx="2858051" cy="545600"/>
            <a:chOff x="0" y="0"/>
            <a:chExt cx="3842235" cy="733480"/>
          </a:xfrm>
        </p:grpSpPr>
        <p:sp>
          <p:nvSpPr>
            <p:cNvPr name="Freeform 69" id="69"/>
            <p:cNvSpPr/>
            <p:nvPr/>
          </p:nvSpPr>
          <p:spPr>
            <a:xfrm flipH="false" flipV="false" rot="0">
              <a:off x="9726" y="0"/>
              <a:ext cx="3822784" cy="733480"/>
            </a:xfrm>
            <a:custGeom>
              <a:avLst/>
              <a:gdLst/>
              <a:ahLst/>
              <a:cxnLst/>
              <a:rect r="r" b="b" t="t" l="l"/>
              <a:pathLst>
                <a:path h="733480" w="3822784">
                  <a:moveTo>
                    <a:pt x="234106" y="0"/>
                  </a:moveTo>
                  <a:lnTo>
                    <a:pt x="3791877" y="0"/>
                  </a:lnTo>
                  <a:cubicBezTo>
                    <a:pt x="3801531" y="0"/>
                    <a:pt x="3810631" y="4511"/>
                    <a:pt x="3816476" y="12195"/>
                  </a:cubicBezTo>
                  <a:cubicBezTo>
                    <a:pt x="3822321" y="19880"/>
                    <a:pt x="3824239" y="29853"/>
                    <a:pt x="3821661" y="39157"/>
                  </a:cubicBezTo>
                  <a:lnTo>
                    <a:pt x="3640157" y="694323"/>
                  </a:lnTo>
                  <a:cubicBezTo>
                    <a:pt x="3633747" y="717462"/>
                    <a:pt x="3612687" y="733480"/>
                    <a:pt x="3588677" y="733480"/>
                  </a:cubicBezTo>
                  <a:lnTo>
                    <a:pt x="30906" y="733480"/>
                  </a:lnTo>
                  <a:cubicBezTo>
                    <a:pt x="21252" y="733480"/>
                    <a:pt x="12152" y="728969"/>
                    <a:pt x="6307" y="721285"/>
                  </a:cubicBezTo>
                  <a:cubicBezTo>
                    <a:pt x="463" y="713601"/>
                    <a:pt x="-1456" y="703627"/>
                    <a:pt x="1122" y="694323"/>
                  </a:cubicBezTo>
                  <a:lnTo>
                    <a:pt x="182626" y="39157"/>
                  </a:lnTo>
                  <a:cubicBezTo>
                    <a:pt x="189036" y="16019"/>
                    <a:pt x="210096" y="0"/>
                    <a:pt x="234106" y="0"/>
                  </a:cubicBezTo>
                  <a:close/>
                </a:path>
              </a:pathLst>
            </a:custGeom>
            <a:solidFill>
              <a:srgbClr val="EDF6F9"/>
            </a:solidFill>
          </p:spPr>
        </p:sp>
        <p:sp>
          <p:nvSpPr>
            <p:cNvPr name="TextBox 70" id="70"/>
            <p:cNvSpPr txBox="true"/>
            <p:nvPr/>
          </p:nvSpPr>
          <p:spPr>
            <a:xfrm>
              <a:off x="101600" y="-38100"/>
              <a:ext cx="3639035" cy="771580"/>
            </a:xfrm>
            <a:prstGeom prst="rect">
              <a:avLst/>
            </a:prstGeom>
          </p:spPr>
          <p:txBody>
            <a:bodyPr anchor="ctr" rtlCol="false" tIns="50800" lIns="50800" bIns="50800" rIns="50800"/>
            <a:lstStyle/>
            <a:p>
              <a:pPr algn="ctr">
                <a:lnSpc>
                  <a:spcPts val="2659"/>
                </a:lnSpc>
              </a:pPr>
            </a:p>
          </p:txBody>
        </p:sp>
      </p:grpSp>
      <p:grpSp>
        <p:nvGrpSpPr>
          <p:cNvPr name="Group 71" id="71"/>
          <p:cNvGrpSpPr/>
          <p:nvPr/>
        </p:nvGrpSpPr>
        <p:grpSpPr>
          <a:xfrm rot="0">
            <a:off x="14406153" y="8805508"/>
            <a:ext cx="2858051" cy="545600"/>
            <a:chOff x="0" y="0"/>
            <a:chExt cx="3842235" cy="733480"/>
          </a:xfrm>
        </p:grpSpPr>
        <p:sp>
          <p:nvSpPr>
            <p:cNvPr name="Freeform 72" id="72"/>
            <p:cNvSpPr/>
            <p:nvPr/>
          </p:nvSpPr>
          <p:spPr>
            <a:xfrm flipH="false" flipV="false" rot="0">
              <a:off x="9726" y="0"/>
              <a:ext cx="3822784" cy="733480"/>
            </a:xfrm>
            <a:custGeom>
              <a:avLst/>
              <a:gdLst/>
              <a:ahLst/>
              <a:cxnLst/>
              <a:rect r="r" b="b" t="t" l="l"/>
              <a:pathLst>
                <a:path h="733480" w="3822784">
                  <a:moveTo>
                    <a:pt x="234106" y="0"/>
                  </a:moveTo>
                  <a:lnTo>
                    <a:pt x="3791877" y="0"/>
                  </a:lnTo>
                  <a:cubicBezTo>
                    <a:pt x="3801531" y="0"/>
                    <a:pt x="3810631" y="4511"/>
                    <a:pt x="3816476" y="12195"/>
                  </a:cubicBezTo>
                  <a:cubicBezTo>
                    <a:pt x="3822321" y="19880"/>
                    <a:pt x="3824239" y="29853"/>
                    <a:pt x="3821661" y="39157"/>
                  </a:cubicBezTo>
                  <a:lnTo>
                    <a:pt x="3640157" y="694323"/>
                  </a:lnTo>
                  <a:cubicBezTo>
                    <a:pt x="3633747" y="717462"/>
                    <a:pt x="3612687" y="733480"/>
                    <a:pt x="3588677" y="733480"/>
                  </a:cubicBezTo>
                  <a:lnTo>
                    <a:pt x="30906" y="733480"/>
                  </a:lnTo>
                  <a:cubicBezTo>
                    <a:pt x="21252" y="733480"/>
                    <a:pt x="12152" y="728969"/>
                    <a:pt x="6307" y="721285"/>
                  </a:cubicBezTo>
                  <a:cubicBezTo>
                    <a:pt x="463" y="713601"/>
                    <a:pt x="-1456" y="703627"/>
                    <a:pt x="1122" y="694323"/>
                  </a:cubicBezTo>
                  <a:lnTo>
                    <a:pt x="182626" y="39157"/>
                  </a:lnTo>
                  <a:cubicBezTo>
                    <a:pt x="189036" y="16019"/>
                    <a:pt x="210096" y="0"/>
                    <a:pt x="234106" y="0"/>
                  </a:cubicBezTo>
                  <a:close/>
                </a:path>
              </a:pathLst>
            </a:custGeom>
            <a:solidFill>
              <a:srgbClr val="EDF6F9"/>
            </a:solidFill>
          </p:spPr>
        </p:sp>
        <p:sp>
          <p:nvSpPr>
            <p:cNvPr name="TextBox 73" id="73"/>
            <p:cNvSpPr txBox="true"/>
            <p:nvPr/>
          </p:nvSpPr>
          <p:spPr>
            <a:xfrm>
              <a:off x="101600" y="-38100"/>
              <a:ext cx="3639035" cy="771580"/>
            </a:xfrm>
            <a:prstGeom prst="rect">
              <a:avLst/>
            </a:prstGeom>
          </p:spPr>
          <p:txBody>
            <a:bodyPr anchor="ctr" rtlCol="false" tIns="50800" lIns="50800" bIns="50800" rIns="50800"/>
            <a:lstStyle/>
            <a:p>
              <a:pPr algn="ctr">
                <a:lnSpc>
                  <a:spcPts val="2659"/>
                </a:lnSpc>
              </a:pPr>
            </a:p>
          </p:txBody>
        </p:sp>
      </p:grpSp>
      <p:sp>
        <p:nvSpPr>
          <p:cNvPr name="Freeform 74" id="74"/>
          <p:cNvSpPr/>
          <p:nvPr/>
        </p:nvSpPr>
        <p:spPr>
          <a:xfrm flipH="false" flipV="false" rot="0">
            <a:off x="1028700" y="1196510"/>
            <a:ext cx="6730891" cy="2072199"/>
          </a:xfrm>
          <a:custGeom>
            <a:avLst/>
            <a:gdLst/>
            <a:ahLst/>
            <a:cxnLst/>
            <a:rect r="r" b="b" t="t" l="l"/>
            <a:pathLst>
              <a:path h="2072199" w="6730891">
                <a:moveTo>
                  <a:pt x="0" y="0"/>
                </a:moveTo>
                <a:lnTo>
                  <a:pt x="6730891" y="0"/>
                </a:lnTo>
                <a:lnTo>
                  <a:pt x="6730891" y="2072199"/>
                </a:lnTo>
                <a:lnTo>
                  <a:pt x="0" y="2072199"/>
                </a:lnTo>
                <a:lnTo>
                  <a:pt x="0" y="0"/>
                </a:lnTo>
                <a:close/>
              </a:path>
            </a:pathLst>
          </a:custGeom>
          <a:blipFill>
            <a:blip r:embed="rId4"/>
            <a:stretch>
              <a:fillRect l="-3129" t="0" r="-4084" b="-15815"/>
            </a:stretch>
          </a:blipFill>
        </p:spPr>
      </p:sp>
      <p:grpSp>
        <p:nvGrpSpPr>
          <p:cNvPr name="Group 75" id="75"/>
          <p:cNvGrpSpPr/>
          <p:nvPr/>
        </p:nvGrpSpPr>
        <p:grpSpPr>
          <a:xfrm rot="-10800000">
            <a:off x="13048965" y="1346402"/>
            <a:ext cx="503784" cy="466854"/>
            <a:chOff x="0" y="0"/>
            <a:chExt cx="767458" cy="711200"/>
          </a:xfrm>
        </p:grpSpPr>
        <p:sp>
          <p:nvSpPr>
            <p:cNvPr name="Freeform 76" id="76"/>
            <p:cNvSpPr/>
            <p:nvPr/>
          </p:nvSpPr>
          <p:spPr>
            <a:xfrm flipH="false" flipV="false" rot="0">
              <a:off x="61974" y="91701"/>
              <a:ext cx="643511" cy="619499"/>
            </a:xfrm>
            <a:custGeom>
              <a:avLst/>
              <a:gdLst/>
              <a:ahLst/>
              <a:cxnLst/>
              <a:rect r="r" b="b" t="t" l="l"/>
              <a:pathLst>
                <a:path h="619499" w="643511">
                  <a:moveTo>
                    <a:pt x="394727" y="43544"/>
                  </a:moveTo>
                  <a:lnTo>
                    <a:pt x="632513" y="484254"/>
                  </a:lnTo>
                  <a:cubicBezTo>
                    <a:pt x="647846" y="512672"/>
                    <a:pt x="647102" y="547059"/>
                    <a:pt x="630556" y="574788"/>
                  </a:cubicBezTo>
                  <a:cubicBezTo>
                    <a:pt x="614010" y="602516"/>
                    <a:pt x="584099" y="619499"/>
                    <a:pt x="551809" y="619499"/>
                  </a:cubicBezTo>
                  <a:lnTo>
                    <a:pt x="91701" y="619499"/>
                  </a:lnTo>
                  <a:cubicBezTo>
                    <a:pt x="59411" y="619499"/>
                    <a:pt x="29501" y="602516"/>
                    <a:pt x="12954" y="574788"/>
                  </a:cubicBezTo>
                  <a:cubicBezTo>
                    <a:pt x="-3592" y="547059"/>
                    <a:pt x="-4335" y="512672"/>
                    <a:pt x="10998" y="484254"/>
                  </a:cubicBezTo>
                  <a:lnTo>
                    <a:pt x="248784" y="43544"/>
                  </a:lnTo>
                  <a:cubicBezTo>
                    <a:pt x="263256" y="16721"/>
                    <a:pt x="291277" y="0"/>
                    <a:pt x="321755" y="0"/>
                  </a:cubicBezTo>
                  <a:cubicBezTo>
                    <a:pt x="352233" y="0"/>
                    <a:pt x="380255" y="16721"/>
                    <a:pt x="394727" y="43544"/>
                  </a:cubicBezTo>
                  <a:close/>
                </a:path>
              </a:pathLst>
            </a:custGeom>
            <a:solidFill>
              <a:srgbClr val="FFFFFF"/>
            </a:solidFill>
          </p:spPr>
        </p:sp>
        <p:sp>
          <p:nvSpPr>
            <p:cNvPr name="TextBox 77" id="77"/>
            <p:cNvSpPr txBox="true"/>
            <p:nvPr/>
          </p:nvSpPr>
          <p:spPr>
            <a:xfrm>
              <a:off x="119915" y="292100"/>
              <a:ext cx="527628" cy="3683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3150242"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338615" y="-784283"/>
            <a:ext cx="12457569" cy="1142074"/>
            <a:chOff x="0" y="0"/>
            <a:chExt cx="3217739" cy="294993"/>
          </a:xfrm>
        </p:grpSpPr>
        <p:sp>
          <p:nvSpPr>
            <p:cNvPr name="Freeform 6" id="6"/>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7" id="7"/>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8700" y="793061"/>
            <a:ext cx="4463067" cy="235560"/>
            <a:chOff x="0" y="0"/>
            <a:chExt cx="5950756" cy="314080"/>
          </a:xfrm>
        </p:grpSpPr>
        <p:sp>
          <p:nvSpPr>
            <p:cNvPr name="Freeform 9" id="9"/>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11" id="11"/>
          <p:cNvSpPr txBox="true"/>
          <p:nvPr/>
        </p:nvSpPr>
        <p:spPr>
          <a:xfrm rot="0">
            <a:off x="14877675" y="9322533"/>
            <a:ext cx="2381625" cy="240665"/>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- 05</a:t>
            </a:r>
          </a:p>
        </p:txBody>
      </p:sp>
      <p:sp>
        <p:nvSpPr>
          <p:cNvPr name="TextBox 12" id="12"/>
          <p:cNvSpPr txBox="true"/>
          <p:nvPr/>
        </p:nvSpPr>
        <p:spPr>
          <a:xfrm rot="0">
            <a:off x="1028700" y="1453116"/>
            <a:ext cx="5781644" cy="893723"/>
          </a:xfrm>
          <a:prstGeom prst="rect">
            <a:avLst/>
          </a:prstGeom>
        </p:spPr>
        <p:txBody>
          <a:bodyPr anchor="t" rtlCol="false" tIns="0" lIns="0" bIns="0" rIns="0">
            <a:spAutoFit/>
          </a:bodyPr>
          <a:lstStyle/>
          <a:p>
            <a:pPr algn="l">
              <a:lnSpc>
                <a:spcPts val="6712"/>
              </a:lnSpc>
            </a:pPr>
            <a:r>
              <a:rPr lang="en-US" sz="6712">
                <a:solidFill>
                  <a:srgbClr val="0B132B"/>
                </a:solidFill>
                <a:latin typeface="Rubik One"/>
                <a:ea typeface="Rubik One"/>
                <a:cs typeface="Rubik One"/>
                <a:sym typeface="Rubik One"/>
              </a:rPr>
              <a:t>SEKILAS ISI</a:t>
            </a:r>
          </a:p>
        </p:txBody>
      </p:sp>
      <p:sp>
        <p:nvSpPr>
          <p:cNvPr name="TextBox 13" id="13"/>
          <p:cNvSpPr txBox="true"/>
          <p:nvPr/>
        </p:nvSpPr>
        <p:spPr>
          <a:xfrm rot="0">
            <a:off x="12086815" y="1194684"/>
            <a:ext cx="4206791" cy="393628"/>
          </a:xfrm>
          <a:prstGeom prst="rect">
            <a:avLst/>
          </a:prstGeom>
        </p:spPr>
        <p:txBody>
          <a:bodyPr anchor="t" rtlCol="false" tIns="0" lIns="0" bIns="0" rIns="0">
            <a:spAutoFit/>
          </a:bodyPr>
          <a:lstStyle/>
          <a:p>
            <a:pPr algn="l">
              <a:lnSpc>
                <a:spcPts val="2976"/>
              </a:lnSpc>
            </a:pPr>
            <a:r>
              <a:rPr lang="en-US" sz="2976">
                <a:solidFill>
                  <a:srgbClr val="0B132B"/>
                </a:solidFill>
                <a:latin typeface="Rubik One"/>
                <a:ea typeface="Rubik One"/>
                <a:cs typeface="Rubik One"/>
                <a:sym typeface="Rubik One"/>
              </a:rPr>
              <a:t>DATASET </a:t>
            </a:r>
            <a:r>
              <a:rPr lang="en-US" sz="2976">
                <a:solidFill>
                  <a:srgbClr val="00B58F"/>
                </a:solidFill>
                <a:latin typeface="Rubik One"/>
                <a:ea typeface="Rubik One"/>
                <a:cs typeface="Rubik One"/>
                <a:sym typeface="Rubik One"/>
              </a:rPr>
              <a:t>OVERVIEW</a:t>
            </a:r>
          </a:p>
        </p:txBody>
      </p:sp>
      <p:sp>
        <p:nvSpPr>
          <p:cNvPr name="TextBox 14" id="14"/>
          <p:cNvSpPr txBox="true"/>
          <p:nvPr/>
        </p:nvSpPr>
        <p:spPr>
          <a:xfrm rot="0">
            <a:off x="12086815" y="1617578"/>
            <a:ext cx="4590077" cy="735952"/>
          </a:xfrm>
          <a:prstGeom prst="rect">
            <a:avLst/>
          </a:prstGeom>
        </p:spPr>
        <p:txBody>
          <a:bodyPr anchor="t" rtlCol="false" tIns="0" lIns="0" bIns="0" rIns="0">
            <a:spAutoFit/>
          </a:bodyPr>
          <a:lstStyle/>
          <a:p>
            <a:pPr algn="just">
              <a:lnSpc>
                <a:spcPts val="1960"/>
              </a:lnSpc>
            </a:pPr>
            <a:r>
              <a:rPr lang="en-US" sz="1400" spc="35">
                <a:solidFill>
                  <a:srgbClr val="0B132B"/>
                </a:solidFill>
                <a:latin typeface="Bricolage Grotesque"/>
                <a:ea typeface="Bricolage Grotesque"/>
                <a:cs typeface="Bricolage Grotesque"/>
                <a:sym typeface="Bricolage Grotesque"/>
              </a:rPr>
              <a:t>Menganalisis taksonomi dan integritas struktural dataset operasional 150 stasiun pengisian daya di 15 kota metropolitan AS.</a:t>
            </a:r>
          </a:p>
        </p:txBody>
      </p:sp>
      <p:grpSp>
        <p:nvGrpSpPr>
          <p:cNvPr name="Group 15" id="15"/>
          <p:cNvGrpSpPr/>
          <p:nvPr/>
        </p:nvGrpSpPr>
        <p:grpSpPr>
          <a:xfrm rot="0">
            <a:off x="8193939" y="1414954"/>
            <a:ext cx="3747034" cy="613261"/>
            <a:chOff x="0" y="0"/>
            <a:chExt cx="4996045" cy="817681"/>
          </a:xfrm>
        </p:grpSpPr>
        <p:grpSp>
          <p:nvGrpSpPr>
            <p:cNvPr name="Group 16" id="16"/>
            <p:cNvGrpSpPr/>
            <p:nvPr/>
          </p:nvGrpSpPr>
          <p:grpSpPr>
            <a:xfrm rot="0">
              <a:off x="802794" y="0"/>
              <a:ext cx="1140217" cy="813012"/>
              <a:chOff x="0" y="0"/>
              <a:chExt cx="407622" cy="290648"/>
            </a:xfrm>
          </p:grpSpPr>
          <p:sp>
            <p:nvSpPr>
              <p:cNvPr name="Freeform 17" id="1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18" id="18"/>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9" id="19"/>
            <p:cNvGrpSpPr/>
            <p:nvPr/>
          </p:nvGrpSpPr>
          <p:grpSpPr>
            <a:xfrm rot="0">
              <a:off x="1586425" y="4669"/>
              <a:ext cx="1140217" cy="813012"/>
              <a:chOff x="0" y="0"/>
              <a:chExt cx="407622" cy="290648"/>
            </a:xfrm>
          </p:grpSpPr>
          <p:sp>
            <p:nvSpPr>
              <p:cNvPr name="Freeform 20" id="20"/>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1" id="21"/>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2" id="22"/>
            <p:cNvGrpSpPr/>
            <p:nvPr/>
          </p:nvGrpSpPr>
          <p:grpSpPr>
            <a:xfrm rot="0">
              <a:off x="2355240" y="4669"/>
              <a:ext cx="1140217" cy="813012"/>
              <a:chOff x="0" y="0"/>
              <a:chExt cx="407622" cy="290648"/>
            </a:xfrm>
          </p:grpSpPr>
          <p:sp>
            <p:nvSpPr>
              <p:cNvPr name="Freeform 23" id="23"/>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4" id="24"/>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5" id="25"/>
            <p:cNvGrpSpPr/>
            <p:nvPr/>
          </p:nvGrpSpPr>
          <p:grpSpPr>
            <a:xfrm rot="0">
              <a:off x="3087013" y="4669"/>
              <a:ext cx="1140217" cy="813012"/>
              <a:chOff x="0" y="0"/>
              <a:chExt cx="407622" cy="290648"/>
            </a:xfrm>
          </p:grpSpPr>
          <p:sp>
            <p:nvSpPr>
              <p:cNvPr name="Freeform 26" id="26"/>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7" id="27"/>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8" id="28"/>
            <p:cNvGrpSpPr/>
            <p:nvPr/>
          </p:nvGrpSpPr>
          <p:grpSpPr>
            <a:xfrm rot="0">
              <a:off x="3855828" y="4669"/>
              <a:ext cx="1140217" cy="813012"/>
              <a:chOff x="0" y="0"/>
              <a:chExt cx="407622" cy="290648"/>
            </a:xfrm>
          </p:grpSpPr>
          <p:sp>
            <p:nvSpPr>
              <p:cNvPr name="Freeform 29" id="29"/>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30" id="30"/>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31" id="31"/>
            <p:cNvGrpSpPr/>
            <p:nvPr/>
          </p:nvGrpSpPr>
          <p:grpSpPr>
            <a:xfrm rot="0">
              <a:off x="0" y="0"/>
              <a:ext cx="1140217" cy="813012"/>
              <a:chOff x="0" y="0"/>
              <a:chExt cx="407622" cy="290648"/>
            </a:xfrm>
          </p:grpSpPr>
          <p:sp>
            <p:nvSpPr>
              <p:cNvPr name="Freeform 32" id="32"/>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33" id="33"/>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sp>
        <p:nvSpPr>
          <p:cNvPr name="TextBox 34" id="34"/>
          <p:cNvSpPr txBox="true"/>
          <p:nvPr/>
        </p:nvSpPr>
        <p:spPr>
          <a:xfrm rot="0">
            <a:off x="12086815" y="2512822"/>
            <a:ext cx="4590077" cy="768812"/>
          </a:xfrm>
          <a:prstGeom prst="rect">
            <a:avLst/>
          </a:prstGeom>
        </p:spPr>
        <p:txBody>
          <a:bodyPr anchor="t" rtlCol="false" tIns="0" lIns="0" bIns="0" rIns="0">
            <a:spAutoFit/>
          </a:bodyPr>
          <a:lstStyle/>
          <a:p>
            <a:pPr algn="l">
              <a:lnSpc>
                <a:spcPts val="2976"/>
              </a:lnSpc>
            </a:pPr>
            <a:r>
              <a:rPr lang="en-US" sz="2976">
                <a:solidFill>
                  <a:srgbClr val="0B132B"/>
                </a:solidFill>
                <a:latin typeface="Rubik One"/>
                <a:ea typeface="Rubik One"/>
                <a:cs typeface="Rubik One"/>
                <a:sym typeface="Rubik One"/>
              </a:rPr>
              <a:t>EXPLORATORY </a:t>
            </a:r>
            <a:r>
              <a:rPr lang="en-US" sz="2976">
                <a:solidFill>
                  <a:srgbClr val="00B58F"/>
                </a:solidFill>
                <a:latin typeface="Rubik One"/>
                <a:ea typeface="Rubik One"/>
                <a:cs typeface="Rubik One"/>
                <a:sym typeface="Rubik One"/>
              </a:rPr>
              <a:t>DATA ANALYSIS</a:t>
            </a:r>
          </a:p>
        </p:txBody>
      </p:sp>
      <p:sp>
        <p:nvSpPr>
          <p:cNvPr name="TextBox 35" id="35"/>
          <p:cNvSpPr txBox="true"/>
          <p:nvPr/>
        </p:nvSpPr>
        <p:spPr>
          <a:xfrm rot="0">
            <a:off x="12086815" y="3234046"/>
            <a:ext cx="4590077" cy="488302"/>
          </a:xfrm>
          <a:prstGeom prst="rect">
            <a:avLst/>
          </a:prstGeom>
        </p:spPr>
        <p:txBody>
          <a:bodyPr anchor="t" rtlCol="false" tIns="0" lIns="0" bIns="0" rIns="0">
            <a:spAutoFit/>
          </a:bodyPr>
          <a:lstStyle/>
          <a:p>
            <a:pPr algn="just">
              <a:lnSpc>
                <a:spcPts val="1960"/>
              </a:lnSpc>
            </a:pPr>
            <a:r>
              <a:rPr lang="en-US" sz="1400" spc="35">
                <a:solidFill>
                  <a:srgbClr val="0B132B"/>
                </a:solidFill>
                <a:latin typeface="Bricolage Grotesque"/>
                <a:ea typeface="Bricolage Grotesque"/>
                <a:cs typeface="Bricolage Grotesque"/>
                <a:sym typeface="Bricolage Grotesque"/>
              </a:rPr>
              <a:t>Memb</a:t>
            </a:r>
            <a:r>
              <a:rPr lang="en-US" sz="1400" spc="35">
                <a:solidFill>
                  <a:srgbClr val="0B132B"/>
                </a:solidFill>
                <a:latin typeface="Bricolage Grotesque"/>
                <a:ea typeface="Bricolage Grotesque"/>
                <a:cs typeface="Bricolage Grotesque"/>
                <a:sym typeface="Bricolage Grotesque"/>
              </a:rPr>
              <a:t>ongkar ketimpangan permintaan, demand charge trap, idle stalling, dan efek cold-gating.</a:t>
            </a:r>
          </a:p>
        </p:txBody>
      </p:sp>
      <p:grpSp>
        <p:nvGrpSpPr>
          <p:cNvPr name="Group 36" id="36"/>
          <p:cNvGrpSpPr/>
          <p:nvPr/>
        </p:nvGrpSpPr>
        <p:grpSpPr>
          <a:xfrm rot="0">
            <a:off x="8193939" y="2733093"/>
            <a:ext cx="3747034" cy="613261"/>
            <a:chOff x="0" y="0"/>
            <a:chExt cx="4996045" cy="817681"/>
          </a:xfrm>
        </p:grpSpPr>
        <p:grpSp>
          <p:nvGrpSpPr>
            <p:cNvPr name="Group 37" id="37"/>
            <p:cNvGrpSpPr/>
            <p:nvPr/>
          </p:nvGrpSpPr>
          <p:grpSpPr>
            <a:xfrm rot="0">
              <a:off x="802794" y="0"/>
              <a:ext cx="1140217" cy="813012"/>
              <a:chOff x="0" y="0"/>
              <a:chExt cx="407622" cy="290648"/>
            </a:xfrm>
          </p:grpSpPr>
          <p:sp>
            <p:nvSpPr>
              <p:cNvPr name="Freeform 38" id="3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39" id="39"/>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40" id="40"/>
            <p:cNvGrpSpPr/>
            <p:nvPr/>
          </p:nvGrpSpPr>
          <p:grpSpPr>
            <a:xfrm rot="0">
              <a:off x="1586425" y="4669"/>
              <a:ext cx="1140217" cy="813012"/>
              <a:chOff x="0" y="0"/>
              <a:chExt cx="407622" cy="290648"/>
            </a:xfrm>
          </p:grpSpPr>
          <p:sp>
            <p:nvSpPr>
              <p:cNvPr name="Freeform 41" id="4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42" id="42"/>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43" id="43"/>
            <p:cNvGrpSpPr/>
            <p:nvPr/>
          </p:nvGrpSpPr>
          <p:grpSpPr>
            <a:xfrm rot="0">
              <a:off x="2355240" y="4669"/>
              <a:ext cx="1140217" cy="813012"/>
              <a:chOff x="0" y="0"/>
              <a:chExt cx="407622" cy="290648"/>
            </a:xfrm>
          </p:grpSpPr>
          <p:sp>
            <p:nvSpPr>
              <p:cNvPr name="Freeform 44" id="4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45" id="45"/>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46" id="46"/>
            <p:cNvGrpSpPr/>
            <p:nvPr/>
          </p:nvGrpSpPr>
          <p:grpSpPr>
            <a:xfrm rot="0">
              <a:off x="3087013" y="4669"/>
              <a:ext cx="1140217" cy="813012"/>
              <a:chOff x="0" y="0"/>
              <a:chExt cx="407622" cy="290648"/>
            </a:xfrm>
          </p:grpSpPr>
          <p:sp>
            <p:nvSpPr>
              <p:cNvPr name="Freeform 47" id="4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48" id="48"/>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49" id="49"/>
            <p:cNvGrpSpPr/>
            <p:nvPr/>
          </p:nvGrpSpPr>
          <p:grpSpPr>
            <a:xfrm rot="0">
              <a:off x="3855828" y="4669"/>
              <a:ext cx="1140217" cy="813012"/>
              <a:chOff x="0" y="0"/>
              <a:chExt cx="407622" cy="290648"/>
            </a:xfrm>
          </p:grpSpPr>
          <p:sp>
            <p:nvSpPr>
              <p:cNvPr name="Freeform 50" id="50"/>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51" id="51"/>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52" id="52"/>
            <p:cNvGrpSpPr/>
            <p:nvPr/>
          </p:nvGrpSpPr>
          <p:grpSpPr>
            <a:xfrm rot="0">
              <a:off x="0" y="0"/>
              <a:ext cx="1140217" cy="813012"/>
              <a:chOff x="0" y="0"/>
              <a:chExt cx="407622" cy="290648"/>
            </a:xfrm>
          </p:grpSpPr>
          <p:sp>
            <p:nvSpPr>
              <p:cNvPr name="Freeform 53" id="53"/>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54" id="54"/>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sp>
        <p:nvSpPr>
          <p:cNvPr name="TextBox 55" id="55"/>
          <p:cNvSpPr txBox="true"/>
          <p:nvPr/>
        </p:nvSpPr>
        <p:spPr>
          <a:xfrm rot="0">
            <a:off x="12086815" y="3830961"/>
            <a:ext cx="4886077" cy="761393"/>
          </a:xfrm>
          <a:prstGeom prst="rect">
            <a:avLst/>
          </a:prstGeom>
        </p:spPr>
        <p:txBody>
          <a:bodyPr anchor="t" rtlCol="false" tIns="0" lIns="0" bIns="0" rIns="0">
            <a:spAutoFit/>
          </a:bodyPr>
          <a:lstStyle/>
          <a:p>
            <a:pPr algn="l">
              <a:lnSpc>
                <a:spcPts val="2976"/>
              </a:lnSpc>
            </a:pPr>
            <a:r>
              <a:rPr lang="en-US" sz="2976">
                <a:solidFill>
                  <a:srgbClr val="0B132B"/>
                </a:solidFill>
                <a:latin typeface="Rubik One"/>
                <a:ea typeface="Rubik One"/>
                <a:cs typeface="Rubik One"/>
                <a:sym typeface="Rubik One"/>
              </a:rPr>
              <a:t>PREPROCESSING &amp;</a:t>
            </a:r>
          </a:p>
          <a:p>
            <a:pPr algn="l">
              <a:lnSpc>
                <a:spcPts val="2976"/>
              </a:lnSpc>
            </a:pPr>
            <a:r>
              <a:rPr lang="en-US" sz="2976">
                <a:solidFill>
                  <a:srgbClr val="00B58F"/>
                </a:solidFill>
                <a:latin typeface="Rubik One"/>
                <a:ea typeface="Rubik One"/>
                <a:cs typeface="Rubik One"/>
                <a:sym typeface="Rubik One"/>
              </a:rPr>
              <a:t>FEATURE ENGINEERING</a:t>
            </a:r>
          </a:p>
        </p:txBody>
      </p:sp>
      <p:sp>
        <p:nvSpPr>
          <p:cNvPr name="TextBox 56" id="56"/>
          <p:cNvSpPr txBox="true"/>
          <p:nvPr/>
        </p:nvSpPr>
        <p:spPr>
          <a:xfrm rot="0">
            <a:off x="12086815" y="4571198"/>
            <a:ext cx="4590077" cy="488302"/>
          </a:xfrm>
          <a:prstGeom prst="rect">
            <a:avLst/>
          </a:prstGeom>
        </p:spPr>
        <p:txBody>
          <a:bodyPr anchor="t" rtlCol="false" tIns="0" lIns="0" bIns="0" rIns="0">
            <a:spAutoFit/>
          </a:bodyPr>
          <a:lstStyle/>
          <a:p>
            <a:pPr algn="just">
              <a:lnSpc>
                <a:spcPts val="1960"/>
              </a:lnSpc>
            </a:pPr>
            <a:r>
              <a:rPr lang="en-US" sz="1400" spc="35">
                <a:solidFill>
                  <a:srgbClr val="0B132B"/>
                </a:solidFill>
                <a:latin typeface="Bricolage Grotesque"/>
                <a:ea typeface="Bricolage Grotesque"/>
                <a:cs typeface="Bricolage Grotesque"/>
                <a:sym typeface="Bricolage Grotesque"/>
              </a:rPr>
              <a:t>Mengurutkkan data, mengimputasi nilai hilang, serta me</a:t>
            </a:r>
            <a:r>
              <a:rPr lang="en-US" sz="1400" spc="35">
                <a:solidFill>
                  <a:srgbClr val="0B132B"/>
                </a:solidFill>
                <a:latin typeface="Bricolage Grotesque"/>
                <a:ea typeface="Bricolage Grotesque"/>
                <a:cs typeface="Bricolage Grotesque"/>
                <a:sym typeface="Bricolage Grotesque"/>
              </a:rPr>
              <a:t>rancang 83 fitur intrinsik berdasarkan hasil EDA</a:t>
            </a:r>
          </a:p>
        </p:txBody>
      </p:sp>
      <p:grpSp>
        <p:nvGrpSpPr>
          <p:cNvPr name="Group 57" id="57"/>
          <p:cNvGrpSpPr/>
          <p:nvPr/>
        </p:nvGrpSpPr>
        <p:grpSpPr>
          <a:xfrm rot="0">
            <a:off x="8193939" y="4051232"/>
            <a:ext cx="3747034" cy="613261"/>
            <a:chOff x="0" y="0"/>
            <a:chExt cx="4996045" cy="817681"/>
          </a:xfrm>
        </p:grpSpPr>
        <p:grpSp>
          <p:nvGrpSpPr>
            <p:cNvPr name="Group 58" id="58"/>
            <p:cNvGrpSpPr/>
            <p:nvPr/>
          </p:nvGrpSpPr>
          <p:grpSpPr>
            <a:xfrm rot="0">
              <a:off x="802794" y="0"/>
              <a:ext cx="1140217" cy="813012"/>
              <a:chOff x="0" y="0"/>
              <a:chExt cx="407622" cy="290648"/>
            </a:xfrm>
          </p:grpSpPr>
          <p:sp>
            <p:nvSpPr>
              <p:cNvPr name="Freeform 59" id="59"/>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60" id="60"/>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61" id="61"/>
            <p:cNvGrpSpPr/>
            <p:nvPr/>
          </p:nvGrpSpPr>
          <p:grpSpPr>
            <a:xfrm rot="0">
              <a:off x="1586425" y="4669"/>
              <a:ext cx="1140217" cy="813012"/>
              <a:chOff x="0" y="0"/>
              <a:chExt cx="407622" cy="290648"/>
            </a:xfrm>
          </p:grpSpPr>
          <p:sp>
            <p:nvSpPr>
              <p:cNvPr name="Freeform 62" id="62"/>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63" id="63"/>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64" id="64"/>
            <p:cNvGrpSpPr/>
            <p:nvPr/>
          </p:nvGrpSpPr>
          <p:grpSpPr>
            <a:xfrm rot="0">
              <a:off x="2355240" y="4669"/>
              <a:ext cx="1140217" cy="813012"/>
              <a:chOff x="0" y="0"/>
              <a:chExt cx="407622" cy="290648"/>
            </a:xfrm>
          </p:grpSpPr>
          <p:sp>
            <p:nvSpPr>
              <p:cNvPr name="Freeform 65" id="65"/>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66" id="66"/>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67" id="67"/>
            <p:cNvGrpSpPr/>
            <p:nvPr/>
          </p:nvGrpSpPr>
          <p:grpSpPr>
            <a:xfrm rot="0">
              <a:off x="3087013" y="4669"/>
              <a:ext cx="1140217" cy="813012"/>
              <a:chOff x="0" y="0"/>
              <a:chExt cx="407622" cy="290648"/>
            </a:xfrm>
          </p:grpSpPr>
          <p:sp>
            <p:nvSpPr>
              <p:cNvPr name="Freeform 68" id="6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69" id="69"/>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70" id="70"/>
            <p:cNvGrpSpPr/>
            <p:nvPr/>
          </p:nvGrpSpPr>
          <p:grpSpPr>
            <a:xfrm rot="0">
              <a:off x="3855828" y="4669"/>
              <a:ext cx="1140217" cy="813012"/>
              <a:chOff x="0" y="0"/>
              <a:chExt cx="407622" cy="290648"/>
            </a:xfrm>
          </p:grpSpPr>
          <p:sp>
            <p:nvSpPr>
              <p:cNvPr name="Freeform 71" id="7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72" id="72"/>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73" id="73"/>
            <p:cNvGrpSpPr/>
            <p:nvPr/>
          </p:nvGrpSpPr>
          <p:grpSpPr>
            <a:xfrm rot="0">
              <a:off x="0" y="0"/>
              <a:ext cx="1140217" cy="813012"/>
              <a:chOff x="0" y="0"/>
              <a:chExt cx="407622" cy="290648"/>
            </a:xfrm>
          </p:grpSpPr>
          <p:sp>
            <p:nvSpPr>
              <p:cNvPr name="Freeform 74" id="7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75" id="75"/>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sp>
        <p:nvSpPr>
          <p:cNvPr name="TextBox 76" id="76"/>
          <p:cNvSpPr txBox="true"/>
          <p:nvPr/>
        </p:nvSpPr>
        <p:spPr>
          <a:xfrm rot="0">
            <a:off x="12086815" y="5149100"/>
            <a:ext cx="4206791" cy="393628"/>
          </a:xfrm>
          <a:prstGeom prst="rect">
            <a:avLst/>
          </a:prstGeom>
        </p:spPr>
        <p:txBody>
          <a:bodyPr anchor="t" rtlCol="false" tIns="0" lIns="0" bIns="0" rIns="0">
            <a:spAutoFit/>
          </a:bodyPr>
          <a:lstStyle/>
          <a:p>
            <a:pPr algn="l">
              <a:lnSpc>
                <a:spcPts val="2976"/>
              </a:lnSpc>
            </a:pPr>
            <a:r>
              <a:rPr lang="en-US" sz="2976">
                <a:solidFill>
                  <a:srgbClr val="0B132B"/>
                </a:solidFill>
                <a:latin typeface="Rubik One"/>
                <a:ea typeface="Rubik One"/>
                <a:cs typeface="Rubik One"/>
                <a:sym typeface="Rubik One"/>
              </a:rPr>
              <a:t>RISK </a:t>
            </a:r>
            <a:r>
              <a:rPr lang="en-US" sz="2976">
                <a:solidFill>
                  <a:srgbClr val="00B58F"/>
                </a:solidFill>
                <a:latin typeface="Rubik One"/>
                <a:ea typeface="Rubik One"/>
                <a:cs typeface="Rubik One"/>
                <a:sym typeface="Rubik One"/>
              </a:rPr>
              <a:t>MODELING</a:t>
            </a:r>
          </a:p>
        </p:txBody>
      </p:sp>
      <p:sp>
        <p:nvSpPr>
          <p:cNvPr name="TextBox 77" id="77"/>
          <p:cNvSpPr txBox="true"/>
          <p:nvPr/>
        </p:nvSpPr>
        <p:spPr>
          <a:xfrm rot="0">
            <a:off x="12086815" y="5571994"/>
            <a:ext cx="4590077" cy="735952"/>
          </a:xfrm>
          <a:prstGeom prst="rect">
            <a:avLst/>
          </a:prstGeom>
        </p:spPr>
        <p:txBody>
          <a:bodyPr anchor="t" rtlCol="false" tIns="0" lIns="0" bIns="0" rIns="0">
            <a:spAutoFit/>
          </a:bodyPr>
          <a:lstStyle/>
          <a:p>
            <a:pPr algn="just">
              <a:lnSpc>
                <a:spcPts val="1960"/>
              </a:lnSpc>
            </a:pPr>
            <a:r>
              <a:rPr lang="en-US" sz="1400" spc="35">
                <a:solidFill>
                  <a:srgbClr val="0B132B"/>
                </a:solidFill>
                <a:latin typeface="Bricolage Grotesque"/>
                <a:ea typeface="Bricolage Grotesque"/>
                <a:cs typeface="Bricolage Grotesque"/>
                <a:sym typeface="Bricolage Grotesque"/>
              </a:rPr>
              <a:t>M</a:t>
            </a:r>
            <a:r>
              <a:rPr lang="en-US" sz="1400" spc="35">
                <a:solidFill>
                  <a:srgbClr val="0B132B"/>
                </a:solidFill>
                <a:latin typeface="Bricolage Grotesque"/>
                <a:ea typeface="Bricolage Grotesque"/>
                <a:cs typeface="Bricolage Grotesque"/>
                <a:sym typeface="Bricolage Grotesque"/>
              </a:rPr>
              <a:t>embangun arsitektur prediktif Multi-Stream Stacking GBDT interval 30 menit guna memetakan risiko beban kritis stasiun. </a:t>
            </a:r>
          </a:p>
        </p:txBody>
      </p:sp>
      <p:grpSp>
        <p:nvGrpSpPr>
          <p:cNvPr name="Group 78" id="78"/>
          <p:cNvGrpSpPr/>
          <p:nvPr/>
        </p:nvGrpSpPr>
        <p:grpSpPr>
          <a:xfrm rot="0">
            <a:off x="8193939" y="5369370"/>
            <a:ext cx="3747034" cy="613261"/>
            <a:chOff x="0" y="0"/>
            <a:chExt cx="4996045" cy="817681"/>
          </a:xfrm>
        </p:grpSpPr>
        <p:grpSp>
          <p:nvGrpSpPr>
            <p:cNvPr name="Group 79" id="79"/>
            <p:cNvGrpSpPr/>
            <p:nvPr/>
          </p:nvGrpSpPr>
          <p:grpSpPr>
            <a:xfrm rot="0">
              <a:off x="802794" y="0"/>
              <a:ext cx="1140217" cy="813012"/>
              <a:chOff x="0" y="0"/>
              <a:chExt cx="407622" cy="290648"/>
            </a:xfrm>
          </p:grpSpPr>
          <p:sp>
            <p:nvSpPr>
              <p:cNvPr name="Freeform 80" id="80"/>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81" id="81"/>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82" id="82"/>
            <p:cNvGrpSpPr/>
            <p:nvPr/>
          </p:nvGrpSpPr>
          <p:grpSpPr>
            <a:xfrm rot="0">
              <a:off x="1586425" y="4669"/>
              <a:ext cx="1140217" cy="813012"/>
              <a:chOff x="0" y="0"/>
              <a:chExt cx="407622" cy="290648"/>
            </a:xfrm>
          </p:grpSpPr>
          <p:sp>
            <p:nvSpPr>
              <p:cNvPr name="Freeform 83" id="83"/>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84" id="84"/>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85" id="85"/>
            <p:cNvGrpSpPr/>
            <p:nvPr/>
          </p:nvGrpSpPr>
          <p:grpSpPr>
            <a:xfrm rot="0">
              <a:off x="2355240" y="4669"/>
              <a:ext cx="1140217" cy="813012"/>
              <a:chOff x="0" y="0"/>
              <a:chExt cx="407622" cy="290648"/>
            </a:xfrm>
          </p:grpSpPr>
          <p:sp>
            <p:nvSpPr>
              <p:cNvPr name="Freeform 86" id="86"/>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87" id="87"/>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88" id="88"/>
            <p:cNvGrpSpPr/>
            <p:nvPr/>
          </p:nvGrpSpPr>
          <p:grpSpPr>
            <a:xfrm rot="0">
              <a:off x="3087013" y="4669"/>
              <a:ext cx="1140217" cy="813012"/>
              <a:chOff x="0" y="0"/>
              <a:chExt cx="407622" cy="290648"/>
            </a:xfrm>
          </p:grpSpPr>
          <p:sp>
            <p:nvSpPr>
              <p:cNvPr name="Freeform 89" id="89"/>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90" id="90"/>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91" id="91"/>
            <p:cNvGrpSpPr/>
            <p:nvPr/>
          </p:nvGrpSpPr>
          <p:grpSpPr>
            <a:xfrm rot="0">
              <a:off x="3855828" y="4669"/>
              <a:ext cx="1140217" cy="813012"/>
              <a:chOff x="0" y="0"/>
              <a:chExt cx="407622" cy="290648"/>
            </a:xfrm>
          </p:grpSpPr>
          <p:sp>
            <p:nvSpPr>
              <p:cNvPr name="Freeform 92" id="92"/>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93" id="93"/>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94" id="94"/>
            <p:cNvGrpSpPr/>
            <p:nvPr/>
          </p:nvGrpSpPr>
          <p:grpSpPr>
            <a:xfrm rot="0">
              <a:off x="0" y="0"/>
              <a:ext cx="1140217" cy="813012"/>
              <a:chOff x="0" y="0"/>
              <a:chExt cx="407622" cy="290648"/>
            </a:xfrm>
          </p:grpSpPr>
          <p:sp>
            <p:nvSpPr>
              <p:cNvPr name="Freeform 95" id="95"/>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96" id="96"/>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sp>
        <p:nvSpPr>
          <p:cNvPr name="TextBox 97" id="97"/>
          <p:cNvSpPr txBox="true"/>
          <p:nvPr/>
        </p:nvSpPr>
        <p:spPr>
          <a:xfrm rot="0">
            <a:off x="12086815" y="6467239"/>
            <a:ext cx="5172485" cy="393628"/>
          </a:xfrm>
          <a:prstGeom prst="rect">
            <a:avLst/>
          </a:prstGeom>
        </p:spPr>
        <p:txBody>
          <a:bodyPr anchor="t" rtlCol="false" tIns="0" lIns="0" bIns="0" rIns="0">
            <a:spAutoFit/>
          </a:bodyPr>
          <a:lstStyle/>
          <a:p>
            <a:pPr algn="l">
              <a:lnSpc>
                <a:spcPts val="2976"/>
              </a:lnSpc>
            </a:pPr>
            <a:r>
              <a:rPr lang="en-US" sz="2976">
                <a:solidFill>
                  <a:srgbClr val="0B132B"/>
                </a:solidFill>
                <a:latin typeface="Rubik One"/>
                <a:ea typeface="Rubik One"/>
                <a:cs typeface="Rubik One"/>
                <a:sym typeface="Rubik One"/>
              </a:rPr>
              <a:t>“WHAT-IF?” </a:t>
            </a:r>
            <a:r>
              <a:rPr lang="en-US" sz="2976">
                <a:solidFill>
                  <a:srgbClr val="00B58F"/>
                </a:solidFill>
                <a:latin typeface="Rubik One"/>
                <a:ea typeface="Rubik One"/>
                <a:cs typeface="Rubik One"/>
                <a:sym typeface="Rubik One"/>
              </a:rPr>
              <a:t>SIMULATION</a:t>
            </a:r>
          </a:p>
        </p:txBody>
      </p:sp>
      <p:sp>
        <p:nvSpPr>
          <p:cNvPr name="TextBox 98" id="98"/>
          <p:cNvSpPr txBox="true"/>
          <p:nvPr/>
        </p:nvSpPr>
        <p:spPr>
          <a:xfrm rot="0">
            <a:off x="12086815" y="6890133"/>
            <a:ext cx="4590077" cy="735952"/>
          </a:xfrm>
          <a:prstGeom prst="rect">
            <a:avLst/>
          </a:prstGeom>
        </p:spPr>
        <p:txBody>
          <a:bodyPr anchor="t" rtlCol="false" tIns="0" lIns="0" bIns="0" rIns="0">
            <a:spAutoFit/>
          </a:bodyPr>
          <a:lstStyle/>
          <a:p>
            <a:pPr algn="just">
              <a:lnSpc>
                <a:spcPts val="1960"/>
              </a:lnSpc>
            </a:pPr>
            <a:r>
              <a:rPr lang="en-US" sz="1400" spc="35">
                <a:solidFill>
                  <a:srgbClr val="0B132B"/>
                </a:solidFill>
                <a:latin typeface="Bricolage Grotesque"/>
                <a:ea typeface="Bricolage Grotesque"/>
                <a:cs typeface="Bricolage Grotesque"/>
                <a:sym typeface="Bricolage Grotesque"/>
              </a:rPr>
              <a:t>Si</a:t>
            </a:r>
            <a:r>
              <a:rPr lang="en-US" sz="1400" spc="35">
                <a:solidFill>
                  <a:srgbClr val="0B132B"/>
                </a:solidFill>
                <a:latin typeface="Bricolage Grotesque"/>
                <a:ea typeface="Bricolage Grotesque"/>
                <a:cs typeface="Bricolage Grotesque"/>
                <a:sym typeface="Bricolage Grotesque"/>
              </a:rPr>
              <a:t>mulasi skenario intervensi tarif dinamis P-ToU dan penggunaan baterai BESS untuk memangkas biaya beban puncak.</a:t>
            </a:r>
          </a:p>
        </p:txBody>
      </p:sp>
      <p:grpSp>
        <p:nvGrpSpPr>
          <p:cNvPr name="Group 99" id="99"/>
          <p:cNvGrpSpPr/>
          <p:nvPr/>
        </p:nvGrpSpPr>
        <p:grpSpPr>
          <a:xfrm rot="0">
            <a:off x="8193939" y="6687509"/>
            <a:ext cx="3747034" cy="613261"/>
            <a:chOff x="0" y="0"/>
            <a:chExt cx="4996045" cy="817681"/>
          </a:xfrm>
        </p:grpSpPr>
        <p:grpSp>
          <p:nvGrpSpPr>
            <p:cNvPr name="Group 100" id="100"/>
            <p:cNvGrpSpPr/>
            <p:nvPr/>
          </p:nvGrpSpPr>
          <p:grpSpPr>
            <a:xfrm rot="0">
              <a:off x="802794" y="0"/>
              <a:ext cx="1140217" cy="813012"/>
              <a:chOff x="0" y="0"/>
              <a:chExt cx="407622" cy="290648"/>
            </a:xfrm>
          </p:grpSpPr>
          <p:sp>
            <p:nvSpPr>
              <p:cNvPr name="Freeform 101" id="10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02" id="102"/>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03" id="103"/>
            <p:cNvGrpSpPr/>
            <p:nvPr/>
          </p:nvGrpSpPr>
          <p:grpSpPr>
            <a:xfrm rot="0">
              <a:off x="1586425" y="4669"/>
              <a:ext cx="1140217" cy="813012"/>
              <a:chOff x="0" y="0"/>
              <a:chExt cx="407622" cy="290648"/>
            </a:xfrm>
          </p:grpSpPr>
          <p:sp>
            <p:nvSpPr>
              <p:cNvPr name="Freeform 104" id="10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05" id="105"/>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06" id="106"/>
            <p:cNvGrpSpPr/>
            <p:nvPr/>
          </p:nvGrpSpPr>
          <p:grpSpPr>
            <a:xfrm rot="0">
              <a:off x="2355240" y="4669"/>
              <a:ext cx="1140217" cy="813012"/>
              <a:chOff x="0" y="0"/>
              <a:chExt cx="407622" cy="290648"/>
            </a:xfrm>
          </p:grpSpPr>
          <p:sp>
            <p:nvSpPr>
              <p:cNvPr name="Freeform 107" id="10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08" id="108"/>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09" id="109"/>
            <p:cNvGrpSpPr/>
            <p:nvPr/>
          </p:nvGrpSpPr>
          <p:grpSpPr>
            <a:xfrm rot="0">
              <a:off x="3087013" y="4669"/>
              <a:ext cx="1140217" cy="813012"/>
              <a:chOff x="0" y="0"/>
              <a:chExt cx="407622" cy="290648"/>
            </a:xfrm>
          </p:grpSpPr>
          <p:sp>
            <p:nvSpPr>
              <p:cNvPr name="Freeform 110" id="110"/>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11" id="111"/>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12" id="112"/>
            <p:cNvGrpSpPr/>
            <p:nvPr/>
          </p:nvGrpSpPr>
          <p:grpSpPr>
            <a:xfrm rot="0">
              <a:off x="3855828" y="4669"/>
              <a:ext cx="1140217" cy="813012"/>
              <a:chOff x="0" y="0"/>
              <a:chExt cx="407622" cy="290648"/>
            </a:xfrm>
          </p:grpSpPr>
          <p:sp>
            <p:nvSpPr>
              <p:cNvPr name="Freeform 113" id="113"/>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114" id="114"/>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15" id="115"/>
            <p:cNvGrpSpPr/>
            <p:nvPr/>
          </p:nvGrpSpPr>
          <p:grpSpPr>
            <a:xfrm rot="0">
              <a:off x="0" y="0"/>
              <a:ext cx="1140217" cy="813012"/>
              <a:chOff x="0" y="0"/>
              <a:chExt cx="407622" cy="290648"/>
            </a:xfrm>
          </p:grpSpPr>
          <p:sp>
            <p:nvSpPr>
              <p:cNvPr name="Freeform 116" id="116"/>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17" id="117"/>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sp>
        <p:nvSpPr>
          <p:cNvPr name="TextBox 118" id="118"/>
          <p:cNvSpPr txBox="true"/>
          <p:nvPr/>
        </p:nvSpPr>
        <p:spPr>
          <a:xfrm rot="0">
            <a:off x="12086815" y="7785377"/>
            <a:ext cx="5869869" cy="389918"/>
          </a:xfrm>
          <a:prstGeom prst="rect">
            <a:avLst/>
          </a:prstGeom>
        </p:spPr>
        <p:txBody>
          <a:bodyPr anchor="t" rtlCol="false" tIns="0" lIns="0" bIns="0" rIns="0">
            <a:spAutoFit/>
          </a:bodyPr>
          <a:lstStyle/>
          <a:p>
            <a:pPr algn="l">
              <a:lnSpc>
                <a:spcPts val="2976"/>
              </a:lnSpc>
            </a:pPr>
            <a:r>
              <a:rPr lang="en-US" sz="2976">
                <a:solidFill>
                  <a:srgbClr val="0B132B"/>
                </a:solidFill>
                <a:latin typeface="Rubik One"/>
                <a:ea typeface="Rubik One"/>
                <a:cs typeface="Rubik One"/>
                <a:sym typeface="Rubik One"/>
              </a:rPr>
              <a:t>DASHBOARD </a:t>
            </a:r>
            <a:r>
              <a:rPr lang="en-US" sz="2976">
                <a:solidFill>
                  <a:srgbClr val="00B58F"/>
                </a:solidFill>
                <a:latin typeface="Rubik One"/>
                <a:ea typeface="Rubik One"/>
                <a:cs typeface="Rubik One"/>
                <a:sym typeface="Rubik One"/>
              </a:rPr>
              <a:t>DEPLOYMENT</a:t>
            </a:r>
          </a:p>
        </p:txBody>
      </p:sp>
      <p:sp>
        <p:nvSpPr>
          <p:cNvPr name="TextBox 119" id="119"/>
          <p:cNvSpPr txBox="true"/>
          <p:nvPr/>
        </p:nvSpPr>
        <p:spPr>
          <a:xfrm rot="0">
            <a:off x="12086815" y="8208271"/>
            <a:ext cx="4590077" cy="735952"/>
          </a:xfrm>
          <a:prstGeom prst="rect">
            <a:avLst/>
          </a:prstGeom>
        </p:spPr>
        <p:txBody>
          <a:bodyPr anchor="t" rtlCol="false" tIns="0" lIns="0" bIns="0" rIns="0">
            <a:spAutoFit/>
          </a:bodyPr>
          <a:lstStyle/>
          <a:p>
            <a:pPr algn="just">
              <a:lnSpc>
                <a:spcPts val="1960"/>
              </a:lnSpc>
            </a:pPr>
            <a:r>
              <a:rPr lang="en-US" sz="1400" spc="35">
                <a:solidFill>
                  <a:srgbClr val="0B132B"/>
                </a:solidFill>
                <a:latin typeface="Bricolage Grotesque"/>
                <a:ea typeface="Bricolage Grotesque"/>
                <a:cs typeface="Bricolage Grotesque"/>
                <a:sym typeface="Bricolage Grotesque"/>
              </a:rPr>
              <a:t>Si</a:t>
            </a:r>
            <a:r>
              <a:rPr lang="en-US" sz="1400" spc="35">
                <a:solidFill>
                  <a:srgbClr val="0B132B"/>
                </a:solidFill>
                <a:latin typeface="Bricolage Grotesque"/>
                <a:ea typeface="Bricolage Grotesque"/>
                <a:cs typeface="Bricolage Grotesque"/>
                <a:sym typeface="Bricolage Grotesque"/>
              </a:rPr>
              <a:t>mulasi skenario intervensi tarif dinamis P-ToU dan penggunaan baterai BESS untuk memangkas biaya beban puncak</a:t>
            </a:r>
          </a:p>
        </p:txBody>
      </p:sp>
      <p:grpSp>
        <p:nvGrpSpPr>
          <p:cNvPr name="Group 120" id="120"/>
          <p:cNvGrpSpPr/>
          <p:nvPr/>
        </p:nvGrpSpPr>
        <p:grpSpPr>
          <a:xfrm rot="0">
            <a:off x="8193939" y="8005648"/>
            <a:ext cx="3747034" cy="613261"/>
            <a:chOff x="0" y="0"/>
            <a:chExt cx="4996045" cy="817681"/>
          </a:xfrm>
        </p:grpSpPr>
        <p:grpSp>
          <p:nvGrpSpPr>
            <p:cNvPr name="Group 121" id="121"/>
            <p:cNvGrpSpPr/>
            <p:nvPr/>
          </p:nvGrpSpPr>
          <p:grpSpPr>
            <a:xfrm rot="0">
              <a:off x="802794" y="0"/>
              <a:ext cx="1140217" cy="813012"/>
              <a:chOff x="0" y="0"/>
              <a:chExt cx="407622" cy="290648"/>
            </a:xfrm>
          </p:grpSpPr>
          <p:sp>
            <p:nvSpPr>
              <p:cNvPr name="Freeform 122" id="122"/>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23" id="123"/>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24" id="124"/>
            <p:cNvGrpSpPr/>
            <p:nvPr/>
          </p:nvGrpSpPr>
          <p:grpSpPr>
            <a:xfrm rot="0">
              <a:off x="1586425" y="4669"/>
              <a:ext cx="1140217" cy="813012"/>
              <a:chOff x="0" y="0"/>
              <a:chExt cx="407622" cy="290648"/>
            </a:xfrm>
          </p:grpSpPr>
          <p:sp>
            <p:nvSpPr>
              <p:cNvPr name="Freeform 125" id="125"/>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26" id="126"/>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27" id="127"/>
            <p:cNvGrpSpPr/>
            <p:nvPr/>
          </p:nvGrpSpPr>
          <p:grpSpPr>
            <a:xfrm rot="0">
              <a:off x="2355240" y="4669"/>
              <a:ext cx="1140217" cy="813012"/>
              <a:chOff x="0" y="0"/>
              <a:chExt cx="407622" cy="290648"/>
            </a:xfrm>
          </p:grpSpPr>
          <p:sp>
            <p:nvSpPr>
              <p:cNvPr name="Freeform 128" id="12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29" id="129"/>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30" id="130"/>
            <p:cNvGrpSpPr/>
            <p:nvPr/>
          </p:nvGrpSpPr>
          <p:grpSpPr>
            <a:xfrm rot="0">
              <a:off x="3087013" y="4669"/>
              <a:ext cx="1140217" cy="813012"/>
              <a:chOff x="0" y="0"/>
              <a:chExt cx="407622" cy="290648"/>
            </a:xfrm>
          </p:grpSpPr>
          <p:sp>
            <p:nvSpPr>
              <p:cNvPr name="Freeform 131" id="13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32" id="132"/>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33" id="133"/>
            <p:cNvGrpSpPr/>
            <p:nvPr/>
          </p:nvGrpSpPr>
          <p:grpSpPr>
            <a:xfrm rot="0">
              <a:off x="3855828" y="4669"/>
              <a:ext cx="1140217" cy="813012"/>
              <a:chOff x="0" y="0"/>
              <a:chExt cx="407622" cy="290648"/>
            </a:xfrm>
          </p:grpSpPr>
          <p:sp>
            <p:nvSpPr>
              <p:cNvPr name="Freeform 134" id="13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35" id="135"/>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36" id="136"/>
            <p:cNvGrpSpPr/>
            <p:nvPr/>
          </p:nvGrpSpPr>
          <p:grpSpPr>
            <a:xfrm rot="0">
              <a:off x="0" y="0"/>
              <a:ext cx="1140217" cy="813012"/>
              <a:chOff x="0" y="0"/>
              <a:chExt cx="407622" cy="290648"/>
            </a:xfrm>
          </p:grpSpPr>
          <p:sp>
            <p:nvSpPr>
              <p:cNvPr name="Freeform 137" id="13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38" id="138"/>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grpSp>
        <p:nvGrpSpPr>
          <p:cNvPr name="Group 139" id="139"/>
          <p:cNvGrpSpPr/>
          <p:nvPr/>
        </p:nvGrpSpPr>
        <p:grpSpPr>
          <a:xfrm rot="0">
            <a:off x="1095375" y="2919055"/>
            <a:ext cx="2230354" cy="5345794"/>
            <a:chOff x="0" y="0"/>
            <a:chExt cx="749354" cy="1796080"/>
          </a:xfrm>
        </p:grpSpPr>
        <p:sp>
          <p:nvSpPr>
            <p:cNvPr name="Freeform 140" id="140"/>
            <p:cNvSpPr/>
            <p:nvPr/>
          </p:nvSpPr>
          <p:spPr>
            <a:xfrm flipH="false" flipV="false" rot="0">
              <a:off x="0" y="0"/>
              <a:ext cx="749354" cy="1796080"/>
            </a:xfrm>
            <a:custGeom>
              <a:avLst/>
              <a:gdLst/>
              <a:ahLst/>
              <a:cxnLst/>
              <a:rect r="r" b="b" t="t" l="l"/>
              <a:pathLst>
                <a:path h="1796080" w="749354">
                  <a:moveTo>
                    <a:pt x="208270" y="0"/>
                  </a:moveTo>
                  <a:lnTo>
                    <a:pt x="541085" y="0"/>
                  </a:lnTo>
                  <a:cubicBezTo>
                    <a:pt x="596321" y="0"/>
                    <a:pt x="649295" y="21943"/>
                    <a:pt x="688354" y="61001"/>
                  </a:cubicBezTo>
                  <a:cubicBezTo>
                    <a:pt x="727412" y="100059"/>
                    <a:pt x="749354" y="153033"/>
                    <a:pt x="749354" y="208270"/>
                  </a:cubicBezTo>
                  <a:lnTo>
                    <a:pt x="749354" y="1587810"/>
                  </a:lnTo>
                  <a:cubicBezTo>
                    <a:pt x="749354" y="1702834"/>
                    <a:pt x="656109" y="1796080"/>
                    <a:pt x="541085" y="1796080"/>
                  </a:cubicBezTo>
                  <a:lnTo>
                    <a:pt x="208270" y="1796080"/>
                  </a:lnTo>
                  <a:cubicBezTo>
                    <a:pt x="153033" y="1796080"/>
                    <a:pt x="100059" y="1774137"/>
                    <a:pt x="61001" y="1735079"/>
                  </a:cubicBezTo>
                  <a:cubicBezTo>
                    <a:pt x="21943" y="1696021"/>
                    <a:pt x="0" y="1643047"/>
                    <a:pt x="0" y="1587810"/>
                  </a:cubicBezTo>
                  <a:lnTo>
                    <a:pt x="0" y="208270"/>
                  </a:lnTo>
                  <a:cubicBezTo>
                    <a:pt x="0" y="93246"/>
                    <a:pt x="93246" y="0"/>
                    <a:pt x="208270" y="0"/>
                  </a:cubicBezTo>
                  <a:close/>
                </a:path>
              </a:pathLst>
            </a:custGeom>
            <a:ln w="19050" cap="rnd">
              <a:solidFill>
                <a:srgbClr val="00B58F"/>
              </a:solidFill>
              <a:prstDash val="solid"/>
              <a:round/>
            </a:ln>
          </p:spPr>
        </p:sp>
        <p:sp>
          <p:nvSpPr>
            <p:cNvPr name="TextBox 141" id="141"/>
            <p:cNvSpPr txBox="true"/>
            <p:nvPr/>
          </p:nvSpPr>
          <p:spPr>
            <a:xfrm>
              <a:off x="0" y="-38100"/>
              <a:ext cx="749354" cy="1834180"/>
            </a:xfrm>
            <a:prstGeom prst="rect">
              <a:avLst/>
            </a:prstGeom>
          </p:spPr>
          <p:txBody>
            <a:bodyPr anchor="ctr" rtlCol="false" tIns="50800" lIns="50800" bIns="50800" rIns="50800"/>
            <a:lstStyle/>
            <a:p>
              <a:pPr algn="ctr">
                <a:lnSpc>
                  <a:spcPts val="2659"/>
                </a:lnSpc>
                <a:spcBef>
                  <a:spcPct val="0"/>
                </a:spcBef>
              </a:pPr>
            </a:p>
          </p:txBody>
        </p:sp>
      </p:grpSp>
      <p:grpSp>
        <p:nvGrpSpPr>
          <p:cNvPr name="Group 142" id="142"/>
          <p:cNvGrpSpPr/>
          <p:nvPr/>
        </p:nvGrpSpPr>
        <p:grpSpPr>
          <a:xfrm rot="0">
            <a:off x="1392780" y="2531717"/>
            <a:ext cx="5002229" cy="6326781"/>
            <a:chOff x="0" y="0"/>
            <a:chExt cx="5020587" cy="6350000"/>
          </a:xfrm>
        </p:grpSpPr>
        <p:sp>
          <p:nvSpPr>
            <p:cNvPr name="Freeform 143" id="143"/>
            <p:cNvSpPr/>
            <p:nvPr/>
          </p:nvSpPr>
          <p:spPr>
            <a:xfrm flipH="false" flipV="false" rot="0">
              <a:off x="0" y="0"/>
              <a:ext cx="5019172" cy="6350000"/>
            </a:xfrm>
            <a:custGeom>
              <a:avLst/>
              <a:gdLst/>
              <a:ahLst/>
              <a:cxnLst/>
              <a:rect r="r" b="b" t="t" l="l"/>
              <a:pathLst>
                <a:path h="6350000" w="5019172">
                  <a:moveTo>
                    <a:pt x="0" y="561340"/>
                  </a:moveTo>
                  <a:lnTo>
                    <a:pt x="0" y="3961130"/>
                  </a:lnTo>
                  <a:cubicBezTo>
                    <a:pt x="0" y="4272280"/>
                    <a:pt x="281515" y="4523740"/>
                    <a:pt x="626689" y="4522470"/>
                  </a:cubicBezTo>
                  <a:cubicBezTo>
                    <a:pt x="973278" y="4521200"/>
                    <a:pt x="1254793" y="4773930"/>
                    <a:pt x="1253378" y="5085080"/>
                  </a:cubicBezTo>
                  <a:lnTo>
                    <a:pt x="1251964" y="5787390"/>
                  </a:lnTo>
                  <a:cubicBezTo>
                    <a:pt x="1251964" y="6098540"/>
                    <a:pt x="1532064" y="6350000"/>
                    <a:pt x="1877238" y="6350000"/>
                  </a:cubicBezTo>
                  <a:lnTo>
                    <a:pt x="4393898" y="6350000"/>
                  </a:lnTo>
                  <a:cubicBezTo>
                    <a:pt x="4739072" y="6350000"/>
                    <a:pt x="5019172" y="6098540"/>
                    <a:pt x="5019172" y="5788660"/>
                  </a:cubicBezTo>
                  <a:lnTo>
                    <a:pt x="5019172" y="2679700"/>
                  </a:lnTo>
                  <a:cubicBezTo>
                    <a:pt x="5019172" y="2494280"/>
                    <a:pt x="4917317" y="2321560"/>
                    <a:pt x="4747560" y="2217420"/>
                  </a:cubicBezTo>
                  <a:lnTo>
                    <a:pt x="1319867" y="99060"/>
                  </a:lnTo>
                  <a:cubicBezTo>
                    <a:pt x="1215183" y="34290"/>
                    <a:pt x="1092108" y="0"/>
                    <a:pt x="964790" y="0"/>
                  </a:cubicBezTo>
                  <a:lnTo>
                    <a:pt x="625274" y="0"/>
                  </a:lnTo>
                  <a:cubicBezTo>
                    <a:pt x="280100" y="0"/>
                    <a:pt x="0" y="251460"/>
                    <a:pt x="0" y="561340"/>
                  </a:cubicBezTo>
                  <a:close/>
                </a:path>
              </a:pathLst>
            </a:custGeom>
            <a:blipFill>
              <a:blip r:embed="rId4"/>
              <a:stretch>
                <a:fillRect l="0" t="-2694" r="0" b="-2694"/>
              </a:stretch>
            </a:blipFill>
          </p:spPr>
        </p:sp>
      </p:grpSp>
      <p:grpSp>
        <p:nvGrpSpPr>
          <p:cNvPr name="Group 144" id="144"/>
          <p:cNvGrpSpPr/>
          <p:nvPr/>
        </p:nvGrpSpPr>
        <p:grpSpPr>
          <a:xfrm rot="5400000">
            <a:off x="1228671" y="7731365"/>
            <a:ext cx="1441630" cy="535616"/>
            <a:chOff x="0" y="0"/>
            <a:chExt cx="2884193" cy="1071579"/>
          </a:xfrm>
        </p:grpSpPr>
        <p:sp>
          <p:nvSpPr>
            <p:cNvPr name="Freeform 145" id="145"/>
            <p:cNvSpPr/>
            <p:nvPr/>
          </p:nvSpPr>
          <p:spPr>
            <a:xfrm flipH="false" flipV="false" rot="0">
              <a:off x="27678" y="0"/>
              <a:ext cx="2828837" cy="1071579"/>
            </a:xfrm>
            <a:custGeom>
              <a:avLst/>
              <a:gdLst/>
              <a:ahLst/>
              <a:cxnLst/>
              <a:rect r="r" b="b" t="t" l="l"/>
              <a:pathLst>
                <a:path h="1071579" w="2828837">
                  <a:moveTo>
                    <a:pt x="336630" y="0"/>
                  </a:moveTo>
                  <a:lnTo>
                    <a:pt x="2695408" y="0"/>
                  </a:lnTo>
                  <a:cubicBezTo>
                    <a:pt x="2735148" y="0"/>
                    <a:pt x="2772821" y="17715"/>
                    <a:pt x="2798169" y="48322"/>
                  </a:cubicBezTo>
                  <a:cubicBezTo>
                    <a:pt x="2823518" y="78929"/>
                    <a:pt x="2833904" y="119242"/>
                    <a:pt x="2826500" y="158287"/>
                  </a:cubicBezTo>
                  <a:lnTo>
                    <a:pt x="2683331" y="913292"/>
                  </a:lnTo>
                  <a:cubicBezTo>
                    <a:pt x="2665918" y="1005115"/>
                    <a:pt x="2585667" y="1071579"/>
                    <a:pt x="2492208" y="1071579"/>
                  </a:cubicBezTo>
                  <a:lnTo>
                    <a:pt x="133430" y="1071579"/>
                  </a:lnTo>
                  <a:cubicBezTo>
                    <a:pt x="93689" y="1071579"/>
                    <a:pt x="56016" y="1053864"/>
                    <a:pt x="30668" y="1023257"/>
                  </a:cubicBezTo>
                  <a:cubicBezTo>
                    <a:pt x="5319" y="992650"/>
                    <a:pt x="-5067" y="952337"/>
                    <a:pt x="2337" y="913292"/>
                  </a:cubicBezTo>
                  <a:lnTo>
                    <a:pt x="145507" y="158287"/>
                  </a:lnTo>
                  <a:cubicBezTo>
                    <a:pt x="162919" y="66463"/>
                    <a:pt x="243170" y="0"/>
                    <a:pt x="336630" y="0"/>
                  </a:cubicBezTo>
                  <a:close/>
                </a:path>
              </a:pathLst>
            </a:custGeom>
            <a:solidFill>
              <a:srgbClr val="00B58F"/>
            </a:solidFill>
          </p:spPr>
        </p:sp>
        <p:sp>
          <p:nvSpPr>
            <p:cNvPr name="TextBox 146" id="146"/>
            <p:cNvSpPr txBox="true"/>
            <p:nvPr/>
          </p:nvSpPr>
          <p:spPr>
            <a:xfrm>
              <a:off x="101600" y="-38100"/>
              <a:ext cx="2680993" cy="1109679"/>
            </a:xfrm>
            <a:prstGeom prst="rect">
              <a:avLst/>
            </a:prstGeom>
          </p:spPr>
          <p:txBody>
            <a:bodyPr anchor="ctr" rtlCol="false" tIns="50800" lIns="50800" bIns="50800" rIns="50800"/>
            <a:lstStyle/>
            <a:p>
              <a:pPr algn="ctr">
                <a:lnSpc>
                  <a:spcPts val="2659"/>
                </a:lnSpc>
              </a:pPr>
            </a:p>
          </p:txBody>
        </p:sp>
      </p:grpSp>
      <p:grpSp>
        <p:nvGrpSpPr>
          <p:cNvPr name="Group 147" id="147"/>
          <p:cNvGrpSpPr/>
          <p:nvPr/>
        </p:nvGrpSpPr>
        <p:grpSpPr>
          <a:xfrm rot="2073035">
            <a:off x="3286506" y="2590621"/>
            <a:ext cx="3605266" cy="1069184"/>
            <a:chOff x="0" y="0"/>
            <a:chExt cx="5053608" cy="1498707"/>
          </a:xfrm>
        </p:grpSpPr>
        <p:sp>
          <p:nvSpPr>
            <p:cNvPr name="Freeform 148" id="148"/>
            <p:cNvSpPr/>
            <p:nvPr/>
          </p:nvSpPr>
          <p:spPr>
            <a:xfrm flipH="false" flipV="false" rot="0">
              <a:off x="15584" y="5889"/>
              <a:ext cx="5022440" cy="1492818"/>
            </a:xfrm>
            <a:custGeom>
              <a:avLst/>
              <a:gdLst/>
              <a:ahLst/>
              <a:cxnLst/>
              <a:rect r="r" b="b" t="t" l="l"/>
              <a:pathLst>
                <a:path h="1492818" w="5022440">
                  <a:moveTo>
                    <a:pt x="2529690" y="5066"/>
                  </a:moveTo>
                  <a:lnTo>
                    <a:pt x="5019554" y="1481863"/>
                  </a:lnTo>
                  <a:cubicBezTo>
                    <a:pt x="5021836" y="1483217"/>
                    <a:pt x="5022931" y="1485928"/>
                    <a:pt x="5022229" y="1488486"/>
                  </a:cubicBezTo>
                  <a:cubicBezTo>
                    <a:pt x="5021528" y="1491045"/>
                    <a:pt x="5019202" y="1492818"/>
                    <a:pt x="5016550" y="1492818"/>
                  </a:cubicBezTo>
                  <a:lnTo>
                    <a:pt x="5890" y="1492818"/>
                  </a:lnTo>
                  <a:cubicBezTo>
                    <a:pt x="3237" y="1492818"/>
                    <a:pt x="912" y="1491045"/>
                    <a:pt x="210" y="1488486"/>
                  </a:cubicBezTo>
                  <a:cubicBezTo>
                    <a:pt x="-491" y="1485928"/>
                    <a:pt x="604" y="1483217"/>
                    <a:pt x="2886" y="1481863"/>
                  </a:cubicBezTo>
                  <a:lnTo>
                    <a:pt x="2492750" y="5066"/>
                  </a:lnTo>
                  <a:cubicBezTo>
                    <a:pt x="2504137" y="-1688"/>
                    <a:pt x="2518303" y="-1688"/>
                    <a:pt x="2529690" y="5066"/>
                  </a:cubicBezTo>
                  <a:close/>
                </a:path>
              </a:pathLst>
            </a:custGeom>
            <a:solidFill>
              <a:srgbClr val="00B58F"/>
            </a:solidFill>
          </p:spPr>
        </p:sp>
        <p:sp>
          <p:nvSpPr>
            <p:cNvPr name="TextBox 149" id="149"/>
            <p:cNvSpPr txBox="true"/>
            <p:nvPr/>
          </p:nvSpPr>
          <p:spPr>
            <a:xfrm>
              <a:off x="789626" y="657728"/>
              <a:ext cx="3474355" cy="733928"/>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5952812" y="8474412"/>
            <a:ext cx="4559724" cy="447540"/>
            <a:chOff x="0" y="0"/>
            <a:chExt cx="4059375" cy="398431"/>
          </a:xfrm>
        </p:grpSpPr>
        <p:sp>
          <p:nvSpPr>
            <p:cNvPr name="Freeform 3" id="3"/>
            <p:cNvSpPr/>
            <p:nvPr/>
          </p:nvSpPr>
          <p:spPr>
            <a:xfrm flipH="false" flipV="false" rot="0">
              <a:off x="9868" y="0"/>
              <a:ext cx="4039639" cy="398431"/>
            </a:xfrm>
            <a:custGeom>
              <a:avLst/>
              <a:gdLst/>
              <a:ahLst/>
              <a:cxnLst/>
              <a:rect r="r" b="b" t="t" l="l"/>
              <a:pathLst>
                <a:path h="398431" w="4039639">
                  <a:moveTo>
                    <a:pt x="218800" y="0"/>
                  </a:moveTo>
                  <a:lnTo>
                    <a:pt x="4024039" y="0"/>
                  </a:lnTo>
                  <a:cubicBezTo>
                    <a:pt x="4029468" y="0"/>
                    <a:pt x="4034506" y="2822"/>
                    <a:pt x="4037342" y="7452"/>
                  </a:cubicBezTo>
                  <a:cubicBezTo>
                    <a:pt x="4040177" y="12081"/>
                    <a:pt x="4040403" y="17852"/>
                    <a:pt x="4037936" y="22688"/>
                  </a:cubicBezTo>
                  <a:lnTo>
                    <a:pt x="3857878" y="375743"/>
                  </a:lnTo>
                  <a:cubicBezTo>
                    <a:pt x="3850777" y="389666"/>
                    <a:pt x="3836468" y="398431"/>
                    <a:pt x="3820839" y="398431"/>
                  </a:cubicBezTo>
                  <a:lnTo>
                    <a:pt x="15600" y="398431"/>
                  </a:lnTo>
                  <a:cubicBezTo>
                    <a:pt x="10171" y="398431"/>
                    <a:pt x="5133" y="395608"/>
                    <a:pt x="2297" y="390979"/>
                  </a:cubicBezTo>
                  <a:cubicBezTo>
                    <a:pt x="-538" y="386350"/>
                    <a:pt x="-764" y="380579"/>
                    <a:pt x="1703" y="375743"/>
                  </a:cubicBezTo>
                  <a:lnTo>
                    <a:pt x="181761" y="22688"/>
                  </a:lnTo>
                  <a:cubicBezTo>
                    <a:pt x="188862" y="8765"/>
                    <a:pt x="203171" y="0"/>
                    <a:pt x="218800" y="0"/>
                  </a:cubicBezTo>
                  <a:close/>
                </a:path>
              </a:pathLst>
            </a:custGeom>
            <a:solidFill>
              <a:srgbClr val="EDF6F9"/>
            </a:solidFill>
          </p:spPr>
        </p:sp>
        <p:sp>
          <p:nvSpPr>
            <p:cNvPr name="TextBox 4" id="4"/>
            <p:cNvSpPr txBox="true"/>
            <p:nvPr/>
          </p:nvSpPr>
          <p:spPr>
            <a:xfrm>
              <a:off x="101600" y="-38100"/>
              <a:ext cx="385617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56527" y="8473564"/>
            <a:ext cx="2473138" cy="447540"/>
            <a:chOff x="0" y="0"/>
            <a:chExt cx="2201755" cy="398431"/>
          </a:xfrm>
        </p:grpSpPr>
        <p:sp>
          <p:nvSpPr>
            <p:cNvPr name="Freeform 6" id="6"/>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7" id="7"/>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793061"/>
            <a:ext cx="4463067" cy="235560"/>
            <a:chOff x="0" y="0"/>
            <a:chExt cx="5950756" cy="314080"/>
          </a:xfrm>
        </p:grpSpPr>
        <p:sp>
          <p:nvSpPr>
            <p:cNvPr name="Freeform 9" id="9"/>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11" id="11"/>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- 06</a:t>
            </a:r>
          </a:p>
        </p:txBody>
      </p:sp>
      <p:sp>
        <p:nvSpPr>
          <p:cNvPr name="TextBox 12" id="12"/>
          <p:cNvSpPr txBox="true"/>
          <p:nvPr/>
        </p:nvSpPr>
        <p:spPr>
          <a:xfrm rot="0">
            <a:off x="2616363" y="4628409"/>
            <a:ext cx="13055274" cy="1201632"/>
          </a:xfrm>
          <a:prstGeom prst="rect">
            <a:avLst/>
          </a:prstGeom>
        </p:spPr>
        <p:txBody>
          <a:bodyPr anchor="t" rtlCol="false" tIns="0" lIns="0" bIns="0" rIns="0">
            <a:spAutoFit/>
          </a:bodyPr>
          <a:lstStyle/>
          <a:p>
            <a:pPr algn="ctr">
              <a:lnSpc>
                <a:spcPts val="9058"/>
              </a:lnSpc>
            </a:pPr>
            <a:r>
              <a:rPr lang="en-US" sz="9058">
                <a:solidFill>
                  <a:srgbClr val="0B132B"/>
                </a:solidFill>
                <a:latin typeface="Rubik One"/>
                <a:ea typeface="Rubik One"/>
                <a:cs typeface="Rubik One"/>
                <a:sym typeface="Rubik One"/>
              </a:rPr>
              <a:t>DATASET </a:t>
            </a:r>
            <a:r>
              <a:rPr lang="en-US" sz="9058">
                <a:solidFill>
                  <a:srgbClr val="00B58F"/>
                </a:solidFill>
                <a:latin typeface="Rubik One"/>
                <a:ea typeface="Rubik One"/>
                <a:cs typeface="Rubik One"/>
                <a:sym typeface="Rubik One"/>
              </a:rPr>
              <a:t>OVERVIEW</a:t>
            </a:r>
          </a:p>
        </p:txBody>
      </p:sp>
      <p:grpSp>
        <p:nvGrpSpPr>
          <p:cNvPr name="Group 13" id="13"/>
          <p:cNvGrpSpPr/>
          <p:nvPr/>
        </p:nvGrpSpPr>
        <p:grpSpPr>
          <a:xfrm rot="0">
            <a:off x="7270483" y="3554789"/>
            <a:ext cx="3747034" cy="613261"/>
            <a:chOff x="0" y="0"/>
            <a:chExt cx="4996045" cy="817681"/>
          </a:xfrm>
        </p:grpSpPr>
        <p:grpSp>
          <p:nvGrpSpPr>
            <p:cNvPr name="Group 14" id="14"/>
            <p:cNvGrpSpPr/>
            <p:nvPr/>
          </p:nvGrpSpPr>
          <p:grpSpPr>
            <a:xfrm rot="0">
              <a:off x="802794" y="0"/>
              <a:ext cx="1140217" cy="813012"/>
              <a:chOff x="0" y="0"/>
              <a:chExt cx="407622" cy="290648"/>
            </a:xfrm>
          </p:grpSpPr>
          <p:sp>
            <p:nvSpPr>
              <p:cNvPr name="Freeform 15" id="15"/>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16" id="16"/>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7" id="17"/>
            <p:cNvGrpSpPr/>
            <p:nvPr/>
          </p:nvGrpSpPr>
          <p:grpSpPr>
            <a:xfrm rot="0">
              <a:off x="1586425" y="4669"/>
              <a:ext cx="1140217" cy="813012"/>
              <a:chOff x="0" y="0"/>
              <a:chExt cx="407622" cy="290648"/>
            </a:xfrm>
          </p:grpSpPr>
          <p:sp>
            <p:nvSpPr>
              <p:cNvPr name="Freeform 18" id="1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19" id="19"/>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0" id="20"/>
            <p:cNvGrpSpPr/>
            <p:nvPr/>
          </p:nvGrpSpPr>
          <p:grpSpPr>
            <a:xfrm rot="0">
              <a:off x="2355240" y="4669"/>
              <a:ext cx="1140217" cy="813012"/>
              <a:chOff x="0" y="0"/>
              <a:chExt cx="407622" cy="290648"/>
            </a:xfrm>
          </p:grpSpPr>
          <p:sp>
            <p:nvSpPr>
              <p:cNvPr name="Freeform 21" id="2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2" id="22"/>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3" id="23"/>
            <p:cNvGrpSpPr/>
            <p:nvPr/>
          </p:nvGrpSpPr>
          <p:grpSpPr>
            <a:xfrm rot="0">
              <a:off x="3087013" y="4669"/>
              <a:ext cx="1140217" cy="813012"/>
              <a:chOff x="0" y="0"/>
              <a:chExt cx="407622" cy="290648"/>
            </a:xfrm>
          </p:grpSpPr>
          <p:sp>
            <p:nvSpPr>
              <p:cNvPr name="Freeform 24" id="2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5" id="25"/>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6" id="26"/>
            <p:cNvGrpSpPr/>
            <p:nvPr/>
          </p:nvGrpSpPr>
          <p:grpSpPr>
            <a:xfrm rot="0">
              <a:off x="3855828" y="4669"/>
              <a:ext cx="1140217" cy="813012"/>
              <a:chOff x="0" y="0"/>
              <a:chExt cx="407622" cy="290648"/>
            </a:xfrm>
          </p:grpSpPr>
          <p:sp>
            <p:nvSpPr>
              <p:cNvPr name="Freeform 27" id="2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8" id="28"/>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9" id="29"/>
            <p:cNvGrpSpPr/>
            <p:nvPr/>
          </p:nvGrpSpPr>
          <p:grpSpPr>
            <a:xfrm rot="0">
              <a:off x="0" y="0"/>
              <a:ext cx="1140217" cy="813012"/>
              <a:chOff x="0" y="0"/>
              <a:chExt cx="407622" cy="290648"/>
            </a:xfrm>
          </p:grpSpPr>
          <p:sp>
            <p:nvSpPr>
              <p:cNvPr name="Freeform 30" id="30"/>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31" id="31"/>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grpSp>
        <p:nvGrpSpPr>
          <p:cNvPr name="Group 32" id="32"/>
          <p:cNvGrpSpPr/>
          <p:nvPr/>
        </p:nvGrpSpPr>
        <p:grpSpPr>
          <a:xfrm rot="0">
            <a:off x="11502671" y="9960324"/>
            <a:ext cx="9960587" cy="1142074"/>
            <a:chOff x="0" y="0"/>
            <a:chExt cx="2572779" cy="294993"/>
          </a:xfrm>
        </p:grpSpPr>
        <p:sp>
          <p:nvSpPr>
            <p:cNvPr name="Freeform 33" id="3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34" id="3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5" id="35"/>
          <p:cNvGrpSpPr/>
          <p:nvPr/>
        </p:nvGrpSpPr>
        <p:grpSpPr>
          <a:xfrm rot="0">
            <a:off x="-5959063" y="-784283"/>
            <a:ext cx="9960587" cy="1142074"/>
            <a:chOff x="0" y="0"/>
            <a:chExt cx="2572779" cy="294993"/>
          </a:xfrm>
        </p:grpSpPr>
        <p:sp>
          <p:nvSpPr>
            <p:cNvPr name="Freeform 36" id="36"/>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37" id="37"/>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2794342" y="4349239"/>
            <a:ext cx="12836648" cy="5213922"/>
            <a:chOff x="0" y="0"/>
            <a:chExt cx="3380846" cy="1373214"/>
          </a:xfrm>
        </p:grpSpPr>
        <p:sp>
          <p:nvSpPr>
            <p:cNvPr name="Freeform 3" id="3"/>
            <p:cNvSpPr/>
            <p:nvPr/>
          </p:nvSpPr>
          <p:spPr>
            <a:xfrm flipH="false" flipV="false" rot="0">
              <a:off x="0" y="0"/>
              <a:ext cx="3380846" cy="1373214"/>
            </a:xfrm>
            <a:custGeom>
              <a:avLst/>
              <a:gdLst/>
              <a:ahLst/>
              <a:cxnLst/>
              <a:rect r="r" b="b" t="t" l="l"/>
              <a:pathLst>
                <a:path h="1373214" w="3380846">
                  <a:moveTo>
                    <a:pt x="14475" y="0"/>
                  </a:moveTo>
                  <a:lnTo>
                    <a:pt x="3366371" y="0"/>
                  </a:lnTo>
                  <a:cubicBezTo>
                    <a:pt x="3370210" y="0"/>
                    <a:pt x="3373891" y="1525"/>
                    <a:pt x="3376606" y="4240"/>
                  </a:cubicBezTo>
                  <a:cubicBezTo>
                    <a:pt x="3379320" y="6954"/>
                    <a:pt x="3380846" y="10636"/>
                    <a:pt x="3380846" y="14475"/>
                  </a:cubicBezTo>
                  <a:lnTo>
                    <a:pt x="3380846" y="1358739"/>
                  </a:lnTo>
                  <a:cubicBezTo>
                    <a:pt x="3380846" y="1362578"/>
                    <a:pt x="3379320" y="1366260"/>
                    <a:pt x="3376606" y="1368974"/>
                  </a:cubicBezTo>
                  <a:cubicBezTo>
                    <a:pt x="3373891" y="1371689"/>
                    <a:pt x="3370210" y="1373214"/>
                    <a:pt x="3366371" y="1373214"/>
                  </a:cubicBezTo>
                  <a:lnTo>
                    <a:pt x="14475" y="1373214"/>
                  </a:lnTo>
                  <a:cubicBezTo>
                    <a:pt x="10636" y="1373214"/>
                    <a:pt x="6954" y="1371689"/>
                    <a:pt x="4240" y="1368974"/>
                  </a:cubicBezTo>
                  <a:cubicBezTo>
                    <a:pt x="1525" y="1366260"/>
                    <a:pt x="0" y="1362578"/>
                    <a:pt x="0" y="1358739"/>
                  </a:cubicBezTo>
                  <a:lnTo>
                    <a:pt x="0" y="14475"/>
                  </a:lnTo>
                  <a:cubicBezTo>
                    <a:pt x="0" y="10636"/>
                    <a:pt x="1525" y="6954"/>
                    <a:pt x="4240" y="4240"/>
                  </a:cubicBezTo>
                  <a:cubicBezTo>
                    <a:pt x="6954" y="1525"/>
                    <a:pt x="10636" y="0"/>
                    <a:pt x="14475" y="0"/>
                  </a:cubicBezTo>
                  <a:close/>
                </a:path>
              </a:pathLst>
            </a:custGeom>
            <a:ln w="66675" cap="rnd">
              <a:solidFill>
                <a:srgbClr val="019174"/>
              </a:solidFill>
              <a:prstDash val="dash"/>
              <a:round/>
            </a:ln>
          </p:spPr>
        </p:sp>
        <p:sp>
          <p:nvSpPr>
            <p:cNvPr name="TextBox 4" id="4"/>
            <p:cNvSpPr txBox="true"/>
            <p:nvPr/>
          </p:nvSpPr>
          <p:spPr>
            <a:xfrm>
              <a:off x="0" y="-38100"/>
              <a:ext cx="3380846" cy="141131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150242" y="9960324"/>
            <a:ext cx="9960587" cy="1142074"/>
            <a:chOff x="0" y="0"/>
            <a:chExt cx="2572779" cy="294993"/>
          </a:xfrm>
        </p:grpSpPr>
        <p:sp>
          <p:nvSpPr>
            <p:cNvPr name="Freeform 6" id="6"/>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7" id="7"/>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338615" y="-784283"/>
            <a:ext cx="12457569" cy="1142074"/>
            <a:chOff x="0" y="0"/>
            <a:chExt cx="3217739" cy="294993"/>
          </a:xfrm>
        </p:grpSpPr>
        <p:sp>
          <p:nvSpPr>
            <p:cNvPr name="Freeform 9" id="9"/>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10" id="10"/>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29014" y="2571655"/>
            <a:ext cx="16461963" cy="1428750"/>
            <a:chOff x="0" y="0"/>
            <a:chExt cx="21949284" cy="1905000"/>
          </a:xfrm>
        </p:grpSpPr>
        <p:grpSp>
          <p:nvGrpSpPr>
            <p:cNvPr name="Group 12" id="12"/>
            <p:cNvGrpSpPr/>
            <p:nvPr/>
          </p:nvGrpSpPr>
          <p:grpSpPr>
            <a:xfrm rot="0">
              <a:off x="937142" y="1635322"/>
              <a:ext cx="4142858" cy="269625"/>
              <a:chOff x="0" y="0"/>
              <a:chExt cx="6142701" cy="399778"/>
            </a:xfrm>
          </p:grpSpPr>
          <p:sp>
            <p:nvSpPr>
              <p:cNvPr name="Freeform 13" id="13"/>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14" id="14"/>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grpSp>
          <p:nvGrpSpPr>
            <p:cNvPr name="Group 15" id="15"/>
            <p:cNvGrpSpPr/>
            <p:nvPr/>
          </p:nvGrpSpPr>
          <p:grpSpPr>
            <a:xfrm rot="0">
              <a:off x="17497524" y="1635375"/>
              <a:ext cx="4142858" cy="269625"/>
              <a:chOff x="0" y="0"/>
              <a:chExt cx="6142701" cy="399778"/>
            </a:xfrm>
          </p:grpSpPr>
          <p:sp>
            <p:nvSpPr>
              <p:cNvPr name="Freeform 16" id="16"/>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17" id="17"/>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grpSp>
          <p:nvGrpSpPr>
            <p:cNvPr name="Group 18" id="18"/>
            <p:cNvGrpSpPr/>
            <p:nvPr/>
          </p:nvGrpSpPr>
          <p:grpSpPr>
            <a:xfrm rot="0">
              <a:off x="12038020" y="1635375"/>
              <a:ext cx="4142858" cy="269625"/>
              <a:chOff x="0" y="0"/>
              <a:chExt cx="6142701" cy="399778"/>
            </a:xfrm>
          </p:grpSpPr>
          <p:sp>
            <p:nvSpPr>
              <p:cNvPr name="Freeform 19" id="19"/>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20" id="20"/>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grpSp>
          <p:nvGrpSpPr>
            <p:cNvPr name="Group 21" id="21"/>
            <p:cNvGrpSpPr/>
            <p:nvPr/>
          </p:nvGrpSpPr>
          <p:grpSpPr>
            <a:xfrm rot="0">
              <a:off x="110833" y="174773"/>
              <a:ext cx="4794614" cy="1589760"/>
              <a:chOff x="0" y="0"/>
              <a:chExt cx="2254136" cy="747409"/>
            </a:xfrm>
          </p:grpSpPr>
          <p:sp>
            <p:nvSpPr>
              <p:cNvPr name="Freeform 22" id="22"/>
              <p:cNvSpPr/>
              <p:nvPr/>
            </p:nvSpPr>
            <p:spPr>
              <a:xfrm flipH="false" flipV="false" rot="0">
                <a:off x="0" y="0"/>
                <a:ext cx="2254136" cy="747409"/>
              </a:xfrm>
              <a:custGeom>
                <a:avLst/>
                <a:gdLst/>
                <a:ahLst/>
                <a:cxnLst/>
                <a:rect r="r" b="b" t="t" l="l"/>
                <a:pathLst>
                  <a:path h="747409" w="2254136">
                    <a:moveTo>
                      <a:pt x="43059" y="0"/>
                    </a:moveTo>
                    <a:lnTo>
                      <a:pt x="2211077" y="0"/>
                    </a:lnTo>
                    <a:cubicBezTo>
                      <a:pt x="2234858" y="0"/>
                      <a:pt x="2254136" y="19278"/>
                      <a:pt x="2254136" y="43059"/>
                    </a:cubicBezTo>
                    <a:lnTo>
                      <a:pt x="2254136" y="704350"/>
                    </a:lnTo>
                    <a:cubicBezTo>
                      <a:pt x="2254136" y="728131"/>
                      <a:pt x="2234858" y="747409"/>
                      <a:pt x="2211077" y="747409"/>
                    </a:cubicBezTo>
                    <a:lnTo>
                      <a:pt x="43059" y="747409"/>
                    </a:lnTo>
                    <a:cubicBezTo>
                      <a:pt x="31639" y="747409"/>
                      <a:pt x="20687" y="742872"/>
                      <a:pt x="12612" y="734797"/>
                    </a:cubicBezTo>
                    <a:cubicBezTo>
                      <a:pt x="4537" y="726722"/>
                      <a:pt x="0" y="715770"/>
                      <a:pt x="0" y="704350"/>
                    </a:cubicBezTo>
                    <a:lnTo>
                      <a:pt x="0" y="43059"/>
                    </a:lnTo>
                    <a:cubicBezTo>
                      <a:pt x="0" y="19278"/>
                      <a:pt x="19278" y="0"/>
                      <a:pt x="43059" y="0"/>
                    </a:cubicBezTo>
                    <a:close/>
                  </a:path>
                </a:pathLst>
              </a:custGeom>
              <a:solidFill>
                <a:srgbClr val="00B58F"/>
              </a:solidFill>
              <a:ln cap="sq">
                <a:noFill/>
                <a:prstDash val="solid"/>
                <a:miter/>
              </a:ln>
            </p:spPr>
          </p:sp>
          <p:sp>
            <p:nvSpPr>
              <p:cNvPr name="TextBox 23" id="23"/>
              <p:cNvSpPr txBox="true"/>
              <p:nvPr/>
            </p:nvSpPr>
            <p:spPr>
              <a:xfrm>
                <a:off x="0" y="-38100"/>
                <a:ext cx="2254136" cy="785509"/>
              </a:xfrm>
              <a:prstGeom prst="rect">
                <a:avLst/>
              </a:prstGeom>
            </p:spPr>
            <p:txBody>
              <a:bodyPr anchor="ctr" rtlCol="false" tIns="17593" lIns="17593" bIns="17593" rIns="17593"/>
              <a:lstStyle/>
              <a:p>
                <a:pPr algn="ctr">
                  <a:lnSpc>
                    <a:spcPts val="2660"/>
                  </a:lnSpc>
                  <a:spcBef>
                    <a:spcPct val="0"/>
                  </a:spcBef>
                </a:pPr>
              </a:p>
            </p:txBody>
          </p:sp>
        </p:grpSp>
        <p:grpSp>
          <p:nvGrpSpPr>
            <p:cNvPr name="Group 24" id="24"/>
            <p:cNvGrpSpPr/>
            <p:nvPr/>
          </p:nvGrpSpPr>
          <p:grpSpPr>
            <a:xfrm rot="0">
              <a:off x="0" y="0"/>
              <a:ext cx="4142858" cy="269625"/>
              <a:chOff x="0" y="0"/>
              <a:chExt cx="6142701" cy="399778"/>
            </a:xfrm>
          </p:grpSpPr>
          <p:sp>
            <p:nvSpPr>
              <p:cNvPr name="Freeform 25" id="25"/>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26" id="26"/>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sp>
          <p:nvSpPr>
            <p:cNvPr name="TextBox 27" id="27"/>
            <p:cNvSpPr txBox="true"/>
            <p:nvPr/>
          </p:nvSpPr>
          <p:spPr>
            <a:xfrm rot="0">
              <a:off x="155074" y="438621"/>
              <a:ext cx="4709556" cy="571774"/>
            </a:xfrm>
            <a:prstGeom prst="rect">
              <a:avLst/>
            </a:prstGeom>
          </p:spPr>
          <p:txBody>
            <a:bodyPr anchor="t" rtlCol="false" tIns="0" lIns="0" bIns="0" rIns="0">
              <a:spAutoFit/>
            </a:bodyPr>
            <a:lstStyle/>
            <a:p>
              <a:pPr algn="ctr">
                <a:lnSpc>
                  <a:spcPts val="3621"/>
                </a:lnSpc>
              </a:pPr>
              <a:r>
                <a:rPr lang="en-US" b="true" sz="2586" spc="64">
                  <a:solidFill>
                    <a:srgbClr val="0B132B"/>
                  </a:solidFill>
                  <a:latin typeface="Bricolage Grotesque Bold"/>
                  <a:ea typeface="Bricolage Grotesque Bold"/>
                  <a:cs typeface="Bricolage Grotesque Bold"/>
                  <a:sym typeface="Bricolage Grotesque Bold"/>
                </a:rPr>
                <a:t>1.317.750 Baris</a:t>
              </a:r>
            </a:p>
          </p:txBody>
        </p:sp>
        <p:sp>
          <p:nvSpPr>
            <p:cNvPr name="TextBox 28" id="28"/>
            <p:cNvSpPr txBox="true"/>
            <p:nvPr/>
          </p:nvSpPr>
          <p:spPr>
            <a:xfrm rot="0">
              <a:off x="185222" y="972295"/>
              <a:ext cx="4709556" cy="449799"/>
            </a:xfrm>
            <a:prstGeom prst="rect">
              <a:avLst/>
            </a:prstGeom>
          </p:spPr>
          <p:txBody>
            <a:bodyPr anchor="t" rtlCol="false" tIns="0" lIns="0" bIns="0" rIns="0">
              <a:spAutoFit/>
            </a:bodyPr>
            <a:lstStyle/>
            <a:p>
              <a:pPr algn="ctr">
                <a:lnSpc>
                  <a:spcPts val="2896"/>
                </a:lnSpc>
              </a:pPr>
              <a:r>
                <a:rPr lang="en-US" sz="2069" spc="51">
                  <a:solidFill>
                    <a:srgbClr val="0B132B"/>
                  </a:solidFill>
                  <a:latin typeface="Bricolage Grotesque"/>
                  <a:ea typeface="Bricolage Grotesque"/>
                  <a:cs typeface="Bricolage Grotesque"/>
                  <a:sym typeface="Bricolage Grotesque"/>
                </a:rPr>
                <a:t>Total Observasi</a:t>
              </a:r>
            </a:p>
          </p:txBody>
        </p:sp>
        <p:grpSp>
          <p:nvGrpSpPr>
            <p:cNvPr name="Group 29" id="29"/>
            <p:cNvGrpSpPr/>
            <p:nvPr/>
          </p:nvGrpSpPr>
          <p:grpSpPr>
            <a:xfrm rot="0">
              <a:off x="16671215" y="174826"/>
              <a:ext cx="4794614" cy="1589760"/>
              <a:chOff x="0" y="0"/>
              <a:chExt cx="2254136" cy="747409"/>
            </a:xfrm>
          </p:grpSpPr>
          <p:sp>
            <p:nvSpPr>
              <p:cNvPr name="Freeform 30" id="30"/>
              <p:cNvSpPr/>
              <p:nvPr/>
            </p:nvSpPr>
            <p:spPr>
              <a:xfrm flipH="false" flipV="false" rot="0">
                <a:off x="0" y="0"/>
                <a:ext cx="2254136" cy="747409"/>
              </a:xfrm>
              <a:custGeom>
                <a:avLst/>
                <a:gdLst/>
                <a:ahLst/>
                <a:cxnLst/>
                <a:rect r="r" b="b" t="t" l="l"/>
                <a:pathLst>
                  <a:path h="747409" w="2254136">
                    <a:moveTo>
                      <a:pt x="43059" y="0"/>
                    </a:moveTo>
                    <a:lnTo>
                      <a:pt x="2211077" y="0"/>
                    </a:lnTo>
                    <a:cubicBezTo>
                      <a:pt x="2234858" y="0"/>
                      <a:pt x="2254136" y="19278"/>
                      <a:pt x="2254136" y="43059"/>
                    </a:cubicBezTo>
                    <a:lnTo>
                      <a:pt x="2254136" y="704350"/>
                    </a:lnTo>
                    <a:cubicBezTo>
                      <a:pt x="2254136" y="728131"/>
                      <a:pt x="2234858" y="747409"/>
                      <a:pt x="2211077" y="747409"/>
                    </a:cubicBezTo>
                    <a:lnTo>
                      <a:pt x="43059" y="747409"/>
                    </a:lnTo>
                    <a:cubicBezTo>
                      <a:pt x="31639" y="747409"/>
                      <a:pt x="20687" y="742872"/>
                      <a:pt x="12612" y="734797"/>
                    </a:cubicBezTo>
                    <a:cubicBezTo>
                      <a:pt x="4537" y="726722"/>
                      <a:pt x="0" y="715770"/>
                      <a:pt x="0" y="704350"/>
                    </a:cubicBezTo>
                    <a:lnTo>
                      <a:pt x="0" y="43059"/>
                    </a:lnTo>
                    <a:cubicBezTo>
                      <a:pt x="0" y="19278"/>
                      <a:pt x="19278" y="0"/>
                      <a:pt x="43059" y="0"/>
                    </a:cubicBezTo>
                    <a:close/>
                  </a:path>
                </a:pathLst>
              </a:custGeom>
              <a:solidFill>
                <a:srgbClr val="00B58F"/>
              </a:solidFill>
              <a:ln cap="sq">
                <a:noFill/>
                <a:prstDash val="solid"/>
                <a:miter/>
              </a:ln>
            </p:spPr>
          </p:sp>
          <p:sp>
            <p:nvSpPr>
              <p:cNvPr name="TextBox 31" id="31"/>
              <p:cNvSpPr txBox="true"/>
              <p:nvPr/>
            </p:nvSpPr>
            <p:spPr>
              <a:xfrm>
                <a:off x="0" y="-38100"/>
                <a:ext cx="2254136" cy="785509"/>
              </a:xfrm>
              <a:prstGeom prst="rect">
                <a:avLst/>
              </a:prstGeom>
            </p:spPr>
            <p:txBody>
              <a:bodyPr anchor="ctr" rtlCol="false" tIns="17593" lIns="17593" bIns="17593" rIns="17593"/>
              <a:lstStyle/>
              <a:p>
                <a:pPr algn="ctr">
                  <a:lnSpc>
                    <a:spcPts val="2660"/>
                  </a:lnSpc>
                  <a:spcBef>
                    <a:spcPct val="0"/>
                  </a:spcBef>
                </a:pPr>
              </a:p>
            </p:txBody>
          </p:sp>
        </p:grpSp>
        <p:grpSp>
          <p:nvGrpSpPr>
            <p:cNvPr name="Group 32" id="32"/>
            <p:cNvGrpSpPr/>
            <p:nvPr/>
          </p:nvGrpSpPr>
          <p:grpSpPr>
            <a:xfrm rot="0">
              <a:off x="16560382" y="53"/>
              <a:ext cx="4142858" cy="269625"/>
              <a:chOff x="0" y="0"/>
              <a:chExt cx="6142701" cy="399778"/>
            </a:xfrm>
          </p:grpSpPr>
          <p:sp>
            <p:nvSpPr>
              <p:cNvPr name="Freeform 33" id="33"/>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34" id="34"/>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sp>
          <p:nvSpPr>
            <p:cNvPr name="TextBox 35" id="35"/>
            <p:cNvSpPr txBox="true"/>
            <p:nvPr/>
          </p:nvSpPr>
          <p:spPr>
            <a:xfrm rot="0">
              <a:off x="16730530" y="438621"/>
              <a:ext cx="4709556" cy="571774"/>
            </a:xfrm>
            <a:prstGeom prst="rect">
              <a:avLst/>
            </a:prstGeom>
          </p:spPr>
          <p:txBody>
            <a:bodyPr anchor="t" rtlCol="false" tIns="0" lIns="0" bIns="0" rIns="0">
              <a:spAutoFit/>
            </a:bodyPr>
            <a:lstStyle/>
            <a:p>
              <a:pPr algn="ctr">
                <a:lnSpc>
                  <a:spcPts val="3621"/>
                </a:lnSpc>
              </a:pPr>
              <a:r>
                <a:rPr lang="en-US" b="true" sz="2586" spc="64">
                  <a:solidFill>
                    <a:srgbClr val="0B132B"/>
                  </a:solidFill>
                  <a:latin typeface="Bricolage Grotesque Bold"/>
                  <a:ea typeface="Bricolage Grotesque Bold"/>
                  <a:cs typeface="Bricolage Grotesque Bold"/>
                  <a:sym typeface="Bricolage Grotesque Bold"/>
                </a:rPr>
                <a:t>3</a:t>
              </a:r>
              <a:r>
                <a:rPr lang="en-US" b="true" sz="2586" spc="64">
                  <a:solidFill>
                    <a:srgbClr val="0B132B"/>
                  </a:solidFill>
                  <a:latin typeface="Bricolage Grotesque Bold"/>
                  <a:ea typeface="Bricolage Grotesque Bold"/>
                  <a:cs typeface="Bricolage Grotesque Bold"/>
                  <a:sym typeface="Bricolage Grotesque Bold"/>
                </a:rPr>
                <a:t>0 Menit Interval</a:t>
              </a:r>
            </a:p>
          </p:txBody>
        </p:sp>
        <p:sp>
          <p:nvSpPr>
            <p:cNvPr name="TextBox 36" id="36"/>
            <p:cNvSpPr txBox="true"/>
            <p:nvPr/>
          </p:nvSpPr>
          <p:spPr>
            <a:xfrm rot="0">
              <a:off x="16760678" y="972295"/>
              <a:ext cx="4709556" cy="449799"/>
            </a:xfrm>
            <a:prstGeom prst="rect">
              <a:avLst/>
            </a:prstGeom>
          </p:spPr>
          <p:txBody>
            <a:bodyPr anchor="t" rtlCol="false" tIns="0" lIns="0" bIns="0" rIns="0">
              <a:spAutoFit/>
            </a:bodyPr>
            <a:lstStyle/>
            <a:p>
              <a:pPr algn="ctr">
                <a:lnSpc>
                  <a:spcPts val="2896"/>
                </a:lnSpc>
              </a:pPr>
              <a:r>
                <a:rPr lang="en-US" sz="2069" spc="51">
                  <a:solidFill>
                    <a:srgbClr val="0B132B"/>
                  </a:solidFill>
                  <a:latin typeface="Bricolage Grotesque"/>
                  <a:ea typeface="Bricolage Grotesque"/>
                  <a:cs typeface="Bricolage Grotesque"/>
                  <a:sym typeface="Bricolage Grotesque"/>
                </a:rPr>
                <a:t>Granularitas Waktu</a:t>
              </a:r>
            </a:p>
          </p:txBody>
        </p:sp>
        <p:grpSp>
          <p:nvGrpSpPr>
            <p:cNvPr name="Group 37" id="37"/>
            <p:cNvGrpSpPr/>
            <p:nvPr/>
          </p:nvGrpSpPr>
          <p:grpSpPr>
            <a:xfrm rot="0">
              <a:off x="11211711" y="174826"/>
              <a:ext cx="4794614" cy="1589760"/>
              <a:chOff x="0" y="0"/>
              <a:chExt cx="2254136" cy="747409"/>
            </a:xfrm>
          </p:grpSpPr>
          <p:sp>
            <p:nvSpPr>
              <p:cNvPr name="Freeform 38" id="38"/>
              <p:cNvSpPr/>
              <p:nvPr/>
            </p:nvSpPr>
            <p:spPr>
              <a:xfrm flipH="false" flipV="false" rot="0">
                <a:off x="0" y="0"/>
                <a:ext cx="2254136" cy="747409"/>
              </a:xfrm>
              <a:custGeom>
                <a:avLst/>
                <a:gdLst/>
                <a:ahLst/>
                <a:cxnLst/>
                <a:rect r="r" b="b" t="t" l="l"/>
                <a:pathLst>
                  <a:path h="747409" w="2254136">
                    <a:moveTo>
                      <a:pt x="43059" y="0"/>
                    </a:moveTo>
                    <a:lnTo>
                      <a:pt x="2211077" y="0"/>
                    </a:lnTo>
                    <a:cubicBezTo>
                      <a:pt x="2234858" y="0"/>
                      <a:pt x="2254136" y="19278"/>
                      <a:pt x="2254136" y="43059"/>
                    </a:cubicBezTo>
                    <a:lnTo>
                      <a:pt x="2254136" y="704350"/>
                    </a:lnTo>
                    <a:cubicBezTo>
                      <a:pt x="2254136" y="728131"/>
                      <a:pt x="2234858" y="747409"/>
                      <a:pt x="2211077" y="747409"/>
                    </a:cubicBezTo>
                    <a:lnTo>
                      <a:pt x="43059" y="747409"/>
                    </a:lnTo>
                    <a:cubicBezTo>
                      <a:pt x="31639" y="747409"/>
                      <a:pt x="20687" y="742872"/>
                      <a:pt x="12612" y="734797"/>
                    </a:cubicBezTo>
                    <a:cubicBezTo>
                      <a:pt x="4537" y="726722"/>
                      <a:pt x="0" y="715770"/>
                      <a:pt x="0" y="704350"/>
                    </a:cubicBezTo>
                    <a:lnTo>
                      <a:pt x="0" y="43059"/>
                    </a:lnTo>
                    <a:cubicBezTo>
                      <a:pt x="0" y="19278"/>
                      <a:pt x="19278" y="0"/>
                      <a:pt x="43059" y="0"/>
                    </a:cubicBezTo>
                    <a:close/>
                  </a:path>
                </a:pathLst>
              </a:custGeom>
              <a:solidFill>
                <a:srgbClr val="00B58F"/>
              </a:solidFill>
              <a:ln cap="sq">
                <a:noFill/>
                <a:prstDash val="solid"/>
                <a:miter/>
              </a:ln>
            </p:spPr>
          </p:sp>
          <p:sp>
            <p:nvSpPr>
              <p:cNvPr name="TextBox 39" id="39"/>
              <p:cNvSpPr txBox="true"/>
              <p:nvPr/>
            </p:nvSpPr>
            <p:spPr>
              <a:xfrm>
                <a:off x="0" y="-38100"/>
                <a:ext cx="2254136" cy="785509"/>
              </a:xfrm>
              <a:prstGeom prst="rect">
                <a:avLst/>
              </a:prstGeom>
            </p:spPr>
            <p:txBody>
              <a:bodyPr anchor="ctr" rtlCol="false" tIns="17593" lIns="17593" bIns="17593" rIns="17593"/>
              <a:lstStyle/>
              <a:p>
                <a:pPr algn="ctr">
                  <a:lnSpc>
                    <a:spcPts val="2660"/>
                  </a:lnSpc>
                  <a:spcBef>
                    <a:spcPct val="0"/>
                  </a:spcBef>
                </a:pPr>
              </a:p>
            </p:txBody>
          </p:sp>
        </p:grpSp>
        <p:grpSp>
          <p:nvGrpSpPr>
            <p:cNvPr name="Group 40" id="40"/>
            <p:cNvGrpSpPr/>
            <p:nvPr/>
          </p:nvGrpSpPr>
          <p:grpSpPr>
            <a:xfrm rot="0">
              <a:off x="11100878" y="53"/>
              <a:ext cx="4142858" cy="269625"/>
              <a:chOff x="0" y="0"/>
              <a:chExt cx="6142701" cy="399778"/>
            </a:xfrm>
          </p:grpSpPr>
          <p:sp>
            <p:nvSpPr>
              <p:cNvPr name="Freeform 41" id="41"/>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42" id="42"/>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sp>
          <p:nvSpPr>
            <p:cNvPr name="TextBox 43" id="43"/>
            <p:cNvSpPr txBox="true"/>
            <p:nvPr/>
          </p:nvSpPr>
          <p:spPr>
            <a:xfrm rot="0">
              <a:off x="11225558" y="438621"/>
              <a:ext cx="4709556" cy="571774"/>
            </a:xfrm>
            <a:prstGeom prst="rect">
              <a:avLst/>
            </a:prstGeom>
          </p:spPr>
          <p:txBody>
            <a:bodyPr anchor="t" rtlCol="false" tIns="0" lIns="0" bIns="0" rIns="0">
              <a:spAutoFit/>
            </a:bodyPr>
            <a:lstStyle/>
            <a:p>
              <a:pPr algn="ctr">
                <a:lnSpc>
                  <a:spcPts val="3621"/>
                </a:lnSpc>
              </a:pPr>
              <a:r>
                <a:rPr lang="en-US" b="true" sz="2586" spc="64">
                  <a:solidFill>
                    <a:srgbClr val="0B132B"/>
                  </a:solidFill>
                  <a:latin typeface="Bricolage Grotesque Bold"/>
                  <a:ea typeface="Bricolage Grotesque Bold"/>
                  <a:cs typeface="Bricolage Grotesque Bold"/>
                  <a:sym typeface="Bricolage Grotesque Bold"/>
                </a:rPr>
                <a:t>150 SPKLU Fisik</a:t>
              </a:r>
            </a:p>
          </p:txBody>
        </p:sp>
        <p:sp>
          <p:nvSpPr>
            <p:cNvPr name="TextBox 44" id="44"/>
            <p:cNvSpPr txBox="true"/>
            <p:nvPr/>
          </p:nvSpPr>
          <p:spPr>
            <a:xfrm rot="0">
              <a:off x="11255707" y="972295"/>
              <a:ext cx="4709556" cy="449771"/>
            </a:xfrm>
            <a:prstGeom prst="rect">
              <a:avLst/>
            </a:prstGeom>
          </p:spPr>
          <p:txBody>
            <a:bodyPr anchor="t" rtlCol="false" tIns="0" lIns="0" bIns="0" rIns="0">
              <a:spAutoFit/>
            </a:bodyPr>
            <a:lstStyle/>
            <a:p>
              <a:pPr algn="ctr">
                <a:lnSpc>
                  <a:spcPts val="2896"/>
                </a:lnSpc>
              </a:pPr>
              <a:r>
                <a:rPr lang="en-US" sz="2069" spc="51">
                  <a:solidFill>
                    <a:srgbClr val="0B132B"/>
                  </a:solidFill>
                  <a:latin typeface="Bricolage Grotesque"/>
                  <a:ea typeface="Bricolage Grotesque"/>
                  <a:cs typeface="Bricolage Grotesque"/>
                  <a:sym typeface="Bricolage Grotesque"/>
                </a:rPr>
                <a:t>15 Kota / 13 State</a:t>
              </a:r>
            </a:p>
          </p:txBody>
        </p:sp>
        <p:grpSp>
          <p:nvGrpSpPr>
            <p:cNvPr name="Group 45" id="45"/>
            <p:cNvGrpSpPr/>
            <p:nvPr/>
          </p:nvGrpSpPr>
          <p:grpSpPr>
            <a:xfrm rot="0">
              <a:off x="5661272" y="174826"/>
              <a:ext cx="4794614" cy="1589760"/>
              <a:chOff x="0" y="0"/>
              <a:chExt cx="2254136" cy="747409"/>
            </a:xfrm>
          </p:grpSpPr>
          <p:sp>
            <p:nvSpPr>
              <p:cNvPr name="Freeform 46" id="46"/>
              <p:cNvSpPr/>
              <p:nvPr/>
            </p:nvSpPr>
            <p:spPr>
              <a:xfrm flipH="false" flipV="false" rot="0">
                <a:off x="0" y="0"/>
                <a:ext cx="2254136" cy="747409"/>
              </a:xfrm>
              <a:custGeom>
                <a:avLst/>
                <a:gdLst/>
                <a:ahLst/>
                <a:cxnLst/>
                <a:rect r="r" b="b" t="t" l="l"/>
                <a:pathLst>
                  <a:path h="747409" w="2254136">
                    <a:moveTo>
                      <a:pt x="43059" y="0"/>
                    </a:moveTo>
                    <a:lnTo>
                      <a:pt x="2211077" y="0"/>
                    </a:lnTo>
                    <a:cubicBezTo>
                      <a:pt x="2234858" y="0"/>
                      <a:pt x="2254136" y="19278"/>
                      <a:pt x="2254136" y="43059"/>
                    </a:cubicBezTo>
                    <a:lnTo>
                      <a:pt x="2254136" y="704350"/>
                    </a:lnTo>
                    <a:cubicBezTo>
                      <a:pt x="2254136" y="728131"/>
                      <a:pt x="2234858" y="747409"/>
                      <a:pt x="2211077" y="747409"/>
                    </a:cubicBezTo>
                    <a:lnTo>
                      <a:pt x="43059" y="747409"/>
                    </a:lnTo>
                    <a:cubicBezTo>
                      <a:pt x="31639" y="747409"/>
                      <a:pt x="20687" y="742872"/>
                      <a:pt x="12612" y="734797"/>
                    </a:cubicBezTo>
                    <a:cubicBezTo>
                      <a:pt x="4537" y="726722"/>
                      <a:pt x="0" y="715770"/>
                      <a:pt x="0" y="704350"/>
                    </a:cubicBezTo>
                    <a:lnTo>
                      <a:pt x="0" y="43059"/>
                    </a:lnTo>
                    <a:cubicBezTo>
                      <a:pt x="0" y="19278"/>
                      <a:pt x="19278" y="0"/>
                      <a:pt x="43059" y="0"/>
                    </a:cubicBezTo>
                    <a:close/>
                  </a:path>
                </a:pathLst>
              </a:custGeom>
              <a:solidFill>
                <a:srgbClr val="00B58F"/>
              </a:solidFill>
              <a:ln cap="sq">
                <a:noFill/>
                <a:prstDash val="solid"/>
                <a:miter/>
              </a:ln>
            </p:spPr>
          </p:sp>
          <p:sp>
            <p:nvSpPr>
              <p:cNvPr name="TextBox 47" id="47"/>
              <p:cNvSpPr txBox="true"/>
              <p:nvPr/>
            </p:nvSpPr>
            <p:spPr>
              <a:xfrm>
                <a:off x="0" y="-38100"/>
                <a:ext cx="2254136" cy="785509"/>
              </a:xfrm>
              <a:prstGeom prst="rect">
                <a:avLst/>
              </a:prstGeom>
            </p:spPr>
            <p:txBody>
              <a:bodyPr anchor="ctr" rtlCol="false" tIns="17593" lIns="17593" bIns="17593" rIns="17593"/>
              <a:lstStyle/>
              <a:p>
                <a:pPr algn="ctr">
                  <a:lnSpc>
                    <a:spcPts val="2660"/>
                  </a:lnSpc>
                  <a:spcBef>
                    <a:spcPct val="0"/>
                  </a:spcBef>
                </a:pPr>
              </a:p>
            </p:txBody>
          </p:sp>
        </p:grpSp>
        <p:grpSp>
          <p:nvGrpSpPr>
            <p:cNvPr name="Group 48" id="48"/>
            <p:cNvGrpSpPr/>
            <p:nvPr/>
          </p:nvGrpSpPr>
          <p:grpSpPr>
            <a:xfrm rot="0">
              <a:off x="5550439" y="53"/>
              <a:ext cx="4142858" cy="269625"/>
              <a:chOff x="0" y="0"/>
              <a:chExt cx="6142701" cy="399778"/>
            </a:xfrm>
          </p:grpSpPr>
          <p:sp>
            <p:nvSpPr>
              <p:cNvPr name="Freeform 49" id="49"/>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50" id="50"/>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sp>
          <p:nvSpPr>
            <p:cNvPr name="TextBox 51" id="51"/>
            <p:cNvSpPr txBox="true"/>
            <p:nvPr/>
          </p:nvSpPr>
          <p:spPr>
            <a:xfrm rot="0">
              <a:off x="5720587" y="438621"/>
              <a:ext cx="4709556" cy="571774"/>
            </a:xfrm>
            <a:prstGeom prst="rect">
              <a:avLst/>
            </a:prstGeom>
          </p:spPr>
          <p:txBody>
            <a:bodyPr anchor="t" rtlCol="false" tIns="0" lIns="0" bIns="0" rIns="0">
              <a:spAutoFit/>
            </a:bodyPr>
            <a:lstStyle/>
            <a:p>
              <a:pPr algn="ctr">
                <a:lnSpc>
                  <a:spcPts val="3621"/>
                </a:lnSpc>
              </a:pPr>
              <a:r>
                <a:rPr lang="en-US" b="true" sz="2586" spc="64">
                  <a:solidFill>
                    <a:srgbClr val="0B132B"/>
                  </a:solidFill>
                  <a:latin typeface="Bricolage Grotesque Bold"/>
                  <a:ea typeface="Bricolage Grotesque Bold"/>
                  <a:cs typeface="Bricolage Grotesque Bold"/>
                  <a:sym typeface="Bricolage Grotesque Bold"/>
                </a:rPr>
                <a:t>2</a:t>
              </a:r>
              <a:r>
                <a:rPr lang="en-US" b="true" sz="2586" spc="64">
                  <a:solidFill>
                    <a:srgbClr val="0B132B"/>
                  </a:solidFill>
                  <a:latin typeface="Bricolage Grotesque Bold"/>
                  <a:ea typeface="Bricolage Grotesque Bold"/>
                  <a:cs typeface="Bricolage Grotesque Bold"/>
                  <a:sym typeface="Bricolage Grotesque Bold"/>
                </a:rPr>
                <a:t>1 Fitur Data </a:t>
              </a:r>
            </a:p>
          </p:txBody>
        </p:sp>
        <p:sp>
          <p:nvSpPr>
            <p:cNvPr name="TextBox 52" id="52"/>
            <p:cNvSpPr txBox="true"/>
            <p:nvPr/>
          </p:nvSpPr>
          <p:spPr>
            <a:xfrm rot="0">
              <a:off x="5750735" y="972295"/>
              <a:ext cx="4709556" cy="449771"/>
            </a:xfrm>
            <a:prstGeom prst="rect">
              <a:avLst/>
            </a:prstGeom>
          </p:spPr>
          <p:txBody>
            <a:bodyPr anchor="t" rtlCol="false" tIns="0" lIns="0" bIns="0" rIns="0">
              <a:spAutoFit/>
            </a:bodyPr>
            <a:lstStyle/>
            <a:p>
              <a:pPr algn="ctr">
                <a:lnSpc>
                  <a:spcPts val="2896"/>
                </a:lnSpc>
              </a:pPr>
              <a:r>
                <a:rPr lang="en-US" sz="2069" spc="51">
                  <a:solidFill>
                    <a:srgbClr val="0B132B"/>
                  </a:solidFill>
                  <a:latin typeface="Bricolage Grotesque"/>
                  <a:ea typeface="Bricolage Grotesque"/>
                  <a:cs typeface="Bricolage Grotesque"/>
                  <a:sym typeface="Bricolage Grotesque"/>
                </a:rPr>
                <a:t>7 Domain Analitik</a:t>
              </a:r>
            </a:p>
          </p:txBody>
        </p:sp>
        <p:grpSp>
          <p:nvGrpSpPr>
            <p:cNvPr name="Group 53" id="53"/>
            <p:cNvGrpSpPr/>
            <p:nvPr/>
          </p:nvGrpSpPr>
          <p:grpSpPr>
            <a:xfrm rot="0">
              <a:off x="6487581" y="1635375"/>
              <a:ext cx="4142858" cy="269625"/>
              <a:chOff x="0" y="0"/>
              <a:chExt cx="6142701" cy="399778"/>
            </a:xfrm>
          </p:grpSpPr>
          <p:sp>
            <p:nvSpPr>
              <p:cNvPr name="Freeform 54" id="54"/>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55" id="55"/>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grpSp>
          <p:nvGrpSpPr>
            <p:cNvPr name="Group 56" id="56"/>
            <p:cNvGrpSpPr/>
            <p:nvPr/>
          </p:nvGrpSpPr>
          <p:grpSpPr>
            <a:xfrm rot="0">
              <a:off x="1068050" y="1571875"/>
              <a:ext cx="4142858" cy="269625"/>
              <a:chOff x="0" y="0"/>
              <a:chExt cx="6142701" cy="399778"/>
            </a:xfrm>
          </p:grpSpPr>
          <p:sp>
            <p:nvSpPr>
              <p:cNvPr name="Freeform 57" id="57"/>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58" id="58"/>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grpSp>
          <p:nvGrpSpPr>
            <p:cNvPr name="Group 59" id="59"/>
            <p:cNvGrpSpPr/>
            <p:nvPr/>
          </p:nvGrpSpPr>
          <p:grpSpPr>
            <a:xfrm rot="0">
              <a:off x="12318805" y="1635375"/>
              <a:ext cx="4142858" cy="269625"/>
              <a:chOff x="0" y="0"/>
              <a:chExt cx="6142701" cy="399778"/>
            </a:xfrm>
          </p:grpSpPr>
          <p:sp>
            <p:nvSpPr>
              <p:cNvPr name="Freeform 60" id="60"/>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61" id="61"/>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grpSp>
          <p:nvGrpSpPr>
            <p:cNvPr name="Group 62" id="62"/>
            <p:cNvGrpSpPr/>
            <p:nvPr/>
          </p:nvGrpSpPr>
          <p:grpSpPr>
            <a:xfrm rot="0">
              <a:off x="17806425" y="1635375"/>
              <a:ext cx="4142858" cy="269625"/>
              <a:chOff x="0" y="0"/>
              <a:chExt cx="6142701" cy="399778"/>
            </a:xfrm>
          </p:grpSpPr>
          <p:sp>
            <p:nvSpPr>
              <p:cNvPr name="Freeform 63" id="63"/>
              <p:cNvSpPr/>
              <p:nvPr/>
            </p:nvSpPr>
            <p:spPr>
              <a:xfrm flipH="false" flipV="false" rot="0">
                <a:off x="14446" y="0"/>
                <a:ext cx="6113809" cy="399778"/>
              </a:xfrm>
              <a:custGeom>
                <a:avLst/>
                <a:gdLst/>
                <a:ahLst/>
                <a:cxnLst/>
                <a:rect r="r" b="b" t="t" l="l"/>
                <a:pathLst>
                  <a:path h="399778" w="6113809">
                    <a:moveTo>
                      <a:pt x="226129" y="0"/>
                    </a:moveTo>
                    <a:lnTo>
                      <a:pt x="6090881" y="0"/>
                    </a:lnTo>
                    <a:cubicBezTo>
                      <a:pt x="6098854" y="0"/>
                      <a:pt x="6106255" y="4142"/>
                      <a:pt x="6110425" y="10939"/>
                    </a:cubicBezTo>
                    <a:cubicBezTo>
                      <a:pt x="6114594" y="17735"/>
                      <a:pt x="6114933" y="26210"/>
                      <a:pt x="6111320" y="33318"/>
                    </a:cubicBezTo>
                    <a:lnTo>
                      <a:pt x="5941990" y="366460"/>
                    </a:lnTo>
                    <a:cubicBezTo>
                      <a:pt x="5931600" y="386902"/>
                      <a:pt x="5910612" y="399778"/>
                      <a:pt x="5887681" y="399778"/>
                    </a:cubicBezTo>
                    <a:lnTo>
                      <a:pt x="22929" y="399778"/>
                    </a:lnTo>
                    <a:cubicBezTo>
                      <a:pt x="14955" y="399778"/>
                      <a:pt x="7554" y="395636"/>
                      <a:pt x="3385" y="388839"/>
                    </a:cubicBezTo>
                    <a:cubicBezTo>
                      <a:pt x="-785" y="382043"/>
                      <a:pt x="-1124" y="373568"/>
                      <a:pt x="2489" y="366460"/>
                    </a:cubicBezTo>
                    <a:lnTo>
                      <a:pt x="171819" y="33318"/>
                    </a:lnTo>
                    <a:cubicBezTo>
                      <a:pt x="182209" y="12876"/>
                      <a:pt x="203198" y="0"/>
                      <a:pt x="226129" y="0"/>
                    </a:cubicBezTo>
                    <a:close/>
                  </a:path>
                </a:pathLst>
              </a:custGeom>
              <a:solidFill>
                <a:srgbClr val="EDF6F9"/>
              </a:solidFill>
            </p:spPr>
          </p:sp>
          <p:sp>
            <p:nvSpPr>
              <p:cNvPr name="TextBox 64" id="64"/>
              <p:cNvSpPr txBox="true"/>
              <p:nvPr/>
            </p:nvSpPr>
            <p:spPr>
              <a:xfrm>
                <a:off x="101600" y="-38100"/>
                <a:ext cx="5939501" cy="437878"/>
              </a:xfrm>
              <a:prstGeom prst="rect">
                <a:avLst/>
              </a:prstGeom>
            </p:spPr>
            <p:txBody>
              <a:bodyPr anchor="ctr" rtlCol="false" tIns="17593" lIns="17593" bIns="17593" rIns="17593"/>
              <a:lstStyle/>
              <a:p>
                <a:pPr algn="ctr">
                  <a:lnSpc>
                    <a:spcPts val="2660"/>
                  </a:lnSpc>
                </a:pPr>
              </a:p>
            </p:txBody>
          </p:sp>
        </p:grpSp>
      </p:grpSp>
      <p:grpSp>
        <p:nvGrpSpPr>
          <p:cNvPr name="Group 65" id="65"/>
          <p:cNvGrpSpPr/>
          <p:nvPr/>
        </p:nvGrpSpPr>
        <p:grpSpPr>
          <a:xfrm rot="0">
            <a:off x="3260233" y="4448080"/>
            <a:ext cx="11885967" cy="4855684"/>
            <a:chOff x="0" y="0"/>
            <a:chExt cx="15847956" cy="6474245"/>
          </a:xfrm>
        </p:grpSpPr>
        <p:sp>
          <p:nvSpPr>
            <p:cNvPr name="Freeform 66" id="66"/>
            <p:cNvSpPr/>
            <p:nvPr/>
          </p:nvSpPr>
          <p:spPr>
            <a:xfrm flipH="false" flipV="false" rot="0">
              <a:off x="0" y="660026"/>
              <a:ext cx="15847956" cy="5814219"/>
            </a:xfrm>
            <a:custGeom>
              <a:avLst/>
              <a:gdLst/>
              <a:ahLst/>
              <a:cxnLst/>
              <a:rect r="r" b="b" t="t" l="l"/>
              <a:pathLst>
                <a:path h="5814219" w="15847956">
                  <a:moveTo>
                    <a:pt x="0" y="0"/>
                  </a:moveTo>
                  <a:lnTo>
                    <a:pt x="15847956" y="0"/>
                  </a:lnTo>
                  <a:lnTo>
                    <a:pt x="15847956" y="5814219"/>
                  </a:lnTo>
                  <a:lnTo>
                    <a:pt x="0" y="5814219"/>
                  </a:lnTo>
                  <a:lnTo>
                    <a:pt x="0" y="0"/>
                  </a:lnTo>
                  <a:close/>
                </a:path>
              </a:pathLst>
            </a:custGeom>
            <a:blipFill>
              <a:blip r:embed="rId2"/>
              <a:stretch>
                <a:fillRect l="0" t="0" r="0" b="0"/>
              </a:stretch>
            </a:blipFill>
            <a:ln w="38100" cap="sq">
              <a:solidFill>
                <a:srgbClr val="000000"/>
              </a:solidFill>
              <a:prstDash val="lgDash"/>
              <a:miter/>
            </a:ln>
          </p:spPr>
        </p:sp>
        <p:sp>
          <p:nvSpPr>
            <p:cNvPr name="TextBox 67" id="67"/>
            <p:cNvSpPr txBox="true"/>
            <p:nvPr/>
          </p:nvSpPr>
          <p:spPr>
            <a:xfrm rot="0">
              <a:off x="2837436" y="57150"/>
              <a:ext cx="10324493" cy="539749"/>
            </a:xfrm>
            <a:prstGeom prst="rect">
              <a:avLst/>
            </a:prstGeom>
          </p:spPr>
          <p:txBody>
            <a:bodyPr anchor="t" rtlCol="false" tIns="0" lIns="0" bIns="0" rIns="0">
              <a:spAutoFit/>
            </a:bodyPr>
            <a:lstStyle/>
            <a:p>
              <a:pPr algn="ctr">
                <a:lnSpc>
                  <a:spcPts val="2999"/>
                </a:lnSpc>
              </a:pPr>
              <a:r>
                <a:rPr lang="en-US" sz="2999">
                  <a:solidFill>
                    <a:srgbClr val="0B132B"/>
                  </a:solidFill>
                  <a:latin typeface="Rubik One"/>
                  <a:ea typeface="Rubik One"/>
                  <a:cs typeface="Rubik One"/>
                  <a:sym typeface="Rubik One"/>
                </a:rPr>
                <a:t>ARSITEKTUR PARTISI DERET WAKTU</a:t>
              </a:r>
            </a:p>
          </p:txBody>
        </p:sp>
      </p:grpSp>
      <p:grpSp>
        <p:nvGrpSpPr>
          <p:cNvPr name="Group 68" id="68"/>
          <p:cNvGrpSpPr/>
          <p:nvPr/>
        </p:nvGrpSpPr>
        <p:grpSpPr>
          <a:xfrm rot="0">
            <a:off x="1028700" y="793061"/>
            <a:ext cx="4463067" cy="235560"/>
            <a:chOff x="0" y="0"/>
            <a:chExt cx="5950756" cy="314080"/>
          </a:xfrm>
        </p:grpSpPr>
        <p:sp>
          <p:nvSpPr>
            <p:cNvPr name="Freeform 69" id="69"/>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0" id="70"/>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71" id="71"/>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- 07</a:t>
            </a:r>
          </a:p>
        </p:txBody>
      </p:sp>
      <p:sp>
        <p:nvSpPr>
          <p:cNvPr name="TextBox 72" id="72"/>
          <p:cNvSpPr txBox="true"/>
          <p:nvPr/>
        </p:nvSpPr>
        <p:spPr>
          <a:xfrm rot="0">
            <a:off x="1029014" y="1312499"/>
            <a:ext cx="14358634" cy="809625"/>
          </a:xfrm>
          <a:prstGeom prst="rect">
            <a:avLst/>
          </a:prstGeom>
        </p:spPr>
        <p:txBody>
          <a:bodyPr anchor="t" rtlCol="false" tIns="0" lIns="0" bIns="0" rIns="0">
            <a:spAutoFit/>
          </a:bodyPr>
          <a:lstStyle/>
          <a:p>
            <a:pPr algn="l">
              <a:lnSpc>
                <a:spcPts val="6000"/>
              </a:lnSpc>
            </a:pPr>
            <a:r>
              <a:rPr lang="en-US" sz="6000">
                <a:solidFill>
                  <a:srgbClr val="0B132B"/>
                </a:solidFill>
                <a:latin typeface="Rubik One"/>
                <a:ea typeface="Rubik One"/>
                <a:cs typeface="Rubik One"/>
                <a:sym typeface="Rubik One"/>
              </a:rPr>
              <a:t>ANATOMI DIMENSIONAL DATASET </a:t>
            </a:r>
          </a:p>
        </p:txBody>
      </p:sp>
      <p:sp>
        <p:nvSpPr>
          <p:cNvPr name="TextBox 73" id="73"/>
          <p:cNvSpPr txBox="true"/>
          <p:nvPr/>
        </p:nvSpPr>
        <p:spPr>
          <a:xfrm rot="0">
            <a:off x="1028700" y="2074499"/>
            <a:ext cx="10420043" cy="316230"/>
          </a:xfrm>
          <a:prstGeom prst="rect">
            <a:avLst/>
          </a:prstGeom>
        </p:spPr>
        <p:txBody>
          <a:bodyPr anchor="t" rtlCol="false" tIns="0" lIns="0" bIns="0" rIns="0">
            <a:spAutoFit/>
          </a:bodyPr>
          <a:lstStyle/>
          <a:p>
            <a:pPr algn="just">
              <a:lnSpc>
                <a:spcPts val="2519"/>
              </a:lnSpc>
            </a:pPr>
            <a:r>
              <a:rPr lang="en-US" sz="1799" spc="44">
                <a:solidFill>
                  <a:srgbClr val="0B132B"/>
                </a:solidFill>
                <a:latin typeface="Bricolage Grotesque"/>
                <a:ea typeface="Bricolage Grotesque"/>
                <a:cs typeface="Bricolage Grotesque"/>
                <a:sym typeface="Bricolage Grotesque"/>
              </a:rPr>
              <a:t>Struktur</a:t>
            </a:r>
            <a:r>
              <a:rPr lang="en-US" b="true" sz="1799" spc="44">
                <a:solidFill>
                  <a:srgbClr val="0B132B"/>
                </a:solidFill>
                <a:latin typeface="Bricolage Grotesque Bold"/>
                <a:ea typeface="Bricolage Grotesque Bold"/>
                <a:cs typeface="Bricolage Grotesque Bold"/>
                <a:sym typeface="Bricolage Grotesque Bold"/>
              </a:rPr>
              <a:t> 1,31 Juta</a:t>
            </a:r>
            <a:r>
              <a:rPr lang="en-US" sz="1799" spc="44">
                <a:solidFill>
                  <a:srgbClr val="0B132B"/>
                </a:solidFill>
                <a:latin typeface="Bricolage Grotesque"/>
                <a:ea typeface="Bricolage Grotesque"/>
                <a:cs typeface="Bricolage Grotesque"/>
                <a:sym typeface="Bricolage Grotesque"/>
              </a:rPr>
              <a:t> Observasi Deret Waktu Terpetakan ke dalam </a:t>
            </a:r>
            <a:r>
              <a:rPr lang="en-US" b="true" sz="1799" spc="44">
                <a:solidFill>
                  <a:srgbClr val="0B132B"/>
                </a:solidFill>
                <a:latin typeface="Bricolage Grotesque Bold"/>
                <a:ea typeface="Bricolage Grotesque Bold"/>
                <a:cs typeface="Bricolage Grotesque Bold"/>
                <a:sym typeface="Bricolage Grotesque Bold"/>
              </a:rPr>
              <a:t>7 Domain Fungsional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956527" y="8664064"/>
            <a:ext cx="2473138" cy="447540"/>
            <a:chOff x="0" y="0"/>
            <a:chExt cx="2201755" cy="398431"/>
          </a:xfrm>
        </p:grpSpPr>
        <p:sp>
          <p:nvSpPr>
            <p:cNvPr name="Freeform 3" id="3"/>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4" id="4"/>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2772070"/>
            <a:ext cx="4990077" cy="1893196"/>
            <a:chOff x="0" y="0"/>
            <a:chExt cx="3128042" cy="1186754"/>
          </a:xfrm>
        </p:grpSpPr>
        <p:sp>
          <p:nvSpPr>
            <p:cNvPr name="Freeform 6" id="6"/>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7" id="7"/>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8" id="8"/>
          <p:cNvGrpSpPr/>
          <p:nvPr/>
        </p:nvGrpSpPr>
        <p:grpSpPr>
          <a:xfrm rot="0">
            <a:off x="1028700" y="793061"/>
            <a:ext cx="4463067" cy="235560"/>
            <a:chOff x="0" y="0"/>
            <a:chExt cx="5950756" cy="314080"/>
          </a:xfrm>
        </p:grpSpPr>
        <p:sp>
          <p:nvSpPr>
            <p:cNvPr name="Freeform 9" id="9"/>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grpSp>
        <p:nvGrpSpPr>
          <p:cNvPr name="Group 11" id="11"/>
          <p:cNvGrpSpPr/>
          <p:nvPr/>
        </p:nvGrpSpPr>
        <p:grpSpPr>
          <a:xfrm rot="0">
            <a:off x="6648961" y="2772070"/>
            <a:ext cx="4990077" cy="1893196"/>
            <a:chOff x="0" y="0"/>
            <a:chExt cx="3128042" cy="1186754"/>
          </a:xfrm>
        </p:grpSpPr>
        <p:sp>
          <p:nvSpPr>
            <p:cNvPr name="Freeform 12" id="12"/>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13" id="13"/>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14" id="14"/>
          <p:cNvGrpSpPr/>
          <p:nvPr/>
        </p:nvGrpSpPr>
        <p:grpSpPr>
          <a:xfrm rot="0">
            <a:off x="12269223" y="2772070"/>
            <a:ext cx="4990077" cy="1893196"/>
            <a:chOff x="0" y="0"/>
            <a:chExt cx="3128042" cy="1186754"/>
          </a:xfrm>
        </p:grpSpPr>
        <p:sp>
          <p:nvSpPr>
            <p:cNvPr name="Freeform 15" id="15"/>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16" id="16"/>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17" id="17"/>
          <p:cNvGrpSpPr/>
          <p:nvPr/>
        </p:nvGrpSpPr>
        <p:grpSpPr>
          <a:xfrm rot="0">
            <a:off x="1028700" y="5334000"/>
            <a:ext cx="4990077" cy="1893196"/>
            <a:chOff x="0" y="0"/>
            <a:chExt cx="3128042" cy="1186754"/>
          </a:xfrm>
        </p:grpSpPr>
        <p:sp>
          <p:nvSpPr>
            <p:cNvPr name="Freeform 18" id="18"/>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19" id="19"/>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20" id="20"/>
          <p:cNvGrpSpPr/>
          <p:nvPr/>
        </p:nvGrpSpPr>
        <p:grpSpPr>
          <a:xfrm rot="0">
            <a:off x="1028700" y="7895930"/>
            <a:ext cx="16230600" cy="1215674"/>
            <a:chOff x="0" y="0"/>
            <a:chExt cx="10174190" cy="762048"/>
          </a:xfrm>
        </p:grpSpPr>
        <p:sp>
          <p:nvSpPr>
            <p:cNvPr name="Freeform 21" id="21"/>
            <p:cNvSpPr/>
            <p:nvPr/>
          </p:nvSpPr>
          <p:spPr>
            <a:xfrm flipH="false" flipV="false" rot="0">
              <a:off x="0" y="0"/>
              <a:ext cx="10174190" cy="762048"/>
            </a:xfrm>
            <a:custGeom>
              <a:avLst/>
              <a:gdLst/>
              <a:ahLst/>
              <a:cxnLst/>
              <a:rect r="r" b="b" t="t" l="l"/>
              <a:pathLst>
                <a:path h="762048" w="10174190">
                  <a:moveTo>
                    <a:pt x="9540" y="0"/>
                  </a:moveTo>
                  <a:lnTo>
                    <a:pt x="10164650" y="0"/>
                  </a:lnTo>
                  <a:cubicBezTo>
                    <a:pt x="10169919" y="0"/>
                    <a:pt x="10174190" y="4271"/>
                    <a:pt x="10174190" y="9540"/>
                  </a:cubicBezTo>
                  <a:lnTo>
                    <a:pt x="10174190" y="752508"/>
                  </a:lnTo>
                  <a:cubicBezTo>
                    <a:pt x="10174190" y="755039"/>
                    <a:pt x="10173184" y="757465"/>
                    <a:pt x="10171395" y="759254"/>
                  </a:cubicBezTo>
                  <a:cubicBezTo>
                    <a:pt x="10169606" y="761043"/>
                    <a:pt x="10167180" y="762048"/>
                    <a:pt x="10164650" y="762048"/>
                  </a:cubicBezTo>
                  <a:lnTo>
                    <a:pt x="9540" y="762048"/>
                  </a:lnTo>
                  <a:cubicBezTo>
                    <a:pt x="4271" y="762048"/>
                    <a:pt x="0" y="757777"/>
                    <a:pt x="0" y="752508"/>
                  </a:cubicBezTo>
                  <a:lnTo>
                    <a:pt x="0" y="9540"/>
                  </a:lnTo>
                  <a:cubicBezTo>
                    <a:pt x="0" y="4271"/>
                    <a:pt x="4271" y="0"/>
                    <a:pt x="9540" y="0"/>
                  </a:cubicBezTo>
                  <a:close/>
                </a:path>
              </a:pathLst>
            </a:custGeom>
            <a:solidFill>
              <a:srgbClr val="00B58F"/>
            </a:solidFill>
            <a:ln cap="sq">
              <a:noFill/>
              <a:prstDash val="solid"/>
              <a:miter/>
            </a:ln>
          </p:spPr>
        </p:sp>
        <p:sp>
          <p:nvSpPr>
            <p:cNvPr name="TextBox 22" id="22"/>
            <p:cNvSpPr txBox="true"/>
            <p:nvPr/>
          </p:nvSpPr>
          <p:spPr>
            <a:xfrm>
              <a:off x="0" y="-38100"/>
              <a:ext cx="10174190" cy="800148"/>
            </a:xfrm>
            <a:prstGeom prst="rect">
              <a:avLst/>
            </a:prstGeom>
          </p:spPr>
          <p:txBody>
            <a:bodyPr anchor="ctr" rtlCol="false" tIns="17593" lIns="17593" bIns="17593" rIns="17593"/>
            <a:lstStyle/>
            <a:p>
              <a:pPr algn="ctr">
                <a:lnSpc>
                  <a:spcPts val="2660"/>
                </a:lnSpc>
                <a:spcBef>
                  <a:spcPct val="0"/>
                </a:spcBef>
              </a:pPr>
            </a:p>
          </p:txBody>
        </p:sp>
      </p:grpSp>
      <p:grpSp>
        <p:nvGrpSpPr>
          <p:cNvPr name="Group 23" id="23"/>
          <p:cNvGrpSpPr/>
          <p:nvPr/>
        </p:nvGrpSpPr>
        <p:grpSpPr>
          <a:xfrm rot="0">
            <a:off x="6648961" y="5334000"/>
            <a:ext cx="4990077" cy="1893196"/>
            <a:chOff x="0" y="0"/>
            <a:chExt cx="3128042" cy="1186754"/>
          </a:xfrm>
        </p:grpSpPr>
        <p:sp>
          <p:nvSpPr>
            <p:cNvPr name="Freeform 24" id="24"/>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25" id="25"/>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26" id="26"/>
          <p:cNvGrpSpPr/>
          <p:nvPr/>
        </p:nvGrpSpPr>
        <p:grpSpPr>
          <a:xfrm rot="0">
            <a:off x="12269223" y="5334000"/>
            <a:ext cx="4990077" cy="1893196"/>
            <a:chOff x="0" y="0"/>
            <a:chExt cx="3128042" cy="1186754"/>
          </a:xfrm>
        </p:grpSpPr>
        <p:sp>
          <p:nvSpPr>
            <p:cNvPr name="Freeform 27" id="27"/>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28" id="28"/>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29" id="29"/>
          <p:cNvGrpSpPr/>
          <p:nvPr/>
        </p:nvGrpSpPr>
        <p:grpSpPr>
          <a:xfrm rot="0">
            <a:off x="1519079" y="2539477"/>
            <a:ext cx="4009319" cy="823887"/>
            <a:chOff x="0" y="0"/>
            <a:chExt cx="3569367" cy="733480"/>
          </a:xfrm>
        </p:grpSpPr>
        <p:sp>
          <p:nvSpPr>
            <p:cNvPr name="Freeform 30" id="30"/>
            <p:cNvSpPr/>
            <p:nvPr/>
          </p:nvSpPr>
          <p:spPr>
            <a:xfrm flipH="false" flipV="false" rot="0">
              <a:off x="6933" y="0"/>
              <a:ext cx="3555501" cy="733480"/>
            </a:xfrm>
            <a:custGeom>
              <a:avLst/>
              <a:gdLst/>
              <a:ahLst/>
              <a:cxnLst/>
              <a:rect r="r" b="b" t="t" l="l"/>
              <a:pathLst>
                <a:path h="733480" w="3555501">
                  <a:moveTo>
                    <a:pt x="225232" y="0"/>
                  </a:moveTo>
                  <a:lnTo>
                    <a:pt x="3533470" y="0"/>
                  </a:lnTo>
                  <a:cubicBezTo>
                    <a:pt x="3540352" y="0"/>
                    <a:pt x="3546838" y="3216"/>
                    <a:pt x="3551005" y="8694"/>
                  </a:cubicBezTo>
                  <a:cubicBezTo>
                    <a:pt x="3555171" y="14171"/>
                    <a:pt x="3556539" y="21281"/>
                    <a:pt x="3554702" y="27913"/>
                  </a:cubicBezTo>
                  <a:lnTo>
                    <a:pt x="3366967" y="705567"/>
                  </a:lnTo>
                  <a:cubicBezTo>
                    <a:pt x="3362398" y="722061"/>
                    <a:pt x="3347385" y="733480"/>
                    <a:pt x="3330270" y="733480"/>
                  </a:cubicBezTo>
                  <a:lnTo>
                    <a:pt x="22032" y="733480"/>
                  </a:lnTo>
                  <a:cubicBezTo>
                    <a:pt x="15150" y="733480"/>
                    <a:pt x="8663" y="730264"/>
                    <a:pt x="4496" y="724787"/>
                  </a:cubicBezTo>
                  <a:cubicBezTo>
                    <a:pt x="330" y="719309"/>
                    <a:pt x="-1037" y="712199"/>
                    <a:pt x="800" y="705567"/>
                  </a:cubicBezTo>
                  <a:lnTo>
                    <a:pt x="188534" y="27913"/>
                  </a:lnTo>
                  <a:cubicBezTo>
                    <a:pt x="193104" y="11419"/>
                    <a:pt x="208116" y="0"/>
                    <a:pt x="225232" y="0"/>
                  </a:cubicBezTo>
                  <a:close/>
                </a:path>
              </a:pathLst>
            </a:custGeom>
            <a:solidFill>
              <a:srgbClr val="EDF6F9"/>
            </a:solidFill>
          </p:spPr>
        </p:sp>
        <p:sp>
          <p:nvSpPr>
            <p:cNvPr name="TextBox 31" id="31"/>
            <p:cNvSpPr txBox="true"/>
            <p:nvPr/>
          </p:nvSpPr>
          <p:spPr>
            <a:xfrm>
              <a:off x="101600" y="-38100"/>
              <a:ext cx="3366167" cy="771580"/>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722199" y="2521069"/>
            <a:ext cx="1107852" cy="1107852"/>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6F9"/>
            </a:solidFill>
            <a:ln w="57150" cap="sq">
              <a:solidFill>
                <a:srgbClr val="00B58F"/>
              </a:solidFill>
              <a:prstDash val="solid"/>
              <a:miter/>
            </a:ln>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a:lnSpc>
                  <a:spcPts val="2660"/>
                </a:lnSpc>
              </a:pPr>
            </a:p>
          </p:txBody>
        </p:sp>
      </p:grpSp>
      <p:sp>
        <p:nvSpPr>
          <p:cNvPr name="TextBox 35" id="35"/>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- 08</a:t>
            </a:r>
          </a:p>
        </p:txBody>
      </p:sp>
      <p:sp>
        <p:nvSpPr>
          <p:cNvPr name="TextBox 36" id="36"/>
          <p:cNvSpPr txBox="true"/>
          <p:nvPr/>
        </p:nvSpPr>
        <p:spPr>
          <a:xfrm rot="0">
            <a:off x="1028700" y="1339971"/>
            <a:ext cx="13409061" cy="790573"/>
          </a:xfrm>
          <a:prstGeom prst="rect">
            <a:avLst/>
          </a:prstGeom>
        </p:spPr>
        <p:txBody>
          <a:bodyPr anchor="t" rtlCol="false" tIns="0" lIns="0" bIns="0" rIns="0">
            <a:spAutoFit/>
          </a:bodyPr>
          <a:lstStyle/>
          <a:p>
            <a:pPr algn="l">
              <a:lnSpc>
                <a:spcPts val="5999"/>
              </a:lnSpc>
            </a:pPr>
            <a:r>
              <a:rPr lang="en-US" sz="5999">
                <a:solidFill>
                  <a:srgbClr val="0B132B"/>
                </a:solidFill>
                <a:latin typeface="Rubik One"/>
                <a:ea typeface="Rubik One"/>
                <a:cs typeface="Rubik One"/>
                <a:sym typeface="Rubik One"/>
              </a:rPr>
              <a:t>TAKSONOMI DATASET </a:t>
            </a:r>
          </a:p>
        </p:txBody>
      </p:sp>
      <p:grpSp>
        <p:nvGrpSpPr>
          <p:cNvPr name="Group 37" id="37"/>
          <p:cNvGrpSpPr/>
          <p:nvPr/>
        </p:nvGrpSpPr>
        <p:grpSpPr>
          <a:xfrm rot="0">
            <a:off x="6648961" y="2774054"/>
            <a:ext cx="4990077" cy="1893196"/>
            <a:chOff x="0" y="0"/>
            <a:chExt cx="3128042" cy="1186754"/>
          </a:xfrm>
        </p:grpSpPr>
        <p:sp>
          <p:nvSpPr>
            <p:cNvPr name="Freeform 38" id="38"/>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39" id="39"/>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40" id="40"/>
          <p:cNvGrpSpPr/>
          <p:nvPr/>
        </p:nvGrpSpPr>
        <p:grpSpPr>
          <a:xfrm rot="0">
            <a:off x="6648961" y="2523054"/>
            <a:ext cx="4009319" cy="823887"/>
            <a:chOff x="0" y="0"/>
            <a:chExt cx="3569367" cy="733480"/>
          </a:xfrm>
        </p:grpSpPr>
        <p:sp>
          <p:nvSpPr>
            <p:cNvPr name="Freeform 41" id="41"/>
            <p:cNvSpPr/>
            <p:nvPr/>
          </p:nvSpPr>
          <p:spPr>
            <a:xfrm flipH="false" flipV="false" rot="0">
              <a:off x="6933" y="0"/>
              <a:ext cx="3555501" cy="733480"/>
            </a:xfrm>
            <a:custGeom>
              <a:avLst/>
              <a:gdLst/>
              <a:ahLst/>
              <a:cxnLst/>
              <a:rect r="r" b="b" t="t" l="l"/>
              <a:pathLst>
                <a:path h="733480" w="3555501">
                  <a:moveTo>
                    <a:pt x="225232" y="0"/>
                  </a:moveTo>
                  <a:lnTo>
                    <a:pt x="3533470" y="0"/>
                  </a:lnTo>
                  <a:cubicBezTo>
                    <a:pt x="3540352" y="0"/>
                    <a:pt x="3546838" y="3216"/>
                    <a:pt x="3551005" y="8694"/>
                  </a:cubicBezTo>
                  <a:cubicBezTo>
                    <a:pt x="3555171" y="14171"/>
                    <a:pt x="3556539" y="21281"/>
                    <a:pt x="3554702" y="27913"/>
                  </a:cubicBezTo>
                  <a:lnTo>
                    <a:pt x="3366967" y="705567"/>
                  </a:lnTo>
                  <a:cubicBezTo>
                    <a:pt x="3362398" y="722061"/>
                    <a:pt x="3347385" y="733480"/>
                    <a:pt x="3330270" y="733480"/>
                  </a:cubicBezTo>
                  <a:lnTo>
                    <a:pt x="22032" y="733480"/>
                  </a:lnTo>
                  <a:cubicBezTo>
                    <a:pt x="15150" y="733480"/>
                    <a:pt x="8663" y="730264"/>
                    <a:pt x="4496" y="724787"/>
                  </a:cubicBezTo>
                  <a:cubicBezTo>
                    <a:pt x="330" y="719309"/>
                    <a:pt x="-1037" y="712199"/>
                    <a:pt x="800" y="705567"/>
                  </a:cubicBezTo>
                  <a:lnTo>
                    <a:pt x="188534" y="27913"/>
                  </a:lnTo>
                  <a:cubicBezTo>
                    <a:pt x="193104" y="11419"/>
                    <a:pt x="208116" y="0"/>
                    <a:pt x="225232" y="0"/>
                  </a:cubicBezTo>
                  <a:close/>
                </a:path>
              </a:pathLst>
            </a:custGeom>
            <a:solidFill>
              <a:srgbClr val="EDF6F9"/>
            </a:solidFill>
          </p:spPr>
        </p:sp>
        <p:sp>
          <p:nvSpPr>
            <p:cNvPr name="TextBox 42" id="42"/>
            <p:cNvSpPr txBox="true"/>
            <p:nvPr/>
          </p:nvSpPr>
          <p:spPr>
            <a:xfrm>
              <a:off x="101600" y="-38100"/>
              <a:ext cx="3366167" cy="77158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6342460" y="2523054"/>
            <a:ext cx="1107852" cy="1107852"/>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6F9"/>
            </a:solidFill>
            <a:ln w="57150" cap="sq">
              <a:solidFill>
                <a:srgbClr val="00B58F"/>
              </a:solidFill>
              <a:prstDash val="solid"/>
              <a:miter/>
            </a:ln>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660"/>
                </a:lnSpc>
              </a:pPr>
            </a:p>
          </p:txBody>
        </p:sp>
      </p:grpSp>
      <p:grpSp>
        <p:nvGrpSpPr>
          <p:cNvPr name="Group 46" id="46"/>
          <p:cNvGrpSpPr/>
          <p:nvPr/>
        </p:nvGrpSpPr>
        <p:grpSpPr>
          <a:xfrm rot="0">
            <a:off x="12269223" y="2776039"/>
            <a:ext cx="4990077" cy="1893196"/>
            <a:chOff x="0" y="0"/>
            <a:chExt cx="3128042" cy="1186754"/>
          </a:xfrm>
        </p:grpSpPr>
        <p:sp>
          <p:nvSpPr>
            <p:cNvPr name="Freeform 47" id="47"/>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48" id="48"/>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49" id="49"/>
          <p:cNvGrpSpPr/>
          <p:nvPr/>
        </p:nvGrpSpPr>
        <p:grpSpPr>
          <a:xfrm rot="0">
            <a:off x="12448664" y="2510585"/>
            <a:ext cx="4627128" cy="823887"/>
            <a:chOff x="0" y="0"/>
            <a:chExt cx="4119383" cy="733480"/>
          </a:xfrm>
        </p:grpSpPr>
        <p:sp>
          <p:nvSpPr>
            <p:cNvPr name="Freeform 50" id="50"/>
            <p:cNvSpPr/>
            <p:nvPr/>
          </p:nvSpPr>
          <p:spPr>
            <a:xfrm flipH="false" flipV="false" rot="0">
              <a:off x="6007" y="0"/>
              <a:ext cx="4107368" cy="733480"/>
            </a:xfrm>
            <a:custGeom>
              <a:avLst/>
              <a:gdLst/>
              <a:ahLst/>
              <a:cxnLst/>
              <a:rect r="r" b="b" t="t" l="l"/>
              <a:pathLst>
                <a:path h="733480" w="4107368">
                  <a:moveTo>
                    <a:pt x="222290" y="0"/>
                  </a:moveTo>
                  <a:lnTo>
                    <a:pt x="4088279" y="0"/>
                  </a:lnTo>
                  <a:cubicBezTo>
                    <a:pt x="4094242" y="0"/>
                    <a:pt x="4099863" y="2787"/>
                    <a:pt x="4103473" y="7533"/>
                  </a:cubicBezTo>
                  <a:cubicBezTo>
                    <a:pt x="4107083" y="12279"/>
                    <a:pt x="4108267" y="18440"/>
                    <a:pt x="4106676" y="24186"/>
                  </a:cubicBezTo>
                  <a:lnTo>
                    <a:pt x="3916876" y="709294"/>
                  </a:lnTo>
                  <a:cubicBezTo>
                    <a:pt x="3912917" y="723586"/>
                    <a:pt x="3899909" y="733480"/>
                    <a:pt x="3885079" y="733480"/>
                  </a:cubicBezTo>
                  <a:lnTo>
                    <a:pt x="19090" y="733480"/>
                  </a:lnTo>
                  <a:cubicBezTo>
                    <a:pt x="13127" y="733480"/>
                    <a:pt x="7507" y="730694"/>
                    <a:pt x="3896" y="725948"/>
                  </a:cubicBezTo>
                  <a:cubicBezTo>
                    <a:pt x="286" y="721201"/>
                    <a:pt x="-899" y="715041"/>
                    <a:pt x="693" y="709294"/>
                  </a:cubicBezTo>
                  <a:lnTo>
                    <a:pt x="190493" y="24186"/>
                  </a:lnTo>
                  <a:cubicBezTo>
                    <a:pt x="194452" y="9894"/>
                    <a:pt x="207460" y="0"/>
                    <a:pt x="222290" y="0"/>
                  </a:cubicBezTo>
                  <a:close/>
                </a:path>
              </a:pathLst>
            </a:custGeom>
            <a:solidFill>
              <a:srgbClr val="EDF6F9"/>
            </a:solidFill>
          </p:spPr>
        </p:sp>
        <p:sp>
          <p:nvSpPr>
            <p:cNvPr name="TextBox 51" id="51"/>
            <p:cNvSpPr txBox="true"/>
            <p:nvPr/>
          </p:nvSpPr>
          <p:spPr>
            <a:xfrm>
              <a:off x="101600" y="-38100"/>
              <a:ext cx="3916183" cy="771580"/>
            </a:xfrm>
            <a:prstGeom prst="rect">
              <a:avLst/>
            </a:prstGeom>
          </p:spPr>
          <p:txBody>
            <a:bodyPr anchor="ctr" rtlCol="false" tIns="50800" lIns="50800" bIns="50800" rIns="50800"/>
            <a:lstStyle/>
            <a:p>
              <a:pPr algn="ctr">
                <a:lnSpc>
                  <a:spcPts val="2659"/>
                </a:lnSpc>
              </a:pPr>
            </a:p>
          </p:txBody>
        </p:sp>
      </p:grpSp>
      <p:grpSp>
        <p:nvGrpSpPr>
          <p:cNvPr name="Group 52" id="52"/>
          <p:cNvGrpSpPr/>
          <p:nvPr/>
        </p:nvGrpSpPr>
        <p:grpSpPr>
          <a:xfrm rot="0">
            <a:off x="11962722" y="2525038"/>
            <a:ext cx="1107852" cy="1107852"/>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6F9"/>
            </a:solidFill>
            <a:ln w="57150" cap="sq">
              <a:solidFill>
                <a:srgbClr val="00B58F"/>
              </a:solidFill>
              <a:prstDash val="solid"/>
              <a:miter/>
            </a:ln>
          </p:spPr>
        </p:sp>
        <p:sp>
          <p:nvSpPr>
            <p:cNvPr name="TextBox 54" id="54"/>
            <p:cNvSpPr txBox="true"/>
            <p:nvPr/>
          </p:nvSpPr>
          <p:spPr>
            <a:xfrm>
              <a:off x="76200" y="38100"/>
              <a:ext cx="660400" cy="698500"/>
            </a:xfrm>
            <a:prstGeom prst="rect">
              <a:avLst/>
            </a:prstGeom>
          </p:spPr>
          <p:txBody>
            <a:bodyPr anchor="ctr" rtlCol="false" tIns="50800" lIns="50800" bIns="50800" rIns="50800"/>
            <a:lstStyle/>
            <a:p>
              <a:pPr algn="ctr">
                <a:lnSpc>
                  <a:spcPts val="2660"/>
                </a:lnSpc>
              </a:pPr>
            </a:p>
          </p:txBody>
        </p:sp>
      </p:grpSp>
      <p:grpSp>
        <p:nvGrpSpPr>
          <p:cNvPr name="Group 55" id="55"/>
          <p:cNvGrpSpPr/>
          <p:nvPr/>
        </p:nvGrpSpPr>
        <p:grpSpPr>
          <a:xfrm rot="0">
            <a:off x="1030234" y="5325395"/>
            <a:ext cx="4990077" cy="1893196"/>
            <a:chOff x="0" y="0"/>
            <a:chExt cx="3128042" cy="1186754"/>
          </a:xfrm>
        </p:grpSpPr>
        <p:sp>
          <p:nvSpPr>
            <p:cNvPr name="Freeform 56" id="56"/>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57" id="57"/>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58" id="58"/>
          <p:cNvGrpSpPr/>
          <p:nvPr/>
        </p:nvGrpSpPr>
        <p:grpSpPr>
          <a:xfrm rot="0">
            <a:off x="1030234" y="5074394"/>
            <a:ext cx="4009319" cy="823887"/>
            <a:chOff x="0" y="0"/>
            <a:chExt cx="3569367" cy="733480"/>
          </a:xfrm>
        </p:grpSpPr>
        <p:sp>
          <p:nvSpPr>
            <p:cNvPr name="Freeform 59" id="59"/>
            <p:cNvSpPr/>
            <p:nvPr/>
          </p:nvSpPr>
          <p:spPr>
            <a:xfrm flipH="false" flipV="false" rot="0">
              <a:off x="6933" y="0"/>
              <a:ext cx="3555501" cy="733480"/>
            </a:xfrm>
            <a:custGeom>
              <a:avLst/>
              <a:gdLst/>
              <a:ahLst/>
              <a:cxnLst/>
              <a:rect r="r" b="b" t="t" l="l"/>
              <a:pathLst>
                <a:path h="733480" w="3555501">
                  <a:moveTo>
                    <a:pt x="225232" y="0"/>
                  </a:moveTo>
                  <a:lnTo>
                    <a:pt x="3533470" y="0"/>
                  </a:lnTo>
                  <a:cubicBezTo>
                    <a:pt x="3540352" y="0"/>
                    <a:pt x="3546838" y="3216"/>
                    <a:pt x="3551005" y="8694"/>
                  </a:cubicBezTo>
                  <a:cubicBezTo>
                    <a:pt x="3555171" y="14171"/>
                    <a:pt x="3556539" y="21281"/>
                    <a:pt x="3554702" y="27913"/>
                  </a:cubicBezTo>
                  <a:lnTo>
                    <a:pt x="3366967" y="705567"/>
                  </a:lnTo>
                  <a:cubicBezTo>
                    <a:pt x="3362398" y="722061"/>
                    <a:pt x="3347385" y="733480"/>
                    <a:pt x="3330270" y="733480"/>
                  </a:cubicBezTo>
                  <a:lnTo>
                    <a:pt x="22032" y="733480"/>
                  </a:lnTo>
                  <a:cubicBezTo>
                    <a:pt x="15150" y="733480"/>
                    <a:pt x="8663" y="730264"/>
                    <a:pt x="4496" y="724787"/>
                  </a:cubicBezTo>
                  <a:cubicBezTo>
                    <a:pt x="330" y="719309"/>
                    <a:pt x="-1037" y="712199"/>
                    <a:pt x="800" y="705567"/>
                  </a:cubicBezTo>
                  <a:lnTo>
                    <a:pt x="188534" y="27913"/>
                  </a:lnTo>
                  <a:cubicBezTo>
                    <a:pt x="193104" y="11419"/>
                    <a:pt x="208116" y="0"/>
                    <a:pt x="225232" y="0"/>
                  </a:cubicBezTo>
                  <a:close/>
                </a:path>
              </a:pathLst>
            </a:custGeom>
            <a:solidFill>
              <a:srgbClr val="EDF6F9"/>
            </a:solidFill>
          </p:spPr>
        </p:sp>
        <p:sp>
          <p:nvSpPr>
            <p:cNvPr name="TextBox 60" id="60"/>
            <p:cNvSpPr txBox="true"/>
            <p:nvPr/>
          </p:nvSpPr>
          <p:spPr>
            <a:xfrm>
              <a:off x="101600" y="-38100"/>
              <a:ext cx="3366167" cy="771580"/>
            </a:xfrm>
            <a:prstGeom prst="rect">
              <a:avLst/>
            </a:prstGeom>
          </p:spPr>
          <p:txBody>
            <a:bodyPr anchor="ctr" rtlCol="false" tIns="50800" lIns="50800" bIns="50800" rIns="50800"/>
            <a:lstStyle/>
            <a:p>
              <a:pPr algn="ctr">
                <a:lnSpc>
                  <a:spcPts val="2659"/>
                </a:lnSpc>
              </a:pPr>
            </a:p>
          </p:txBody>
        </p:sp>
      </p:grpSp>
      <p:grpSp>
        <p:nvGrpSpPr>
          <p:cNvPr name="Group 61" id="61"/>
          <p:cNvGrpSpPr/>
          <p:nvPr/>
        </p:nvGrpSpPr>
        <p:grpSpPr>
          <a:xfrm rot="0">
            <a:off x="723733" y="5074394"/>
            <a:ext cx="1107852" cy="1107852"/>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6F9"/>
            </a:solidFill>
            <a:ln w="57150" cap="sq">
              <a:solidFill>
                <a:srgbClr val="00B58F"/>
              </a:solidFill>
              <a:prstDash val="solid"/>
              <a:miter/>
            </a:ln>
          </p:spPr>
        </p:sp>
        <p:sp>
          <p:nvSpPr>
            <p:cNvPr name="TextBox 63" id="63"/>
            <p:cNvSpPr txBox="true"/>
            <p:nvPr/>
          </p:nvSpPr>
          <p:spPr>
            <a:xfrm>
              <a:off x="76200" y="38100"/>
              <a:ext cx="660400" cy="698500"/>
            </a:xfrm>
            <a:prstGeom prst="rect">
              <a:avLst/>
            </a:prstGeom>
          </p:spPr>
          <p:txBody>
            <a:bodyPr anchor="ctr" rtlCol="false" tIns="50800" lIns="50800" bIns="50800" rIns="50800"/>
            <a:lstStyle/>
            <a:p>
              <a:pPr algn="ctr">
                <a:lnSpc>
                  <a:spcPts val="2660"/>
                </a:lnSpc>
              </a:pPr>
            </a:p>
          </p:txBody>
        </p:sp>
      </p:grpSp>
      <p:grpSp>
        <p:nvGrpSpPr>
          <p:cNvPr name="Group 64" id="64"/>
          <p:cNvGrpSpPr/>
          <p:nvPr/>
        </p:nvGrpSpPr>
        <p:grpSpPr>
          <a:xfrm rot="0">
            <a:off x="6648961" y="5334000"/>
            <a:ext cx="4990077" cy="1893196"/>
            <a:chOff x="0" y="0"/>
            <a:chExt cx="3128042" cy="1186754"/>
          </a:xfrm>
        </p:grpSpPr>
        <p:sp>
          <p:nvSpPr>
            <p:cNvPr name="Freeform 65" id="65"/>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66" id="66"/>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67" id="67"/>
          <p:cNvGrpSpPr/>
          <p:nvPr/>
        </p:nvGrpSpPr>
        <p:grpSpPr>
          <a:xfrm rot="0">
            <a:off x="6648961" y="5082999"/>
            <a:ext cx="4009319" cy="823887"/>
            <a:chOff x="0" y="0"/>
            <a:chExt cx="3569367" cy="733480"/>
          </a:xfrm>
        </p:grpSpPr>
        <p:sp>
          <p:nvSpPr>
            <p:cNvPr name="Freeform 68" id="68"/>
            <p:cNvSpPr/>
            <p:nvPr/>
          </p:nvSpPr>
          <p:spPr>
            <a:xfrm flipH="false" flipV="false" rot="0">
              <a:off x="6933" y="0"/>
              <a:ext cx="3555501" cy="733480"/>
            </a:xfrm>
            <a:custGeom>
              <a:avLst/>
              <a:gdLst/>
              <a:ahLst/>
              <a:cxnLst/>
              <a:rect r="r" b="b" t="t" l="l"/>
              <a:pathLst>
                <a:path h="733480" w="3555501">
                  <a:moveTo>
                    <a:pt x="225232" y="0"/>
                  </a:moveTo>
                  <a:lnTo>
                    <a:pt x="3533470" y="0"/>
                  </a:lnTo>
                  <a:cubicBezTo>
                    <a:pt x="3540352" y="0"/>
                    <a:pt x="3546838" y="3216"/>
                    <a:pt x="3551005" y="8694"/>
                  </a:cubicBezTo>
                  <a:cubicBezTo>
                    <a:pt x="3555171" y="14171"/>
                    <a:pt x="3556539" y="21281"/>
                    <a:pt x="3554702" y="27913"/>
                  </a:cubicBezTo>
                  <a:lnTo>
                    <a:pt x="3366967" y="705567"/>
                  </a:lnTo>
                  <a:cubicBezTo>
                    <a:pt x="3362398" y="722061"/>
                    <a:pt x="3347385" y="733480"/>
                    <a:pt x="3330270" y="733480"/>
                  </a:cubicBezTo>
                  <a:lnTo>
                    <a:pt x="22032" y="733480"/>
                  </a:lnTo>
                  <a:cubicBezTo>
                    <a:pt x="15150" y="733480"/>
                    <a:pt x="8663" y="730264"/>
                    <a:pt x="4496" y="724787"/>
                  </a:cubicBezTo>
                  <a:cubicBezTo>
                    <a:pt x="330" y="719309"/>
                    <a:pt x="-1037" y="712199"/>
                    <a:pt x="800" y="705567"/>
                  </a:cubicBezTo>
                  <a:lnTo>
                    <a:pt x="188534" y="27913"/>
                  </a:lnTo>
                  <a:cubicBezTo>
                    <a:pt x="193104" y="11419"/>
                    <a:pt x="208116" y="0"/>
                    <a:pt x="225232" y="0"/>
                  </a:cubicBezTo>
                  <a:close/>
                </a:path>
              </a:pathLst>
            </a:custGeom>
            <a:solidFill>
              <a:srgbClr val="EDF6F9"/>
            </a:solidFill>
          </p:spPr>
        </p:sp>
        <p:sp>
          <p:nvSpPr>
            <p:cNvPr name="TextBox 69" id="69"/>
            <p:cNvSpPr txBox="true"/>
            <p:nvPr/>
          </p:nvSpPr>
          <p:spPr>
            <a:xfrm>
              <a:off x="101600" y="-38100"/>
              <a:ext cx="3366167" cy="771580"/>
            </a:xfrm>
            <a:prstGeom prst="rect">
              <a:avLst/>
            </a:prstGeom>
          </p:spPr>
          <p:txBody>
            <a:bodyPr anchor="ctr" rtlCol="false" tIns="50800" lIns="50800" bIns="50800" rIns="50800"/>
            <a:lstStyle/>
            <a:p>
              <a:pPr algn="ctr">
                <a:lnSpc>
                  <a:spcPts val="2659"/>
                </a:lnSpc>
              </a:pPr>
            </a:p>
          </p:txBody>
        </p:sp>
      </p:grpSp>
      <p:grpSp>
        <p:nvGrpSpPr>
          <p:cNvPr name="Group 70" id="70"/>
          <p:cNvGrpSpPr/>
          <p:nvPr/>
        </p:nvGrpSpPr>
        <p:grpSpPr>
          <a:xfrm rot="0">
            <a:off x="6342460" y="5082999"/>
            <a:ext cx="1107852" cy="1107852"/>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6F9"/>
            </a:solidFill>
            <a:ln w="57150" cap="sq">
              <a:solidFill>
                <a:srgbClr val="00B58F"/>
              </a:solidFill>
              <a:prstDash val="solid"/>
              <a:miter/>
            </a:ln>
          </p:spPr>
        </p:sp>
        <p:sp>
          <p:nvSpPr>
            <p:cNvPr name="TextBox 72" id="72"/>
            <p:cNvSpPr txBox="true"/>
            <p:nvPr/>
          </p:nvSpPr>
          <p:spPr>
            <a:xfrm>
              <a:off x="76200" y="38100"/>
              <a:ext cx="660400" cy="698500"/>
            </a:xfrm>
            <a:prstGeom prst="rect">
              <a:avLst/>
            </a:prstGeom>
          </p:spPr>
          <p:txBody>
            <a:bodyPr anchor="ctr" rtlCol="false" tIns="50800" lIns="50800" bIns="50800" rIns="50800"/>
            <a:lstStyle/>
            <a:p>
              <a:pPr algn="ctr">
                <a:lnSpc>
                  <a:spcPts val="2660"/>
                </a:lnSpc>
              </a:pPr>
            </a:p>
          </p:txBody>
        </p:sp>
      </p:grpSp>
      <p:grpSp>
        <p:nvGrpSpPr>
          <p:cNvPr name="Group 73" id="73"/>
          <p:cNvGrpSpPr/>
          <p:nvPr/>
        </p:nvGrpSpPr>
        <p:grpSpPr>
          <a:xfrm rot="0">
            <a:off x="12267689" y="5342605"/>
            <a:ext cx="4990077" cy="1893196"/>
            <a:chOff x="0" y="0"/>
            <a:chExt cx="3128042" cy="1186754"/>
          </a:xfrm>
        </p:grpSpPr>
        <p:sp>
          <p:nvSpPr>
            <p:cNvPr name="Freeform 74" id="74"/>
            <p:cNvSpPr/>
            <p:nvPr/>
          </p:nvSpPr>
          <p:spPr>
            <a:xfrm flipH="false" flipV="false" rot="0">
              <a:off x="0" y="0"/>
              <a:ext cx="3128042" cy="1186754"/>
            </a:xfrm>
            <a:custGeom>
              <a:avLst/>
              <a:gdLst/>
              <a:ahLst/>
              <a:cxnLst/>
              <a:rect r="r" b="b" t="t" l="l"/>
              <a:pathLst>
                <a:path h="1186754" w="3128042">
                  <a:moveTo>
                    <a:pt x="31029" y="0"/>
                  </a:moveTo>
                  <a:lnTo>
                    <a:pt x="3097013" y="0"/>
                  </a:lnTo>
                  <a:cubicBezTo>
                    <a:pt x="3114150" y="0"/>
                    <a:pt x="3128042" y="13892"/>
                    <a:pt x="3128042" y="31029"/>
                  </a:cubicBezTo>
                  <a:lnTo>
                    <a:pt x="3128042" y="1155725"/>
                  </a:lnTo>
                  <a:cubicBezTo>
                    <a:pt x="3128042" y="1163955"/>
                    <a:pt x="3124773" y="1171847"/>
                    <a:pt x="3118954" y="1177666"/>
                  </a:cubicBezTo>
                  <a:cubicBezTo>
                    <a:pt x="3113134" y="1183485"/>
                    <a:pt x="3105242" y="1186754"/>
                    <a:pt x="3097013" y="1186754"/>
                  </a:cubicBezTo>
                  <a:lnTo>
                    <a:pt x="31029" y="1186754"/>
                  </a:lnTo>
                  <a:cubicBezTo>
                    <a:pt x="13892" y="1186754"/>
                    <a:pt x="0" y="1172862"/>
                    <a:pt x="0" y="1155725"/>
                  </a:cubicBezTo>
                  <a:lnTo>
                    <a:pt x="0" y="31029"/>
                  </a:lnTo>
                  <a:cubicBezTo>
                    <a:pt x="0" y="13892"/>
                    <a:pt x="13892" y="0"/>
                    <a:pt x="31029" y="0"/>
                  </a:cubicBezTo>
                  <a:close/>
                </a:path>
              </a:pathLst>
            </a:custGeom>
            <a:solidFill>
              <a:srgbClr val="00B58F"/>
            </a:solidFill>
            <a:ln cap="sq">
              <a:noFill/>
              <a:prstDash val="solid"/>
              <a:miter/>
            </a:ln>
          </p:spPr>
        </p:sp>
        <p:sp>
          <p:nvSpPr>
            <p:cNvPr name="TextBox 75" id="75"/>
            <p:cNvSpPr txBox="true"/>
            <p:nvPr/>
          </p:nvSpPr>
          <p:spPr>
            <a:xfrm>
              <a:off x="0" y="-38100"/>
              <a:ext cx="3128042" cy="1224854"/>
            </a:xfrm>
            <a:prstGeom prst="rect">
              <a:avLst/>
            </a:prstGeom>
          </p:spPr>
          <p:txBody>
            <a:bodyPr anchor="ctr" rtlCol="false" tIns="17593" lIns="17593" bIns="17593" rIns="17593"/>
            <a:lstStyle/>
            <a:p>
              <a:pPr algn="ctr">
                <a:lnSpc>
                  <a:spcPts val="2660"/>
                </a:lnSpc>
                <a:spcBef>
                  <a:spcPct val="0"/>
                </a:spcBef>
              </a:pPr>
            </a:p>
          </p:txBody>
        </p:sp>
      </p:grpSp>
      <p:grpSp>
        <p:nvGrpSpPr>
          <p:cNvPr name="Group 76" id="76"/>
          <p:cNvGrpSpPr/>
          <p:nvPr/>
        </p:nvGrpSpPr>
        <p:grpSpPr>
          <a:xfrm rot="0">
            <a:off x="12267689" y="5091604"/>
            <a:ext cx="4009319" cy="823887"/>
            <a:chOff x="0" y="0"/>
            <a:chExt cx="3569367" cy="733480"/>
          </a:xfrm>
        </p:grpSpPr>
        <p:sp>
          <p:nvSpPr>
            <p:cNvPr name="Freeform 77" id="77"/>
            <p:cNvSpPr/>
            <p:nvPr/>
          </p:nvSpPr>
          <p:spPr>
            <a:xfrm flipH="false" flipV="false" rot="0">
              <a:off x="6933" y="0"/>
              <a:ext cx="3555501" cy="733480"/>
            </a:xfrm>
            <a:custGeom>
              <a:avLst/>
              <a:gdLst/>
              <a:ahLst/>
              <a:cxnLst/>
              <a:rect r="r" b="b" t="t" l="l"/>
              <a:pathLst>
                <a:path h="733480" w="3555501">
                  <a:moveTo>
                    <a:pt x="225232" y="0"/>
                  </a:moveTo>
                  <a:lnTo>
                    <a:pt x="3533470" y="0"/>
                  </a:lnTo>
                  <a:cubicBezTo>
                    <a:pt x="3540352" y="0"/>
                    <a:pt x="3546838" y="3216"/>
                    <a:pt x="3551005" y="8694"/>
                  </a:cubicBezTo>
                  <a:cubicBezTo>
                    <a:pt x="3555171" y="14171"/>
                    <a:pt x="3556539" y="21281"/>
                    <a:pt x="3554702" y="27913"/>
                  </a:cubicBezTo>
                  <a:lnTo>
                    <a:pt x="3366967" y="705567"/>
                  </a:lnTo>
                  <a:cubicBezTo>
                    <a:pt x="3362398" y="722061"/>
                    <a:pt x="3347385" y="733480"/>
                    <a:pt x="3330270" y="733480"/>
                  </a:cubicBezTo>
                  <a:lnTo>
                    <a:pt x="22032" y="733480"/>
                  </a:lnTo>
                  <a:cubicBezTo>
                    <a:pt x="15150" y="733480"/>
                    <a:pt x="8663" y="730264"/>
                    <a:pt x="4496" y="724787"/>
                  </a:cubicBezTo>
                  <a:cubicBezTo>
                    <a:pt x="330" y="719309"/>
                    <a:pt x="-1037" y="712199"/>
                    <a:pt x="800" y="705567"/>
                  </a:cubicBezTo>
                  <a:lnTo>
                    <a:pt x="188534" y="27913"/>
                  </a:lnTo>
                  <a:cubicBezTo>
                    <a:pt x="193104" y="11419"/>
                    <a:pt x="208116" y="0"/>
                    <a:pt x="225232" y="0"/>
                  </a:cubicBezTo>
                  <a:close/>
                </a:path>
              </a:pathLst>
            </a:custGeom>
            <a:solidFill>
              <a:srgbClr val="EDF6F9"/>
            </a:solidFill>
          </p:spPr>
        </p:sp>
        <p:sp>
          <p:nvSpPr>
            <p:cNvPr name="TextBox 78" id="78"/>
            <p:cNvSpPr txBox="true"/>
            <p:nvPr/>
          </p:nvSpPr>
          <p:spPr>
            <a:xfrm>
              <a:off x="101600" y="-38100"/>
              <a:ext cx="3366167" cy="771580"/>
            </a:xfrm>
            <a:prstGeom prst="rect">
              <a:avLst/>
            </a:prstGeom>
          </p:spPr>
          <p:txBody>
            <a:bodyPr anchor="ctr" rtlCol="false" tIns="50800" lIns="50800" bIns="50800" rIns="50800"/>
            <a:lstStyle/>
            <a:p>
              <a:pPr algn="ctr">
                <a:lnSpc>
                  <a:spcPts val="2659"/>
                </a:lnSpc>
              </a:pPr>
            </a:p>
          </p:txBody>
        </p:sp>
      </p:grpSp>
      <p:grpSp>
        <p:nvGrpSpPr>
          <p:cNvPr name="Group 79" id="79"/>
          <p:cNvGrpSpPr/>
          <p:nvPr/>
        </p:nvGrpSpPr>
        <p:grpSpPr>
          <a:xfrm rot="0">
            <a:off x="11961188" y="5091604"/>
            <a:ext cx="1107852" cy="1107852"/>
            <a:chOff x="0" y="0"/>
            <a:chExt cx="812800" cy="812800"/>
          </a:xfrm>
        </p:grpSpPr>
        <p:sp>
          <p:nvSpPr>
            <p:cNvPr name="Freeform 80" id="8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6F9"/>
            </a:solidFill>
            <a:ln w="57150" cap="sq">
              <a:solidFill>
                <a:srgbClr val="00B58F"/>
              </a:solidFill>
              <a:prstDash val="solid"/>
              <a:miter/>
            </a:ln>
          </p:spPr>
        </p:sp>
        <p:sp>
          <p:nvSpPr>
            <p:cNvPr name="TextBox 81" id="81"/>
            <p:cNvSpPr txBox="true"/>
            <p:nvPr/>
          </p:nvSpPr>
          <p:spPr>
            <a:xfrm>
              <a:off x="76200" y="38100"/>
              <a:ext cx="660400" cy="698500"/>
            </a:xfrm>
            <a:prstGeom prst="rect">
              <a:avLst/>
            </a:prstGeom>
          </p:spPr>
          <p:txBody>
            <a:bodyPr anchor="ctr" rtlCol="false" tIns="50800" lIns="50800" bIns="50800" rIns="50800"/>
            <a:lstStyle/>
            <a:p>
              <a:pPr algn="ctr">
                <a:lnSpc>
                  <a:spcPts val="2660"/>
                </a:lnSpc>
              </a:pPr>
            </a:p>
          </p:txBody>
        </p:sp>
      </p:grpSp>
      <p:grpSp>
        <p:nvGrpSpPr>
          <p:cNvPr name="Group 82" id="82"/>
          <p:cNvGrpSpPr/>
          <p:nvPr/>
        </p:nvGrpSpPr>
        <p:grpSpPr>
          <a:xfrm rot="0">
            <a:off x="1181950" y="7556212"/>
            <a:ext cx="5478897" cy="823887"/>
            <a:chOff x="0" y="0"/>
            <a:chExt cx="4877685" cy="733480"/>
          </a:xfrm>
        </p:grpSpPr>
        <p:sp>
          <p:nvSpPr>
            <p:cNvPr name="Freeform 83" id="83"/>
            <p:cNvSpPr/>
            <p:nvPr/>
          </p:nvSpPr>
          <p:spPr>
            <a:xfrm flipH="false" flipV="false" rot="0">
              <a:off x="5073" y="0"/>
              <a:ext cx="4867538" cy="733480"/>
            </a:xfrm>
            <a:custGeom>
              <a:avLst/>
              <a:gdLst/>
              <a:ahLst/>
              <a:cxnLst/>
              <a:rect r="r" b="b" t="t" l="l"/>
              <a:pathLst>
                <a:path h="733480" w="4867538">
                  <a:moveTo>
                    <a:pt x="219323" y="0"/>
                  </a:moveTo>
                  <a:lnTo>
                    <a:pt x="4851417" y="0"/>
                  </a:lnTo>
                  <a:cubicBezTo>
                    <a:pt x="4856453" y="0"/>
                    <a:pt x="4861200" y="2353"/>
                    <a:pt x="4864248" y="6362"/>
                  </a:cubicBezTo>
                  <a:cubicBezTo>
                    <a:pt x="4867297" y="10370"/>
                    <a:pt x="4868298" y="15573"/>
                    <a:pt x="4866953" y="20426"/>
                  </a:cubicBezTo>
                  <a:lnTo>
                    <a:pt x="4675071" y="713054"/>
                  </a:lnTo>
                  <a:cubicBezTo>
                    <a:pt x="4671727" y="725124"/>
                    <a:pt x="4660741" y="733480"/>
                    <a:pt x="4648217" y="733480"/>
                  </a:cubicBezTo>
                  <a:lnTo>
                    <a:pt x="16123" y="733480"/>
                  </a:lnTo>
                  <a:cubicBezTo>
                    <a:pt x="11087" y="733480"/>
                    <a:pt x="6340" y="731127"/>
                    <a:pt x="3291" y="727119"/>
                  </a:cubicBezTo>
                  <a:cubicBezTo>
                    <a:pt x="242" y="723110"/>
                    <a:pt x="-759" y="717908"/>
                    <a:pt x="586" y="713054"/>
                  </a:cubicBezTo>
                  <a:lnTo>
                    <a:pt x="192468" y="20426"/>
                  </a:lnTo>
                  <a:cubicBezTo>
                    <a:pt x="195812" y="8356"/>
                    <a:pt x="206798" y="0"/>
                    <a:pt x="219323" y="0"/>
                  </a:cubicBezTo>
                  <a:close/>
                </a:path>
              </a:pathLst>
            </a:custGeom>
            <a:solidFill>
              <a:srgbClr val="EDF6F9"/>
            </a:solidFill>
          </p:spPr>
        </p:sp>
        <p:sp>
          <p:nvSpPr>
            <p:cNvPr name="TextBox 84" id="84"/>
            <p:cNvSpPr txBox="true"/>
            <p:nvPr/>
          </p:nvSpPr>
          <p:spPr>
            <a:xfrm>
              <a:off x="101600" y="-38100"/>
              <a:ext cx="4674485" cy="771580"/>
            </a:xfrm>
            <a:prstGeom prst="rect">
              <a:avLst/>
            </a:prstGeom>
          </p:spPr>
          <p:txBody>
            <a:bodyPr anchor="ctr" rtlCol="false" tIns="50800" lIns="50800" bIns="50800" rIns="50800"/>
            <a:lstStyle/>
            <a:p>
              <a:pPr algn="ctr">
                <a:lnSpc>
                  <a:spcPts val="2659"/>
                </a:lnSpc>
              </a:pPr>
            </a:p>
          </p:txBody>
        </p:sp>
      </p:grpSp>
      <p:grpSp>
        <p:nvGrpSpPr>
          <p:cNvPr name="Group 85" id="85"/>
          <p:cNvGrpSpPr/>
          <p:nvPr/>
        </p:nvGrpSpPr>
        <p:grpSpPr>
          <a:xfrm rot="0">
            <a:off x="723733" y="7556212"/>
            <a:ext cx="1107852" cy="1107852"/>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F6F9"/>
            </a:solidFill>
            <a:ln w="57150" cap="sq">
              <a:solidFill>
                <a:srgbClr val="00B58F"/>
              </a:solidFill>
              <a:prstDash val="solid"/>
              <a:miter/>
            </a:ln>
          </p:spPr>
        </p:sp>
        <p:sp>
          <p:nvSpPr>
            <p:cNvPr name="TextBox 87" id="87"/>
            <p:cNvSpPr txBox="true"/>
            <p:nvPr/>
          </p:nvSpPr>
          <p:spPr>
            <a:xfrm>
              <a:off x="76200" y="38100"/>
              <a:ext cx="660400" cy="698500"/>
            </a:xfrm>
            <a:prstGeom prst="rect">
              <a:avLst/>
            </a:prstGeom>
          </p:spPr>
          <p:txBody>
            <a:bodyPr anchor="ctr" rtlCol="false" tIns="50800" lIns="50800" bIns="50800" rIns="50800"/>
            <a:lstStyle/>
            <a:p>
              <a:pPr algn="ctr">
                <a:lnSpc>
                  <a:spcPts val="2660"/>
                </a:lnSpc>
              </a:pPr>
            </a:p>
          </p:txBody>
        </p:sp>
      </p:grpSp>
      <p:sp>
        <p:nvSpPr>
          <p:cNvPr name="TextBox 88" id="88"/>
          <p:cNvSpPr txBox="true"/>
          <p:nvPr/>
        </p:nvSpPr>
        <p:spPr>
          <a:xfrm rot="0">
            <a:off x="913275" y="2886162"/>
            <a:ext cx="727234" cy="448310"/>
          </a:xfrm>
          <a:prstGeom prst="rect">
            <a:avLst/>
          </a:prstGeom>
        </p:spPr>
        <p:txBody>
          <a:bodyPr anchor="t" rtlCol="false" tIns="0" lIns="0" bIns="0" rIns="0">
            <a:spAutoFit/>
          </a:bodyPr>
          <a:lstStyle/>
          <a:p>
            <a:pPr algn="ctr">
              <a:lnSpc>
                <a:spcPts val="3399"/>
              </a:lnSpc>
            </a:pPr>
            <a:r>
              <a:rPr lang="en-US" sz="3399">
                <a:solidFill>
                  <a:srgbClr val="112752"/>
                </a:solidFill>
                <a:latin typeface="Rubik One"/>
                <a:ea typeface="Rubik One"/>
                <a:cs typeface="Rubik One"/>
                <a:sym typeface="Rubik One"/>
              </a:rPr>
              <a:t>01</a:t>
            </a:r>
          </a:p>
        </p:txBody>
      </p:sp>
      <p:sp>
        <p:nvSpPr>
          <p:cNvPr name="TextBox 89" id="89"/>
          <p:cNvSpPr txBox="true"/>
          <p:nvPr/>
        </p:nvSpPr>
        <p:spPr>
          <a:xfrm rot="0">
            <a:off x="1956527" y="2867112"/>
            <a:ext cx="3393324" cy="409575"/>
          </a:xfrm>
          <a:prstGeom prst="rect">
            <a:avLst/>
          </a:prstGeom>
        </p:spPr>
        <p:txBody>
          <a:bodyPr anchor="t" rtlCol="false" tIns="0" lIns="0" bIns="0" rIns="0">
            <a:spAutoFit/>
          </a:bodyPr>
          <a:lstStyle/>
          <a:p>
            <a:pPr algn="l">
              <a:lnSpc>
                <a:spcPts val="3000"/>
              </a:lnSpc>
            </a:pPr>
            <a:r>
              <a:rPr lang="en-US" sz="3000">
                <a:solidFill>
                  <a:srgbClr val="112752"/>
                </a:solidFill>
                <a:latin typeface="Rubik One"/>
                <a:ea typeface="Rubik One"/>
                <a:cs typeface="Rubik One"/>
                <a:sym typeface="Rubik One"/>
              </a:rPr>
              <a:t>IDENTIFIKATOR</a:t>
            </a:r>
          </a:p>
        </p:txBody>
      </p:sp>
      <p:sp>
        <p:nvSpPr>
          <p:cNvPr name="TextBox 90" id="90"/>
          <p:cNvSpPr txBox="true"/>
          <p:nvPr/>
        </p:nvSpPr>
        <p:spPr>
          <a:xfrm rot="0">
            <a:off x="6533536" y="2915055"/>
            <a:ext cx="727234" cy="448310"/>
          </a:xfrm>
          <a:prstGeom prst="rect">
            <a:avLst/>
          </a:prstGeom>
        </p:spPr>
        <p:txBody>
          <a:bodyPr anchor="t" rtlCol="false" tIns="0" lIns="0" bIns="0" rIns="0">
            <a:spAutoFit/>
          </a:bodyPr>
          <a:lstStyle/>
          <a:p>
            <a:pPr algn="ctr">
              <a:lnSpc>
                <a:spcPts val="3399"/>
              </a:lnSpc>
            </a:pPr>
            <a:r>
              <a:rPr lang="en-US" sz="3399">
                <a:solidFill>
                  <a:srgbClr val="112752"/>
                </a:solidFill>
                <a:latin typeface="Rubik One"/>
                <a:ea typeface="Rubik One"/>
                <a:cs typeface="Rubik One"/>
                <a:sym typeface="Rubik One"/>
              </a:rPr>
              <a:t>02</a:t>
            </a:r>
          </a:p>
        </p:txBody>
      </p:sp>
      <p:sp>
        <p:nvSpPr>
          <p:cNvPr name="TextBox 91" id="91"/>
          <p:cNvSpPr txBox="true"/>
          <p:nvPr/>
        </p:nvSpPr>
        <p:spPr>
          <a:xfrm rot="0">
            <a:off x="7733230" y="2867112"/>
            <a:ext cx="2410759" cy="409575"/>
          </a:xfrm>
          <a:prstGeom prst="rect">
            <a:avLst/>
          </a:prstGeom>
        </p:spPr>
        <p:txBody>
          <a:bodyPr anchor="t" rtlCol="false" tIns="0" lIns="0" bIns="0" rIns="0">
            <a:spAutoFit/>
          </a:bodyPr>
          <a:lstStyle/>
          <a:p>
            <a:pPr algn="l">
              <a:lnSpc>
                <a:spcPts val="3000"/>
              </a:lnSpc>
            </a:pPr>
            <a:r>
              <a:rPr lang="en-US" sz="3000">
                <a:solidFill>
                  <a:srgbClr val="112752"/>
                </a:solidFill>
                <a:latin typeface="Rubik One"/>
                <a:ea typeface="Rubik One"/>
                <a:cs typeface="Rubik One"/>
                <a:sym typeface="Rubik One"/>
              </a:rPr>
              <a:t>TEMPORAL</a:t>
            </a:r>
          </a:p>
        </p:txBody>
      </p:sp>
      <p:sp>
        <p:nvSpPr>
          <p:cNvPr name="TextBox 92" id="92"/>
          <p:cNvSpPr txBox="true"/>
          <p:nvPr/>
        </p:nvSpPr>
        <p:spPr>
          <a:xfrm rot="0">
            <a:off x="12152263" y="2915055"/>
            <a:ext cx="727234" cy="448310"/>
          </a:xfrm>
          <a:prstGeom prst="rect">
            <a:avLst/>
          </a:prstGeom>
        </p:spPr>
        <p:txBody>
          <a:bodyPr anchor="t" rtlCol="false" tIns="0" lIns="0" bIns="0" rIns="0">
            <a:spAutoFit/>
          </a:bodyPr>
          <a:lstStyle/>
          <a:p>
            <a:pPr algn="ctr">
              <a:lnSpc>
                <a:spcPts val="3399"/>
              </a:lnSpc>
            </a:pPr>
            <a:r>
              <a:rPr lang="en-US" sz="3399">
                <a:solidFill>
                  <a:srgbClr val="112752"/>
                </a:solidFill>
                <a:latin typeface="Rubik One"/>
                <a:ea typeface="Rubik One"/>
                <a:cs typeface="Rubik One"/>
                <a:sym typeface="Rubik One"/>
              </a:rPr>
              <a:t>03</a:t>
            </a:r>
          </a:p>
        </p:txBody>
      </p:sp>
      <p:sp>
        <p:nvSpPr>
          <p:cNvPr name="TextBox 93" id="93"/>
          <p:cNvSpPr txBox="true"/>
          <p:nvPr/>
        </p:nvSpPr>
        <p:spPr>
          <a:xfrm rot="0">
            <a:off x="13194399" y="2867112"/>
            <a:ext cx="3701952" cy="409575"/>
          </a:xfrm>
          <a:prstGeom prst="rect">
            <a:avLst/>
          </a:prstGeom>
        </p:spPr>
        <p:txBody>
          <a:bodyPr anchor="t" rtlCol="false" tIns="0" lIns="0" bIns="0" rIns="0">
            <a:spAutoFit/>
          </a:bodyPr>
          <a:lstStyle/>
          <a:p>
            <a:pPr algn="l">
              <a:lnSpc>
                <a:spcPts val="3000"/>
              </a:lnSpc>
            </a:pPr>
            <a:r>
              <a:rPr lang="en-US" sz="3000">
                <a:solidFill>
                  <a:srgbClr val="112752"/>
                </a:solidFill>
                <a:latin typeface="Rubik One"/>
                <a:ea typeface="Rubik One"/>
                <a:cs typeface="Rubik One"/>
                <a:sym typeface="Rubik One"/>
              </a:rPr>
              <a:t>INFRASTRUKTUR</a:t>
            </a:r>
          </a:p>
        </p:txBody>
      </p:sp>
      <p:sp>
        <p:nvSpPr>
          <p:cNvPr name="TextBox 94" id="94"/>
          <p:cNvSpPr txBox="true"/>
          <p:nvPr/>
        </p:nvSpPr>
        <p:spPr>
          <a:xfrm rot="0">
            <a:off x="914042" y="5458577"/>
            <a:ext cx="727234" cy="448310"/>
          </a:xfrm>
          <a:prstGeom prst="rect">
            <a:avLst/>
          </a:prstGeom>
        </p:spPr>
        <p:txBody>
          <a:bodyPr anchor="t" rtlCol="false" tIns="0" lIns="0" bIns="0" rIns="0">
            <a:spAutoFit/>
          </a:bodyPr>
          <a:lstStyle/>
          <a:p>
            <a:pPr algn="ctr">
              <a:lnSpc>
                <a:spcPts val="3399"/>
              </a:lnSpc>
            </a:pPr>
            <a:r>
              <a:rPr lang="en-US" sz="3399">
                <a:solidFill>
                  <a:srgbClr val="112752"/>
                </a:solidFill>
                <a:latin typeface="Rubik One"/>
                <a:ea typeface="Rubik One"/>
                <a:cs typeface="Rubik One"/>
                <a:sym typeface="Rubik One"/>
              </a:rPr>
              <a:t>04</a:t>
            </a:r>
          </a:p>
        </p:txBody>
      </p:sp>
      <p:sp>
        <p:nvSpPr>
          <p:cNvPr name="TextBox 95" id="95"/>
          <p:cNvSpPr txBox="true"/>
          <p:nvPr/>
        </p:nvSpPr>
        <p:spPr>
          <a:xfrm rot="0">
            <a:off x="2277797" y="5439527"/>
            <a:ext cx="1964872" cy="409575"/>
          </a:xfrm>
          <a:prstGeom prst="rect">
            <a:avLst/>
          </a:prstGeom>
        </p:spPr>
        <p:txBody>
          <a:bodyPr anchor="t" rtlCol="false" tIns="0" lIns="0" bIns="0" rIns="0">
            <a:spAutoFit/>
          </a:bodyPr>
          <a:lstStyle/>
          <a:p>
            <a:pPr algn="l">
              <a:lnSpc>
                <a:spcPts val="3000"/>
              </a:lnSpc>
            </a:pPr>
            <a:r>
              <a:rPr lang="en-US" sz="3000">
                <a:solidFill>
                  <a:srgbClr val="112752"/>
                </a:solidFill>
                <a:latin typeface="Rubik One"/>
                <a:ea typeface="Rubik One"/>
                <a:cs typeface="Rubik One"/>
                <a:sym typeface="Rubik One"/>
              </a:rPr>
              <a:t>SPASIAL</a:t>
            </a:r>
          </a:p>
        </p:txBody>
      </p:sp>
      <p:sp>
        <p:nvSpPr>
          <p:cNvPr name="TextBox 96" id="96"/>
          <p:cNvSpPr txBox="true"/>
          <p:nvPr/>
        </p:nvSpPr>
        <p:spPr>
          <a:xfrm rot="0">
            <a:off x="6533536" y="5458577"/>
            <a:ext cx="727234" cy="448310"/>
          </a:xfrm>
          <a:prstGeom prst="rect">
            <a:avLst/>
          </a:prstGeom>
        </p:spPr>
        <p:txBody>
          <a:bodyPr anchor="t" rtlCol="false" tIns="0" lIns="0" bIns="0" rIns="0">
            <a:spAutoFit/>
          </a:bodyPr>
          <a:lstStyle/>
          <a:p>
            <a:pPr algn="ctr">
              <a:lnSpc>
                <a:spcPts val="3399"/>
              </a:lnSpc>
            </a:pPr>
            <a:r>
              <a:rPr lang="en-US" sz="3399">
                <a:solidFill>
                  <a:srgbClr val="112752"/>
                </a:solidFill>
                <a:latin typeface="Rubik One"/>
                <a:ea typeface="Rubik One"/>
                <a:cs typeface="Rubik One"/>
                <a:sym typeface="Rubik One"/>
              </a:rPr>
              <a:t>05</a:t>
            </a:r>
          </a:p>
        </p:txBody>
      </p:sp>
      <p:sp>
        <p:nvSpPr>
          <p:cNvPr name="TextBox 97" id="97"/>
          <p:cNvSpPr txBox="true"/>
          <p:nvPr/>
        </p:nvSpPr>
        <p:spPr>
          <a:xfrm rot="0">
            <a:off x="7522223" y="5439527"/>
            <a:ext cx="2937054" cy="409575"/>
          </a:xfrm>
          <a:prstGeom prst="rect">
            <a:avLst/>
          </a:prstGeom>
        </p:spPr>
        <p:txBody>
          <a:bodyPr anchor="t" rtlCol="false" tIns="0" lIns="0" bIns="0" rIns="0">
            <a:spAutoFit/>
          </a:bodyPr>
          <a:lstStyle/>
          <a:p>
            <a:pPr algn="l">
              <a:lnSpc>
                <a:spcPts val="3000"/>
              </a:lnSpc>
            </a:pPr>
            <a:r>
              <a:rPr lang="en-US" sz="3000">
                <a:solidFill>
                  <a:srgbClr val="112752"/>
                </a:solidFill>
                <a:latin typeface="Rubik One"/>
                <a:ea typeface="Rubik One"/>
                <a:cs typeface="Rubik One"/>
                <a:sym typeface="Rubik One"/>
              </a:rPr>
              <a:t>LINGKUNGAN</a:t>
            </a:r>
          </a:p>
        </p:txBody>
      </p:sp>
      <p:sp>
        <p:nvSpPr>
          <p:cNvPr name="TextBox 98" id="98"/>
          <p:cNvSpPr txBox="true"/>
          <p:nvPr/>
        </p:nvSpPr>
        <p:spPr>
          <a:xfrm rot="0">
            <a:off x="12153389" y="5467182"/>
            <a:ext cx="727234" cy="448310"/>
          </a:xfrm>
          <a:prstGeom prst="rect">
            <a:avLst/>
          </a:prstGeom>
        </p:spPr>
        <p:txBody>
          <a:bodyPr anchor="t" rtlCol="false" tIns="0" lIns="0" bIns="0" rIns="0">
            <a:spAutoFit/>
          </a:bodyPr>
          <a:lstStyle/>
          <a:p>
            <a:pPr algn="ctr">
              <a:lnSpc>
                <a:spcPts val="3399"/>
              </a:lnSpc>
            </a:pPr>
            <a:r>
              <a:rPr lang="en-US" sz="3399">
                <a:solidFill>
                  <a:srgbClr val="112752"/>
                </a:solidFill>
                <a:latin typeface="Rubik One"/>
                <a:ea typeface="Rubik One"/>
                <a:cs typeface="Rubik One"/>
                <a:sym typeface="Rubik One"/>
              </a:rPr>
              <a:t>06</a:t>
            </a:r>
          </a:p>
        </p:txBody>
      </p:sp>
      <p:sp>
        <p:nvSpPr>
          <p:cNvPr name="TextBox 99" id="99"/>
          <p:cNvSpPr txBox="true"/>
          <p:nvPr/>
        </p:nvSpPr>
        <p:spPr>
          <a:xfrm rot="0">
            <a:off x="13392890" y="5434226"/>
            <a:ext cx="2371832" cy="409575"/>
          </a:xfrm>
          <a:prstGeom prst="rect">
            <a:avLst/>
          </a:prstGeom>
        </p:spPr>
        <p:txBody>
          <a:bodyPr anchor="t" rtlCol="false" tIns="0" lIns="0" bIns="0" rIns="0">
            <a:spAutoFit/>
          </a:bodyPr>
          <a:lstStyle/>
          <a:p>
            <a:pPr algn="l">
              <a:lnSpc>
                <a:spcPts val="3000"/>
              </a:lnSpc>
            </a:pPr>
            <a:r>
              <a:rPr lang="en-US" sz="3000">
                <a:solidFill>
                  <a:srgbClr val="112752"/>
                </a:solidFill>
                <a:latin typeface="Rubik One"/>
                <a:ea typeface="Rubik One"/>
                <a:cs typeface="Rubik One"/>
                <a:sym typeface="Rubik One"/>
              </a:rPr>
              <a:t>FINANSIAL</a:t>
            </a:r>
          </a:p>
        </p:txBody>
      </p:sp>
      <p:sp>
        <p:nvSpPr>
          <p:cNvPr name="TextBox 100" id="100"/>
          <p:cNvSpPr txBox="true"/>
          <p:nvPr/>
        </p:nvSpPr>
        <p:spPr>
          <a:xfrm rot="0">
            <a:off x="2102499" y="7929163"/>
            <a:ext cx="4239961" cy="409575"/>
          </a:xfrm>
          <a:prstGeom prst="rect">
            <a:avLst/>
          </a:prstGeom>
        </p:spPr>
        <p:txBody>
          <a:bodyPr anchor="t" rtlCol="false" tIns="0" lIns="0" bIns="0" rIns="0">
            <a:spAutoFit/>
          </a:bodyPr>
          <a:lstStyle/>
          <a:p>
            <a:pPr algn="l">
              <a:lnSpc>
                <a:spcPts val="3000"/>
              </a:lnSpc>
            </a:pPr>
            <a:r>
              <a:rPr lang="en-US" sz="3000">
                <a:solidFill>
                  <a:srgbClr val="112752"/>
                </a:solidFill>
                <a:latin typeface="Rubik One"/>
                <a:ea typeface="Rubik One"/>
                <a:cs typeface="Rubik One"/>
                <a:sym typeface="Rubik One"/>
              </a:rPr>
              <a:t>VARIABEL TARGET</a:t>
            </a:r>
          </a:p>
        </p:txBody>
      </p:sp>
      <p:sp>
        <p:nvSpPr>
          <p:cNvPr name="TextBox 101" id="101"/>
          <p:cNvSpPr txBox="true"/>
          <p:nvPr/>
        </p:nvSpPr>
        <p:spPr>
          <a:xfrm rot="0">
            <a:off x="914042" y="7943572"/>
            <a:ext cx="727234" cy="448310"/>
          </a:xfrm>
          <a:prstGeom prst="rect">
            <a:avLst/>
          </a:prstGeom>
        </p:spPr>
        <p:txBody>
          <a:bodyPr anchor="t" rtlCol="false" tIns="0" lIns="0" bIns="0" rIns="0">
            <a:spAutoFit/>
          </a:bodyPr>
          <a:lstStyle/>
          <a:p>
            <a:pPr algn="ctr">
              <a:lnSpc>
                <a:spcPts val="3399"/>
              </a:lnSpc>
            </a:pPr>
            <a:r>
              <a:rPr lang="en-US" sz="3399">
                <a:solidFill>
                  <a:srgbClr val="112752"/>
                </a:solidFill>
                <a:latin typeface="Rubik One"/>
                <a:ea typeface="Rubik One"/>
                <a:cs typeface="Rubik One"/>
                <a:sym typeface="Rubik One"/>
              </a:rPr>
              <a:t>07</a:t>
            </a:r>
          </a:p>
        </p:txBody>
      </p:sp>
      <p:sp>
        <p:nvSpPr>
          <p:cNvPr name="TextBox 102" id="102"/>
          <p:cNvSpPr txBox="true"/>
          <p:nvPr/>
        </p:nvSpPr>
        <p:spPr>
          <a:xfrm rot="0">
            <a:off x="1680308" y="3382119"/>
            <a:ext cx="4033503" cy="989965"/>
          </a:xfrm>
          <a:prstGeom prst="rect">
            <a:avLst/>
          </a:prstGeom>
        </p:spPr>
        <p:txBody>
          <a:bodyPr anchor="t" rtlCol="false" tIns="0" lIns="0" bIns="0" rIns="0">
            <a:spAutoFit/>
          </a:bodyPr>
          <a:lstStyle/>
          <a:p>
            <a:pPr algn="just">
              <a:lnSpc>
                <a:spcPts val="2659"/>
              </a:lnSpc>
            </a:pPr>
            <a:r>
              <a:rPr lang="en-US" sz="1899" spc="47">
                <a:solidFill>
                  <a:srgbClr val="0B132B"/>
                </a:solidFill>
                <a:latin typeface="Bricolage Grotesque"/>
                <a:ea typeface="Bricolage Grotesque"/>
                <a:cs typeface="Bricolage Grotesque"/>
                <a:sym typeface="Bricolage Grotesque"/>
              </a:rPr>
              <a:t>Penanda </a:t>
            </a:r>
            <a:r>
              <a:rPr lang="en-US" b="true" sz="1899" spc="47">
                <a:solidFill>
                  <a:srgbClr val="0B132B"/>
                </a:solidFill>
                <a:latin typeface="Bricolage Grotesque Bold"/>
                <a:ea typeface="Bricolage Grotesque Bold"/>
                <a:cs typeface="Bricolage Grotesque Bold"/>
                <a:sym typeface="Bricolage Grotesque Bold"/>
              </a:rPr>
              <a:t>unik </a:t>
            </a:r>
            <a:r>
              <a:rPr lang="en-US" sz="1899" spc="47">
                <a:solidFill>
                  <a:srgbClr val="0B132B"/>
                </a:solidFill>
                <a:latin typeface="Bricolage Grotesque"/>
                <a:ea typeface="Bricolage Grotesque"/>
                <a:cs typeface="Bricolage Grotesque"/>
                <a:sym typeface="Bricolage Grotesque"/>
              </a:rPr>
              <a:t>setiap baris transaksi.</a:t>
            </a:r>
          </a:p>
          <a:p>
            <a:pPr algn="l">
              <a:lnSpc>
                <a:spcPts val="2659"/>
              </a:lnSpc>
            </a:pPr>
            <a:r>
              <a:rPr lang="en-US" sz="1899" spc="47" b="true">
                <a:solidFill>
                  <a:srgbClr val="0B132B"/>
                </a:solidFill>
                <a:latin typeface="Bricolage Grotesque Bold"/>
                <a:ea typeface="Bricolage Grotesque Bold"/>
                <a:cs typeface="Bricolage Grotesque Bold"/>
                <a:sym typeface="Bricolage Grotesque Bold"/>
              </a:rPr>
              <a:t>Fitur (1): id</a:t>
            </a:r>
          </a:p>
        </p:txBody>
      </p:sp>
      <p:sp>
        <p:nvSpPr>
          <p:cNvPr name="TextBox 103" id="103"/>
          <p:cNvSpPr txBox="true"/>
          <p:nvPr/>
        </p:nvSpPr>
        <p:spPr>
          <a:xfrm rot="0">
            <a:off x="7260771" y="3371674"/>
            <a:ext cx="4188726" cy="989965"/>
          </a:xfrm>
          <a:prstGeom prst="rect">
            <a:avLst/>
          </a:prstGeom>
        </p:spPr>
        <p:txBody>
          <a:bodyPr anchor="t" rtlCol="false" tIns="0" lIns="0" bIns="0" rIns="0">
            <a:spAutoFit/>
          </a:bodyPr>
          <a:lstStyle/>
          <a:p>
            <a:pPr algn="just">
              <a:lnSpc>
                <a:spcPts val="2659"/>
              </a:lnSpc>
            </a:pPr>
            <a:r>
              <a:rPr lang="en-US" sz="1899" spc="47">
                <a:solidFill>
                  <a:srgbClr val="0B132B"/>
                </a:solidFill>
                <a:latin typeface="Bricolage Grotesque"/>
                <a:ea typeface="Bricolage Grotesque"/>
                <a:cs typeface="Bricolage Grotesque"/>
                <a:sym typeface="Bricolage Grotesque"/>
              </a:rPr>
              <a:t>Pencatatan </a:t>
            </a:r>
            <a:r>
              <a:rPr lang="en-US" b="true" sz="1899" spc="47">
                <a:solidFill>
                  <a:srgbClr val="0B132B"/>
                </a:solidFill>
                <a:latin typeface="Bricolage Grotesque Bold"/>
                <a:ea typeface="Bricolage Grotesque Bold"/>
                <a:cs typeface="Bricolage Grotesque Bold"/>
                <a:sym typeface="Bricolage Grotesque Bold"/>
              </a:rPr>
              <a:t>waktu </a:t>
            </a:r>
            <a:r>
              <a:rPr lang="en-US" sz="1899" spc="47">
                <a:solidFill>
                  <a:srgbClr val="0B132B"/>
                </a:solidFill>
                <a:latin typeface="Bricolage Grotesque"/>
                <a:ea typeface="Bricolage Grotesque"/>
                <a:cs typeface="Bricolage Grotesque"/>
                <a:sym typeface="Bricolage Grotesque"/>
              </a:rPr>
              <a:t>terjadinya </a:t>
            </a:r>
            <a:r>
              <a:rPr lang="en-US" b="true" sz="1899" spc="47">
                <a:solidFill>
                  <a:srgbClr val="0B132B"/>
                </a:solidFill>
                <a:latin typeface="Bricolage Grotesque Bold"/>
                <a:ea typeface="Bricolage Grotesque Bold"/>
                <a:cs typeface="Bricolage Grotesque Bold"/>
                <a:sym typeface="Bricolage Grotesque Bold"/>
              </a:rPr>
              <a:t>aktivitas </a:t>
            </a:r>
            <a:r>
              <a:rPr lang="en-US" sz="1899" spc="47">
                <a:solidFill>
                  <a:srgbClr val="0B132B"/>
                </a:solidFill>
                <a:latin typeface="Bricolage Grotesque"/>
                <a:ea typeface="Bricolage Grotesque"/>
                <a:cs typeface="Bricolage Grotesque"/>
                <a:sym typeface="Bricolage Grotesque"/>
              </a:rPr>
              <a:t>operasional.</a:t>
            </a:r>
          </a:p>
          <a:p>
            <a:pPr algn="just">
              <a:lnSpc>
                <a:spcPts val="2659"/>
              </a:lnSpc>
            </a:pPr>
            <a:r>
              <a:rPr lang="en-US" b="true" sz="1899" spc="47">
                <a:solidFill>
                  <a:srgbClr val="0B132B"/>
                </a:solidFill>
                <a:latin typeface="Bricolage Grotesque Bold"/>
                <a:ea typeface="Bricolage Grotesque Bold"/>
                <a:cs typeface="Bricolage Grotesque Bold"/>
                <a:sym typeface="Bricolage Grotesque Bold"/>
              </a:rPr>
              <a:t>Fitur (1) : timestamp</a:t>
            </a:r>
          </a:p>
        </p:txBody>
      </p:sp>
      <p:sp>
        <p:nvSpPr>
          <p:cNvPr name="TextBox 104" id="104"/>
          <p:cNvSpPr txBox="true"/>
          <p:nvPr/>
        </p:nvSpPr>
        <p:spPr>
          <a:xfrm rot="0">
            <a:off x="12877289" y="3325264"/>
            <a:ext cx="4380477" cy="1323340"/>
          </a:xfrm>
          <a:prstGeom prst="rect">
            <a:avLst/>
          </a:prstGeom>
        </p:spPr>
        <p:txBody>
          <a:bodyPr anchor="t" rtlCol="false" tIns="0" lIns="0" bIns="0" rIns="0">
            <a:spAutoFit/>
          </a:bodyPr>
          <a:lstStyle/>
          <a:p>
            <a:pPr algn="just">
              <a:lnSpc>
                <a:spcPts val="2659"/>
              </a:lnSpc>
            </a:pPr>
            <a:r>
              <a:rPr lang="en-US" sz="1899" spc="47">
                <a:solidFill>
                  <a:srgbClr val="0B132B"/>
                </a:solidFill>
                <a:latin typeface="Bricolage Grotesque"/>
                <a:ea typeface="Bricolage Grotesque"/>
                <a:cs typeface="Bricolage Grotesque"/>
                <a:sym typeface="Bricolage Grotesque"/>
              </a:rPr>
              <a:t>Gambaran </a:t>
            </a:r>
            <a:r>
              <a:rPr lang="en-US" b="true" sz="1899" spc="47">
                <a:solidFill>
                  <a:srgbClr val="0B132B"/>
                </a:solidFill>
                <a:latin typeface="Bricolage Grotesque Bold"/>
                <a:ea typeface="Bricolage Grotesque Bold"/>
                <a:cs typeface="Bricolage Grotesque Bold"/>
                <a:sym typeface="Bricolage Grotesque Bold"/>
              </a:rPr>
              <a:t>fasilitas </a:t>
            </a:r>
            <a:r>
              <a:rPr lang="en-US" sz="1899" spc="47">
                <a:solidFill>
                  <a:srgbClr val="0B132B"/>
                </a:solidFill>
                <a:latin typeface="Bricolage Grotesque"/>
                <a:ea typeface="Bricolage Grotesque"/>
                <a:cs typeface="Bricolage Grotesque"/>
                <a:sym typeface="Bricolage Grotesque"/>
              </a:rPr>
              <a:t>dan </a:t>
            </a:r>
            <a:r>
              <a:rPr lang="en-US" b="true" sz="1899" spc="47">
                <a:solidFill>
                  <a:srgbClr val="0B132B"/>
                </a:solidFill>
                <a:latin typeface="Bricolage Grotesque Bold"/>
                <a:ea typeface="Bricolage Grotesque Bold"/>
                <a:cs typeface="Bricolage Grotesque Bold"/>
                <a:sym typeface="Bricolage Grotesque Bold"/>
              </a:rPr>
              <a:t>kapasitas </a:t>
            </a:r>
            <a:r>
              <a:rPr lang="en-US" sz="1899" spc="47">
                <a:solidFill>
                  <a:srgbClr val="0B132B"/>
                </a:solidFill>
                <a:latin typeface="Bricolage Grotesque"/>
                <a:ea typeface="Bricolage Grotesque"/>
                <a:cs typeface="Bricolage Grotesque"/>
                <a:sym typeface="Bricolage Grotesque"/>
              </a:rPr>
              <a:t>operasional stasiun.</a:t>
            </a:r>
          </a:p>
          <a:p>
            <a:pPr algn="just">
              <a:lnSpc>
                <a:spcPts val="2659"/>
              </a:lnSpc>
            </a:pPr>
            <a:r>
              <a:rPr lang="en-US" b="true" sz="1899" spc="47">
                <a:solidFill>
                  <a:srgbClr val="0B132B"/>
                </a:solidFill>
                <a:latin typeface="Bricolage Grotesque Bold"/>
                <a:ea typeface="Bricolage Grotesque Bold"/>
                <a:cs typeface="Bricolage Grotesque Bold"/>
                <a:sym typeface="Bricolage Grotesque Bold"/>
              </a:rPr>
              <a:t>Fitur (8): station_id, charger_type,  amenities_nearby, network, etc</a:t>
            </a:r>
          </a:p>
        </p:txBody>
      </p:sp>
      <p:sp>
        <p:nvSpPr>
          <p:cNvPr name="TextBox 105" id="105"/>
          <p:cNvSpPr txBox="true"/>
          <p:nvPr/>
        </p:nvSpPr>
        <p:spPr>
          <a:xfrm rot="0">
            <a:off x="1680308" y="5917332"/>
            <a:ext cx="4033503" cy="989965"/>
          </a:xfrm>
          <a:prstGeom prst="rect">
            <a:avLst/>
          </a:prstGeom>
        </p:spPr>
        <p:txBody>
          <a:bodyPr anchor="t" rtlCol="false" tIns="0" lIns="0" bIns="0" rIns="0">
            <a:spAutoFit/>
          </a:bodyPr>
          <a:lstStyle/>
          <a:p>
            <a:pPr algn="just">
              <a:lnSpc>
                <a:spcPts val="2659"/>
              </a:lnSpc>
            </a:pPr>
            <a:r>
              <a:rPr lang="en-US" sz="1899" spc="47">
                <a:solidFill>
                  <a:srgbClr val="0B132B"/>
                </a:solidFill>
                <a:latin typeface="Bricolage Grotesque"/>
                <a:ea typeface="Bricolage Grotesque"/>
                <a:cs typeface="Bricolage Grotesque"/>
                <a:sym typeface="Bricolage Grotesque"/>
              </a:rPr>
              <a:t>Persebara</a:t>
            </a:r>
            <a:r>
              <a:rPr lang="en-US" sz="1899" spc="47">
                <a:solidFill>
                  <a:srgbClr val="0B132B"/>
                </a:solidFill>
                <a:latin typeface="Bricolage Grotesque"/>
                <a:ea typeface="Bricolage Grotesque"/>
                <a:cs typeface="Bricolage Grotesque"/>
                <a:sym typeface="Bricolage Grotesque"/>
              </a:rPr>
              <a:t>n</a:t>
            </a:r>
            <a:r>
              <a:rPr lang="en-US" sz="1899" spc="47">
                <a:solidFill>
                  <a:srgbClr val="0B132B"/>
                </a:solidFill>
                <a:latin typeface="Bricolage Grotesque"/>
                <a:ea typeface="Bricolage Grotesque"/>
                <a:cs typeface="Bricolage Grotesque"/>
                <a:sym typeface="Bricolage Grotesque"/>
              </a:rPr>
              <a:t> </a:t>
            </a:r>
            <a:r>
              <a:rPr lang="en-US" b="true" sz="1899" spc="47">
                <a:solidFill>
                  <a:srgbClr val="0B132B"/>
                </a:solidFill>
                <a:latin typeface="Bricolage Grotesque Bold"/>
                <a:ea typeface="Bricolage Grotesque Bold"/>
                <a:cs typeface="Bricolage Grotesque Bold"/>
                <a:sym typeface="Bricolage Grotesque Bold"/>
              </a:rPr>
              <a:t>lokasi </a:t>
            </a:r>
            <a:r>
              <a:rPr lang="en-US" sz="1899" spc="47">
                <a:solidFill>
                  <a:srgbClr val="0B132B"/>
                </a:solidFill>
                <a:latin typeface="Bricolage Grotesque"/>
                <a:ea typeface="Bricolage Grotesque"/>
                <a:cs typeface="Bricolage Grotesque"/>
                <a:sym typeface="Bricolage Grotesque"/>
              </a:rPr>
              <a:t>secara </a:t>
            </a:r>
            <a:r>
              <a:rPr lang="en-US" b="true" sz="1899" spc="47">
                <a:solidFill>
                  <a:srgbClr val="0B132B"/>
                </a:solidFill>
                <a:latin typeface="Bricolage Grotesque Bold"/>
                <a:ea typeface="Bricolage Grotesque Bold"/>
                <a:cs typeface="Bricolage Grotesque Bold"/>
                <a:sym typeface="Bricolage Grotesque Bold"/>
              </a:rPr>
              <a:t>geografis </a:t>
            </a:r>
            <a:r>
              <a:rPr lang="en-US" sz="1899" spc="47">
                <a:solidFill>
                  <a:srgbClr val="0B132B"/>
                </a:solidFill>
                <a:latin typeface="Bricolage Grotesque"/>
                <a:ea typeface="Bricolage Grotesque"/>
                <a:cs typeface="Bricolage Grotesque"/>
                <a:sym typeface="Bricolage Grotesque"/>
              </a:rPr>
              <a:t>dan </a:t>
            </a:r>
            <a:r>
              <a:rPr lang="en-US" b="true" sz="1899" spc="47">
                <a:solidFill>
                  <a:srgbClr val="0B132B"/>
                </a:solidFill>
                <a:latin typeface="Bricolage Grotesque Bold"/>
                <a:ea typeface="Bricolage Grotesque Bold"/>
                <a:cs typeface="Bricolage Grotesque Bold"/>
                <a:sym typeface="Bricolage Grotesque Bold"/>
              </a:rPr>
              <a:t>administratif</a:t>
            </a:r>
            <a:r>
              <a:rPr lang="en-US" sz="1899" spc="47">
                <a:solidFill>
                  <a:srgbClr val="0B132B"/>
                </a:solidFill>
                <a:latin typeface="Bricolage Grotesque"/>
                <a:ea typeface="Bricolage Grotesque"/>
                <a:cs typeface="Bricolage Grotesque"/>
                <a:sym typeface="Bricolage Grotesque"/>
              </a:rPr>
              <a:t>.</a:t>
            </a:r>
          </a:p>
          <a:p>
            <a:pPr algn="l">
              <a:lnSpc>
                <a:spcPts val="2659"/>
              </a:lnSpc>
            </a:pPr>
            <a:r>
              <a:rPr lang="en-US" sz="1899" spc="47" b="true">
                <a:solidFill>
                  <a:srgbClr val="0B132B"/>
                </a:solidFill>
                <a:latin typeface="Bricolage Grotesque Bold"/>
                <a:ea typeface="Bricolage Grotesque Bold"/>
                <a:cs typeface="Bricolage Grotesque Bold"/>
                <a:sym typeface="Bricolage Grotesque Bold"/>
              </a:rPr>
              <a:t>Fitur (4): city, state, lat, long</a:t>
            </a:r>
          </a:p>
        </p:txBody>
      </p:sp>
      <p:sp>
        <p:nvSpPr>
          <p:cNvPr name="TextBox 106" id="106"/>
          <p:cNvSpPr txBox="true"/>
          <p:nvPr/>
        </p:nvSpPr>
        <p:spPr>
          <a:xfrm rot="0">
            <a:off x="7298871" y="5860182"/>
            <a:ext cx="4188726" cy="1323340"/>
          </a:xfrm>
          <a:prstGeom prst="rect">
            <a:avLst/>
          </a:prstGeom>
        </p:spPr>
        <p:txBody>
          <a:bodyPr anchor="t" rtlCol="false" tIns="0" lIns="0" bIns="0" rIns="0">
            <a:spAutoFit/>
          </a:bodyPr>
          <a:lstStyle/>
          <a:p>
            <a:pPr algn="just">
              <a:lnSpc>
                <a:spcPts val="2659"/>
              </a:lnSpc>
            </a:pPr>
            <a:r>
              <a:rPr lang="en-US" sz="1899" spc="47">
                <a:solidFill>
                  <a:srgbClr val="0B132B"/>
                </a:solidFill>
                <a:latin typeface="Bricolage Grotesque"/>
                <a:ea typeface="Bricolage Grotesque"/>
                <a:cs typeface="Bricolage Grotesque"/>
                <a:sym typeface="Bricolage Grotesque"/>
              </a:rPr>
              <a:t>Kondisi </a:t>
            </a:r>
            <a:r>
              <a:rPr lang="en-US" b="true" sz="1899" spc="47">
                <a:solidFill>
                  <a:srgbClr val="0B132B"/>
                </a:solidFill>
                <a:latin typeface="Bricolage Grotesque Bold"/>
                <a:ea typeface="Bricolage Grotesque Bold"/>
                <a:cs typeface="Bricolage Grotesque Bold"/>
                <a:sym typeface="Bricolage Grotesque Bold"/>
              </a:rPr>
              <a:t>lingkungan </a:t>
            </a:r>
            <a:r>
              <a:rPr lang="en-US" sz="1899" spc="47">
                <a:solidFill>
                  <a:srgbClr val="0B132B"/>
                </a:solidFill>
                <a:latin typeface="Bricolage Grotesque"/>
                <a:ea typeface="Bricolage Grotesque"/>
                <a:cs typeface="Bricolage Grotesque"/>
                <a:sym typeface="Bricolage Grotesque"/>
              </a:rPr>
              <a:t>pemengaruh akt</a:t>
            </a:r>
            <a:r>
              <a:rPr lang="en-US" sz="1899" spc="47">
                <a:solidFill>
                  <a:srgbClr val="0B132B"/>
                </a:solidFill>
                <a:latin typeface="Bricolage Grotesque"/>
                <a:ea typeface="Bricolage Grotesque"/>
                <a:cs typeface="Bricolage Grotesque"/>
                <a:sym typeface="Bricolage Grotesque"/>
              </a:rPr>
              <a:t>i</a:t>
            </a:r>
            <a:r>
              <a:rPr lang="en-US" sz="1899" spc="47">
                <a:solidFill>
                  <a:srgbClr val="0B132B"/>
                </a:solidFill>
                <a:latin typeface="Bricolage Grotesque"/>
                <a:ea typeface="Bricolage Grotesque"/>
                <a:cs typeface="Bricolage Grotesque"/>
                <a:sym typeface="Bricolage Grotesque"/>
              </a:rPr>
              <a:t>v</a:t>
            </a:r>
            <a:r>
              <a:rPr lang="en-US" sz="1899" spc="47">
                <a:solidFill>
                  <a:srgbClr val="0B132B"/>
                </a:solidFill>
                <a:latin typeface="Bricolage Grotesque"/>
                <a:ea typeface="Bricolage Grotesque"/>
                <a:cs typeface="Bricolage Grotesque"/>
                <a:sym typeface="Bricolage Grotesque"/>
              </a:rPr>
              <a:t>i</a:t>
            </a:r>
            <a:r>
              <a:rPr lang="en-US" sz="1899" spc="47">
                <a:solidFill>
                  <a:srgbClr val="0B132B"/>
                </a:solidFill>
                <a:latin typeface="Bricolage Grotesque"/>
                <a:ea typeface="Bricolage Grotesque"/>
                <a:cs typeface="Bricolage Grotesque"/>
                <a:sym typeface="Bricolage Grotesque"/>
              </a:rPr>
              <a:t>ta</a:t>
            </a:r>
            <a:r>
              <a:rPr lang="en-US" sz="1899" spc="47">
                <a:solidFill>
                  <a:srgbClr val="0B132B"/>
                </a:solidFill>
                <a:latin typeface="Bricolage Grotesque"/>
                <a:ea typeface="Bricolage Grotesque"/>
                <a:cs typeface="Bricolage Grotesque"/>
                <a:sym typeface="Bricolage Grotesque"/>
              </a:rPr>
              <a:t>s</a:t>
            </a:r>
            <a:r>
              <a:rPr lang="en-US" sz="1899" spc="47">
                <a:solidFill>
                  <a:srgbClr val="0B132B"/>
                </a:solidFill>
                <a:latin typeface="Bricolage Grotesque"/>
                <a:ea typeface="Bricolage Grotesque"/>
                <a:cs typeface="Bricolage Grotesque"/>
                <a:sym typeface="Bricolage Grotesque"/>
              </a:rPr>
              <a:t> ope</a:t>
            </a:r>
            <a:r>
              <a:rPr lang="en-US" sz="1899" spc="47">
                <a:solidFill>
                  <a:srgbClr val="0B132B"/>
                </a:solidFill>
                <a:latin typeface="Bricolage Grotesque"/>
                <a:ea typeface="Bricolage Grotesque"/>
                <a:cs typeface="Bricolage Grotesque"/>
                <a:sym typeface="Bricolage Grotesque"/>
              </a:rPr>
              <a:t>ra</a:t>
            </a:r>
            <a:r>
              <a:rPr lang="en-US" sz="1899" spc="47">
                <a:solidFill>
                  <a:srgbClr val="0B132B"/>
                </a:solidFill>
                <a:latin typeface="Bricolage Grotesque"/>
                <a:ea typeface="Bricolage Grotesque"/>
                <a:cs typeface="Bricolage Grotesque"/>
                <a:sym typeface="Bricolage Grotesque"/>
              </a:rPr>
              <a:t>s</a:t>
            </a:r>
            <a:r>
              <a:rPr lang="en-US" sz="1899" spc="47">
                <a:solidFill>
                  <a:srgbClr val="0B132B"/>
                </a:solidFill>
                <a:latin typeface="Bricolage Grotesque"/>
                <a:ea typeface="Bricolage Grotesque"/>
                <a:cs typeface="Bricolage Grotesque"/>
                <a:sym typeface="Bricolage Grotesque"/>
              </a:rPr>
              <a:t>i</a:t>
            </a:r>
            <a:r>
              <a:rPr lang="en-US" sz="1899" spc="47">
                <a:solidFill>
                  <a:srgbClr val="0B132B"/>
                </a:solidFill>
                <a:latin typeface="Bricolage Grotesque"/>
                <a:ea typeface="Bricolage Grotesque"/>
                <a:cs typeface="Bricolage Grotesque"/>
                <a:sym typeface="Bricolage Grotesque"/>
              </a:rPr>
              <a:t>onal.</a:t>
            </a:r>
          </a:p>
          <a:p>
            <a:pPr algn="l">
              <a:lnSpc>
                <a:spcPts val="2659"/>
              </a:lnSpc>
            </a:pPr>
            <a:r>
              <a:rPr lang="en-US" sz="1899" spc="47" b="true">
                <a:solidFill>
                  <a:srgbClr val="0B132B"/>
                </a:solidFill>
                <a:latin typeface="Bricolage Grotesque Bold"/>
                <a:ea typeface="Bricolage Grotesque Bold"/>
                <a:cs typeface="Bricolage Grotesque Bold"/>
                <a:sym typeface="Bricolage Grotesque Bold"/>
              </a:rPr>
              <a:t>Fitur (5):  temperature_f, precipitation_mm, etc </a:t>
            </a:r>
          </a:p>
        </p:txBody>
      </p:sp>
      <p:sp>
        <p:nvSpPr>
          <p:cNvPr name="TextBox 107" id="107"/>
          <p:cNvSpPr txBox="true"/>
          <p:nvPr/>
        </p:nvSpPr>
        <p:spPr>
          <a:xfrm rot="0">
            <a:off x="12841233" y="5953592"/>
            <a:ext cx="4033503" cy="989965"/>
          </a:xfrm>
          <a:prstGeom prst="rect">
            <a:avLst/>
          </a:prstGeom>
        </p:spPr>
        <p:txBody>
          <a:bodyPr anchor="t" rtlCol="false" tIns="0" lIns="0" bIns="0" rIns="0">
            <a:spAutoFit/>
          </a:bodyPr>
          <a:lstStyle/>
          <a:p>
            <a:pPr algn="just">
              <a:lnSpc>
                <a:spcPts val="2659"/>
              </a:lnSpc>
            </a:pPr>
            <a:r>
              <a:rPr lang="en-US" sz="1899" spc="47">
                <a:solidFill>
                  <a:srgbClr val="0B132B"/>
                </a:solidFill>
                <a:latin typeface="Bricolage Grotesque"/>
                <a:ea typeface="Bricolage Grotesque"/>
                <a:cs typeface="Bricolage Grotesque"/>
                <a:sym typeface="Bricolage Grotesque"/>
              </a:rPr>
              <a:t>Skema </a:t>
            </a:r>
            <a:r>
              <a:rPr lang="en-US" b="true" sz="1899" spc="47">
                <a:solidFill>
                  <a:srgbClr val="0B132B"/>
                </a:solidFill>
                <a:latin typeface="Bricolage Grotesque Bold"/>
                <a:ea typeface="Bricolage Grotesque Bold"/>
                <a:cs typeface="Bricolage Grotesque Bold"/>
                <a:sym typeface="Bricolage Grotesque Bold"/>
              </a:rPr>
              <a:t>biaya </a:t>
            </a:r>
            <a:r>
              <a:rPr lang="en-US" sz="1899" spc="47">
                <a:solidFill>
                  <a:srgbClr val="0B132B"/>
                </a:solidFill>
                <a:latin typeface="Bricolage Grotesque"/>
                <a:ea typeface="Bricolage Grotesque"/>
                <a:cs typeface="Bricolage Grotesque"/>
                <a:sym typeface="Bricolage Grotesque"/>
              </a:rPr>
              <a:t>p</a:t>
            </a:r>
            <a:r>
              <a:rPr lang="en-US" sz="1899" spc="47">
                <a:solidFill>
                  <a:srgbClr val="0B132B"/>
                </a:solidFill>
                <a:latin typeface="Bricolage Grotesque"/>
                <a:ea typeface="Bricolage Grotesque"/>
                <a:cs typeface="Bricolage Grotesque"/>
                <a:sym typeface="Bricolage Grotesque"/>
              </a:rPr>
              <a:t>e</a:t>
            </a:r>
            <a:r>
              <a:rPr lang="en-US" sz="1899" spc="47">
                <a:solidFill>
                  <a:srgbClr val="0B132B"/>
                </a:solidFill>
                <a:latin typeface="Bricolage Grotesque"/>
                <a:ea typeface="Bricolage Grotesque"/>
                <a:cs typeface="Bricolage Grotesque"/>
                <a:sym typeface="Bricolage Grotesque"/>
              </a:rPr>
              <a:t>n</a:t>
            </a:r>
            <a:r>
              <a:rPr lang="en-US" sz="1899" spc="47">
                <a:solidFill>
                  <a:srgbClr val="0B132B"/>
                </a:solidFill>
                <a:latin typeface="Bricolage Grotesque"/>
                <a:ea typeface="Bricolage Grotesque"/>
                <a:cs typeface="Bricolage Grotesque"/>
                <a:sym typeface="Bricolage Grotesque"/>
              </a:rPr>
              <a:t>g</a:t>
            </a:r>
            <a:r>
              <a:rPr lang="en-US" sz="1899" spc="47">
                <a:solidFill>
                  <a:srgbClr val="0B132B"/>
                </a:solidFill>
                <a:latin typeface="Bricolage Grotesque"/>
                <a:ea typeface="Bricolage Grotesque"/>
                <a:cs typeface="Bricolage Grotesque"/>
                <a:sym typeface="Bricolage Grotesque"/>
              </a:rPr>
              <a:t>gun</a:t>
            </a:r>
            <a:r>
              <a:rPr lang="en-US" sz="1899" spc="47">
                <a:solidFill>
                  <a:srgbClr val="0B132B"/>
                </a:solidFill>
                <a:latin typeface="Bricolage Grotesque"/>
                <a:ea typeface="Bricolage Grotesque"/>
                <a:cs typeface="Bricolage Grotesque"/>
                <a:sym typeface="Bricolage Grotesque"/>
              </a:rPr>
              <a:t>a</a:t>
            </a:r>
            <a:r>
              <a:rPr lang="en-US" sz="1899" spc="47">
                <a:solidFill>
                  <a:srgbClr val="0B132B"/>
                </a:solidFill>
                <a:latin typeface="Bricolage Grotesque"/>
                <a:ea typeface="Bricolage Grotesque"/>
                <a:cs typeface="Bricolage Grotesque"/>
                <a:sym typeface="Bricolage Grotesque"/>
              </a:rPr>
              <a:t>an lay</a:t>
            </a:r>
            <a:r>
              <a:rPr lang="en-US" sz="1899" spc="47">
                <a:solidFill>
                  <a:srgbClr val="0B132B"/>
                </a:solidFill>
                <a:latin typeface="Bricolage Grotesque"/>
                <a:ea typeface="Bricolage Grotesque"/>
                <a:cs typeface="Bricolage Grotesque"/>
                <a:sym typeface="Bricolage Grotesque"/>
              </a:rPr>
              <a:t>an</a:t>
            </a:r>
            <a:r>
              <a:rPr lang="en-US" sz="1899" spc="47">
                <a:solidFill>
                  <a:srgbClr val="0B132B"/>
                </a:solidFill>
                <a:latin typeface="Bricolage Grotesque"/>
                <a:ea typeface="Bricolage Grotesque"/>
                <a:cs typeface="Bricolage Grotesque"/>
                <a:sym typeface="Bricolage Grotesque"/>
              </a:rPr>
              <a:t>an peng</a:t>
            </a:r>
            <a:r>
              <a:rPr lang="en-US" sz="1899" spc="47">
                <a:solidFill>
                  <a:srgbClr val="0B132B"/>
                </a:solidFill>
                <a:latin typeface="Bricolage Grotesque"/>
                <a:ea typeface="Bricolage Grotesque"/>
                <a:cs typeface="Bricolage Grotesque"/>
                <a:sym typeface="Bricolage Grotesque"/>
              </a:rPr>
              <a:t>is</a:t>
            </a:r>
            <a:r>
              <a:rPr lang="en-US" sz="1899" spc="47">
                <a:solidFill>
                  <a:srgbClr val="0B132B"/>
                </a:solidFill>
                <a:latin typeface="Bricolage Grotesque"/>
                <a:ea typeface="Bricolage Grotesque"/>
                <a:cs typeface="Bricolage Grotesque"/>
                <a:sym typeface="Bricolage Grotesque"/>
              </a:rPr>
              <a:t>i</a:t>
            </a:r>
            <a:r>
              <a:rPr lang="en-US" sz="1899" spc="47">
                <a:solidFill>
                  <a:srgbClr val="0B132B"/>
                </a:solidFill>
                <a:latin typeface="Bricolage Grotesque"/>
                <a:ea typeface="Bricolage Grotesque"/>
                <a:cs typeface="Bricolage Grotesque"/>
                <a:sym typeface="Bricolage Grotesque"/>
              </a:rPr>
              <a:t>a</a:t>
            </a:r>
            <a:r>
              <a:rPr lang="en-US" sz="1899" spc="47">
                <a:solidFill>
                  <a:srgbClr val="0B132B"/>
                </a:solidFill>
                <a:latin typeface="Bricolage Grotesque"/>
                <a:ea typeface="Bricolage Grotesque"/>
                <a:cs typeface="Bricolage Grotesque"/>
                <a:sym typeface="Bricolage Grotesque"/>
              </a:rPr>
              <a:t>n.</a:t>
            </a:r>
          </a:p>
          <a:p>
            <a:pPr algn="l">
              <a:lnSpc>
                <a:spcPts val="2659"/>
              </a:lnSpc>
            </a:pPr>
            <a:r>
              <a:rPr lang="en-US" sz="1899" spc="47" b="true">
                <a:solidFill>
                  <a:srgbClr val="0B132B"/>
                </a:solidFill>
                <a:latin typeface="Bricolage Grotesque Bold"/>
                <a:ea typeface="Bricolage Grotesque Bold"/>
                <a:cs typeface="Bricolage Grotesque Bold"/>
                <a:sym typeface="Bricolage Grotesque Bold"/>
              </a:rPr>
              <a:t>Fitur (1): pricing_type</a:t>
            </a:r>
          </a:p>
        </p:txBody>
      </p:sp>
      <p:sp>
        <p:nvSpPr>
          <p:cNvPr name="TextBox 108" id="108"/>
          <p:cNvSpPr txBox="true"/>
          <p:nvPr/>
        </p:nvSpPr>
        <p:spPr>
          <a:xfrm rot="0">
            <a:off x="5713810" y="8156422"/>
            <a:ext cx="11054463" cy="656590"/>
          </a:xfrm>
          <a:prstGeom prst="rect">
            <a:avLst/>
          </a:prstGeom>
        </p:spPr>
        <p:txBody>
          <a:bodyPr anchor="t" rtlCol="false" tIns="0" lIns="0" bIns="0" rIns="0">
            <a:spAutoFit/>
          </a:bodyPr>
          <a:lstStyle/>
          <a:p>
            <a:pPr algn="r">
              <a:lnSpc>
                <a:spcPts val="2659"/>
              </a:lnSpc>
            </a:pPr>
            <a:r>
              <a:rPr lang="en-US" sz="1899" spc="47">
                <a:solidFill>
                  <a:srgbClr val="0B132B"/>
                </a:solidFill>
                <a:latin typeface="Bricolage Grotesque"/>
                <a:ea typeface="Bricolage Grotesque"/>
                <a:cs typeface="Bricolage Grotesque"/>
                <a:sym typeface="Bricolage Grotesque"/>
              </a:rPr>
              <a:t>N</a:t>
            </a:r>
            <a:r>
              <a:rPr lang="en-US" sz="1899" spc="47">
                <a:solidFill>
                  <a:srgbClr val="0B132B"/>
                </a:solidFill>
                <a:latin typeface="Bricolage Grotesque"/>
                <a:ea typeface="Bricolage Grotesque"/>
                <a:cs typeface="Bricolage Grotesque"/>
                <a:sym typeface="Bricolage Grotesque"/>
              </a:rPr>
              <a:t>i</a:t>
            </a:r>
            <a:r>
              <a:rPr lang="en-US" sz="1899" spc="47">
                <a:solidFill>
                  <a:srgbClr val="0B132B"/>
                </a:solidFill>
                <a:latin typeface="Bricolage Grotesque"/>
                <a:ea typeface="Bricolage Grotesque"/>
                <a:cs typeface="Bricolage Grotesque"/>
                <a:sym typeface="Bricolage Grotesque"/>
              </a:rPr>
              <a:t>l</a:t>
            </a:r>
            <a:r>
              <a:rPr lang="en-US" sz="1899" spc="47">
                <a:solidFill>
                  <a:srgbClr val="0B132B"/>
                </a:solidFill>
                <a:latin typeface="Bricolage Grotesque"/>
                <a:ea typeface="Bricolage Grotesque"/>
                <a:cs typeface="Bricolage Grotesque"/>
                <a:sym typeface="Bricolage Grotesque"/>
              </a:rPr>
              <a:t>a</a:t>
            </a:r>
            <a:r>
              <a:rPr lang="en-US" sz="1899" spc="47">
                <a:solidFill>
                  <a:srgbClr val="0B132B"/>
                </a:solidFill>
                <a:latin typeface="Bricolage Grotesque"/>
                <a:ea typeface="Bricolage Grotesque"/>
                <a:cs typeface="Bricolage Grotesque"/>
                <a:sym typeface="Bricolage Grotesque"/>
              </a:rPr>
              <a:t>i</a:t>
            </a:r>
            <a:r>
              <a:rPr lang="en-US" sz="1899" spc="47">
                <a:solidFill>
                  <a:srgbClr val="0B132B"/>
                </a:solidFill>
                <a:latin typeface="Bricolage Grotesque"/>
                <a:ea typeface="Bricolage Grotesque"/>
                <a:cs typeface="Bricolage Grotesque"/>
                <a:sym typeface="Bricolage Grotesque"/>
              </a:rPr>
              <a:t> </a:t>
            </a:r>
            <a:r>
              <a:rPr lang="en-US" b="true" sz="1899" spc="47">
                <a:solidFill>
                  <a:srgbClr val="0B132B"/>
                </a:solidFill>
                <a:latin typeface="Bricolage Grotesque Bold"/>
                <a:ea typeface="Bricolage Grotesque Bold"/>
                <a:cs typeface="Bricolage Grotesque Bold"/>
                <a:sym typeface="Bricolage Grotesque Bold"/>
              </a:rPr>
              <a:t>tingkat pemanfaatan </a:t>
            </a:r>
            <a:r>
              <a:rPr lang="en-US" sz="1899" spc="47">
                <a:solidFill>
                  <a:srgbClr val="0B132B"/>
                </a:solidFill>
                <a:latin typeface="Bricolage Grotesque"/>
                <a:ea typeface="Bricolage Grotesque"/>
                <a:cs typeface="Bricolage Grotesque"/>
                <a:sym typeface="Bricolage Grotesque"/>
              </a:rPr>
              <a:t>kapasitas </a:t>
            </a:r>
            <a:r>
              <a:rPr lang="en-US" b="true" sz="1899" spc="47">
                <a:solidFill>
                  <a:srgbClr val="0B132B"/>
                </a:solidFill>
                <a:latin typeface="Bricolage Grotesque Bold"/>
                <a:ea typeface="Bricolage Grotesque Bold"/>
                <a:cs typeface="Bricolage Grotesque Bold"/>
                <a:sym typeface="Bricolage Grotesque Bold"/>
              </a:rPr>
              <a:t>SPKLU </a:t>
            </a:r>
            <a:r>
              <a:rPr lang="en-US" sz="1899" spc="47">
                <a:solidFill>
                  <a:srgbClr val="0B132B"/>
                </a:solidFill>
                <a:latin typeface="Bricolage Grotesque"/>
                <a:ea typeface="Bricolage Grotesque"/>
                <a:cs typeface="Bricolage Grotesque"/>
                <a:sym typeface="Bricolage Grotesque"/>
              </a:rPr>
              <a:t>dan </a:t>
            </a:r>
            <a:r>
              <a:rPr lang="en-US" b="true" sz="1899" spc="47">
                <a:solidFill>
                  <a:srgbClr val="0B132B"/>
                </a:solidFill>
                <a:latin typeface="Bricolage Grotesque Bold"/>
                <a:ea typeface="Bricolage Grotesque Bold"/>
                <a:cs typeface="Bricolage Grotesque Bold"/>
                <a:sym typeface="Bricolage Grotesque Bold"/>
              </a:rPr>
              <a:t>diprediksi </a:t>
            </a:r>
            <a:r>
              <a:rPr lang="en-US" sz="1899" spc="47">
                <a:solidFill>
                  <a:srgbClr val="0B132B"/>
                </a:solidFill>
                <a:latin typeface="Bricolage Grotesque"/>
                <a:ea typeface="Bricolage Grotesque"/>
                <a:cs typeface="Bricolage Grotesque"/>
                <a:sym typeface="Bricolage Grotesque"/>
              </a:rPr>
              <a:t>oleh </a:t>
            </a:r>
            <a:r>
              <a:rPr lang="en-US" b="true" sz="1899" spc="47">
                <a:solidFill>
                  <a:srgbClr val="0B132B"/>
                </a:solidFill>
                <a:latin typeface="Bricolage Grotesque Bold"/>
                <a:ea typeface="Bricolage Grotesque Bold"/>
                <a:cs typeface="Bricolage Grotesque Bold"/>
                <a:sym typeface="Bricolage Grotesque Bold"/>
              </a:rPr>
              <a:t>model</a:t>
            </a:r>
            <a:r>
              <a:rPr lang="en-US" sz="1899" spc="47">
                <a:solidFill>
                  <a:srgbClr val="0B132B"/>
                </a:solidFill>
                <a:latin typeface="Bricolage Grotesque"/>
                <a:ea typeface="Bricolage Grotesque"/>
                <a:cs typeface="Bricolage Grotesque"/>
                <a:sym typeface="Bricolage Grotesque"/>
              </a:rPr>
              <a:t>.</a:t>
            </a:r>
          </a:p>
          <a:p>
            <a:pPr algn="r">
              <a:lnSpc>
                <a:spcPts val="2659"/>
              </a:lnSpc>
            </a:pPr>
            <a:r>
              <a:rPr lang="en-US" b="true" sz="1899" spc="47">
                <a:solidFill>
                  <a:srgbClr val="0B132B"/>
                </a:solidFill>
                <a:latin typeface="Bricolage Grotesque Bold"/>
                <a:ea typeface="Bricolage Grotesque Bold"/>
                <a:cs typeface="Bricolage Grotesque Bold"/>
                <a:sym typeface="Bricolage Grotesque Bold"/>
              </a:rPr>
              <a:t>Fitur:  utilization_rate [Nilai kontinue 0.02 - 0.98, right-skewed, mean 0.407]</a:t>
            </a:r>
          </a:p>
        </p:txBody>
      </p:sp>
      <p:sp>
        <p:nvSpPr>
          <p:cNvPr name="TextBox 109" id="109"/>
          <p:cNvSpPr txBox="true"/>
          <p:nvPr/>
        </p:nvSpPr>
        <p:spPr>
          <a:xfrm rot="0">
            <a:off x="1028700" y="2074499"/>
            <a:ext cx="10420043" cy="316230"/>
          </a:xfrm>
          <a:prstGeom prst="rect">
            <a:avLst/>
          </a:prstGeom>
        </p:spPr>
        <p:txBody>
          <a:bodyPr anchor="t" rtlCol="false" tIns="0" lIns="0" bIns="0" rIns="0">
            <a:spAutoFit/>
          </a:bodyPr>
          <a:lstStyle/>
          <a:p>
            <a:pPr algn="just">
              <a:lnSpc>
                <a:spcPts val="2519"/>
              </a:lnSpc>
            </a:pPr>
            <a:r>
              <a:rPr lang="en-US" sz="1799" spc="44">
                <a:solidFill>
                  <a:srgbClr val="0B132B"/>
                </a:solidFill>
                <a:latin typeface="Bricolage Grotesque"/>
                <a:ea typeface="Bricolage Grotesque"/>
                <a:cs typeface="Bricolage Grotesque"/>
                <a:sym typeface="Bricolage Grotesque"/>
              </a:rPr>
              <a:t>Struktur</a:t>
            </a:r>
            <a:r>
              <a:rPr lang="en-US" b="true" sz="1799" spc="44">
                <a:solidFill>
                  <a:srgbClr val="0B132B"/>
                </a:solidFill>
                <a:latin typeface="Bricolage Grotesque Bold"/>
                <a:ea typeface="Bricolage Grotesque Bold"/>
                <a:cs typeface="Bricolage Grotesque Bold"/>
                <a:sym typeface="Bricolage Grotesque Bold"/>
              </a:rPr>
              <a:t> 1,31 Juta</a:t>
            </a:r>
            <a:r>
              <a:rPr lang="en-US" sz="1799" spc="44">
                <a:solidFill>
                  <a:srgbClr val="0B132B"/>
                </a:solidFill>
                <a:latin typeface="Bricolage Grotesque"/>
                <a:ea typeface="Bricolage Grotesque"/>
                <a:cs typeface="Bricolage Grotesque"/>
                <a:sym typeface="Bricolage Grotesque"/>
              </a:rPr>
              <a:t> Observasi Deret Waktu Terpetakan ke dalam </a:t>
            </a:r>
            <a:r>
              <a:rPr lang="en-US" b="true" sz="1799" spc="44">
                <a:solidFill>
                  <a:srgbClr val="0B132B"/>
                </a:solidFill>
                <a:latin typeface="Bricolage Grotesque Bold"/>
                <a:ea typeface="Bricolage Grotesque Bold"/>
                <a:cs typeface="Bricolage Grotesque Bold"/>
                <a:sym typeface="Bricolage Grotesque Bold"/>
              </a:rPr>
              <a:t>7 Domain Fungsional</a:t>
            </a:r>
          </a:p>
        </p:txBody>
      </p:sp>
      <p:grpSp>
        <p:nvGrpSpPr>
          <p:cNvPr name="Group 110" id="110"/>
          <p:cNvGrpSpPr/>
          <p:nvPr/>
        </p:nvGrpSpPr>
        <p:grpSpPr>
          <a:xfrm rot="0">
            <a:off x="11502671" y="9960324"/>
            <a:ext cx="9960587" cy="1142074"/>
            <a:chOff x="0" y="0"/>
            <a:chExt cx="2572779" cy="294993"/>
          </a:xfrm>
        </p:grpSpPr>
        <p:sp>
          <p:nvSpPr>
            <p:cNvPr name="Freeform 111" id="111"/>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12" id="112"/>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13" id="113"/>
          <p:cNvGrpSpPr/>
          <p:nvPr/>
        </p:nvGrpSpPr>
        <p:grpSpPr>
          <a:xfrm rot="0">
            <a:off x="-5959063" y="-784283"/>
            <a:ext cx="9960587" cy="1142074"/>
            <a:chOff x="0" y="0"/>
            <a:chExt cx="2572779" cy="294993"/>
          </a:xfrm>
        </p:grpSpPr>
        <p:sp>
          <p:nvSpPr>
            <p:cNvPr name="Freeform 114" id="114"/>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15" id="115"/>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3150242"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338615" y="-784283"/>
            <a:ext cx="12457569" cy="1142074"/>
            <a:chOff x="0" y="0"/>
            <a:chExt cx="3217739" cy="294993"/>
          </a:xfrm>
        </p:grpSpPr>
        <p:sp>
          <p:nvSpPr>
            <p:cNvPr name="Freeform 6" id="6"/>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7" id="7"/>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8700" y="793061"/>
            <a:ext cx="4463067" cy="235560"/>
            <a:chOff x="0" y="0"/>
            <a:chExt cx="5950756" cy="314080"/>
          </a:xfrm>
        </p:grpSpPr>
        <p:sp>
          <p:nvSpPr>
            <p:cNvPr name="Freeform 9" id="9"/>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11" id="11"/>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- 09</a:t>
            </a:r>
          </a:p>
        </p:txBody>
      </p:sp>
      <p:sp>
        <p:nvSpPr>
          <p:cNvPr name="TextBox 12" id="12"/>
          <p:cNvSpPr txBox="true"/>
          <p:nvPr/>
        </p:nvSpPr>
        <p:spPr>
          <a:xfrm rot="0">
            <a:off x="1028700" y="1330446"/>
            <a:ext cx="16958656" cy="730250"/>
          </a:xfrm>
          <a:prstGeom prst="rect">
            <a:avLst/>
          </a:prstGeom>
        </p:spPr>
        <p:txBody>
          <a:bodyPr anchor="t" rtlCol="false" tIns="0" lIns="0" bIns="0" rIns="0">
            <a:spAutoFit/>
          </a:bodyPr>
          <a:lstStyle/>
          <a:p>
            <a:pPr algn="l">
              <a:lnSpc>
                <a:spcPts val="5499"/>
              </a:lnSpc>
            </a:pPr>
            <a:r>
              <a:rPr lang="en-US" sz="5499">
                <a:solidFill>
                  <a:srgbClr val="0B132B"/>
                </a:solidFill>
                <a:latin typeface="Rubik One"/>
                <a:ea typeface="Rubik One"/>
                <a:cs typeface="Rubik One"/>
                <a:sym typeface="Rubik One"/>
              </a:rPr>
              <a:t>AUDIT ANOMALI &amp; INTEGRITAS DATASET </a:t>
            </a:r>
          </a:p>
        </p:txBody>
      </p:sp>
      <p:sp>
        <p:nvSpPr>
          <p:cNvPr name="TextBox 13" id="13"/>
          <p:cNvSpPr txBox="true"/>
          <p:nvPr/>
        </p:nvSpPr>
        <p:spPr>
          <a:xfrm rot="0">
            <a:off x="1028700" y="2074499"/>
            <a:ext cx="10420043" cy="316230"/>
          </a:xfrm>
          <a:prstGeom prst="rect">
            <a:avLst/>
          </a:prstGeom>
        </p:spPr>
        <p:txBody>
          <a:bodyPr anchor="t" rtlCol="false" tIns="0" lIns="0" bIns="0" rIns="0">
            <a:spAutoFit/>
          </a:bodyPr>
          <a:lstStyle/>
          <a:p>
            <a:pPr algn="just">
              <a:lnSpc>
                <a:spcPts val="2519"/>
              </a:lnSpc>
            </a:pPr>
            <a:r>
              <a:rPr lang="en-US" sz="1799" spc="44">
                <a:solidFill>
                  <a:srgbClr val="0B132B"/>
                </a:solidFill>
                <a:latin typeface="Bricolage Grotesque"/>
                <a:ea typeface="Bricolage Grotesque"/>
                <a:cs typeface="Bricolage Grotesque"/>
                <a:sym typeface="Bricolage Grotesque"/>
              </a:rPr>
              <a:t>De</a:t>
            </a:r>
            <a:r>
              <a:rPr lang="en-US" sz="1799" spc="44">
                <a:solidFill>
                  <a:srgbClr val="0B132B"/>
                </a:solidFill>
                <a:latin typeface="Bricolage Grotesque"/>
                <a:ea typeface="Bricolage Grotesque"/>
                <a:cs typeface="Bricolage Grotesque"/>
                <a:sym typeface="Bricolage Grotesque"/>
              </a:rPr>
              <a:t>teksi</a:t>
            </a:r>
            <a:r>
              <a:rPr lang="en-US" sz="1799" spc="44">
                <a:solidFill>
                  <a:srgbClr val="0B132B"/>
                </a:solidFill>
                <a:latin typeface="Bricolage Grotesque"/>
                <a:ea typeface="Bricolage Grotesque"/>
                <a:cs typeface="Bricolage Grotesque"/>
                <a:sym typeface="Bricolage Grotesque"/>
              </a:rPr>
              <a:t> </a:t>
            </a:r>
            <a:r>
              <a:rPr lang="en-US" b="true" sz="1799" spc="44">
                <a:solidFill>
                  <a:srgbClr val="0B132B"/>
                </a:solidFill>
                <a:latin typeface="Bricolage Grotesque Bold"/>
                <a:ea typeface="Bricolage Grotesque Bold"/>
                <a:cs typeface="Bricolage Grotesque Bold"/>
                <a:sym typeface="Bricolage Grotesque Bold"/>
              </a:rPr>
              <a:t>3 Jebakan</a:t>
            </a:r>
            <a:r>
              <a:rPr lang="en-US" sz="1799" spc="44">
                <a:solidFill>
                  <a:srgbClr val="0B132B"/>
                </a:solidFill>
                <a:latin typeface="Bricolage Grotesque"/>
                <a:ea typeface="Bricolage Grotesque"/>
                <a:cs typeface="Bricolage Grotesque"/>
                <a:sym typeface="Bricolage Grotesque"/>
              </a:rPr>
              <a:t> Forensik Kritis &amp; </a:t>
            </a:r>
            <a:r>
              <a:rPr lang="en-US" b="true" sz="1799" spc="44">
                <a:solidFill>
                  <a:srgbClr val="0B132B"/>
                </a:solidFill>
                <a:latin typeface="Bricolage Grotesque Bold"/>
                <a:ea typeface="Bricolage Grotesque Bold"/>
                <a:cs typeface="Bricolage Grotesque Bold"/>
                <a:sym typeface="Bricolage Grotesque Bold"/>
              </a:rPr>
              <a:t>Strategi </a:t>
            </a:r>
            <a:r>
              <a:rPr lang="en-US" sz="1799" spc="44">
                <a:solidFill>
                  <a:srgbClr val="0B132B"/>
                </a:solidFill>
                <a:latin typeface="Bricolage Grotesque"/>
                <a:ea typeface="Bricolage Grotesque"/>
                <a:cs typeface="Bricolage Grotesque"/>
                <a:sym typeface="Bricolage Grotesque"/>
              </a:rPr>
              <a:t>Rekayasa </a:t>
            </a:r>
            <a:r>
              <a:rPr lang="en-US" b="true" sz="1799" spc="44">
                <a:solidFill>
                  <a:srgbClr val="0B132B"/>
                </a:solidFill>
                <a:latin typeface="Bricolage Grotesque Bold"/>
                <a:ea typeface="Bricolage Grotesque Bold"/>
                <a:cs typeface="Bricolage Grotesque Bold"/>
                <a:sym typeface="Bricolage Grotesque Bold"/>
              </a:rPr>
              <a:t>Mitigasi </a:t>
            </a:r>
            <a:r>
              <a:rPr lang="en-US" sz="1799" spc="44">
                <a:solidFill>
                  <a:srgbClr val="0B132B"/>
                </a:solidFill>
                <a:latin typeface="Bricolage Grotesque"/>
                <a:ea typeface="Bricolage Grotesque"/>
                <a:cs typeface="Bricolage Grotesque"/>
                <a:sym typeface="Bricolage Grotesque"/>
              </a:rPr>
              <a:t>Presi</a:t>
            </a:r>
            <a:r>
              <a:rPr lang="en-US" sz="1799" spc="44">
                <a:solidFill>
                  <a:srgbClr val="0B132B"/>
                </a:solidFill>
                <a:latin typeface="Bricolage Grotesque"/>
                <a:ea typeface="Bricolage Grotesque"/>
                <a:cs typeface="Bricolage Grotesque"/>
                <a:sym typeface="Bricolage Grotesque"/>
              </a:rPr>
              <a:t>si</a:t>
            </a:r>
            <a:r>
              <a:rPr lang="en-US" sz="1799" spc="44">
                <a:solidFill>
                  <a:srgbClr val="0B132B"/>
                </a:solidFill>
                <a:latin typeface="Bricolage Grotesque"/>
                <a:ea typeface="Bricolage Grotesque"/>
                <a:cs typeface="Bricolage Grotesque"/>
                <a:sym typeface="Bricolage Grotesque"/>
              </a:rPr>
              <a:t> </a:t>
            </a:r>
          </a:p>
        </p:txBody>
      </p:sp>
      <p:grpSp>
        <p:nvGrpSpPr>
          <p:cNvPr name="Group 14" id="14"/>
          <p:cNvGrpSpPr/>
          <p:nvPr/>
        </p:nvGrpSpPr>
        <p:grpSpPr>
          <a:xfrm rot="0">
            <a:off x="1235429" y="3539877"/>
            <a:ext cx="3628361" cy="1244837"/>
            <a:chOff x="0" y="0"/>
            <a:chExt cx="1016141" cy="348623"/>
          </a:xfrm>
        </p:grpSpPr>
        <p:sp>
          <p:nvSpPr>
            <p:cNvPr name="Freeform 15" id="15"/>
            <p:cNvSpPr/>
            <p:nvPr/>
          </p:nvSpPr>
          <p:spPr>
            <a:xfrm flipH="false" flipV="false" rot="0">
              <a:off x="0" y="0"/>
              <a:ext cx="1016141" cy="348623"/>
            </a:xfrm>
            <a:custGeom>
              <a:avLst/>
              <a:gdLst/>
              <a:ahLst/>
              <a:cxnLst/>
              <a:rect r="r" b="b" t="t" l="l"/>
              <a:pathLst>
                <a:path h="348623" w="1016141">
                  <a:moveTo>
                    <a:pt x="174311" y="0"/>
                  </a:moveTo>
                  <a:lnTo>
                    <a:pt x="841829" y="0"/>
                  </a:lnTo>
                  <a:cubicBezTo>
                    <a:pt x="888059" y="0"/>
                    <a:pt x="932396" y="18365"/>
                    <a:pt x="965086" y="51055"/>
                  </a:cubicBezTo>
                  <a:cubicBezTo>
                    <a:pt x="997776" y="83744"/>
                    <a:pt x="1016141" y="128081"/>
                    <a:pt x="1016141" y="174311"/>
                  </a:cubicBezTo>
                  <a:lnTo>
                    <a:pt x="1016141" y="174311"/>
                  </a:lnTo>
                  <a:cubicBezTo>
                    <a:pt x="1016141" y="220542"/>
                    <a:pt x="997776" y="264878"/>
                    <a:pt x="965086" y="297568"/>
                  </a:cubicBezTo>
                  <a:cubicBezTo>
                    <a:pt x="932396" y="330258"/>
                    <a:pt x="888059" y="348623"/>
                    <a:pt x="841829" y="348623"/>
                  </a:cubicBezTo>
                  <a:lnTo>
                    <a:pt x="174311" y="348623"/>
                  </a:lnTo>
                  <a:cubicBezTo>
                    <a:pt x="128081" y="348623"/>
                    <a:pt x="83744" y="330258"/>
                    <a:pt x="51055" y="297568"/>
                  </a:cubicBezTo>
                  <a:cubicBezTo>
                    <a:pt x="18365" y="264878"/>
                    <a:pt x="0" y="220542"/>
                    <a:pt x="0" y="174311"/>
                  </a:cubicBezTo>
                  <a:lnTo>
                    <a:pt x="0" y="174311"/>
                  </a:lnTo>
                  <a:cubicBezTo>
                    <a:pt x="0" y="128081"/>
                    <a:pt x="18365" y="83744"/>
                    <a:pt x="51055" y="51055"/>
                  </a:cubicBezTo>
                  <a:cubicBezTo>
                    <a:pt x="83744" y="18365"/>
                    <a:pt x="128081" y="0"/>
                    <a:pt x="174311" y="0"/>
                  </a:cubicBezTo>
                  <a:close/>
                </a:path>
              </a:pathLst>
            </a:custGeom>
            <a:solidFill>
              <a:srgbClr val="0B1E36"/>
            </a:solidFill>
          </p:spPr>
        </p:sp>
        <p:sp>
          <p:nvSpPr>
            <p:cNvPr name="TextBox 16" id="16"/>
            <p:cNvSpPr txBox="true"/>
            <p:nvPr/>
          </p:nvSpPr>
          <p:spPr>
            <a:xfrm>
              <a:off x="0" y="-38100"/>
              <a:ext cx="1016141" cy="386723"/>
            </a:xfrm>
            <a:prstGeom prst="rect">
              <a:avLst/>
            </a:prstGeom>
          </p:spPr>
          <p:txBody>
            <a:bodyPr anchor="ctr" rtlCol="false" tIns="47774" lIns="47774" bIns="47774" rIns="47774"/>
            <a:lstStyle/>
            <a:p>
              <a:pPr algn="ctr">
                <a:lnSpc>
                  <a:spcPts val="2659"/>
                </a:lnSpc>
              </a:pPr>
            </a:p>
          </p:txBody>
        </p:sp>
      </p:grpSp>
      <p:grpSp>
        <p:nvGrpSpPr>
          <p:cNvPr name="Group 17" id="17"/>
          <p:cNvGrpSpPr/>
          <p:nvPr/>
        </p:nvGrpSpPr>
        <p:grpSpPr>
          <a:xfrm rot="0">
            <a:off x="6672709" y="3539877"/>
            <a:ext cx="4159917" cy="1244837"/>
            <a:chOff x="0" y="0"/>
            <a:chExt cx="1164990" cy="348558"/>
          </a:xfrm>
        </p:grpSpPr>
        <p:sp>
          <p:nvSpPr>
            <p:cNvPr name="Freeform 18" id="18"/>
            <p:cNvSpPr/>
            <p:nvPr/>
          </p:nvSpPr>
          <p:spPr>
            <a:xfrm flipH="false" flipV="false" rot="0">
              <a:off x="15842" y="0"/>
              <a:ext cx="1133305" cy="347930"/>
            </a:xfrm>
            <a:custGeom>
              <a:avLst/>
              <a:gdLst/>
              <a:ahLst/>
              <a:cxnLst/>
              <a:rect r="r" b="b" t="t" l="l"/>
              <a:pathLst>
                <a:path h="347930" w="1133305">
                  <a:moveTo>
                    <a:pt x="881867" y="14315"/>
                  </a:moveTo>
                  <a:lnTo>
                    <a:pt x="1125182" y="159650"/>
                  </a:lnTo>
                  <a:cubicBezTo>
                    <a:pt x="1130220" y="162659"/>
                    <a:pt x="1133306" y="168096"/>
                    <a:pt x="1133306" y="173965"/>
                  </a:cubicBezTo>
                  <a:cubicBezTo>
                    <a:pt x="1133306" y="179834"/>
                    <a:pt x="1130220" y="185271"/>
                    <a:pt x="1125182" y="188280"/>
                  </a:cubicBezTo>
                  <a:lnTo>
                    <a:pt x="881867" y="333614"/>
                  </a:lnTo>
                  <a:cubicBezTo>
                    <a:pt x="866182" y="342983"/>
                    <a:pt x="848254" y="347930"/>
                    <a:pt x="829984" y="347930"/>
                  </a:cubicBezTo>
                  <a:lnTo>
                    <a:pt x="303322" y="347930"/>
                  </a:lnTo>
                  <a:cubicBezTo>
                    <a:pt x="285052" y="347930"/>
                    <a:pt x="267124" y="342983"/>
                    <a:pt x="251439" y="333614"/>
                  </a:cubicBezTo>
                  <a:lnTo>
                    <a:pt x="8124" y="188280"/>
                  </a:lnTo>
                  <a:cubicBezTo>
                    <a:pt x="3086" y="185271"/>
                    <a:pt x="0" y="179834"/>
                    <a:pt x="0" y="173965"/>
                  </a:cubicBezTo>
                  <a:cubicBezTo>
                    <a:pt x="0" y="168096"/>
                    <a:pt x="3086" y="162659"/>
                    <a:pt x="8124" y="159650"/>
                  </a:cubicBezTo>
                  <a:lnTo>
                    <a:pt x="251439" y="14315"/>
                  </a:lnTo>
                  <a:cubicBezTo>
                    <a:pt x="267124" y="4947"/>
                    <a:pt x="285052" y="0"/>
                    <a:pt x="303322" y="0"/>
                  </a:cubicBezTo>
                  <a:lnTo>
                    <a:pt x="829984" y="0"/>
                  </a:lnTo>
                  <a:cubicBezTo>
                    <a:pt x="848254" y="0"/>
                    <a:pt x="866182" y="4947"/>
                    <a:pt x="881867" y="14315"/>
                  </a:cubicBezTo>
                  <a:close/>
                </a:path>
              </a:pathLst>
            </a:custGeom>
            <a:solidFill>
              <a:srgbClr val="EF3A5D"/>
            </a:solidFill>
          </p:spPr>
        </p:sp>
        <p:sp>
          <p:nvSpPr>
            <p:cNvPr name="TextBox 19" id="19"/>
            <p:cNvSpPr txBox="true"/>
            <p:nvPr/>
          </p:nvSpPr>
          <p:spPr>
            <a:xfrm>
              <a:off x="213185" y="8527"/>
              <a:ext cx="738620" cy="292877"/>
            </a:xfrm>
            <a:prstGeom prst="rect">
              <a:avLst/>
            </a:prstGeom>
          </p:spPr>
          <p:txBody>
            <a:bodyPr anchor="ctr" rtlCol="false" tIns="47774" lIns="47774" bIns="47774" rIns="47774"/>
            <a:lstStyle/>
            <a:p>
              <a:pPr algn="ctr">
                <a:lnSpc>
                  <a:spcPts val="2659"/>
                </a:lnSpc>
              </a:pPr>
            </a:p>
          </p:txBody>
        </p:sp>
      </p:grpSp>
      <p:grpSp>
        <p:nvGrpSpPr>
          <p:cNvPr name="Group 20" id="20"/>
          <p:cNvGrpSpPr/>
          <p:nvPr/>
        </p:nvGrpSpPr>
        <p:grpSpPr>
          <a:xfrm rot="0">
            <a:off x="12445357" y="3457203"/>
            <a:ext cx="3628361" cy="1327510"/>
            <a:chOff x="0" y="0"/>
            <a:chExt cx="1016141" cy="371776"/>
          </a:xfrm>
        </p:grpSpPr>
        <p:sp>
          <p:nvSpPr>
            <p:cNvPr name="Freeform 21" id="21"/>
            <p:cNvSpPr/>
            <p:nvPr/>
          </p:nvSpPr>
          <p:spPr>
            <a:xfrm flipH="false" flipV="false" rot="0">
              <a:off x="0" y="0"/>
              <a:ext cx="1016141" cy="371776"/>
            </a:xfrm>
            <a:custGeom>
              <a:avLst/>
              <a:gdLst/>
              <a:ahLst/>
              <a:cxnLst/>
              <a:rect r="r" b="b" t="t" l="l"/>
              <a:pathLst>
                <a:path h="371776" w="1016141">
                  <a:moveTo>
                    <a:pt x="14936" y="0"/>
                  </a:moveTo>
                  <a:lnTo>
                    <a:pt x="1001204" y="0"/>
                  </a:lnTo>
                  <a:cubicBezTo>
                    <a:pt x="1009454" y="0"/>
                    <a:pt x="1016141" y="6687"/>
                    <a:pt x="1016141" y="14936"/>
                  </a:cubicBezTo>
                  <a:lnTo>
                    <a:pt x="1016141" y="356840"/>
                  </a:lnTo>
                  <a:cubicBezTo>
                    <a:pt x="1016141" y="365089"/>
                    <a:pt x="1009454" y="371776"/>
                    <a:pt x="1001204" y="371776"/>
                  </a:cubicBezTo>
                  <a:lnTo>
                    <a:pt x="14936" y="371776"/>
                  </a:lnTo>
                  <a:cubicBezTo>
                    <a:pt x="6687" y="371776"/>
                    <a:pt x="0" y="365089"/>
                    <a:pt x="0" y="356840"/>
                  </a:cubicBezTo>
                  <a:lnTo>
                    <a:pt x="0" y="14936"/>
                  </a:lnTo>
                  <a:cubicBezTo>
                    <a:pt x="0" y="6687"/>
                    <a:pt x="6687" y="0"/>
                    <a:pt x="14936" y="0"/>
                  </a:cubicBezTo>
                  <a:close/>
                </a:path>
              </a:pathLst>
            </a:custGeom>
            <a:solidFill>
              <a:srgbClr val="00B58F"/>
            </a:solidFill>
          </p:spPr>
        </p:sp>
        <p:sp>
          <p:nvSpPr>
            <p:cNvPr name="TextBox 22" id="22"/>
            <p:cNvSpPr txBox="true"/>
            <p:nvPr/>
          </p:nvSpPr>
          <p:spPr>
            <a:xfrm>
              <a:off x="0" y="-38100"/>
              <a:ext cx="1016141" cy="409876"/>
            </a:xfrm>
            <a:prstGeom prst="rect">
              <a:avLst/>
            </a:prstGeom>
          </p:spPr>
          <p:txBody>
            <a:bodyPr anchor="ctr" rtlCol="false" tIns="47774" lIns="47774" bIns="47774" rIns="47774"/>
            <a:lstStyle/>
            <a:p>
              <a:pPr algn="ctr">
                <a:lnSpc>
                  <a:spcPts val="2659"/>
                </a:lnSpc>
              </a:pPr>
            </a:p>
          </p:txBody>
        </p:sp>
      </p:grpSp>
      <p:sp>
        <p:nvSpPr>
          <p:cNvPr name="Freeform 23" id="23"/>
          <p:cNvSpPr/>
          <p:nvPr/>
        </p:nvSpPr>
        <p:spPr>
          <a:xfrm flipH="false" flipV="false" rot="0">
            <a:off x="5022923" y="3953604"/>
            <a:ext cx="1490653" cy="417383"/>
          </a:xfrm>
          <a:custGeom>
            <a:avLst/>
            <a:gdLst/>
            <a:ahLst/>
            <a:cxnLst/>
            <a:rect r="r" b="b" t="t" l="l"/>
            <a:pathLst>
              <a:path h="417383" w="1490653">
                <a:moveTo>
                  <a:pt x="0" y="0"/>
                </a:moveTo>
                <a:lnTo>
                  <a:pt x="1490653" y="0"/>
                </a:lnTo>
                <a:lnTo>
                  <a:pt x="1490653" y="417383"/>
                </a:lnTo>
                <a:lnTo>
                  <a:pt x="0" y="417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10832627" y="3953604"/>
            <a:ext cx="1490653" cy="417383"/>
          </a:xfrm>
          <a:custGeom>
            <a:avLst/>
            <a:gdLst/>
            <a:ahLst/>
            <a:cxnLst/>
            <a:rect r="r" b="b" t="t" l="l"/>
            <a:pathLst>
              <a:path h="417383" w="1490653">
                <a:moveTo>
                  <a:pt x="0" y="0"/>
                </a:moveTo>
                <a:lnTo>
                  <a:pt x="1490653" y="0"/>
                </a:lnTo>
                <a:lnTo>
                  <a:pt x="1490653" y="417383"/>
                </a:lnTo>
                <a:lnTo>
                  <a:pt x="0" y="417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5" id="25"/>
          <p:cNvGrpSpPr/>
          <p:nvPr/>
        </p:nvGrpSpPr>
        <p:grpSpPr>
          <a:xfrm rot="0">
            <a:off x="1028700" y="3457203"/>
            <a:ext cx="1856914" cy="496400"/>
            <a:chOff x="0" y="0"/>
            <a:chExt cx="1757851" cy="469918"/>
          </a:xfrm>
        </p:grpSpPr>
        <p:sp>
          <p:nvSpPr>
            <p:cNvPr name="Freeform 26" id="26"/>
            <p:cNvSpPr/>
            <p:nvPr/>
          </p:nvSpPr>
          <p:spPr>
            <a:xfrm flipH="false" flipV="false" rot="0">
              <a:off x="21446" y="0"/>
              <a:ext cx="1714959" cy="469918"/>
            </a:xfrm>
            <a:custGeom>
              <a:avLst/>
              <a:gdLst/>
              <a:ahLst/>
              <a:cxnLst/>
              <a:rect r="r" b="b" t="t" l="l"/>
              <a:pathLst>
                <a:path h="469918" w="1714959">
                  <a:moveTo>
                    <a:pt x="244293" y="0"/>
                  </a:moveTo>
                  <a:lnTo>
                    <a:pt x="1673866" y="0"/>
                  </a:lnTo>
                  <a:cubicBezTo>
                    <a:pt x="1687703" y="0"/>
                    <a:pt x="1700610" y="6963"/>
                    <a:pt x="1708209" y="18527"/>
                  </a:cubicBezTo>
                  <a:cubicBezTo>
                    <a:pt x="1715807" y="30091"/>
                    <a:pt x="1717075" y="44702"/>
                    <a:pt x="1711583" y="57402"/>
                  </a:cubicBezTo>
                  <a:lnTo>
                    <a:pt x="1558026" y="412517"/>
                  </a:lnTo>
                  <a:cubicBezTo>
                    <a:pt x="1542959" y="447360"/>
                    <a:pt x="1508628" y="469918"/>
                    <a:pt x="1470666" y="469918"/>
                  </a:cubicBezTo>
                  <a:lnTo>
                    <a:pt x="41093" y="469918"/>
                  </a:lnTo>
                  <a:cubicBezTo>
                    <a:pt x="27256" y="469918"/>
                    <a:pt x="14349" y="462955"/>
                    <a:pt x="6750" y="451391"/>
                  </a:cubicBezTo>
                  <a:cubicBezTo>
                    <a:pt x="-848" y="439828"/>
                    <a:pt x="-2116" y="425217"/>
                    <a:pt x="3375" y="412517"/>
                  </a:cubicBezTo>
                  <a:lnTo>
                    <a:pt x="156933" y="57402"/>
                  </a:lnTo>
                  <a:cubicBezTo>
                    <a:pt x="171999" y="22558"/>
                    <a:pt x="206331" y="0"/>
                    <a:pt x="244293" y="0"/>
                  </a:cubicBezTo>
                  <a:close/>
                </a:path>
              </a:pathLst>
            </a:custGeom>
            <a:solidFill>
              <a:srgbClr val="EDF6F9"/>
            </a:solidFill>
          </p:spPr>
        </p:sp>
        <p:sp>
          <p:nvSpPr>
            <p:cNvPr name="TextBox 27" id="27"/>
            <p:cNvSpPr txBox="true"/>
            <p:nvPr/>
          </p:nvSpPr>
          <p:spPr>
            <a:xfrm>
              <a:off x="101600" y="-38100"/>
              <a:ext cx="1554651" cy="508018"/>
            </a:xfrm>
            <a:prstGeom prst="rect">
              <a:avLst/>
            </a:prstGeom>
          </p:spPr>
          <p:txBody>
            <a:bodyPr anchor="ctr" rtlCol="false" tIns="47774" lIns="47774" bIns="47774" rIns="47774"/>
            <a:lstStyle/>
            <a:p>
              <a:pPr algn="ctr">
                <a:lnSpc>
                  <a:spcPts val="2659"/>
                </a:lnSpc>
              </a:pPr>
            </a:p>
          </p:txBody>
        </p:sp>
      </p:grpSp>
      <p:sp>
        <p:nvSpPr>
          <p:cNvPr name="TextBox 28" id="28"/>
          <p:cNvSpPr txBox="true"/>
          <p:nvPr/>
        </p:nvSpPr>
        <p:spPr>
          <a:xfrm rot="0">
            <a:off x="1469314" y="3645908"/>
            <a:ext cx="2267171" cy="307696"/>
          </a:xfrm>
          <a:prstGeom prst="rect">
            <a:avLst/>
          </a:prstGeom>
        </p:spPr>
        <p:txBody>
          <a:bodyPr anchor="t" rtlCol="false" tIns="0" lIns="0" bIns="0" rIns="0">
            <a:spAutoFit/>
          </a:bodyPr>
          <a:lstStyle/>
          <a:p>
            <a:pPr algn="l">
              <a:lnSpc>
                <a:spcPts val="2351"/>
              </a:lnSpc>
            </a:pPr>
            <a:r>
              <a:rPr lang="en-US" sz="2351">
                <a:solidFill>
                  <a:srgbClr val="112752"/>
                </a:solidFill>
                <a:latin typeface="Rubik One"/>
                <a:ea typeface="Rubik One"/>
                <a:cs typeface="Rubik One"/>
                <a:sym typeface="Rubik One"/>
              </a:rPr>
              <a:t>Status</a:t>
            </a:r>
          </a:p>
        </p:txBody>
      </p:sp>
      <p:grpSp>
        <p:nvGrpSpPr>
          <p:cNvPr name="Group 29" id="29"/>
          <p:cNvGrpSpPr/>
          <p:nvPr/>
        </p:nvGrpSpPr>
        <p:grpSpPr>
          <a:xfrm rot="0">
            <a:off x="6912835" y="3457203"/>
            <a:ext cx="1856914" cy="496400"/>
            <a:chOff x="0" y="0"/>
            <a:chExt cx="1757851" cy="469918"/>
          </a:xfrm>
        </p:grpSpPr>
        <p:sp>
          <p:nvSpPr>
            <p:cNvPr name="Freeform 30" id="30"/>
            <p:cNvSpPr/>
            <p:nvPr/>
          </p:nvSpPr>
          <p:spPr>
            <a:xfrm flipH="false" flipV="false" rot="0">
              <a:off x="21446" y="0"/>
              <a:ext cx="1714959" cy="469918"/>
            </a:xfrm>
            <a:custGeom>
              <a:avLst/>
              <a:gdLst/>
              <a:ahLst/>
              <a:cxnLst/>
              <a:rect r="r" b="b" t="t" l="l"/>
              <a:pathLst>
                <a:path h="469918" w="1714959">
                  <a:moveTo>
                    <a:pt x="244293" y="0"/>
                  </a:moveTo>
                  <a:lnTo>
                    <a:pt x="1673866" y="0"/>
                  </a:lnTo>
                  <a:cubicBezTo>
                    <a:pt x="1687703" y="0"/>
                    <a:pt x="1700610" y="6963"/>
                    <a:pt x="1708209" y="18527"/>
                  </a:cubicBezTo>
                  <a:cubicBezTo>
                    <a:pt x="1715807" y="30091"/>
                    <a:pt x="1717075" y="44702"/>
                    <a:pt x="1711583" y="57402"/>
                  </a:cubicBezTo>
                  <a:lnTo>
                    <a:pt x="1558026" y="412517"/>
                  </a:lnTo>
                  <a:cubicBezTo>
                    <a:pt x="1542959" y="447360"/>
                    <a:pt x="1508628" y="469918"/>
                    <a:pt x="1470666" y="469918"/>
                  </a:cubicBezTo>
                  <a:lnTo>
                    <a:pt x="41093" y="469918"/>
                  </a:lnTo>
                  <a:cubicBezTo>
                    <a:pt x="27256" y="469918"/>
                    <a:pt x="14349" y="462955"/>
                    <a:pt x="6750" y="451391"/>
                  </a:cubicBezTo>
                  <a:cubicBezTo>
                    <a:pt x="-848" y="439828"/>
                    <a:pt x="-2116" y="425217"/>
                    <a:pt x="3375" y="412517"/>
                  </a:cubicBezTo>
                  <a:lnTo>
                    <a:pt x="156933" y="57402"/>
                  </a:lnTo>
                  <a:cubicBezTo>
                    <a:pt x="171999" y="22558"/>
                    <a:pt x="206331" y="0"/>
                    <a:pt x="244293" y="0"/>
                  </a:cubicBezTo>
                  <a:close/>
                </a:path>
              </a:pathLst>
            </a:custGeom>
            <a:solidFill>
              <a:srgbClr val="EDF6F9"/>
            </a:solidFill>
          </p:spPr>
        </p:sp>
        <p:sp>
          <p:nvSpPr>
            <p:cNvPr name="TextBox 31" id="31"/>
            <p:cNvSpPr txBox="true"/>
            <p:nvPr/>
          </p:nvSpPr>
          <p:spPr>
            <a:xfrm>
              <a:off x="101600" y="-38100"/>
              <a:ext cx="1554651" cy="508018"/>
            </a:xfrm>
            <a:prstGeom prst="rect">
              <a:avLst/>
            </a:prstGeom>
          </p:spPr>
          <p:txBody>
            <a:bodyPr anchor="ctr" rtlCol="false" tIns="47774" lIns="47774" bIns="47774" rIns="47774"/>
            <a:lstStyle/>
            <a:p>
              <a:pPr algn="ctr">
                <a:lnSpc>
                  <a:spcPts val="2659"/>
                </a:lnSpc>
              </a:pPr>
            </a:p>
          </p:txBody>
        </p:sp>
      </p:grpSp>
      <p:sp>
        <p:nvSpPr>
          <p:cNvPr name="TextBox 32" id="32"/>
          <p:cNvSpPr txBox="true"/>
          <p:nvPr/>
        </p:nvSpPr>
        <p:spPr>
          <a:xfrm rot="0">
            <a:off x="7204613" y="3645908"/>
            <a:ext cx="2267171" cy="307696"/>
          </a:xfrm>
          <a:prstGeom prst="rect">
            <a:avLst/>
          </a:prstGeom>
        </p:spPr>
        <p:txBody>
          <a:bodyPr anchor="t" rtlCol="false" tIns="0" lIns="0" bIns="0" rIns="0">
            <a:spAutoFit/>
          </a:bodyPr>
          <a:lstStyle/>
          <a:p>
            <a:pPr algn="l">
              <a:lnSpc>
                <a:spcPts val="2351"/>
              </a:lnSpc>
            </a:pPr>
            <a:r>
              <a:rPr lang="en-US" sz="2351">
                <a:solidFill>
                  <a:srgbClr val="EF3A5D"/>
                </a:solidFill>
                <a:latin typeface="Rubik One"/>
                <a:ea typeface="Rubik One"/>
                <a:cs typeface="Rubik One"/>
                <a:sym typeface="Rubik One"/>
              </a:rPr>
              <a:t>Bahaya</a:t>
            </a:r>
          </a:p>
        </p:txBody>
      </p:sp>
      <p:grpSp>
        <p:nvGrpSpPr>
          <p:cNvPr name="Group 33" id="33"/>
          <p:cNvGrpSpPr/>
          <p:nvPr/>
        </p:nvGrpSpPr>
        <p:grpSpPr>
          <a:xfrm rot="0">
            <a:off x="12180364" y="3329630"/>
            <a:ext cx="1856914" cy="623974"/>
            <a:chOff x="0" y="0"/>
            <a:chExt cx="1757851" cy="590686"/>
          </a:xfrm>
        </p:grpSpPr>
        <p:sp>
          <p:nvSpPr>
            <p:cNvPr name="Freeform 34" id="34"/>
            <p:cNvSpPr/>
            <p:nvPr/>
          </p:nvSpPr>
          <p:spPr>
            <a:xfrm flipH="false" flipV="false" rot="0">
              <a:off x="17916" y="0"/>
              <a:ext cx="1722018" cy="590686"/>
            </a:xfrm>
            <a:custGeom>
              <a:avLst/>
              <a:gdLst/>
              <a:ahLst/>
              <a:cxnLst/>
              <a:rect r="r" b="b" t="t" l="l"/>
              <a:pathLst>
                <a:path h="590686" w="1722018">
                  <a:moveTo>
                    <a:pt x="247823" y="0"/>
                  </a:moveTo>
                  <a:lnTo>
                    <a:pt x="1677396" y="0"/>
                  </a:lnTo>
                  <a:cubicBezTo>
                    <a:pt x="1691815" y="0"/>
                    <a:pt x="1705345" y="6967"/>
                    <a:pt x="1713720" y="18705"/>
                  </a:cubicBezTo>
                  <a:cubicBezTo>
                    <a:pt x="1722095" y="30442"/>
                    <a:pt x="1724282" y="45503"/>
                    <a:pt x="1719591" y="59137"/>
                  </a:cubicBezTo>
                  <a:lnTo>
                    <a:pt x="1557078" y="531549"/>
                  </a:lnTo>
                  <a:cubicBezTo>
                    <a:pt x="1544906" y="566932"/>
                    <a:pt x="1511614" y="590686"/>
                    <a:pt x="1474196" y="590686"/>
                  </a:cubicBezTo>
                  <a:lnTo>
                    <a:pt x="44623" y="590686"/>
                  </a:lnTo>
                  <a:cubicBezTo>
                    <a:pt x="30204" y="590686"/>
                    <a:pt x="16674" y="583719"/>
                    <a:pt x="8299" y="571982"/>
                  </a:cubicBezTo>
                  <a:cubicBezTo>
                    <a:pt x="-76" y="560244"/>
                    <a:pt x="-2263" y="545184"/>
                    <a:pt x="2428" y="531549"/>
                  </a:cubicBezTo>
                  <a:lnTo>
                    <a:pt x="164940" y="59137"/>
                  </a:lnTo>
                  <a:cubicBezTo>
                    <a:pt x="177112" y="23754"/>
                    <a:pt x="210404" y="0"/>
                    <a:pt x="247823" y="0"/>
                  </a:cubicBezTo>
                  <a:close/>
                </a:path>
              </a:pathLst>
            </a:custGeom>
            <a:solidFill>
              <a:srgbClr val="EDF6F9"/>
            </a:solidFill>
          </p:spPr>
        </p:sp>
        <p:sp>
          <p:nvSpPr>
            <p:cNvPr name="TextBox 35" id="35"/>
            <p:cNvSpPr txBox="true"/>
            <p:nvPr/>
          </p:nvSpPr>
          <p:spPr>
            <a:xfrm>
              <a:off x="101600" y="-38100"/>
              <a:ext cx="1554651" cy="628786"/>
            </a:xfrm>
            <a:prstGeom prst="rect">
              <a:avLst/>
            </a:prstGeom>
          </p:spPr>
          <p:txBody>
            <a:bodyPr anchor="ctr" rtlCol="false" tIns="47774" lIns="47774" bIns="47774" rIns="47774"/>
            <a:lstStyle/>
            <a:p>
              <a:pPr algn="ctr">
                <a:lnSpc>
                  <a:spcPts val="2659"/>
                </a:lnSpc>
              </a:pPr>
            </a:p>
          </p:txBody>
        </p:sp>
      </p:grpSp>
      <p:sp>
        <p:nvSpPr>
          <p:cNvPr name="TextBox 36" id="36"/>
          <p:cNvSpPr txBox="true"/>
          <p:nvPr/>
        </p:nvSpPr>
        <p:spPr>
          <a:xfrm rot="0">
            <a:off x="12618999" y="3645908"/>
            <a:ext cx="2267171" cy="307696"/>
          </a:xfrm>
          <a:prstGeom prst="rect">
            <a:avLst/>
          </a:prstGeom>
        </p:spPr>
        <p:txBody>
          <a:bodyPr anchor="t" rtlCol="false" tIns="0" lIns="0" bIns="0" rIns="0">
            <a:spAutoFit/>
          </a:bodyPr>
          <a:lstStyle/>
          <a:p>
            <a:pPr algn="l">
              <a:lnSpc>
                <a:spcPts val="2351"/>
              </a:lnSpc>
            </a:pPr>
            <a:r>
              <a:rPr lang="en-US" sz="2351">
                <a:solidFill>
                  <a:srgbClr val="00B58F"/>
                </a:solidFill>
                <a:latin typeface="Rubik One"/>
                <a:ea typeface="Rubik One"/>
                <a:cs typeface="Rubik One"/>
                <a:sym typeface="Rubik One"/>
              </a:rPr>
              <a:t>Solusi</a:t>
            </a:r>
          </a:p>
        </p:txBody>
      </p:sp>
      <p:sp>
        <p:nvSpPr>
          <p:cNvPr name="TextBox 37" id="37"/>
          <p:cNvSpPr txBox="true"/>
          <p:nvPr/>
        </p:nvSpPr>
        <p:spPr>
          <a:xfrm rot="0">
            <a:off x="1575625" y="3980604"/>
            <a:ext cx="2947968" cy="630889"/>
          </a:xfrm>
          <a:prstGeom prst="rect">
            <a:avLst/>
          </a:prstGeom>
        </p:spPr>
        <p:txBody>
          <a:bodyPr anchor="t" rtlCol="false" tIns="0" lIns="0" bIns="0" rIns="0">
            <a:spAutoFit/>
          </a:bodyPr>
          <a:lstStyle/>
          <a:p>
            <a:pPr algn="just">
              <a:lnSpc>
                <a:spcPts val="2501"/>
              </a:lnSpc>
              <a:spcBef>
                <a:spcPct val="0"/>
              </a:spcBef>
            </a:pPr>
            <a:r>
              <a:rPr lang="en-US" sz="1786">
                <a:solidFill>
                  <a:srgbClr val="FFFFFF"/>
                </a:solidFill>
                <a:latin typeface="Bricolage Grotesque"/>
                <a:ea typeface="Bricolage Grotesque"/>
                <a:cs typeface="Bricolage Grotesque"/>
                <a:sym typeface="Bricolage Grotesque"/>
              </a:rPr>
              <a:t>19 dari 21 Fitur 100% Bersih</a:t>
            </a:r>
          </a:p>
          <a:p>
            <a:pPr algn="just">
              <a:lnSpc>
                <a:spcPts val="2501"/>
              </a:lnSpc>
              <a:spcBef>
                <a:spcPct val="0"/>
              </a:spcBef>
            </a:pPr>
            <a:r>
              <a:rPr lang="en-US" sz="1786">
                <a:solidFill>
                  <a:srgbClr val="FFFFFF"/>
                </a:solidFill>
                <a:latin typeface="Bricolage Grotesque"/>
                <a:ea typeface="Bricolage Grotesque"/>
                <a:cs typeface="Bricolage Grotesque"/>
                <a:sym typeface="Bricolage Grotesque"/>
              </a:rPr>
              <a:t>Suhu 4.19% | Hujan 2.28%</a:t>
            </a:r>
          </a:p>
        </p:txBody>
      </p:sp>
      <p:sp>
        <p:nvSpPr>
          <p:cNvPr name="TextBox 38" id="38"/>
          <p:cNvSpPr txBox="true"/>
          <p:nvPr/>
        </p:nvSpPr>
        <p:spPr>
          <a:xfrm rot="0">
            <a:off x="7393385" y="3980604"/>
            <a:ext cx="2947968" cy="630889"/>
          </a:xfrm>
          <a:prstGeom prst="rect">
            <a:avLst/>
          </a:prstGeom>
        </p:spPr>
        <p:txBody>
          <a:bodyPr anchor="t" rtlCol="false" tIns="0" lIns="0" bIns="0" rIns="0">
            <a:spAutoFit/>
          </a:bodyPr>
          <a:lstStyle/>
          <a:p>
            <a:pPr algn="ctr">
              <a:lnSpc>
                <a:spcPts val="2501"/>
              </a:lnSpc>
              <a:spcBef>
                <a:spcPct val="0"/>
              </a:spcBef>
            </a:pPr>
            <a:r>
              <a:rPr lang="en-US" sz="1786">
                <a:solidFill>
                  <a:srgbClr val="FFFFFF"/>
                </a:solidFill>
                <a:latin typeface="Bricolage Grotesque"/>
                <a:ea typeface="Bricolage Grotesque"/>
                <a:cs typeface="Bricolage Grotesque"/>
                <a:sym typeface="Bricolage Grotesque"/>
              </a:rPr>
              <a:t>Global</a:t>
            </a:r>
            <a:r>
              <a:rPr lang="en-US" sz="1786">
                <a:solidFill>
                  <a:srgbClr val="FFFFFF"/>
                </a:solidFill>
                <a:latin typeface="Bricolage Grotesque"/>
                <a:ea typeface="Bricolage Grotesque"/>
                <a:cs typeface="Bricolage Grotesque"/>
                <a:sym typeface="Bricolage Grotesque"/>
              </a:rPr>
              <a:t> mean merusak variasi suhu harian</a:t>
            </a:r>
          </a:p>
        </p:txBody>
      </p:sp>
      <p:sp>
        <p:nvSpPr>
          <p:cNvPr name="TextBox 39" id="39"/>
          <p:cNvSpPr txBox="true"/>
          <p:nvPr/>
        </p:nvSpPr>
        <p:spPr>
          <a:xfrm rot="0">
            <a:off x="12532178" y="3980604"/>
            <a:ext cx="3454719" cy="630889"/>
          </a:xfrm>
          <a:prstGeom prst="rect">
            <a:avLst/>
          </a:prstGeom>
        </p:spPr>
        <p:txBody>
          <a:bodyPr anchor="t" rtlCol="false" tIns="0" lIns="0" bIns="0" rIns="0">
            <a:spAutoFit/>
          </a:bodyPr>
          <a:lstStyle/>
          <a:p>
            <a:pPr algn="just">
              <a:lnSpc>
                <a:spcPts val="2501"/>
              </a:lnSpc>
              <a:spcBef>
                <a:spcPct val="0"/>
              </a:spcBef>
            </a:pPr>
            <a:r>
              <a:rPr lang="en-US" sz="1786">
                <a:solidFill>
                  <a:srgbClr val="FFFFFF"/>
                </a:solidFill>
                <a:latin typeface="Bricolage Grotesque"/>
                <a:ea typeface="Bricolage Grotesque"/>
                <a:cs typeface="Bricolage Grotesque"/>
                <a:sym typeface="Bricolage Grotesque"/>
              </a:rPr>
              <a:t>Hier</a:t>
            </a:r>
            <a:r>
              <a:rPr lang="en-US" sz="1786">
                <a:solidFill>
                  <a:srgbClr val="FFFFFF"/>
                </a:solidFill>
                <a:latin typeface="Bricolage Grotesque"/>
                <a:ea typeface="Bricolage Grotesque"/>
                <a:cs typeface="Bricolage Grotesque"/>
                <a:sym typeface="Bricolage Grotesque"/>
              </a:rPr>
              <a:t>archical Median [‘city’, ‘month’, ‘hour’] &amp; fallback 0.0 mm</a:t>
            </a:r>
          </a:p>
        </p:txBody>
      </p:sp>
      <p:grpSp>
        <p:nvGrpSpPr>
          <p:cNvPr name="Group 40" id="40"/>
          <p:cNvGrpSpPr/>
          <p:nvPr/>
        </p:nvGrpSpPr>
        <p:grpSpPr>
          <a:xfrm rot="0">
            <a:off x="1028700" y="2762641"/>
            <a:ext cx="5013345" cy="694562"/>
            <a:chOff x="0" y="0"/>
            <a:chExt cx="6684460" cy="926083"/>
          </a:xfrm>
        </p:grpSpPr>
        <p:grpSp>
          <p:nvGrpSpPr>
            <p:cNvPr name="Group 41" id="41"/>
            <p:cNvGrpSpPr/>
            <p:nvPr/>
          </p:nvGrpSpPr>
          <p:grpSpPr>
            <a:xfrm rot="0">
              <a:off x="0" y="0"/>
              <a:ext cx="6684460" cy="926083"/>
              <a:chOff x="0" y="0"/>
              <a:chExt cx="1376939" cy="190765"/>
            </a:xfrm>
          </p:grpSpPr>
          <p:sp>
            <p:nvSpPr>
              <p:cNvPr name="Freeform 42" id="42"/>
              <p:cNvSpPr/>
              <p:nvPr/>
            </p:nvSpPr>
            <p:spPr>
              <a:xfrm flipH="false" flipV="false" rot="0">
                <a:off x="0" y="0"/>
                <a:ext cx="1376939" cy="190765"/>
              </a:xfrm>
              <a:custGeom>
                <a:avLst/>
                <a:gdLst/>
                <a:ahLst/>
                <a:cxnLst/>
                <a:rect r="r" b="b" t="t" l="l"/>
                <a:pathLst>
                  <a:path h="190765" w="1376939">
                    <a:moveTo>
                      <a:pt x="15443" y="0"/>
                    </a:moveTo>
                    <a:lnTo>
                      <a:pt x="1361497" y="0"/>
                    </a:lnTo>
                    <a:cubicBezTo>
                      <a:pt x="1365592" y="0"/>
                      <a:pt x="1369520" y="1627"/>
                      <a:pt x="1372416" y="4523"/>
                    </a:cubicBezTo>
                    <a:cubicBezTo>
                      <a:pt x="1375312" y="7419"/>
                      <a:pt x="1376939" y="11347"/>
                      <a:pt x="1376939" y="15443"/>
                    </a:cubicBezTo>
                    <a:lnTo>
                      <a:pt x="1376939" y="175322"/>
                    </a:lnTo>
                    <a:cubicBezTo>
                      <a:pt x="1376939" y="183851"/>
                      <a:pt x="1370025" y="190765"/>
                      <a:pt x="1361497" y="190765"/>
                    </a:cubicBezTo>
                    <a:lnTo>
                      <a:pt x="15443" y="190765"/>
                    </a:lnTo>
                    <a:cubicBezTo>
                      <a:pt x="6914" y="190765"/>
                      <a:pt x="0" y="183851"/>
                      <a:pt x="0" y="175322"/>
                    </a:cubicBezTo>
                    <a:lnTo>
                      <a:pt x="0" y="15443"/>
                    </a:lnTo>
                    <a:cubicBezTo>
                      <a:pt x="0" y="6914"/>
                      <a:pt x="6914" y="0"/>
                      <a:pt x="15443" y="0"/>
                    </a:cubicBezTo>
                    <a:close/>
                  </a:path>
                </a:pathLst>
              </a:custGeom>
              <a:solidFill>
                <a:srgbClr val="EDF6F9"/>
              </a:solidFill>
              <a:ln cap="sq">
                <a:noFill/>
                <a:prstDash val="solid"/>
                <a:miter/>
              </a:ln>
            </p:spPr>
          </p:sp>
          <p:sp>
            <p:nvSpPr>
              <p:cNvPr name="TextBox 43" id="43"/>
              <p:cNvSpPr txBox="true"/>
              <p:nvPr/>
            </p:nvSpPr>
            <p:spPr>
              <a:xfrm>
                <a:off x="0" y="-38100"/>
                <a:ext cx="1376939" cy="228865"/>
              </a:xfrm>
              <a:prstGeom prst="rect">
                <a:avLst/>
              </a:prstGeom>
            </p:spPr>
            <p:txBody>
              <a:bodyPr anchor="ctr" rtlCol="false" tIns="47774" lIns="47774" bIns="47774" rIns="47774"/>
              <a:lstStyle/>
              <a:p>
                <a:pPr algn="ctr">
                  <a:lnSpc>
                    <a:spcPts val="2659"/>
                  </a:lnSpc>
                  <a:spcBef>
                    <a:spcPct val="0"/>
                  </a:spcBef>
                </a:pPr>
              </a:p>
            </p:txBody>
          </p:sp>
        </p:grpSp>
        <p:grpSp>
          <p:nvGrpSpPr>
            <p:cNvPr name="Group 44" id="44"/>
            <p:cNvGrpSpPr/>
            <p:nvPr/>
          </p:nvGrpSpPr>
          <p:grpSpPr>
            <a:xfrm rot="-10800000">
              <a:off x="224145" y="174257"/>
              <a:ext cx="669025" cy="585397"/>
              <a:chOff x="0" y="0"/>
              <a:chExt cx="812800" cy="711200"/>
            </a:xfrm>
          </p:grpSpPr>
          <p:sp>
            <p:nvSpPr>
              <p:cNvPr name="Freeform 45" id="45"/>
              <p:cNvSpPr/>
              <p:nvPr/>
            </p:nvSpPr>
            <p:spPr>
              <a:xfrm flipH="false" flipV="false" rot="0">
                <a:off x="64753" y="89539"/>
                <a:ext cx="683294" cy="621661"/>
              </a:xfrm>
              <a:custGeom>
                <a:avLst/>
                <a:gdLst/>
                <a:ahLst/>
                <a:cxnLst/>
                <a:rect r="r" b="b" t="t" l="l"/>
                <a:pathLst>
                  <a:path h="621661" w="683294">
                    <a:moveTo>
                      <a:pt x="418198" y="44424"/>
                    </a:moveTo>
                    <a:lnTo>
                      <a:pt x="671496" y="487698"/>
                    </a:lnTo>
                    <a:cubicBezTo>
                      <a:pt x="687332" y="515410"/>
                      <a:pt x="687219" y="549457"/>
                      <a:pt x="671198" y="577064"/>
                    </a:cubicBezTo>
                    <a:cubicBezTo>
                      <a:pt x="655177" y="604670"/>
                      <a:pt x="625673" y="621661"/>
                      <a:pt x="593754" y="621661"/>
                    </a:cubicBezTo>
                    <a:lnTo>
                      <a:pt x="89540" y="621661"/>
                    </a:lnTo>
                    <a:cubicBezTo>
                      <a:pt x="57621" y="621661"/>
                      <a:pt x="28117" y="604670"/>
                      <a:pt x="12096" y="577064"/>
                    </a:cubicBezTo>
                    <a:cubicBezTo>
                      <a:pt x="-3925" y="549457"/>
                      <a:pt x="-4038" y="515410"/>
                      <a:pt x="11798" y="487698"/>
                    </a:cubicBezTo>
                    <a:lnTo>
                      <a:pt x="265096" y="44424"/>
                    </a:lnTo>
                    <a:cubicBezTo>
                      <a:pt x="280794" y="16954"/>
                      <a:pt x="310008" y="0"/>
                      <a:pt x="341647" y="0"/>
                    </a:cubicBezTo>
                    <a:cubicBezTo>
                      <a:pt x="373286" y="0"/>
                      <a:pt x="402500" y="16954"/>
                      <a:pt x="418198" y="44424"/>
                    </a:cubicBezTo>
                    <a:close/>
                  </a:path>
                </a:pathLst>
              </a:custGeom>
              <a:solidFill>
                <a:srgbClr val="0B1E36"/>
              </a:solidFill>
              <a:ln cap="sq">
                <a:noFill/>
                <a:prstDash val="solid"/>
                <a:miter/>
              </a:ln>
            </p:spPr>
          </p:sp>
          <p:sp>
            <p:nvSpPr>
              <p:cNvPr name="TextBox 46" id="46"/>
              <p:cNvSpPr txBox="true"/>
              <p:nvPr/>
            </p:nvSpPr>
            <p:spPr>
              <a:xfrm>
                <a:off x="127000" y="292100"/>
                <a:ext cx="558800" cy="368300"/>
              </a:xfrm>
              <a:prstGeom prst="rect">
                <a:avLst/>
              </a:prstGeom>
            </p:spPr>
            <p:txBody>
              <a:bodyPr anchor="ctr" rtlCol="false" tIns="47774" lIns="47774" bIns="47774" rIns="47774"/>
              <a:lstStyle/>
              <a:p>
                <a:pPr algn="ctr">
                  <a:lnSpc>
                    <a:spcPts val="2659"/>
                  </a:lnSpc>
                </a:pPr>
              </a:p>
            </p:txBody>
          </p:sp>
        </p:grpSp>
        <p:sp>
          <p:nvSpPr>
            <p:cNvPr name="TextBox 47" id="47"/>
            <p:cNvSpPr txBox="true"/>
            <p:nvPr/>
          </p:nvSpPr>
          <p:spPr>
            <a:xfrm rot="0">
              <a:off x="893170" y="126632"/>
              <a:ext cx="5560921" cy="535913"/>
            </a:xfrm>
            <a:prstGeom prst="rect">
              <a:avLst/>
            </a:prstGeom>
          </p:spPr>
          <p:txBody>
            <a:bodyPr anchor="t" rtlCol="false" tIns="0" lIns="0" bIns="0" rIns="0">
              <a:spAutoFit/>
            </a:bodyPr>
            <a:lstStyle/>
            <a:p>
              <a:pPr algn="just">
                <a:lnSpc>
                  <a:spcPts val="3439"/>
                </a:lnSpc>
              </a:pPr>
              <a:r>
                <a:rPr lang="en-US" sz="2457" spc="61">
                  <a:solidFill>
                    <a:srgbClr val="0B132B"/>
                  </a:solidFill>
                  <a:latin typeface="Rubik One"/>
                  <a:ea typeface="Rubik One"/>
                  <a:cs typeface="Rubik One"/>
                  <a:sym typeface="Rubik One"/>
                </a:rPr>
                <a:t>Lokalisasi </a:t>
              </a:r>
              <a:r>
                <a:rPr lang="en-US" sz="2457" spc="61">
                  <a:solidFill>
                    <a:srgbClr val="00B58F"/>
                  </a:solidFill>
                  <a:latin typeface="Rubik One"/>
                  <a:ea typeface="Rubik One"/>
                  <a:cs typeface="Rubik One"/>
                  <a:sym typeface="Rubik One"/>
                </a:rPr>
                <a:t>Nilai Hilang</a:t>
              </a:r>
            </a:p>
          </p:txBody>
        </p:sp>
      </p:grpSp>
      <p:grpSp>
        <p:nvGrpSpPr>
          <p:cNvPr name="Group 48" id="48"/>
          <p:cNvGrpSpPr/>
          <p:nvPr/>
        </p:nvGrpSpPr>
        <p:grpSpPr>
          <a:xfrm rot="0">
            <a:off x="1235429" y="5933861"/>
            <a:ext cx="3628361" cy="1244837"/>
            <a:chOff x="0" y="0"/>
            <a:chExt cx="1016141" cy="348623"/>
          </a:xfrm>
        </p:grpSpPr>
        <p:sp>
          <p:nvSpPr>
            <p:cNvPr name="Freeform 49" id="49"/>
            <p:cNvSpPr/>
            <p:nvPr/>
          </p:nvSpPr>
          <p:spPr>
            <a:xfrm flipH="false" flipV="false" rot="0">
              <a:off x="0" y="0"/>
              <a:ext cx="1016141" cy="348623"/>
            </a:xfrm>
            <a:custGeom>
              <a:avLst/>
              <a:gdLst/>
              <a:ahLst/>
              <a:cxnLst/>
              <a:rect r="r" b="b" t="t" l="l"/>
              <a:pathLst>
                <a:path h="348623" w="1016141">
                  <a:moveTo>
                    <a:pt x="174311" y="0"/>
                  </a:moveTo>
                  <a:lnTo>
                    <a:pt x="841829" y="0"/>
                  </a:lnTo>
                  <a:cubicBezTo>
                    <a:pt x="888059" y="0"/>
                    <a:pt x="932396" y="18365"/>
                    <a:pt x="965086" y="51055"/>
                  </a:cubicBezTo>
                  <a:cubicBezTo>
                    <a:pt x="997776" y="83744"/>
                    <a:pt x="1016141" y="128081"/>
                    <a:pt x="1016141" y="174311"/>
                  </a:cubicBezTo>
                  <a:lnTo>
                    <a:pt x="1016141" y="174311"/>
                  </a:lnTo>
                  <a:cubicBezTo>
                    <a:pt x="1016141" y="220542"/>
                    <a:pt x="997776" y="264878"/>
                    <a:pt x="965086" y="297568"/>
                  </a:cubicBezTo>
                  <a:cubicBezTo>
                    <a:pt x="932396" y="330258"/>
                    <a:pt x="888059" y="348623"/>
                    <a:pt x="841829" y="348623"/>
                  </a:cubicBezTo>
                  <a:lnTo>
                    <a:pt x="174311" y="348623"/>
                  </a:lnTo>
                  <a:cubicBezTo>
                    <a:pt x="128081" y="348623"/>
                    <a:pt x="83744" y="330258"/>
                    <a:pt x="51055" y="297568"/>
                  </a:cubicBezTo>
                  <a:cubicBezTo>
                    <a:pt x="18365" y="264878"/>
                    <a:pt x="0" y="220542"/>
                    <a:pt x="0" y="174311"/>
                  </a:cubicBezTo>
                  <a:lnTo>
                    <a:pt x="0" y="174311"/>
                  </a:lnTo>
                  <a:cubicBezTo>
                    <a:pt x="0" y="128081"/>
                    <a:pt x="18365" y="83744"/>
                    <a:pt x="51055" y="51055"/>
                  </a:cubicBezTo>
                  <a:cubicBezTo>
                    <a:pt x="83744" y="18365"/>
                    <a:pt x="128081" y="0"/>
                    <a:pt x="174311" y="0"/>
                  </a:cubicBezTo>
                  <a:close/>
                </a:path>
              </a:pathLst>
            </a:custGeom>
            <a:solidFill>
              <a:srgbClr val="0B1E36"/>
            </a:solidFill>
          </p:spPr>
        </p:sp>
        <p:sp>
          <p:nvSpPr>
            <p:cNvPr name="TextBox 50" id="50"/>
            <p:cNvSpPr txBox="true"/>
            <p:nvPr/>
          </p:nvSpPr>
          <p:spPr>
            <a:xfrm>
              <a:off x="0" y="-38100"/>
              <a:ext cx="1016141" cy="386723"/>
            </a:xfrm>
            <a:prstGeom prst="rect">
              <a:avLst/>
            </a:prstGeom>
          </p:spPr>
          <p:txBody>
            <a:bodyPr anchor="ctr" rtlCol="false" tIns="47774" lIns="47774" bIns="47774" rIns="47774"/>
            <a:lstStyle/>
            <a:p>
              <a:pPr algn="ctr">
                <a:lnSpc>
                  <a:spcPts val="2659"/>
                </a:lnSpc>
              </a:pPr>
            </a:p>
          </p:txBody>
        </p:sp>
      </p:grpSp>
      <p:grpSp>
        <p:nvGrpSpPr>
          <p:cNvPr name="Group 51" id="51"/>
          <p:cNvGrpSpPr/>
          <p:nvPr/>
        </p:nvGrpSpPr>
        <p:grpSpPr>
          <a:xfrm rot="0">
            <a:off x="6672709" y="5933861"/>
            <a:ext cx="4159917" cy="1244837"/>
            <a:chOff x="0" y="0"/>
            <a:chExt cx="1164990" cy="348558"/>
          </a:xfrm>
        </p:grpSpPr>
        <p:sp>
          <p:nvSpPr>
            <p:cNvPr name="Freeform 52" id="52"/>
            <p:cNvSpPr/>
            <p:nvPr/>
          </p:nvSpPr>
          <p:spPr>
            <a:xfrm flipH="false" flipV="false" rot="0">
              <a:off x="15842" y="0"/>
              <a:ext cx="1133305" cy="347930"/>
            </a:xfrm>
            <a:custGeom>
              <a:avLst/>
              <a:gdLst/>
              <a:ahLst/>
              <a:cxnLst/>
              <a:rect r="r" b="b" t="t" l="l"/>
              <a:pathLst>
                <a:path h="347930" w="1133305">
                  <a:moveTo>
                    <a:pt x="881867" y="14315"/>
                  </a:moveTo>
                  <a:lnTo>
                    <a:pt x="1125182" y="159650"/>
                  </a:lnTo>
                  <a:cubicBezTo>
                    <a:pt x="1130220" y="162659"/>
                    <a:pt x="1133306" y="168096"/>
                    <a:pt x="1133306" y="173965"/>
                  </a:cubicBezTo>
                  <a:cubicBezTo>
                    <a:pt x="1133306" y="179834"/>
                    <a:pt x="1130220" y="185271"/>
                    <a:pt x="1125182" y="188280"/>
                  </a:cubicBezTo>
                  <a:lnTo>
                    <a:pt x="881867" y="333614"/>
                  </a:lnTo>
                  <a:cubicBezTo>
                    <a:pt x="866182" y="342983"/>
                    <a:pt x="848254" y="347930"/>
                    <a:pt x="829984" y="347930"/>
                  </a:cubicBezTo>
                  <a:lnTo>
                    <a:pt x="303322" y="347930"/>
                  </a:lnTo>
                  <a:cubicBezTo>
                    <a:pt x="285052" y="347930"/>
                    <a:pt x="267124" y="342983"/>
                    <a:pt x="251439" y="333614"/>
                  </a:cubicBezTo>
                  <a:lnTo>
                    <a:pt x="8124" y="188280"/>
                  </a:lnTo>
                  <a:cubicBezTo>
                    <a:pt x="3086" y="185271"/>
                    <a:pt x="0" y="179834"/>
                    <a:pt x="0" y="173965"/>
                  </a:cubicBezTo>
                  <a:cubicBezTo>
                    <a:pt x="0" y="168096"/>
                    <a:pt x="3086" y="162659"/>
                    <a:pt x="8124" y="159650"/>
                  </a:cubicBezTo>
                  <a:lnTo>
                    <a:pt x="251439" y="14315"/>
                  </a:lnTo>
                  <a:cubicBezTo>
                    <a:pt x="267124" y="4947"/>
                    <a:pt x="285052" y="0"/>
                    <a:pt x="303322" y="0"/>
                  </a:cubicBezTo>
                  <a:lnTo>
                    <a:pt x="829984" y="0"/>
                  </a:lnTo>
                  <a:cubicBezTo>
                    <a:pt x="848254" y="0"/>
                    <a:pt x="866182" y="4947"/>
                    <a:pt x="881867" y="14315"/>
                  </a:cubicBezTo>
                  <a:close/>
                </a:path>
              </a:pathLst>
            </a:custGeom>
            <a:solidFill>
              <a:srgbClr val="EF3A5D"/>
            </a:solidFill>
          </p:spPr>
        </p:sp>
        <p:sp>
          <p:nvSpPr>
            <p:cNvPr name="TextBox 53" id="53"/>
            <p:cNvSpPr txBox="true"/>
            <p:nvPr/>
          </p:nvSpPr>
          <p:spPr>
            <a:xfrm>
              <a:off x="213185" y="8527"/>
              <a:ext cx="738620" cy="292877"/>
            </a:xfrm>
            <a:prstGeom prst="rect">
              <a:avLst/>
            </a:prstGeom>
          </p:spPr>
          <p:txBody>
            <a:bodyPr anchor="ctr" rtlCol="false" tIns="47774" lIns="47774" bIns="47774" rIns="47774"/>
            <a:lstStyle/>
            <a:p>
              <a:pPr algn="ctr">
                <a:lnSpc>
                  <a:spcPts val="2659"/>
                </a:lnSpc>
              </a:pPr>
            </a:p>
          </p:txBody>
        </p:sp>
      </p:grpSp>
      <p:grpSp>
        <p:nvGrpSpPr>
          <p:cNvPr name="Group 54" id="54"/>
          <p:cNvGrpSpPr/>
          <p:nvPr/>
        </p:nvGrpSpPr>
        <p:grpSpPr>
          <a:xfrm rot="0">
            <a:off x="12445357" y="5851188"/>
            <a:ext cx="3628361" cy="1327510"/>
            <a:chOff x="0" y="0"/>
            <a:chExt cx="1016141" cy="371776"/>
          </a:xfrm>
        </p:grpSpPr>
        <p:sp>
          <p:nvSpPr>
            <p:cNvPr name="Freeform 55" id="55"/>
            <p:cNvSpPr/>
            <p:nvPr/>
          </p:nvSpPr>
          <p:spPr>
            <a:xfrm flipH="false" flipV="false" rot="0">
              <a:off x="0" y="0"/>
              <a:ext cx="1016141" cy="371776"/>
            </a:xfrm>
            <a:custGeom>
              <a:avLst/>
              <a:gdLst/>
              <a:ahLst/>
              <a:cxnLst/>
              <a:rect r="r" b="b" t="t" l="l"/>
              <a:pathLst>
                <a:path h="371776" w="1016141">
                  <a:moveTo>
                    <a:pt x="14936" y="0"/>
                  </a:moveTo>
                  <a:lnTo>
                    <a:pt x="1001204" y="0"/>
                  </a:lnTo>
                  <a:cubicBezTo>
                    <a:pt x="1009454" y="0"/>
                    <a:pt x="1016141" y="6687"/>
                    <a:pt x="1016141" y="14936"/>
                  </a:cubicBezTo>
                  <a:lnTo>
                    <a:pt x="1016141" y="356840"/>
                  </a:lnTo>
                  <a:cubicBezTo>
                    <a:pt x="1016141" y="365089"/>
                    <a:pt x="1009454" y="371776"/>
                    <a:pt x="1001204" y="371776"/>
                  </a:cubicBezTo>
                  <a:lnTo>
                    <a:pt x="14936" y="371776"/>
                  </a:lnTo>
                  <a:cubicBezTo>
                    <a:pt x="6687" y="371776"/>
                    <a:pt x="0" y="365089"/>
                    <a:pt x="0" y="356840"/>
                  </a:cubicBezTo>
                  <a:lnTo>
                    <a:pt x="0" y="14936"/>
                  </a:lnTo>
                  <a:cubicBezTo>
                    <a:pt x="0" y="6687"/>
                    <a:pt x="6687" y="0"/>
                    <a:pt x="14936" y="0"/>
                  </a:cubicBezTo>
                  <a:close/>
                </a:path>
              </a:pathLst>
            </a:custGeom>
            <a:solidFill>
              <a:srgbClr val="00B58F"/>
            </a:solidFill>
          </p:spPr>
        </p:sp>
        <p:sp>
          <p:nvSpPr>
            <p:cNvPr name="TextBox 56" id="56"/>
            <p:cNvSpPr txBox="true"/>
            <p:nvPr/>
          </p:nvSpPr>
          <p:spPr>
            <a:xfrm>
              <a:off x="0" y="-38100"/>
              <a:ext cx="1016141" cy="409876"/>
            </a:xfrm>
            <a:prstGeom prst="rect">
              <a:avLst/>
            </a:prstGeom>
          </p:spPr>
          <p:txBody>
            <a:bodyPr anchor="ctr" rtlCol="false" tIns="47774" lIns="47774" bIns="47774" rIns="47774"/>
            <a:lstStyle/>
            <a:p>
              <a:pPr algn="ctr">
                <a:lnSpc>
                  <a:spcPts val="2659"/>
                </a:lnSpc>
              </a:pPr>
            </a:p>
          </p:txBody>
        </p:sp>
      </p:grpSp>
      <p:sp>
        <p:nvSpPr>
          <p:cNvPr name="Freeform 57" id="57"/>
          <p:cNvSpPr/>
          <p:nvPr/>
        </p:nvSpPr>
        <p:spPr>
          <a:xfrm flipH="false" flipV="false" rot="0">
            <a:off x="5022923" y="6347588"/>
            <a:ext cx="1490653" cy="417383"/>
          </a:xfrm>
          <a:custGeom>
            <a:avLst/>
            <a:gdLst/>
            <a:ahLst/>
            <a:cxnLst/>
            <a:rect r="r" b="b" t="t" l="l"/>
            <a:pathLst>
              <a:path h="417383" w="1490653">
                <a:moveTo>
                  <a:pt x="0" y="0"/>
                </a:moveTo>
                <a:lnTo>
                  <a:pt x="1490653" y="0"/>
                </a:lnTo>
                <a:lnTo>
                  <a:pt x="1490653" y="417383"/>
                </a:lnTo>
                <a:lnTo>
                  <a:pt x="0" y="417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8" id="58"/>
          <p:cNvSpPr/>
          <p:nvPr/>
        </p:nvSpPr>
        <p:spPr>
          <a:xfrm flipH="false" flipV="false" rot="0">
            <a:off x="10832627" y="6347588"/>
            <a:ext cx="1490653" cy="417383"/>
          </a:xfrm>
          <a:custGeom>
            <a:avLst/>
            <a:gdLst/>
            <a:ahLst/>
            <a:cxnLst/>
            <a:rect r="r" b="b" t="t" l="l"/>
            <a:pathLst>
              <a:path h="417383" w="1490653">
                <a:moveTo>
                  <a:pt x="0" y="0"/>
                </a:moveTo>
                <a:lnTo>
                  <a:pt x="1490653" y="0"/>
                </a:lnTo>
                <a:lnTo>
                  <a:pt x="1490653" y="417383"/>
                </a:lnTo>
                <a:lnTo>
                  <a:pt x="0" y="417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9" id="59"/>
          <p:cNvGrpSpPr/>
          <p:nvPr/>
        </p:nvGrpSpPr>
        <p:grpSpPr>
          <a:xfrm rot="0">
            <a:off x="1028700" y="5851188"/>
            <a:ext cx="1856914" cy="496400"/>
            <a:chOff x="0" y="0"/>
            <a:chExt cx="1757851" cy="469918"/>
          </a:xfrm>
        </p:grpSpPr>
        <p:sp>
          <p:nvSpPr>
            <p:cNvPr name="Freeform 60" id="60"/>
            <p:cNvSpPr/>
            <p:nvPr/>
          </p:nvSpPr>
          <p:spPr>
            <a:xfrm flipH="false" flipV="false" rot="0">
              <a:off x="21446" y="0"/>
              <a:ext cx="1714959" cy="469918"/>
            </a:xfrm>
            <a:custGeom>
              <a:avLst/>
              <a:gdLst/>
              <a:ahLst/>
              <a:cxnLst/>
              <a:rect r="r" b="b" t="t" l="l"/>
              <a:pathLst>
                <a:path h="469918" w="1714959">
                  <a:moveTo>
                    <a:pt x="244293" y="0"/>
                  </a:moveTo>
                  <a:lnTo>
                    <a:pt x="1673866" y="0"/>
                  </a:lnTo>
                  <a:cubicBezTo>
                    <a:pt x="1687703" y="0"/>
                    <a:pt x="1700610" y="6963"/>
                    <a:pt x="1708209" y="18527"/>
                  </a:cubicBezTo>
                  <a:cubicBezTo>
                    <a:pt x="1715807" y="30091"/>
                    <a:pt x="1717075" y="44702"/>
                    <a:pt x="1711583" y="57402"/>
                  </a:cubicBezTo>
                  <a:lnTo>
                    <a:pt x="1558026" y="412517"/>
                  </a:lnTo>
                  <a:cubicBezTo>
                    <a:pt x="1542959" y="447360"/>
                    <a:pt x="1508628" y="469918"/>
                    <a:pt x="1470666" y="469918"/>
                  </a:cubicBezTo>
                  <a:lnTo>
                    <a:pt x="41093" y="469918"/>
                  </a:lnTo>
                  <a:cubicBezTo>
                    <a:pt x="27256" y="469918"/>
                    <a:pt x="14349" y="462955"/>
                    <a:pt x="6750" y="451391"/>
                  </a:cubicBezTo>
                  <a:cubicBezTo>
                    <a:pt x="-848" y="439828"/>
                    <a:pt x="-2116" y="425217"/>
                    <a:pt x="3375" y="412517"/>
                  </a:cubicBezTo>
                  <a:lnTo>
                    <a:pt x="156933" y="57402"/>
                  </a:lnTo>
                  <a:cubicBezTo>
                    <a:pt x="171999" y="22558"/>
                    <a:pt x="206331" y="0"/>
                    <a:pt x="244293" y="0"/>
                  </a:cubicBezTo>
                  <a:close/>
                </a:path>
              </a:pathLst>
            </a:custGeom>
            <a:solidFill>
              <a:srgbClr val="EDF6F9"/>
            </a:solidFill>
          </p:spPr>
        </p:sp>
        <p:sp>
          <p:nvSpPr>
            <p:cNvPr name="TextBox 61" id="61"/>
            <p:cNvSpPr txBox="true"/>
            <p:nvPr/>
          </p:nvSpPr>
          <p:spPr>
            <a:xfrm>
              <a:off x="101600" y="-38100"/>
              <a:ext cx="1554651" cy="508018"/>
            </a:xfrm>
            <a:prstGeom prst="rect">
              <a:avLst/>
            </a:prstGeom>
          </p:spPr>
          <p:txBody>
            <a:bodyPr anchor="ctr" rtlCol="false" tIns="47774" lIns="47774" bIns="47774" rIns="47774"/>
            <a:lstStyle/>
            <a:p>
              <a:pPr algn="ctr">
                <a:lnSpc>
                  <a:spcPts val="2659"/>
                </a:lnSpc>
              </a:pPr>
            </a:p>
          </p:txBody>
        </p:sp>
      </p:grpSp>
      <p:sp>
        <p:nvSpPr>
          <p:cNvPr name="TextBox 62" id="62"/>
          <p:cNvSpPr txBox="true"/>
          <p:nvPr/>
        </p:nvSpPr>
        <p:spPr>
          <a:xfrm rot="0">
            <a:off x="1469314" y="6039892"/>
            <a:ext cx="2267171" cy="307696"/>
          </a:xfrm>
          <a:prstGeom prst="rect">
            <a:avLst/>
          </a:prstGeom>
        </p:spPr>
        <p:txBody>
          <a:bodyPr anchor="t" rtlCol="false" tIns="0" lIns="0" bIns="0" rIns="0">
            <a:spAutoFit/>
          </a:bodyPr>
          <a:lstStyle/>
          <a:p>
            <a:pPr algn="l">
              <a:lnSpc>
                <a:spcPts val="2351"/>
              </a:lnSpc>
            </a:pPr>
            <a:r>
              <a:rPr lang="en-US" sz="2351">
                <a:solidFill>
                  <a:srgbClr val="112752"/>
                </a:solidFill>
                <a:latin typeface="Rubik One"/>
                <a:ea typeface="Rubik One"/>
                <a:cs typeface="Rubik One"/>
                <a:sym typeface="Rubik One"/>
              </a:rPr>
              <a:t>Status</a:t>
            </a:r>
          </a:p>
        </p:txBody>
      </p:sp>
      <p:grpSp>
        <p:nvGrpSpPr>
          <p:cNvPr name="Group 63" id="63"/>
          <p:cNvGrpSpPr/>
          <p:nvPr/>
        </p:nvGrpSpPr>
        <p:grpSpPr>
          <a:xfrm rot="0">
            <a:off x="6912835" y="5851188"/>
            <a:ext cx="1856914" cy="496400"/>
            <a:chOff x="0" y="0"/>
            <a:chExt cx="1757851" cy="469918"/>
          </a:xfrm>
        </p:grpSpPr>
        <p:sp>
          <p:nvSpPr>
            <p:cNvPr name="Freeform 64" id="64"/>
            <p:cNvSpPr/>
            <p:nvPr/>
          </p:nvSpPr>
          <p:spPr>
            <a:xfrm flipH="false" flipV="false" rot="0">
              <a:off x="21446" y="0"/>
              <a:ext cx="1714959" cy="469918"/>
            </a:xfrm>
            <a:custGeom>
              <a:avLst/>
              <a:gdLst/>
              <a:ahLst/>
              <a:cxnLst/>
              <a:rect r="r" b="b" t="t" l="l"/>
              <a:pathLst>
                <a:path h="469918" w="1714959">
                  <a:moveTo>
                    <a:pt x="244293" y="0"/>
                  </a:moveTo>
                  <a:lnTo>
                    <a:pt x="1673866" y="0"/>
                  </a:lnTo>
                  <a:cubicBezTo>
                    <a:pt x="1687703" y="0"/>
                    <a:pt x="1700610" y="6963"/>
                    <a:pt x="1708209" y="18527"/>
                  </a:cubicBezTo>
                  <a:cubicBezTo>
                    <a:pt x="1715807" y="30091"/>
                    <a:pt x="1717075" y="44702"/>
                    <a:pt x="1711583" y="57402"/>
                  </a:cubicBezTo>
                  <a:lnTo>
                    <a:pt x="1558026" y="412517"/>
                  </a:lnTo>
                  <a:cubicBezTo>
                    <a:pt x="1542959" y="447360"/>
                    <a:pt x="1508628" y="469918"/>
                    <a:pt x="1470666" y="469918"/>
                  </a:cubicBezTo>
                  <a:lnTo>
                    <a:pt x="41093" y="469918"/>
                  </a:lnTo>
                  <a:cubicBezTo>
                    <a:pt x="27256" y="469918"/>
                    <a:pt x="14349" y="462955"/>
                    <a:pt x="6750" y="451391"/>
                  </a:cubicBezTo>
                  <a:cubicBezTo>
                    <a:pt x="-848" y="439828"/>
                    <a:pt x="-2116" y="425217"/>
                    <a:pt x="3375" y="412517"/>
                  </a:cubicBezTo>
                  <a:lnTo>
                    <a:pt x="156933" y="57402"/>
                  </a:lnTo>
                  <a:cubicBezTo>
                    <a:pt x="171999" y="22558"/>
                    <a:pt x="206331" y="0"/>
                    <a:pt x="244293" y="0"/>
                  </a:cubicBezTo>
                  <a:close/>
                </a:path>
              </a:pathLst>
            </a:custGeom>
            <a:solidFill>
              <a:srgbClr val="EDF6F9"/>
            </a:solidFill>
          </p:spPr>
        </p:sp>
        <p:sp>
          <p:nvSpPr>
            <p:cNvPr name="TextBox 65" id="65"/>
            <p:cNvSpPr txBox="true"/>
            <p:nvPr/>
          </p:nvSpPr>
          <p:spPr>
            <a:xfrm>
              <a:off x="101600" y="-38100"/>
              <a:ext cx="1554651" cy="508018"/>
            </a:xfrm>
            <a:prstGeom prst="rect">
              <a:avLst/>
            </a:prstGeom>
          </p:spPr>
          <p:txBody>
            <a:bodyPr anchor="ctr" rtlCol="false" tIns="47774" lIns="47774" bIns="47774" rIns="47774"/>
            <a:lstStyle/>
            <a:p>
              <a:pPr algn="ctr">
                <a:lnSpc>
                  <a:spcPts val="2659"/>
                </a:lnSpc>
              </a:pPr>
            </a:p>
          </p:txBody>
        </p:sp>
      </p:grpSp>
      <p:sp>
        <p:nvSpPr>
          <p:cNvPr name="TextBox 66" id="66"/>
          <p:cNvSpPr txBox="true"/>
          <p:nvPr/>
        </p:nvSpPr>
        <p:spPr>
          <a:xfrm rot="0">
            <a:off x="7204613" y="6039892"/>
            <a:ext cx="2267171" cy="307696"/>
          </a:xfrm>
          <a:prstGeom prst="rect">
            <a:avLst/>
          </a:prstGeom>
        </p:spPr>
        <p:txBody>
          <a:bodyPr anchor="t" rtlCol="false" tIns="0" lIns="0" bIns="0" rIns="0">
            <a:spAutoFit/>
          </a:bodyPr>
          <a:lstStyle/>
          <a:p>
            <a:pPr algn="l">
              <a:lnSpc>
                <a:spcPts val="2351"/>
              </a:lnSpc>
            </a:pPr>
            <a:r>
              <a:rPr lang="en-US" sz="2351">
                <a:solidFill>
                  <a:srgbClr val="EF3A5D"/>
                </a:solidFill>
                <a:latin typeface="Rubik One"/>
                <a:ea typeface="Rubik One"/>
                <a:cs typeface="Rubik One"/>
                <a:sym typeface="Rubik One"/>
              </a:rPr>
              <a:t>Bahaya</a:t>
            </a:r>
          </a:p>
        </p:txBody>
      </p:sp>
      <p:grpSp>
        <p:nvGrpSpPr>
          <p:cNvPr name="Group 67" id="67"/>
          <p:cNvGrpSpPr/>
          <p:nvPr/>
        </p:nvGrpSpPr>
        <p:grpSpPr>
          <a:xfrm rot="0">
            <a:off x="12180364" y="5723614"/>
            <a:ext cx="1856914" cy="623974"/>
            <a:chOff x="0" y="0"/>
            <a:chExt cx="1757851" cy="590686"/>
          </a:xfrm>
        </p:grpSpPr>
        <p:sp>
          <p:nvSpPr>
            <p:cNvPr name="Freeform 68" id="68"/>
            <p:cNvSpPr/>
            <p:nvPr/>
          </p:nvSpPr>
          <p:spPr>
            <a:xfrm flipH="false" flipV="false" rot="0">
              <a:off x="17916" y="0"/>
              <a:ext cx="1722018" cy="590686"/>
            </a:xfrm>
            <a:custGeom>
              <a:avLst/>
              <a:gdLst/>
              <a:ahLst/>
              <a:cxnLst/>
              <a:rect r="r" b="b" t="t" l="l"/>
              <a:pathLst>
                <a:path h="590686" w="1722018">
                  <a:moveTo>
                    <a:pt x="247823" y="0"/>
                  </a:moveTo>
                  <a:lnTo>
                    <a:pt x="1677396" y="0"/>
                  </a:lnTo>
                  <a:cubicBezTo>
                    <a:pt x="1691815" y="0"/>
                    <a:pt x="1705345" y="6967"/>
                    <a:pt x="1713720" y="18705"/>
                  </a:cubicBezTo>
                  <a:cubicBezTo>
                    <a:pt x="1722095" y="30442"/>
                    <a:pt x="1724282" y="45503"/>
                    <a:pt x="1719591" y="59137"/>
                  </a:cubicBezTo>
                  <a:lnTo>
                    <a:pt x="1557078" y="531549"/>
                  </a:lnTo>
                  <a:cubicBezTo>
                    <a:pt x="1544906" y="566932"/>
                    <a:pt x="1511614" y="590686"/>
                    <a:pt x="1474196" y="590686"/>
                  </a:cubicBezTo>
                  <a:lnTo>
                    <a:pt x="44623" y="590686"/>
                  </a:lnTo>
                  <a:cubicBezTo>
                    <a:pt x="30204" y="590686"/>
                    <a:pt x="16674" y="583719"/>
                    <a:pt x="8299" y="571982"/>
                  </a:cubicBezTo>
                  <a:cubicBezTo>
                    <a:pt x="-76" y="560244"/>
                    <a:pt x="-2263" y="545184"/>
                    <a:pt x="2428" y="531549"/>
                  </a:cubicBezTo>
                  <a:lnTo>
                    <a:pt x="164940" y="59137"/>
                  </a:lnTo>
                  <a:cubicBezTo>
                    <a:pt x="177112" y="23754"/>
                    <a:pt x="210404" y="0"/>
                    <a:pt x="247823" y="0"/>
                  </a:cubicBezTo>
                  <a:close/>
                </a:path>
              </a:pathLst>
            </a:custGeom>
            <a:solidFill>
              <a:srgbClr val="EDF6F9"/>
            </a:solidFill>
          </p:spPr>
        </p:sp>
        <p:sp>
          <p:nvSpPr>
            <p:cNvPr name="TextBox 69" id="69"/>
            <p:cNvSpPr txBox="true"/>
            <p:nvPr/>
          </p:nvSpPr>
          <p:spPr>
            <a:xfrm>
              <a:off x="101600" y="-38100"/>
              <a:ext cx="1554651" cy="628786"/>
            </a:xfrm>
            <a:prstGeom prst="rect">
              <a:avLst/>
            </a:prstGeom>
          </p:spPr>
          <p:txBody>
            <a:bodyPr anchor="ctr" rtlCol="false" tIns="47774" lIns="47774" bIns="47774" rIns="47774"/>
            <a:lstStyle/>
            <a:p>
              <a:pPr algn="ctr">
                <a:lnSpc>
                  <a:spcPts val="2659"/>
                </a:lnSpc>
              </a:pPr>
            </a:p>
          </p:txBody>
        </p:sp>
      </p:grpSp>
      <p:sp>
        <p:nvSpPr>
          <p:cNvPr name="TextBox 70" id="70"/>
          <p:cNvSpPr txBox="true"/>
          <p:nvPr/>
        </p:nvSpPr>
        <p:spPr>
          <a:xfrm rot="0">
            <a:off x="12618999" y="6039892"/>
            <a:ext cx="2267171" cy="307696"/>
          </a:xfrm>
          <a:prstGeom prst="rect">
            <a:avLst/>
          </a:prstGeom>
        </p:spPr>
        <p:txBody>
          <a:bodyPr anchor="t" rtlCol="false" tIns="0" lIns="0" bIns="0" rIns="0">
            <a:spAutoFit/>
          </a:bodyPr>
          <a:lstStyle/>
          <a:p>
            <a:pPr algn="l">
              <a:lnSpc>
                <a:spcPts val="2351"/>
              </a:lnSpc>
            </a:pPr>
            <a:r>
              <a:rPr lang="en-US" sz="2351">
                <a:solidFill>
                  <a:srgbClr val="00B58F"/>
                </a:solidFill>
                <a:latin typeface="Rubik One"/>
                <a:ea typeface="Rubik One"/>
                <a:cs typeface="Rubik One"/>
                <a:sym typeface="Rubik One"/>
              </a:rPr>
              <a:t>Solusi</a:t>
            </a:r>
          </a:p>
        </p:txBody>
      </p:sp>
      <p:sp>
        <p:nvSpPr>
          <p:cNvPr name="TextBox 71" id="71"/>
          <p:cNvSpPr txBox="true"/>
          <p:nvPr/>
        </p:nvSpPr>
        <p:spPr>
          <a:xfrm rot="0">
            <a:off x="1575625" y="6374588"/>
            <a:ext cx="2947968" cy="630889"/>
          </a:xfrm>
          <a:prstGeom prst="rect">
            <a:avLst/>
          </a:prstGeom>
        </p:spPr>
        <p:txBody>
          <a:bodyPr anchor="t" rtlCol="false" tIns="0" lIns="0" bIns="0" rIns="0">
            <a:spAutoFit/>
          </a:bodyPr>
          <a:lstStyle/>
          <a:p>
            <a:pPr algn="just">
              <a:lnSpc>
                <a:spcPts val="2501"/>
              </a:lnSpc>
              <a:spcBef>
                <a:spcPct val="0"/>
              </a:spcBef>
            </a:pPr>
            <a:r>
              <a:rPr lang="en-US" sz="1786">
                <a:solidFill>
                  <a:srgbClr val="FFFFFF"/>
                </a:solidFill>
                <a:latin typeface="Bricolage Grotesque"/>
                <a:ea typeface="Bricolage Grotesque"/>
                <a:cs typeface="Bricolage Grotesque"/>
                <a:sym typeface="Bricolage Grotesque"/>
              </a:rPr>
              <a:t>150 Station ID vs 148 Name</a:t>
            </a:r>
          </a:p>
          <a:p>
            <a:pPr algn="just">
              <a:lnSpc>
                <a:spcPts val="2501"/>
              </a:lnSpc>
              <a:spcBef>
                <a:spcPct val="0"/>
              </a:spcBef>
            </a:pPr>
            <a:r>
              <a:rPr lang="en-US" sz="1786">
                <a:solidFill>
                  <a:srgbClr val="FFFFFF"/>
                </a:solidFill>
                <a:latin typeface="Bricolage Grotesque"/>
                <a:ea typeface="Bricolage Grotesque"/>
                <a:cs typeface="Bricolage Grotesque"/>
                <a:sym typeface="Bricolage Grotesque"/>
              </a:rPr>
              <a:t>Phoenix #11 &amp; San Diego #10</a:t>
            </a:r>
          </a:p>
        </p:txBody>
      </p:sp>
      <p:sp>
        <p:nvSpPr>
          <p:cNvPr name="TextBox 72" id="72"/>
          <p:cNvSpPr txBox="true"/>
          <p:nvPr/>
        </p:nvSpPr>
        <p:spPr>
          <a:xfrm rot="0">
            <a:off x="7393385" y="6374588"/>
            <a:ext cx="2947968" cy="629277"/>
          </a:xfrm>
          <a:prstGeom prst="rect">
            <a:avLst/>
          </a:prstGeom>
        </p:spPr>
        <p:txBody>
          <a:bodyPr anchor="t" rtlCol="false" tIns="0" lIns="0" bIns="0" rIns="0">
            <a:spAutoFit/>
          </a:bodyPr>
          <a:lstStyle/>
          <a:p>
            <a:pPr algn="ctr">
              <a:lnSpc>
                <a:spcPts val="2501"/>
              </a:lnSpc>
              <a:spcBef>
                <a:spcPct val="0"/>
              </a:spcBef>
            </a:pPr>
            <a:r>
              <a:rPr lang="en-US" sz="1786">
                <a:solidFill>
                  <a:srgbClr val="FFFFFF"/>
                </a:solidFill>
                <a:latin typeface="Bricolage Grotesque"/>
                <a:ea typeface="Bricolage Grotesque"/>
                <a:cs typeface="Bricolage Grotesque"/>
                <a:sym typeface="Bricolage Grotesque"/>
              </a:rPr>
              <a:t>Agregasi</a:t>
            </a:r>
            <a:r>
              <a:rPr lang="en-US" sz="1786">
                <a:solidFill>
                  <a:srgbClr val="FFFFFF"/>
                </a:solidFill>
                <a:latin typeface="Bricolage Grotesque"/>
                <a:ea typeface="Bricolage Grotesque"/>
                <a:cs typeface="Bricolage Grotesque"/>
                <a:sym typeface="Bricolage Grotesque"/>
              </a:rPr>
              <a:t> nama mencampur profil kapasitas stasiun</a:t>
            </a:r>
          </a:p>
        </p:txBody>
      </p:sp>
      <p:sp>
        <p:nvSpPr>
          <p:cNvPr name="TextBox 73" id="73"/>
          <p:cNvSpPr txBox="true"/>
          <p:nvPr/>
        </p:nvSpPr>
        <p:spPr>
          <a:xfrm rot="0">
            <a:off x="12618999" y="6374588"/>
            <a:ext cx="3153879" cy="630889"/>
          </a:xfrm>
          <a:prstGeom prst="rect">
            <a:avLst/>
          </a:prstGeom>
        </p:spPr>
        <p:txBody>
          <a:bodyPr anchor="t" rtlCol="false" tIns="0" lIns="0" bIns="0" rIns="0">
            <a:spAutoFit/>
          </a:bodyPr>
          <a:lstStyle/>
          <a:p>
            <a:pPr algn="just">
              <a:lnSpc>
                <a:spcPts val="2501"/>
              </a:lnSpc>
              <a:spcBef>
                <a:spcPct val="0"/>
              </a:spcBef>
            </a:pPr>
            <a:r>
              <a:rPr lang="en-US" sz="1786">
                <a:solidFill>
                  <a:srgbClr val="FFFFFF"/>
                </a:solidFill>
                <a:latin typeface="Bricolage Grotesque"/>
                <a:ea typeface="Bricolage Grotesque"/>
                <a:cs typeface="Bricolage Grotesque"/>
                <a:sym typeface="Bricolage Grotesque"/>
              </a:rPr>
              <a:t>Mengunci</a:t>
            </a:r>
            <a:r>
              <a:rPr lang="en-US" sz="1786">
                <a:solidFill>
                  <a:srgbClr val="FFFFFF"/>
                </a:solidFill>
                <a:latin typeface="Bricolage Grotesque"/>
                <a:ea typeface="Bricolage Grotesque"/>
                <a:cs typeface="Bricolage Grotesque"/>
                <a:sym typeface="Bricolage Grotesque"/>
              </a:rPr>
              <a:t> station_id sebagai Immutable primary key</a:t>
            </a:r>
          </a:p>
        </p:txBody>
      </p:sp>
      <p:grpSp>
        <p:nvGrpSpPr>
          <p:cNvPr name="Group 74" id="74"/>
          <p:cNvGrpSpPr/>
          <p:nvPr/>
        </p:nvGrpSpPr>
        <p:grpSpPr>
          <a:xfrm rot="0">
            <a:off x="1235429" y="8327846"/>
            <a:ext cx="3628361" cy="1244837"/>
            <a:chOff x="0" y="0"/>
            <a:chExt cx="1016141" cy="348623"/>
          </a:xfrm>
        </p:grpSpPr>
        <p:sp>
          <p:nvSpPr>
            <p:cNvPr name="Freeform 75" id="75"/>
            <p:cNvSpPr/>
            <p:nvPr/>
          </p:nvSpPr>
          <p:spPr>
            <a:xfrm flipH="false" flipV="false" rot="0">
              <a:off x="0" y="0"/>
              <a:ext cx="1016141" cy="348623"/>
            </a:xfrm>
            <a:custGeom>
              <a:avLst/>
              <a:gdLst/>
              <a:ahLst/>
              <a:cxnLst/>
              <a:rect r="r" b="b" t="t" l="l"/>
              <a:pathLst>
                <a:path h="348623" w="1016141">
                  <a:moveTo>
                    <a:pt x="174311" y="0"/>
                  </a:moveTo>
                  <a:lnTo>
                    <a:pt x="841829" y="0"/>
                  </a:lnTo>
                  <a:cubicBezTo>
                    <a:pt x="888059" y="0"/>
                    <a:pt x="932396" y="18365"/>
                    <a:pt x="965086" y="51055"/>
                  </a:cubicBezTo>
                  <a:cubicBezTo>
                    <a:pt x="997776" y="83744"/>
                    <a:pt x="1016141" y="128081"/>
                    <a:pt x="1016141" y="174311"/>
                  </a:cubicBezTo>
                  <a:lnTo>
                    <a:pt x="1016141" y="174311"/>
                  </a:lnTo>
                  <a:cubicBezTo>
                    <a:pt x="1016141" y="220542"/>
                    <a:pt x="997776" y="264878"/>
                    <a:pt x="965086" y="297568"/>
                  </a:cubicBezTo>
                  <a:cubicBezTo>
                    <a:pt x="932396" y="330258"/>
                    <a:pt x="888059" y="348623"/>
                    <a:pt x="841829" y="348623"/>
                  </a:cubicBezTo>
                  <a:lnTo>
                    <a:pt x="174311" y="348623"/>
                  </a:lnTo>
                  <a:cubicBezTo>
                    <a:pt x="128081" y="348623"/>
                    <a:pt x="83744" y="330258"/>
                    <a:pt x="51055" y="297568"/>
                  </a:cubicBezTo>
                  <a:cubicBezTo>
                    <a:pt x="18365" y="264878"/>
                    <a:pt x="0" y="220542"/>
                    <a:pt x="0" y="174311"/>
                  </a:cubicBezTo>
                  <a:lnTo>
                    <a:pt x="0" y="174311"/>
                  </a:lnTo>
                  <a:cubicBezTo>
                    <a:pt x="0" y="128081"/>
                    <a:pt x="18365" y="83744"/>
                    <a:pt x="51055" y="51055"/>
                  </a:cubicBezTo>
                  <a:cubicBezTo>
                    <a:pt x="83744" y="18365"/>
                    <a:pt x="128081" y="0"/>
                    <a:pt x="174311" y="0"/>
                  </a:cubicBezTo>
                  <a:close/>
                </a:path>
              </a:pathLst>
            </a:custGeom>
            <a:solidFill>
              <a:srgbClr val="0B1E36"/>
            </a:solidFill>
          </p:spPr>
        </p:sp>
        <p:sp>
          <p:nvSpPr>
            <p:cNvPr name="TextBox 76" id="76"/>
            <p:cNvSpPr txBox="true"/>
            <p:nvPr/>
          </p:nvSpPr>
          <p:spPr>
            <a:xfrm>
              <a:off x="0" y="-38100"/>
              <a:ext cx="1016141" cy="386723"/>
            </a:xfrm>
            <a:prstGeom prst="rect">
              <a:avLst/>
            </a:prstGeom>
          </p:spPr>
          <p:txBody>
            <a:bodyPr anchor="ctr" rtlCol="false" tIns="47774" lIns="47774" bIns="47774" rIns="47774"/>
            <a:lstStyle/>
            <a:p>
              <a:pPr algn="ctr">
                <a:lnSpc>
                  <a:spcPts val="2659"/>
                </a:lnSpc>
              </a:pPr>
            </a:p>
          </p:txBody>
        </p:sp>
      </p:grpSp>
      <p:grpSp>
        <p:nvGrpSpPr>
          <p:cNvPr name="Group 77" id="77"/>
          <p:cNvGrpSpPr/>
          <p:nvPr/>
        </p:nvGrpSpPr>
        <p:grpSpPr>
          <a:xfrm rot="0">
            <a:off x="6672709" y="8327846"/>
            <a:ext cx="4159917" cy="1244837"/>
            <a:chOff x="0" y="0"/>
            <a:chExt cx="1164990" cy="348558"/>
          </a:xfrm>
        </p:grpSpPr>
        <p:sp>
          <p:nvSpPr>
            <p:cNvPr name="Freeform 78" id="78"/>
            <p:cNvSpPr/>
            <p:nvPr/>
          </p:nvSpPr>
          <p:spPr>
            <a:xfrm flipH="false" flipV="false" rot="0">
              <a:off x="15842" y="0"/>
              <a:ext cx="1133305" cy="347930"/>
            </a:xfrm>
            <a:custGeom>
              <a:avLst/>
              <a:gdLst/>
              <a:ahLst/>
              <a:cxnLst/>
              <a:rect r="r" b="b" t="t" l="l"/>
              <a:pathLst>
                <a:path h="347930" w="1133305">
                  <a:moveTo>
                    <a:pt x="881867" y="14315"/>
                  </a:moveTo>
                  <a:lnTo>
                    <a:pt x="1125182" y="159650"/>
                  </a:lnTo>
                  <a:cubicBezTo>
                    <a:pt x="1130220" y="162659"/>
                    <a:pt x="1133306" y="168096"/>
                    <a:pt x="1133306" y="173965"/>
                  </a:cubicBezTo>
                  <a:cubicBezTo>
                    <a:pt x="1133306" y="179834"/>
                    <a:pt x="1130220" y="185271"/>
                    <a:pt x="1125182" y="188280"/>
                  </a:cubicBezTo>
                  <a:lnTo>
                    <a:pt x="881867" y="333614"/>
                  </a:lnTo>
                  <a:cubicBezTo>
                    <a:pt x="866182" y="342983"/>
                    <a:pt x="848254" y="347930"/>
                    <a:pt x="829984" y="347930"/>
                  </a:cubicBezTo>
                  <a:lnTo>
                    <a:pt x="303322" y="347930"/>
                  </a:lnTo>
                  <a:cubicBezTo>
                    <a:pt x="285052" y="347930"/>
                    <a:pt x="267124" y="342983"/>
                    <a:pt x="251439" y="333614"/>
                  </a:cubicBezTo>
                  <a:lnTo>
                    <a:pt x="8124" y="188280"/>
                  </a:lnTo>
                  <a:cubicBezTo>
                    <a:pt x="3086" y="185271"/>
                    <a:pt x="0" y="179834"/>
                    <a:pt x="0" y="173965"/>
                  </a:cubicBezTo>
                  <a:cubicBezTo>
                    <a:pt x="0" y="168096"/>
                    <a:pt x="3086" y="162659"/>
                    <a:pt x="8124" y="159650"/>
                  </a:cubicBezTo>
                  <a:lnTo>
                    <a:pt x="251439" y="14315"/>
                  </a:lnTo>
                  <a:cubicBezTo>
                    <a:pt x="267124" y="4947"/>
                    <a:pt x="285052" y="0"/>
                    <a:pt x="303322" y="0"/>
                  </a:cubicBezTo>
                  <a:lnTo>
                    <a:pt x="829984" y="0"/>
                  </a:lnTo>
                  <a:cubicBezTo>
                    <a:pt x="848254" y="0"/>
                    <a:pt x="866182" y="4947"/>
                    <a:pt x="881867" y="14315"/>
                  </a:cubicBezTo>
                  <a:close/>
                </a:path>
              </a:pathLst>
            </a:custGeom>
            <a:solidFill>
              <a:srgbClr val="EF3A5D"/>
            </a:solidFill>
          </p:spPr>
        </p:sp>
        <p:sp>
          <p:nvSpPr>
            <p:cNvPr name="TextBox 79" id="79"/>
            <p:cNvSpPr txBox="true"/>
            <p:nvPr/>
          </p:nvSpPr>
          <p:spPr>
            <a:xfrm>
              <a:off x="213185" y="8527"/>
              <a:ext cx="738620" cy="292877"/>
            </a:xfrm>
            <a:prstGeom prst="rect">
              <a:avLst/>
            </a:prstGeom>
          </p:spPr>
          <p:txBody>
            <a:bodyPr anchor="ctr" rtlCol="false" tIns="47774" lIns="47774" bIns="47774" rIns="47774"/>
            <a:lstStyle/>
            <a:p>
              <a:pPr algn="ctr">
                <a:lnSpc>
                  <a:spcPts val="2659"/>
                </a:lnSpc>
              </a:pPr>
            </a:p>
          </p:txBody>
        </p:sp>
      </p:grpSp>
      <p:grpSp>
        <p:nvGrpSpPr>
          <p:cNvPr name="Group 80" id="80"/>
          <p:cNvGrpSpPr/>
          <p:nvPr/>
        </p:nvGrpSpPr>
        <p:grpSpPr>
          <a:xfrm rot="0">
            <a:off x="12445357" y="8245172"/>
            <a:ext cx="3628361" cy="1327510"/>
            <a:chOff x="0" y="0"/>
            <a:chExt cx="1016141" cy="371776"/>
          </a:xfrm>
        </p:grpSpPr>
        <p:sp>
          <p:nvSpPr>
            <p:cNvPr name="Freeform 81" id="81"/>
            <p:cNvSpPr/>
            <p:nvPr/>
          </p:nvSpPr>
          <p:spPr>
            <a:xfrm flipH="false" flipV="false" rot="0">
              <a:off x="0" y="0"/>
              <a:ext cx="1016141" cy="371776"/>
            </a:xfrm>
            <a:custGeom>
              <a:avLst/>
              <a:gdLst/>
              <a:ahLst/>
              <a:cxnLst/>
              <a:rect r="r" b="b" t="t" l="l"/>
              <a:pathLst>
                <a:path h="371776" w="1016141">
                  <a:moveTo>
                    <a:pt x="14936" y="0"/>
                  </a:moveTo>
                  <a:lnTo>
                    <a:pt x="1001204" y="0"/>
                  </a:lnTo>
                  <a:cubicBezTo>
                    <a:pt x="1009454" y="0"/>
                    <a:pt x="1016141" y="6687"/>
                    <a:pt x="1016141" y="14936"/>
                  </a:cubicBezTo>
                  <a:lnTo>
                    <a:pt x="1016141" y="356840"/>
                  </a:lnTo>
                  <a:cubicBezTo>
                    <a:pt x="1016141" y="365089"/>
                    <a:pt x="1009454" y="371776"/>
                    <a:pt x="1001204" y="371776"/>
                  </a:cubicBezTo>
                  <a:lnTo>
                    <a:pt x="14936" y="371776"/>
                  </a:lnTo>
                  <a:cubicBezTo>
                    <a:pt x="6687" y="371776"/>
                    <a:pt x="0" y="365089"/>
                    <a:pt x="0" y="356840"/>
                  </a:cubicBezTo>
                  <a:lnTo>
                    <a:pt x="0" y="14936"/>
                  </a:lnTo>
                  <a:cubicBezTo>
                    <a:pt x="0" y="6687"/>
                    <a:pt x="6687" y="0"/>
                    <a:pt x="14936" y="0"/>
                  </a:cubicBezTo>
                  <a:close/>
                </a:path>
              </a:pathLst>
            </a:custGeom>
            <a:solidFill>
              <a:srgbClr val="00B58F"/>
            </a:solidFill>
          </p:spPr>
        </p:sp>
        <p:sp>
          <p:nvSpPr>
            <p:cNvPr name="TextBox 82" id="82"/>
            <p:cNvSpPr txBox="true"/>
            <p:nvPr/>
          </p:nvSpPr>
          <p:spPr>
            <a:xfrm>
              <a:off x="0" y="-38100"/>
              <a:ext cx="1016141" cy="409876"/>
            </a:xfrm>
            <a:prstGeom prst="rect">
              <a:avLst/>
            </a:prstGeom>
          </p:spPr>
          <p:txBody>
            <a:bodyPr anchor="ctr" rtlCol="false" tIns="47774" lIns="47774" bIns="47774" rIns="47774"/>
            <a:lstStyle/>
            <a:p>
              <a:pPr algn="ctr">
                <a:lnSpc>
                  <a:spcPts val="2659"/>
                </a:lnSpc>
              </a:pPr>
            </a:p>
          </p:txBody>
        </p:sp>
      </p:grpSp>
      <p:sp>
        <p:nvSpPr>
          <p:cNvPr name="Freeform 83" id="83"/>
          <p:cNvSpPr/>
          <p:nvPr/>
        </p:nvSpPr>
        <p:spPr>
          <a:xfrm flipH="false" flipV="false" rot="0">
            <a:off x="5022923" y="8741573"/>
            <a:ext cx="1490653" cy="417383"/>
          </a:xfrm>
          <a:custGeom>
            <a:avLst/>
            <a:gdLst/>
            <a:ahLst/>
            <a:cxnLst/>
            <a:rect r="r" b="b" t="t" l="l"/>
            <a:pathLst>
              <a:path h="417383" w="1490653">
                <a:moveTo>
                  <a:pt x="0" y="0"/>
                </a:moveTo>
                <a:lnTo>
                  <a:pt x="1490653" y="0"/>
                </a:lnTo>
                <a:lnTo>
                  <a:pt x="1490653" y="417383"/>
                </a:lnTo>
                <a:lnTo>
                  <a:pt x="0" y="417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4" id="84"/>
          <p:cNvSpPr/>
          <p:nvPr/>
        </p:nvSpPr>
        <p:spPr>
          <a:xfrm flipH="false" flipV="false" rot="0">
            <a:off x="10832627" y="8741573"/>
            <a:ext cx="1490653" cy="417383"/>
          </a:xfrm>
          <a:custGeom>
            <a:avLst/>
            <a:gdLst/>
            <a:ahLst/>
            <a:cxnLst/>
            <a:rect r="r" b="b" t="t" l="l"/>
            <a:pathLst>
              <a:path h="417383" w="1490653">
                <a:moveTo>
                  <a:pt x="0" y="0"/>
                </a:moveTo>
                <a:lnTo>
                  <a:pt x="1490653" y="0"/>
                </a:lnTo>
                <a:lnTo>
                  <a:pt x="1490653" y="417383"/>
                </a:lnTo>
                <a:lnTo>
                  <a:pt x="0" y="417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5" id="85"/>
          <p:cNvGrpSpPr/>
          <p:nvPr/>
        </p:nvGrpSpPr>
        <p:grpSpPr>
          <a:xfrm rot="0">
            <a:off x="1028700" y="8245172"/>
            <a:ext cx="1856914" cy="496400"/>
            <a:chOff x="0" y="0"/>
            <a:chExt cx="1757851" cy="469918"/>
          </a:xfrm>
        </p:grpSpPr>
        <p:sp>
          <p:nvSpPr>
            <p:cNvPr name="Freeform 86" id="86"/>
            <p:cNvSpPr/>
            <p:nvPr/>
          </p:nvSpPr>
          <p:spPr>
            <a:xfrm flipH="false" flipV="false" rot="0">
              <a:off x="21446" y="0"/>
              <a:ext cx="1714959" cy="469918"/>
            </a:xfrm>
            <a:custGeom>
              <a:avLst/>
              <a:gdLst/>
              <a:ahLst/>
              <a:cxnLst/>
              <a:rect r="r" b="b" t="t" l="l"/>
              <a:pathLst>
                <a:path h="469918" w="1714959">
                  <a:moveTo>
                    <a:pt x="244293" y="0"/>
                  </a:moveTo>
                  <a:lnTo>
                    <a:pt x="1673866" y="0"/>
                  </a:lnTo>
                  <a:cubicBezTo>
                    <a:pt x="1687703" y="0"/>
                    <a:pt x="1700610" y="6963"/>
                    <a:pt x="1708209" y="18527"/>
                  </a:cubicBezTo>
                  <a:cubicBezTo>
                    <a:pt x="1715807" y="30091"/>
                    <a:pt x="1717075" y="44702"/>
                    <a:pt x="1711583" y="57402"/>
                  </a:cubicBezTo>
                  <a:lnTo>
                    <a:pt x="1558026" y="412517"/>
                  </a:lnTo>
                  <a:cubicBezTo>
                    <a:pt x="1542959" y="447360"/>
                    <a:pt x="1508628" y="469918"/>
                    <a:pt x="1470666" y="469918"/>
                  </a:cubicBezTo>
                  <a:lnTo>
                    <a:pt x="41093" y="469918"/>
                  </a:lnTo>
                  <a:cubicBezTo>
                    <a:pt x="27256" y="469918"/>
                    <a:pt x="14349" y="462955"/>
                    <a:pt x="6750" y="451391"/>
                  </a:cubicBezTo>
                  <a:cubicBezTo>
                    <a:pt x="-848" y="439828"/>
                    <a:pt x="-2116" y="425217"/>
                    <a:pt x="3375" y="412517"/>
                  </a:cubicBezTo>
                  <a:lnTo>
                    <a:pt x="156933" y="57402"/>
                  </a:lnTo>
                  <a:cubicBezTo>
                    <a:pt x="171999" y="22558"/>
                    <a:pt x="206331" y="0"/>
                    <a:pt x="244293" y="0"/>
                  </a:cubicBezTo>
                  <a:close/>
                </a:path>
              </a:pathLst>
            </a:custGeom>
            <a:solidFill>
              <a:srgbClr val="EDF6F9"/>
            </a:solidFill>
          </p:spPr>
        </p:sp>
        <p:sp>
          <p:nvSpPr>
            <p:cNvPr name="TextBox 87" id="87"/>
            <p:cNvSpPr txBox="true"/>
            <p:nvPr/>
          </p:nvSpPr>
          <p:spPr>
            <a:xfrm>
              <a:off x="101600" y="-38100"/>
              <a:ext cx="1554651" cy="508018"/>
            </a:xfrm>
            <a:prstGeom prst="rect">
              <a:avLst/>
            </a:prstGeom>
          </p:spPr>
          <p:txBody>
            <a:bodyPr anchor="ctr" rtlCol="false" tIns="47774" lIns="47774" bIns="47774" rIns="47774"/>
            <a:lstStyle/>
            <a:p>
              <a:pPr algn="ctr">
                <a:lnSpc>
                  <a:spcPts val="2659"/>
                </a:lnSpc>
              </a:pPr>
            </a:p>
          </p:txBody>
        </p:sp>
      </p:grpSp>
      <p:sp>
        <p:nvSpPr>
          <p:cNvPr name="TextBox 88" id="88"/>
          <p:cNvSpPr txBox="true"/>
          <p:nvPr/>
        </p:nvSpPr>
        <p:spPr>
          <a:xfrm rot="0">
            <a:off x="1469314" y="8433877"/>
            <a:ext cx="2267171" cy="307696"/>
          </a:xfrm>
          <a:prstGeom prst="rect">
            <a:avLst/>
          </a:prstGeom>
        </p:spPr>
        <p:txBody>
          <a:bodyPr anchor="t" rtlCol="false" tIns="0" lIns="0" bIns="0" rIns="0">
            <a:spAutoFit/>
          </a:bodyPr>
          <a:lstStyle/>
          <a:p>
            <a:pPr algn="l">
              <a:lnSpc>
                <a:spcPts val="2351"/>
              </a:lnSpc>
            </a:pPr>
            <a:r>
              <a:rPr lang="en-US" sz="2351">
                <a:solidFill>
                  <a:srgbClr val="112752"/>
                </a:solidFill>
                <a:latin typeface="Rubik One"/>
                <a:ea typeface="Rubik One"/>
                <a:cs typeface="Rubik One"/>
                <a:sym typeface="Rubik One"/>
              </a:rPr>
              <a:t>Status</a:t>
            </a:r>
          </a:p>
        </p:txBody>
      </p:sp>
      <p:grpSp>
        <p:nvGrpSpPr>
          <p:cNvPr name="Group 89" id="89"/>
          <p:cNvGrpSpPr/>
          <p:nvPr/>
        </p:nvGrpSpPr>
        <p:grpSpPr>
          <a:xfrm rot="0">
            <a:off x="6912835" y="8245172"/>
            <a:ext cx="1856914" cy="496400"/>
            <a:chOff x="0" y="0"/>
            <a:chExt cx="1757851" cy="469918"/>
          </a:xfrm>
        </p:grpSpPr>
        <p:sp>
          <p:nvSpPr>
            <p:cNvPr name="Freeform 90" id="90"/>
            <p:cNvSpPr/>
            <p:nvPr/>
          </p:nvSpPr>
          <p:spPr>
            <a:xfrm flipH="false" flipV="false" rot="0">
              <a:off x="21446" y="0"/>
              <a:ext cx="1714959" cy="469918"/>
            </a:xfrm>
            <a:custGeom>
              <a:avLst/>
              <a:gdLst/>
              <a:ahLst/>
              <a:cxnLst/>
              <a:rect r="r" b="b" t="t" l="l"/>
              <a:pathLst>
                <a:path h="469918" w="1714959">
                  <a:moveTo>
                    <a:pt x="244293" y="0"/>
                  </a:moveTo>
                  <a:lnTo>
                    <a:pt x="1673866" y="0"/>
                  </a:lnTo>
                  <a:cubicBezTo>
                    <a:pt x="1687703" y="0"/>
                    <a:pt x="1700610" y="6963"/>
                    <a:pt x="1708209" y="18527"/>
                  </a:cubicBezTo>
                  <a:cubicBezTo>
                    <a:pt x="1715807" y="30091"/>
                    <a:pt x="1717075" y="44702"/>
                    <a:pt x="1711583" y="57402"/>
                  </a:cubicBezTo>
                  <a:lnTo>
                    <a:pt x="1558026" y="412517"/>
                  </a:lnTo>
                  <a:cubicBezTo>
                    <a:pt x="1542959" y="447360"/>
                    <a:pt x="1508628" y="469918"/>
                    <a:pt x="1470666" y="469918"/>
                  </a:cubicBezTo>
                  <a:lnTo>
                    <a:pt x="41093" y="469918"/>
                  </a:lnTo>
                  <a:cubicBezTo>
                    <a:pt x="27256" y="469918"/>
                    <a:pt x="14349" y="462955"/>
                    <a:pt x="6750" y="451391"/>
                  </a:cubicBezTo>
                  <a:cubicBezTo>
                    <a:pt x="-848" y="439828"/>
                    <a:pt x="-2116" y="425217"/>
                    <a:pt x="3375" y="412517"/>
                  </a:cubicBezTo>
                  <a:lnTo>
                    <a:pt x="156933" y="57402"/>
                  </a:lnTo>
                  <a:cubicBezTo>
                    <a:pt x="171999" y="22558"/>
                    <a:pt x="206331" y="0"/>
                    <a:pt x="244293" y="0"/>
                  </a:cubicBezTo>
                  <a:close/>
                </a:path>
              </a:pathLst>
            </a:custGeom>
            <a:solidFill>
              <a:srgbClr val="EDF6F9"/>
            </a:solidFill>
          </p:spPr>
        </p:sp>
        <p:sp>
          <p:nvSpPr>
            <p:cNvPr name="TextBox 91" id="91"/>
            <p:cNvSpPr txBox="true"/>
            <p:nvPr/>
          </p:nvSpPr>
          <p:spPr>
            <a:xfrm>
              <a:off x="101600" y="-38100"/>
              <a:ext cx="1554651" cy="508018"/>
            </a:xfrm>
            <a:prstGeom prst="rect">
              <a:avLst/>
            </a:prstGeom>
          </p:spPr>
          <p:txBody>
            <a:bodyPr anchor="ctr" rtlCol="false" tIns="47774" lIns="47774" bIns="47774" rIns="47774"/>
            <a:lstStyle/>
            <a:p>
              <a:pPr algn="ctr">
                <a:lnSpc>
                  <a:spcPts val="2659"/>
                </a:lnSpc>
              </a:pPr>
            </a:p>
          </p:txBody>
        </p:sp>
      </p:grpSp>
      <p:sp>
        <p:nvSpPr>
          <p:cNvPr name="TextBox 92" id="92"/>
          <p:cNvSpPr txBox="true"/>
          <p:nvPr/>
        </p:nvSpPr>
        <p:spPr>
          <a:xfrm rot="0">
            <a:off x="7204613" y="8433877"/>
            <a:ext cx="2267171" cy="307696"/>
          </a:xfrm>
          <a:prstGeom prst="rect">
            <a:avLst/>
          </a:prstGeom>
        </p:spPr>
        <p:txBody>
          <a:bodyPr anchor="t" rtlCol="false" tIns="0" lIns="0" bIns="0" rIns="0">
            <a:spAutoFit/>
          </a:bodyPr>
          <a:lstStyle/>
          <a:p>
            <a:pPr algn="l">
              <a:lnSpc>
                <a:spcPts val="2351"/>
              </a:lnSpc>
            </a:pPr>
            <a:r>
              <a:rPr lang="en-US" sz="2351">
                <a:solidFill>
                  <a:srgbClr val="EF3A5D"/>
                </a:solidFill>
                <a:latin typeface="Rubik One"/>
                <a:ea typeface="Rubik One"/>
                <a:cs typeface="Rubik One"/>
                <a:sym typeface="Rubik One"/>
              </a:rPr>
              <a:t>Bahaya</a:t>
            </a:r>
          </a:p>
        </p:txBody>
      </p:sp>
      <p:grpSp>
        <p:nvGrpSpPr>
          <p:cNvPr name="Group 93" id="93"/>
          <p:cNvGrpSpPr/>
          <p:nvPr/>
        </p:nvGrpSpPr>
        <p:grpSpPr>
          <a:xfrm rot="0">
            <a:off x="12180364" y="8117599"/>
            <a:ext cx="1856914" cy="623974"/>
            <a:chOff x="0" y="0"/>
            <a:chExt cx="1757851" cy="590686"/>
          </a:xfrm>
        </p:grpSpPr>
        <p:sp>
          <p:nvSpPr>
            <p:cNvPr name="Freeform 94" id="94"/>
            <p:cNvSpPr/>
            <p:nvPr/>
          </p:nvSpPr>
          <p:spPr>
            <a:xfrm flipH="false" flipV="false" rot="0">
              <a:off x="17916" y="0"/>
              <a:ext cx="1722018" cy="590686"/>
            </a:xfrm>
            <a:custGeom>
              <a:avLst/>
              <a:gdLst/>
              <a:ahLst/>
              <a:cxnLst/>
              <a:rect r="r" b="b" t="t" l="l"/>
              <a:pathLst>
                <a:path h="590686" w="1722018">
                  <a:moveTo>
                    <a:pt x="247823" y="0"/>
                  </a:moveTo>
                  <a:lnTo>
                    <a:pt x="1677396" y="0"/>
                  </a:lnTo>
                  <a:cubicBezTo>
                    <a:pt x="1691815" y="0"/>
                    <a:pt x="1705345" y="6967"/>
                    <a:pt x="1713720" y="18705"/>
                  </a:cubicBezTo>
                  <a:cubicBezTo>
                    <a:pt x="1722095" y="30442"/>
                    <a:pt x="1724282" y="45503"/>
                    <a:pt x="1719591" y="59137"/>
                  </a:cubicBezTo>
                  <a:lnTo>
                    <a:pt x="1557078" y="531549"/>
                  </a:lnTo>
                  <a:cubicBezTo>
                    <a:pt x="1544906" y="566932"/>
                    <a:pt x="1511614" y="590686"/>
                    <a:pt x="1474196" y="590686"/>
                  </a:cubicBezTo>
                  <a:lnTo>
                    <a:pt x="44623" y="590686"/>
                  </a:lnTo>
                  <a:cubicBezTo>
                    <a:pt x="30204" y="590686"/>
                    <a:pt x="16674" y="583719"/>
                    <a:pt x="8299" y="571982"/>
                  </a:cubicBezTo>
                  <a:cubicBezTo>
                    <a:pt x="-76" y="560244"/>
                    <a:pt x="-2263" y="545184"/>
                    <a:pt x="2428" y="531549"/>
                  </a:cubicBezTo>
                  <a:lnTo>
                    <a:pt x="164940" y="59137"/>
                  </a:lnTo>
                  <a:cubicBezTo>
                    <a:pt x="177112" y="23754"/>
                    <a:pt x="210404" y="0"/>
                    <a:pt x="247823" y="0"/>
                  </a:cubicBezTo>
                  <a:close/>
                </a:path>
              </a:pathLst>
            </a:custGeom>
            <a:solidFill>
              <a:srgbClr val="EDF6F9"/>
            </a:solidFill>
          </p:spPr>
        </p:sp>
        <p:sp>
          <p:nvSpPr>
            <p:cNvPr name="TextBox 95" id="95"/>
            <p:cNvSpPr txBox="true"/>
            <p:nvPr/>
          </p:nvSpPr>
          <p:spPr>
            <a:xfrm>
              <a:off x="101600" y="-38100"/>
              <a:ext cx="1554651" cy="628786"/>
            </a:xfrm>
            <a:prstGeom prst="rect">
              <a:avLst/>
            </a:prstGeom>
          </p:spPr>
          <p:txBody>
            <a:bodyPr anchor="ctr" rtlCol="false" tIns="47774" lIns="47774" bIns="47774" rIns="47774"/>
            <a:lstStyle/>
            <a:p>
              <a:pPr algn="ctr">
                <a:lnSpc>
                  <a:spcPts val="2659"/>
                </a:lnSpc>
              </a:pPr>
            </a:p>
          </p:txBody>
        </p:sp>
      </p:grpSp>
      <p:sp>
        <p:nvSpPr>
          <p:cNvPr name="TextBox 96" id="96"/>
          <p:cNvSpPr txBox="true"/>
          <p:nvPr/>
        </p:nvSpPr>
        <p:spPr>
          <a:xfrm rot="0">
            <a:off x="12618999" y="8433877"/>
            <a:ext cx="2267171" cy="307696"/>
          </a:xfrm>
          <a:prstGeom prst="rect">
            <a:avLst/>
          </a:prstGeom>
        </p:spPr>
        <p:txBody>
          <a:bodyPr anchor="t" rtlCol="false" tIns="0" lIns="0" bIns="0" rIns="0">
            <a:spAutoFit/>
          </a:bodyPr>
          <a:lstStyle/>
          <a:p>
            <a:pPr algn="l">
              <a:lnSpc>
                <a:spcPts val="2351"/>
              </a:lnSpc>
            </a:pPr>
            <a:r>
              <a:rPr lang="en-US" sz="2351">
                <a:solidFill>
                  <a:srgbClr val="00B58F"/>
                </a:solidFill>
                <a:latin typeface="Rubik One"/>
                <a:ea typeface="Rubik One"/>
                <a:cs typeface="Rubik One"/>
                <a:sym typeface="Rubik One"/>
              </a:rPr>
              <a:t>Solusi</a:t>
            </a:r>
          </a:p>
        </p:txBody>
      </p:sp>
      <p:sp>
        <p:nvSpPr>
          <p:cNvPr name="TextBox 97" id="97"/>
          <p:cNvSpPr txBox="true"/>
          <p:nvPr/>
        </p:nvSpPr>
        <p:spPr>
          <a:xfrm rot="0">
            <a:off x="1575625" y="8768573"/>
            <a:ext cx="3015795" cy="630889"/>
          </a:xfrm>
          <a:prstGeom prst="rect">
            <a:avLst/>
          </a:prstGeom>
        </p:spPr>
        <p:txBody>
          <a:bodyPr anchor="t" rtlCol="false" tIns="0" lIns="0" bIns="0" rIns="0">
            <a:spAutoFit/>
          </a:bodyPr>
          <a:lstStyle/>
          <a:p>
            <a:pPr algn="just">
              <a:lnSpc>
                <a:spcPts val="2501"/>
              </a:lnSpc>
              <a:spcBef>
                <a:spcPct val="0"/>
              </a:spcBef>
            </a:pPr>
            <a:r>
              <a:rPr lang="en-US" sz="1786">
                <a:solidFill>
                  <a:srgbClr val="FFFFFF"/>
                </a:solidFill>
                <a:latin typeface="Bricolage Grotesque"/>
                <a:ea typeface="Bricolage Grotesque"/>
                <a:cs typeface="Bricolage Grotesque"/>
                <a:sym typeface="Bricolage Grotesque"/>
              </a:rPr>
              <a:t>31 Des ada jam 00:00, 47 Interval waktu terputus total</a:t>
            </a:r>
          </a:p>
        </p:txBody>
      </p:sp>
      <p:sp>
        <p:nvSpPr>
          <p:cNvPr name="TextBox 98" id="98"/>
          <p:cNvSpPr txBox="true"/>
          <p:nvPr/>
        </p:nvSpPr>
        <p:spPr>
          <a:xfrm rot="0">
            <a:off x="7204613" y="8721832"/>
            <a:ext cx="3136740" cy="629277"/>
          </a:xfrm>
          <a:prstGeom prst="rect">
            <a:avLst/>
          </a:prstGeom>
        </p:spPr>
        <p:txBody>
          <a:bodyPr anchor="t" rtlCol="false" tIns="0" lIns="0" bIns="0" rIns="0">
            <a:spAutoFit/>
          </a:bodyPr>
          <a:lstStyle/>
          <a:p>
            <a:pPr algn="ctr">
              <a:lnSpc>
                <a:spcPts val="2501"/>
              </a:lnSpc>
              <a:spcBef>
                <a:spcPct val="0"/>
              </a:spcBef>
            </a:pPr>
            <a:r>
              <a:rPr lang="en-US" sz="1786">
                <a:solidFill>
                  <a:srgbClr val="FFFFFF"/>
                </a:solidFill>
                <a:latin typeface="Bricolage Grotesque"/>
                <a:ea typeface="Bricolage Grotesque"/>
                <a:cs typeface="Bricolage Grotesque"/>
                <a:sym typeface="Bricolage Grotesque"/>
              </a:rPr>
              <a:t>Fitur</a:t>
            </a:r>
            <a:r>
              <a:rPr lang="en-US" sz="1786">
                <a:solidFill>
                  <a:srgbClr val="FFFFFF"/>
                </a:solidFill>
                <a:latin typeface="Bricolage Grotesque"/>
                <a:ea typeface="Bricolage Grotesque"/>
                <a:cs typeface="Bricolage Grotesque"/>
                <a:sym typeface="Bricolage Grotesque"/>
              </a:rPr>
              <a:t> rolling lag deret berkala hasilkan NaN saat inferensi</a:t>
            </a:r>
          </a:p>
        </p:txBody>
      </p:sp>
      <p:sp>
        <p:nvSpPr>
          <p:cNvPr name="TextBox 99" id="99"/>
          <p:cNvSpPr txBox="true"/>
          <p:nvPr/>
        </p:nvSpPr>
        <p:spPr>
          <a:xfrm rot="0">
            <a:off x="12532178" y="8512198"/>
            <a:ext cx="3454719" cy="945214"/>
          </a:xfrm>
          <a:prstGeom prst="rect">
            <a:avLst/>
          </a:prstGeom>
        </p:spPr>
        <p:txBody>
          <a:bodyPr anchor="t" rtlCol="false" tIns="0" lIns="0" bIns="0" rIns="0">
            <a:spAutoFit/>
          </a:bodyPr>
          <a:lstStyle/>
          <a:p>
            <a:pPr algn="just">
              <a:lnSpc>
                <a:spcPts val="2501"/>
              </a:lnSpc>
              <a:spcBef>
                <a:spcPct val="0"/>
              </a:spcBef>
            </a:pPr>
            <a:r>
              <a:rPr lang="en-US" sz="1786">
                <a:solidFill>
                  <a:srgbClr val="FFFFFF"/>
                </a:solidFill>
                <a:latin typeface="Bricolage Grotesque"/>
                <a:ea typeface="Bricolage Grotesque"/>
                <a:cs typeface="Bricolage Grotesque"/>
                <a:sym typeface="Bricolage Grotesque"/>
              </a:rPr>
              <a:t>           Menolak</a:t>
            </a:r>
            <a:r>
              <a:rPr lang="en-US" sz="1786">
                <a:solidFill>
                  <a:srgbClr val="FFFFFF"/>
                </a:solidFill>
                <a:latin typeface="Bricolage Grotesque"/>
                <a:ea typeface="Bricolage Grotesque"/>
                <a:cs typeface="Bricolage Grotesque"/>
                <a:sym typeface="Bricolage Grotesque"/>
              </a:rPr>
              <a:t> rolling lag berlebihan, gunakan Cyclic Calendar &amp; Spatial Aggregates</a:t>
            </a:r>
          </a:p>
        </p:txBody>
      </p:sp>
      <p:grpSp>
        <p:nvGrpSpPr>
          <p:cNvPr name="Group 100" id="100"/>
          <p:cNvGrpSpPr/>
          <p:nvPr/>
        </p:nvGrpSpPr>
        <p:grpSpPr>
          <a:xfrm rot="0">
            <a:off x="1028700" y="5143500"/>
            <a:ext cx="5013345" cy="694562"/>
            <a:chOff x="0" y="0"/>
            <a:chExt cx="6684460" cy="926083"/>
          </a:xfrm>
        </p:grpSpPr>
        <p:grpSp>
          <p:nvGrpSpPr>
            <p:cNvPr name="Group 101" id="101"/>
            <p:cNvGrpSpPr/>
            <p:nvPr/>
          </p:nvGrpSpPr>
          <p:grpSpPr>
            <a:xfrm rot="0">
              <a:off x="0" y="0"/>
              <a:ext cx="6684460" cy="926083"/>
              <a:chOff x="0" y="0"/>
              <a:chExt cx="1376939" cy="190765"/>
            </a:xfrm>
          </p:grpSpPr>
          <p:sp>
            <p:nvSpPr>
              <p:cNvPr name="Freeform 102" id="102"/>
              <p:cNvSpPr/>
              <p:nvPr/>
            </p:nvSpPr>
            <p:spPr>
              <a:xfrm flipH="false" flipV="false" rot="0">
                <a:off x="0" y="0"/>
                <a:ext cx="1376939" cy="190765"/>
              </a:xfrm>
              <a:custGeom>
                <a:avLst/>
                <a:gdLst/>
                <a:ahLst/>
                <a:cxnLst/>
                <a:rect r="r" b="b" t="t" l="l"/>
                <a:pathLst>
                  <a:path h="190765" w="1376939">
                    <a:moveTo>
                      <a:pt x="15443" y="0"/>
                    </a:moveTo>
                    <a:lnTo>
                      <a:pt x="1361497" y="0"/>
                    </a:lnTo>
                    <a:cubicBezTo>
                      <a:pt x="1365592" y="0"/>
                      <a:pt x="1369520" y="1627"/>
                      <a:pt x="1372416" y="4523"/>
                    </a:cubicBezTo>
                    <a:cubicBezTo>
                      <a:pt x="1375312" y="7419"/>
                      <a:pt x="1376939" y="11347"/>
                      <a:pt x="1376939" y="15443"/>
                    </a:cubicBezTo>
                    <a:lnTo>
                      <a:pt x="1376939" y="175322"/>
                    </a:lnTo>
                    <a:cubicBezTo>
                      <a:pt x="1376939" y="183851"/>
                      <a:pt x="1370025" y="190765"/>
                      <a:pt x="1361497" y="190765"/>
                    </a:cubicBezTo>
                    <a:lnTo>
                      <a:pt x="15443" y="190765"/>
                    </a:lnTo>
                    <a:cubicBezTo>
                      <a:pt x="6914" y="190765"/>
                      <a:pt x="0" y="183851"/>
                      <a:pt x="0" y="175322"/>
                    </a:cubicBezTo>
                    <a:lnTo>
                      <a:pt x="0" y="15443"/>
                    </a:lnTo>
                    <a:cubicBezTo>
                      <a:pt x="0" y="6914"/>
                      <a:pt x="6914" y="0"/>
                      <a:pt x="15443" y="0"/>
                    </a:cubicBezTo>
                    <a:close/>
                  </a:path>
                </a:pathLst>
              </a:custGeom>
              <a:solidFill>
                <a:srgbClr val="EDF6F9"/>
              </a:solidFill>
              <a:ln cap="sq">
                <a:noFill/>
                <a:prstDash val="solid"/>
                <a:miter/>
              </a:ln>
            </p:spPr>
          </p:sp>
          <p:sp>
            <p:nvSpPr>
              <p:cNvPr name="TextBox 103" id="103"/>
              <p:cNvSpPr txBox="true"/>
              <p:nvPr/>
            </p:nvSpPr>
            <p:spPr>
              <a:xfrm>
                <a:off x="0" y="-38100"/>
                <a:ext cx="1376939" cy="228865"/>
              </a:xfrm>
              <a:prstGeom prst="rect">
                <a:avLst/>
              </a:prstGeom>
            </p:spPr>
            <p:txBody>
              <a:bodyPr anchor="ctr" rtlCol="false" tIns="47774" lIns="47774" bIns="47774" rIns="47774"/>
              <a:lstStyle/>
              <a:p>
                <a:pPr algn="ctr">
                  <a:lnSpc>
                    <a:spcPts val="2659"/>
                  </a:lnSpc>
                  <a:spcBef>
                    <a:spcPct val="0"/>
                  </a:spcBef>
                </a:pPr>
              </a:p>
            </p:txBody>
          </p:sp>
        </p:grpSp>
        <p:grpSp>
          <p:nvGrpSpPr>
            <p:cNvPr name="Group 104" id="104"/>
            <p:cNvGrpSpPr/>
            <p:nvPr/>
          </p:nvGrpSpPr>
          <p:grpSpPr>
            <a:xfrm rot="-10800000">
              <a:off x="224145" y="174257"/>
              <a:ext cx="669025" cy="585397"/>
              <a:chOff x="0" y="0"/>
              <a:chExt cx="812800" cy="711200"/>
            </a:xfrm>
          </p:grpSpPr>
          <p:sp>
            <p:nvSpPr>
              <p:cNvPr name="Freeform 105" id="105"/>
              <p:cNvSpPr/>
              <p:nvPr/>
            </p:nvSpPr>
            <p:spPr>
              <a:xfrm flipH="false" flipV="false" rot="0">
                <a:off x="64753" y="89539"/>
                <a:ext cx="683294" cy="621661"/>
              </a:xfrm>
              <a:custGeom>
                <a:avLst/>
                <a:gdLst/>
                <a:ahLst/>
                <a:cxnLst/>
                <a:rect r="r" b="b" t="t" l="l"/>
                <a:pathLst>
                  <a:path h="621661" w="683294">
                    <a:moveTo>
                      <a:pt x="418198" y="44424"/>
                    </a:moveTo>
                    <a:lnTo>
                      <a:pt x="671496" y="487698"/>
                    </a:lnTo>
                    <a:cubicBezTo>
                      <a:pt x="687332" y="515410"/>
                      <a:pt x="687219" y="549457"/>
                      <a:pt x="671198" y="577064"/>
                    </a:cubicBezTo>
                    <a:cubicBezTo>
                      <a:pt x="655177" y="604670"/>
                      <a:pt x="625673" y="621661"/>
                      <a:pt x="593754" y="621661"/>
                    </a:cubicBezTo>
                    <a:lnTo>
                      <a:pt x="89540" y="621661"/>
                    </a:lnTo>
                    <a:cubicBezTo>
                      <a:pt x="57621" y="621661"/>
                      <a:pt x="28117" y="604670"/>
                      <a:pt x="12096" y="577064"/>
                    </a:cubicBezTo>
                    <a:cubicBezTo>
                      <a:pt x="-3925" y="549457"/>
                      <a:pt x="-4038" y="515410"/>
                      <a:pt x="11798" y="487698"/>
                    </a:cubicBezTo>
                    <a:lnTo>
                      <a:pt x="265096" y="44424"/>
                    </a:lnTo>
                    <a:cubicBezTo>
                      <a:pt x="280794" y="16954"/>
                      <a:pt x="310008" y="0"/>
                      <a:pt x="341647" y="0"/>
                    </a:cubicBezTo>
                    <a:cubicBezTo>
                      <a:pt x="373286" y="0"/>
                      <a:pt x="402500" y="16954"/>
                      <a:pt x="418198" y="44424"/>
                    </a:cubicBezTo>
                    <a:close/>
                  </a:path>
                </a:pathLst>
              </a:custGeom>
              <a:solidFill>
                <a:srgbClr val="0B1E36"/>
              </a:solidFill>
              <a:ln cap="sq">
                <a:noFill/>
                <a:prstDash val="solid"/>
                <a:miter/>
              </a:ln>
            </p:spPr>
          </p:sp>
          <p:sp>
            <p:nvSpPr>
              <p:cNvPr name="TextBox 106" id="106"/>
              <p:cNvSpPr txBox="true"/>
              <p:nvPr/>
            </p:nvSpPr>
            <p:spPr>
              <a:xfrm>
                <a:off x="127000" y="292100"/>
                <a:ext cx="558800" cy="368300"/>
              </a:xfrm>
              <a:prstGeom prst="rect">
                <a:avLst/>
              </a:prstGeom>
            </p:spPr>
            <p:txBody>
              <a:bodyPr anchor="ctr" rtlCol="false" tIns="47774" lIns="47774" bIns="47774" rIns="47774"/>
              <a:lstStyle/>
              <a:p>
                <a:pPr algn="ctr">
                  <a:lnSpc>
                    <a:spcPts val="2659"/>
                  </a:lnSpc>
                </a:pPr>
              </a:p>
            </p:txBody>
          </p:sp>
        </p:grpSp>
        <p:sp>
          <p:nvSpPr>
            <p:cNvPr name="TextBox 107" id="107"/>
            <p:cNvSpPr txBox="true"/>
            <p:nvPr/>
          </p:nvSpPr>
          <p:spPr>
            <a:xfrm rot="0">
              <a:off x="893170" y="126632"/>
              <a:ext cx="5560921" cy="535913"/>
            </a:xfrm>
            <a:prstGeom prst="rect">
              <a:avLst/>
            </a:prstGeom>
          </p:spPr>
          <p:txBody>
            <a:bodyPr anchor="t" rtlCol="false" tIns="0" lIns="0" bIns="0" rIns="0">
              <a:spAutoFit/>
            </a:bodyPr>
            <a:lstStyle/>
            <a:p>
              <a:pPr algn="just">
                <a:lnSpc>
                  <a:spcPts val="3439"/>
                </a:lnSpc>
              </a:pPr>
              <a:r>
                <a:rPr lang="en-US" sz="2457" spc="61">
                  <a:solidFill>
                    <a:srgbClr val="0B132B"/>
                  </a:solidFill>
                  <a:latin typeface="Rubik One"/>
                  <a:ea typeface="Rubik One"/>
                  <a:cs typeface="Rubik One"/>
                  <a:sym typeface="Rubik One"/>
                </a:rPr>
                <a:t>Diskrepansi </a:t>
              </a:r>
              <a:r>
                <a:rPr lang="en-US" sz="2457" spc="61">
                  <a:solidFill>
                    <a:srgbClr val="00B58F"/>
                  </a:solidFill>
                  <a:latin typeface="Rubik One"/>
                  <a:ea typeface="Rubik One"/>
                  <a:cs typeface="Rubik One"/>
                  <a:sym typeface="Rubik One"/>
                </a:rPr>
                <a:t>Entitas</a:t>
              </a:r>
            </a:p>
          </p:txBody>
        </p:sp>
      </p:grpSp>
      <p:grpSp>
        <p:nvGrpSpPr>
          <p:cNvPr name="Group 108" id="108"/>
          <p:cNvGrpSpPr/>
          <p:nvPr/>
        </p:nvGrpSpPr>
        <p:grpSpPr>
          <a:xfrm rot="0">
            <a:off x="1028700" y="7524359"/>
            <a:ext cx="5013345" cy="694562"/>
            <a:chOff x="0" y="0"/>
            <a:chExt cx="6684460" cy="926083"/>
          </a:xfrm>
        </p:grpSpPr>
        <p:grpSp>
          <p:nvGrpSpPr>
            <p:cNvPr name="Group 109" id="109"/>
            <p:cNvGrpSpPr/>
            <p:nvPr/>
          </p:nvGrpSpPr>
          <p:grpSpPr>
            <a:xfrm rot="0">
              <a:off x="0" y="0"/>
              <a:ext cx="6684460" cy="926083"/>
              <a:chOff x="0" y="0"/>
              <a:chExt cx="1376939" cy="190765"/>
            </a:xfrm>
          </p:grpSpPr>
          <p:sp>
            <p:nvSpPr>
              <p:cNvPr name="Freeform 110" id="110"/>
              <p:cNvSpPr/>
              <p:nvPr/>
            </p:nvSpPr>
            <p:spPr>
              <a:xfrm flipH="false" flipV="false" rot="0">
                <a:off x="0" y="0"/>
                <a:ext cx="1376939" cy="190765"/>
              </a:xfrm>
              <a:custGeom>
                <a:avLst/>
                <a:gdLst/>
                <a:ahLst/>
                <a:cxnLst/>
                <a:rect r="r" b="b" t="t" l="l"/>
                <a:pathLst>
                  <a:path h="190765" w="1376939">
                    <a:moveTo>
                      <a:pt x="15443" y="0"/>
                    </a:moveTo>
                    <a:lnTo>
                      <a:pt x="1361497" y="0"/>
                    </a:lnTo>
                    <a:cubicBezTo>
                      <a:pt x="1365592" y="0"/>
                      <a:pt x="1369520" y="1627"/>
                      <a:pt x="1372416" y="4523"/>
                    </a:cubicBezTo>
                    <a:cubicBezTo>
                      <a:pt x="1375312" y="7419"/>
                      <a:pt x="1376939" y="11347"/>
                      <a:pt x="1376939" y="15443"/>
                    </a:cubicBezTo>
                    <a:lnTo>
                      <a:pt x="1376939" y="175322"/>
                    </a:lnTo>
                    <a:cubicBezTo>
                      <a:pt x="1376939" y="183851"/>
                      <a:pt x="1370025" y="190765"/>
                      <a:pt x="1361497" y="190765"/>
                    </a:cubicBezTo>
                    <a:lnTo>
                      <a:pt x="15443" y="190765"/>
                    </a:lnTo>
                    <a:cubicBezTo>
                      <a:pt x="6914" y="190765"/>
                      <a:pt x="0" y="183851"/>
                      <a:pt x="0" y="175322"/>
                    </a:cubicBezTo>
                    <a:lnTo>
                      <a:pt x="0" y="15443"/>
                    </a:lnTo>
                    <a:cubicBezTo>
                      <a:pt x="0" y="6914"/>
                      <a:pt x="6914" y="0"/>
                      <a:pt x="15443" y="0"/>
                    </a:cubicBezTo>
                    <a:close/>
                  </a:path>
                </a:pathLst>
              </a:custGeom>
              <a:solidFill>
                <a:srgbClr val="EDF6F9"/>
              </a:solidFill>
              <a:ln cap="sq">
                <a:noFill/>
                <a:prstDash val="solid"/>
                <a:miter/>
              </a:ln>
            </p:spPr>
          </p:sp>
          <p:sp>
            <p:nvSpPr>
              <p:cNvPr name="TextBox 111" id="111"/>
              <p:cNvSpPr txBox="true"/>
              <p:nvPr/>
            </p:nvSpPr>
            <p:spPr>
              <a:xfrm>
                <a:off x="0" y="-38100"/>
                <a:ext cx="1376939" cy="228865"/>
              </a:xfrm>
              <a:prstGeom prst="rect">
                <a:avLst/>
              </a:prstGeom>
            </p:spPr>
            <p:txBody>
              <a:bodyPr anchor="ctr" rtlCol="false" tIns="47774" lIns="47774" bIns="47774" rIns="47774"/>
              <a:lstStyle/>
              <a:p>
                <a:pPr algn="ctr">
                  <a:lnSpc>
                    <a:spcPts val="2659"/>
                  </a:lnSpc>
                  <a:spcBef>
                    <a:spcPct val="0"/>
                  </a:spcBef>
                </a:pPr>
              </a:p>
            </p:txBody>
          </p:sp>
        </p:grpSp>
        <p:grpSp>
          <p:nvGrpSpPr>
            <p:cNvPr name="Group 112" id="112"/>
            <p:cNvGrpSpPr/>
            <p:nvPr/>
          </p:nvGrpSpPr>
          <p:grpSpPr>
            <a:xfrm rot="-10800000">
              <a:off x="224145" y="174257"/>
              <a:ext cx="669025" cy="585397"/>
              <a:chOff x="0" y="0"/>
              <a:chExt cx="812800" cy="711200"/>
            </a:xfrm>
          </p:grpSpPr>
          <p:sp>
            <p:nvSpPr>
              <p:cNvPr name="Freeform 113" id="113"/>
              <p:cNvSpPr/>
              <p:nvPr/>
            </p:nvSpPr>
            <p:spPr>
              <a:xfrm flipH="false" flipV="false" rot="0">
                <a:off x="64753" y="89539"/>
                <a:ext cx="683294" cy="621661"/>
              </a:xfrm>
              <a:custGeom>
                <a:avLst/>
                <a:gdLst/>
                <a:ahLst/>
                <a:cxnLst/>
                <a:rect r="r" b="b" t="t" l="l"/>
                <a:pathLst>
                  <a:path h="621661" w="683294">
                    <a:moveTo>
                      <a:pt x="418198" y="44424"/>
                    </a:moveTo>
                    <a:lnTo>
                      <a:pt x="671496" y="487698"/>
                    </a:lnTo>
                    <a:cubicBezTo>
                      <a:pt x="687332" y="515410"/>
                      <a:pt x="687219" y="549457"/>
                      <a:pt x="671198" y="577064"/>
                    </a:cubicBezTo>
                    <a:cubicBezTo>
                      <a:pt x="655177" y="604670"/>
                      <a:pt x="625673" y="621661"/>
                      <a:pt x="593754" y="621661"/>
                    </a:cubicBezTo>
                    <a:lnTo>
                      <a:pt x="89540" y="621661"/>
                    </a:lnTo>
                    <a:cubicBezTo>
                      <a:pt x="57621" y="621661"/>
                      <a:pt x="28117" y="604670"/>
                      <a:pt x="12096" y="577064"/>
                    </a:cubicBezTo>
                    <a:cubicBezTo>
                      <a:pt x="-3925" y="549457"/>
                      <a:pt x="-4038" y="515410"/>
                      <a:pt x="11798" y="487698"/>
                    </a:cubicBezTo>
                    <a:lnTo>
                      <a:pt x="265096" y="44424"/>
                    </a:lnTo>
                    <a:cubicBezTo>
                      <a:pt x="280794" y="16954"/>
                      <a:pt x="310008" y="0"/>
                      <a:pt x="341647" y="0"/>
                    </a:cubicBezTo>
                    <a:cubicBezTo>
                      <a:pt x="373286" y="0"/>
                      <a:pt x="402500" y="16954"/>
                      <a:pt x="418198" y="44424"/>
                    </a:cubicBezTo>
                    <a:close/>
                  </a:path>
                </a:pathLst>
              </a:custGeom>
              <a:solidFill>
                <a:srgbClr val="0B1E36"/>
              </a:solidFill>
              <a:ln cap="sq">
                <a:noFill/>
                <a:prstDash val="solid"/>
                <a:miter/>
              </a:ln>
            </p:spPr>
          </p:sp>
          <p:sp>
            <p:nvSpPr>
              <p:cNvPr name="TextBox 114" id="114"/>
              <p:cNvSpPr txBox="true"/>
              <p:nvPr/>
            </p:nvSpPr>
            <p:spPr>
              <a:xfrm>
                <a:off x="127000" y="292100"/>
                <a:ext cx="558800" cy="368300"/>
              </a:xfrm>
              <a:prstGeom prst="rect">
                <a:avLst/>
              </a:prstGeom>
            </p:spPr>
            <p:txBody>
              <a:bodyPr anchor="ctr" rtlCol="false" tIns="47774" lIns="47774" bIns="47774" rIns="47774"/>
              <a:lstStyle/>
              <a:p>
                <a:pPr algn="ctr">
                  <a:lnSpc>
                    <a:spcPts val="2659"/>
                  </a:lnSpc>
                </a:pPr>
              </a:p>
            </p:txBody>
          </p:sp>
        </p:grpSp>
        <p:sp>
          <p:nvSpPr>
            <p:cNvPr name="TextBox 115" id="115"/>
            <p:cNvSpPr txBox="true"/>
            <p:nvPr/>
          </p:nvSpPr>
          <p:spPr>
            <a:xfrm rot="0">
              <a:off x="893170" y="126632"/>
              <a:ext cx="5560921" cy="535913"/>
            </a:xfrm>
            <a:prstGeom prst="rect">
              <a:avLst/>
            </a:prstGeom>
          </p:spPr>
          <p:txBody>
            <a:bodyPr anchor="t" rtlCol="false" tIns="0" lIns="0" bIns="0" rIns="0">
              <a:spAutoFit/>
            </a:bodyPr>
            <a:lstStyle/>
            <a:p>
              <a:pPr algn="just">
                <a:lnSpc>
                  <a:spcPts val="3439"/>
                </a:lnSpc>
              </a:pPr>
              <a:r>
                <a:rPr lang="en-US" sz="2457" spc="61">
                  <a:solidFill>
                    <a:srgbClr val="0B132B"/>
                  </a:solidFill>
                  <a:latin typeface="Rubik One"/>
                  <a:ea typeface="Rubik One"/>
                  <a:cs typeface="Rubik One"/>
                  <a:sym typeface="Rubik One"/>
                </a:rPr>
                <a:t>Diskonuitas </a:t>
              </a:r>
              <a:r>
                <a:rPr lang="en-US" sz="2457" spc="61">
                  <a:solidFill>
                    <a:srgbClr val="00B58F"/>
                  </a:solidFill>
                  <a:latin typeface="Rubik One"/>
                  <a:ea typeface="Rubik One"/>
                  <a:cs typeface="Rubik One"/>
                  <a:sym typeface="Rubik One"/>
                </a:rPr>
                <a:t>Waktu</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5952812" y="8474412"/>
            <a:ext cx="4559724" cy="447540"/>
            <a:chOff x="0" y="0"/>
            <a:chExt cx="4059375" cy="398431"/>
          </a:xfrm>
        </p:grpSpPr>
        <p:sp>
          <p:nvSpPr>
            <p:cNvPr name="Freeform 3" id="3"/>
            <p:cNvSpPr/>
            <p:nvPr/>
          </p:nvSpPr>
          <p:spPr>
            <a:xfrm flipH="false" flipV="false" rot="0">
              <a:off x="9868" y="0"/>
              <a:ext cx="4039639" cy="398431"/>
            </a:xfrm>
            <a:custGeom>
              <a:avLst/>
              <a:gdLst/>
              <a:ahLst/>
              <a:cxnLst/>
              <a:rect r="r" b="b" t="t" l="l"/>
              <a:pathLst>
                <a:path h="398431" w="4039639">
                  <a:moveTo>
                    <a:pt x="218800" y="0"/>
                  </a:moveTo>
                  <a:lnTo>
                    <a:pt x="4024039" y="0"/>
                  </a:lnTo>
                  <a:cubicBezTo>
                    <a:pt x="4029468" y="0"/>
                    <a:pt x="4034506" y="2822"/>
                    <a:pt x="4037342" y="7452"/>
                  </a:cubicBezTo>
                  <a:cubicBezTo>
                    <a:pt x="4040177" y="12081"/>
                    <a:pt x="4040403" y="17852"/>
                    <a:pt x="4037936" y="22688"/>
                  </a:cubicBezTo>
                  <a:lnTo>
                    <a:pt x="3857878" y="375743"/>
                  </a:lnTo>
                  <a:cubicBezTo>
                    <a:pt x="3850777" y="389666"/>
                    <a:pt x="3836468" y="398431"/>
                    <a:pt x="3820839" y="398431"/>
                  </a:cubicBezTo>
                  <a:lnTo>
                    <a:pt x="15600" y="398431"/>
                  </a:lnTo>
                  <a:cubicBezTo>
                    <a:pt x="10171" y="398431"/>
                    <a:pt x="5133" y="395608"/>
                    <a:pt x="2297" y="390979"/>
                  </a:cubicBezTo>
                  <a:cubicBezTo>
                    <a:pt x="-538" y="386350"/>
                    <a:pt x="-764" y="380579"/>
                    <a:pt x="1703" y="375743"/>
                  </a:cubicBezTo>
                  <a:lnTo>
                    <a:pt x="181761" y="22688"/>
                  </a:lnTo>
                  <a:cubicBezTo>
                    <a:pt x="188862" y="8765"/>
                    <a:pt x="203171" y="0"/>
                    <a:pt x="218800" y="0"/>
                  </a:cubicBezTo>
                  <a:close/>
                </a:path>
              </a:pathLst>
            </a:custGeom>
            <a:solidFill>
              <a:srgbClr val="EDF6F9"/>
            </a:solidFill>
          </p:spPr>
        </p:sp>
        <p:sp>
          <p:nvSpPr>
            <p:cNvPr name="TextBox 4" id="4"/>
            <p:cNvSpPr txBox="true"/>
            <p:nvPr/>
          </p:nvSpPr>
          <p:spPr>
            <a:xfrm>
              <a:off x="101600" y="-38100"/>
              <a:ext cx="385617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56527" y="8473564"/>
            <a:ext cx="2473138" cy="447540"/>
            <a:chOff x="0" y="0"/>
            <a:chExt cx="2201755" cy="398431"/>
          </a:xfrm>
        </p:grpSpPr>
        <p:sp>
          <p:nvSpPr>
            <p:cNvPr name="Freeform 6" id="6"/>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7" id="7"/>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- 10</a:t>
            </a:r>
          </a:p>
        </p:txBody>
      </p:sp>
      <p:sp>
        <p:nvSpPr>
          <p:cNvPr name="TextBox 9" id="9"/>
          <p:cNvSpPr txBox="true"/>
          <p:nvPr/>
        </p:nvSpPr>
        <p:spPr>
          <a:xfrm rot="0">
            <a:off x="2616363" y="4056909"/>
            <a:ext cx="13055274" cy="2344632"/>
          </a:xfrm>
          <a:prstGeom prst="rect">
            <a:avLst/>
          </a:prstGeom>
        </p:spPr>
        <p:txBody>
          <a:bodyPr anchor="t" rtlCol="false" tIns="0" lIns="0" bIns="0" rIns="0">
            <a:spAutoFit/>
          </a:bodyPr>
          <a:lstStyle/>
          <a:p>
            <a:pPr algn="ctr">
              <a:lnSpc>
                <a:spcPts val="9058"/>
              </a:lnSpc>
            </a:pPr>
            <a:r>
              <a:rPr lang="en-US" sz="9058">
                <a:solidFill>
                  <a:srgbClr val="0B132B"/>
                </a:solidFill>
                <a:latin typeface="Rubik One"/>
                <a:ea typeface="Rubik One"/>
                <a:cs typeface="Rubik One"/>
                <a:sym typeface="Rubik One"/>
              </a:rPr>
              <a:t>EXPLORATORY </a:t>
            </a:r>
            <a:r>
              <a:rPr lang="en-US" sz="9058">
                <a:solidFill>
                  <a:srgbClr val="00B58F"/>
                </a:solidFill>
                <a:latin typeface="Rubik One"/>
                <a:ea typeface="Rubik One"/>
                <a:cs typeface="Rubik One"/>
                <a:sym typeface="Rubik One"/>
              </a:rPr>
              <a:t>DATA ANALYSIS</a:t>
            </a:r>
          </a:p>
        </p:txBody>
      </p:sp>
      <p:grpSp>
        <p:nvGrpSpPr>
          <p:cNvPr name="Group 10" id="10"/>
          <p:cNvGrpSpPr/>
          <p:nvPr/>
        </p:nvGrpSpPr>
        <p:grpSpPr>
          <a:xfrm rot="0">
            <a:off x="7270483" y="2999037"/>
            <a:ext cx="3747034" cy="613261"/>
            <a:chOff x="0" y="0"/>
            <a:chExt cx="4996045" cy="817681"/>
          </a:xfrm>
        </p:grpSpPr>
        <p:grpSp>
          <p:nvGrpSpPr>
            <p:cNvPr name="Group 11" id="11"/>
            <p:cNvGrpSpPr/>
            <p:nvPr/>
          </p:nvGrpSpPr>
          <p:grpSpPr>
            <a:xfrm rot="0">
              <a:off x="802794" y="0"/>
              <a:ext cx="1140217" cy="813012"/>
              <a:chOff x="0" y="0"/>
              <a:chExt cx="407622" cy="290648"/>
            </a:xfrm>
          </p:grpSpPr>
          <p:sp>
            <p:nvSpPr>
              <p:cNvPr name="Freeform 12" id="12"/>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3" id="13"/>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4" id="14"/>
            <p:cNvGrpSpPr/>
            <p:nvPr/>
          </p:nvGrpSpPr>
          <p:grpSpPr>
            <a:xfrm rot="0">
              <a:off x="1586425" y="4669"/>
              <a:ext cx="1140217" cy="813012"/>
              <a:chOff x="0" y="0"/>
              <a:chExt cx="407622" cy="290648"/>
            </a:xfrm>
          </p:grpSpPr>
          <p:sp>
            <p:nvSpPr>
              <p:cNvPr name="Freeform 15" id="15"/>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16" id="16"/>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7" id="17"/>
            <p:cNvGrpSpPr/>
            <p:nvPr/>
          </p:nvGrpSpPr>
          <p:grpSpPr>
            <a:xfrm rot="0">
              <a:off x="2355240" y="4669"/>
              <a:ext cx="1140217" cy="813012"/>
              <a:chOff x="0" y="0"/>
              <a:chExt cx="407622" cy="290648"/>
            </a:xfrm>
          </p:grpSpPr>
          <p:sp>
            <p:nvSpPr>
              <p:cNvPr name="Freeform 18" id="1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19" id="19"/>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0" id="20"/>
            <p:cNvGrpSpPr/>
            <p:nvPr/>
          </p:nvGrpSpPr>
          <p:grpSpPr>
            <a:xfrm rot="0">
              <a:off x="3087013" y="4669"/>
              <a:ext cx="1140217" cy="813012"/>
              <a:chOff x="0" y="0"/>
              <a:chExt cx="407622" cy="290648"/>
            </a:xfrm>
          </p:grpSpPr>
          <p:sp>
            <p:nvSpPr>
              <p:cNvPr name="Freeform 21" id="2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2" id="22"/>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3" id="23"/>
            <p:cNvGrpSpPr/>
            <p:nvPr/>
          </p:nvGrpSpPr>
          <p:grpSpPr>
            <a:xfrm rot="0">
              <a:off x="3855828" y="4669"/>
              <a:ext cx="1140217" cy="813012"/>
              <a:chOff x="0" y="0"/>
              <a:chExt cx="407622" cy="290648"/>
            </a:xfrm>
          </p:grpSpPr>
          <p:sp>
            <p:nvSpPr>
              <p:cNvPr name="Freeform 24" id="2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5" id="25"/>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6" id="26"/>
            <p:cNvGrpSpPr/>
            <p:nvPr/>
          </p:nvGrpSpPr>
          <p:grpSpPr>
            <a:xfrm rot="0">
              <a:off x="0" y="0"/>
              <a:ext cx="1140217" cy="813012"/>
              <a:chOff x="0" y="0"/>
              <a:chExt cx="407622" cy="290648"/>
            </a:xfrm>
          </p:grpSpPr>
          <p:sp>
            <p:nvSpPr>
              <p:cNvPr name="Freeform 27" id="2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28" id="28"/>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grpSp>
        <p:nvGrpSpPr>
          <p:cNvPr name="Group 29" id="29"/>
          <p:cNvGrpSpPr/>
          <p:nvPr/>
        </p:nvGrpSpPr>
        <p:grpSpPr>
          <a:xfrm rot="0">
            <a:off x="11502671" y="9960324"/>
            <a:ext cx="9960587" cy="1142074"/>
            <a:chOff x="0" y="0"/>
            <a:chExt cx="2572779" cy="294993"/>
          </a:xfrm>
        </p:grpSpPr>
        <p:sp>
          <p:nvSpPr>
            <p:cNvPr name="Freeform 30" id="3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31" id="3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0">
            <a:off x="-5959063" y="-784283"/>
            <a:ext cx="9960587" cy="1142074"/>
            <a:chOff x="0" y="0"/>
            <a:chExt cx="2572779" cy="294993"/>
          </a:xfrm>
        </p:grpSpPr>
        <p:sp>
          <p:nvSpPr>
            <p:cNvPr name="Freeform 33" id="3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34" id="3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5" id="35"/>
          <p:cNvGrpSpPr/>
          <p:nvPr/>
        </p:nvGrpSpPr>
        <p:grpSpPr>
          <a:xfrm rot="0">
            <a:off x="1028700" y="793061"/>
            <a:ext cx="4463067" cy="235560"/>
            <a:chOff x="0" y="0"/>
            <a:chExt cx="5950756" cy="314080"/>
          </a:xfrm>
        </p:grpSpPr>
        <p:sp>
          <p:nvSpPr>
            <p:cNvPr name="Freeform 36" id="36"/>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7" id="37"/>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956527" y="8473564"/>
            <a:ext cx="2473138" cy="447540"/>
            <a:chOff x="0" y="0"/>
            <a:chExt cx="2201755" cy="398431"/>
          </a:xfrm>
        </p:grpSpPr>
        <p:sp>
          <p:nvSpPr>
            <p:cNvPr name="Freeform 3" id="3"/>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4" id="4"/>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150242" y="9960324"/>
            <a:ext cx="9960587" cy="1142074"/>
            <a:chOff x="0" y="0"/>
            <a:chExt cx="2572779" cy="294993"/>
          </a:xfrm>
        </p:grpSpPr>
        <p:sp>
          <p:nvSpPr>
            <p:cNvPr name="Freeform 6" id="6"/>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7" id="7"/>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338615" y="-784283"/>
            <a:ext cx="12457569" cy="1142074"/>
            <a:chOff x="0" y="0"/>
            <a:chExt cx="3217739" cy="294993"/>
          </a:xfrm>
        </p:grpSpPr>
        <p:sp>
          <p:nvSpPr>
            <p:cNvPr name="Freeform 9" id="9"/>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10" id="10"/>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28700" y="793061"/>
            <a:ext cx="4463067" cy="235560"/>
            <a:chOff x="0" y="0"/>
            <a:chExt cx="5950756" cy="314080"/>
          </a:xfrm>
        </p:grpSpPr>
        <p:sp>
          <p:nvSpPr>
            <p:cNvPr name="Freeform 12" id="12"/>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Freeform 14" id="14"/>
          <p:cNvSpPr/>
          <p:nvPr/>
        </p:nvSpPr>
        <p:spPr>
          <a:xfrm flipH="false" flipV="false" rot="0">
            <a:off x="1085850" y="2651639"/>
            <a:ext cx="7566983" cy="2983947"/>
          </a:xfrm>
          <a:custGeom>
            <a:avLst/>
            <a:gdLst/>
            <a:ahLst/>
            <a:cxnLst/>
            <a:rect r="r" b="b" t="t" l="l"/>
            <a:pathLst>
              <a:path h="2983947" w="7566983">
                <a:moveTo>
                  <a:pt x="0" y="0"/>
                </a:moveTo>
                <a:lnTo>
                  <a:pt x="7566983" y="0"/>
                </a:lnTo>
                <a:lnTo>
                  <a:pt x="7566983" y="2983947"/>
                </a:lnTo>
                <a:lnTo>
                  <a:pt x="0" y="2983947"/>
                </a:lnTo>
                <a:lnTo>
                  <a:pt x="0" y="0"/>
                </a:lnTo>
                <a:close/>
              </a:path>
            </a:pathLst>
          </a:custGeom>
          <a:blipFill>
            <a:blip r:embed="rId4"/>
            <a:stretch>
              <a:fillRect l="0" t="0" r="0" b="0"/>
            </a:stretch>
          </a:blipFill>
          <a:ln w="38100" cap="sq">
            <a:solidFill>
              <a:srgbClr val="000000"/>
            </a:solidFill>
            <a:prstDash val="dash"/>
            <a:miter/>
          </a:ln>
        </p:spPr>
      </p:sp>
      <p:sp>
        <p:nvSpPr>
          <p:cNvPr name="Freeform 15" id="15"/>
          <p:cNvSpPr/>
          <p:nvPr/>
        </p:nvSpPr>
        <p:spPr>
          <a:xfrm flipH="false" flipV="false" rot="0">
            <a:off x="1085850" y="5692736"/>
            <a:ext cx="7566983" cy="3938098"/>
          </a:xfrm>
          <a:custGeom>
            <a:avLst/>
            <a:gdLst/>
            <a:ahLst/>
            <a:cxnLst/>
            <a:rect r="r" b="b" t="t" l="l"/>
            <a:pathLst>
              <a:path h="3938098" w="7566983">
                <a:moveTo>
                  <a:pt x="0" y="0"/>
                </a:moveTo>
                <a:lnTo>
                  <a:pt x="7566983" y="0"/>
                </a:lnTo>
                <a:lnTo>
                  <a:pt x="7566983" y="3938098"/>
                </a:lnTo>
                <a:lnTo>
                  <a:pt x="0" y="3938098"/>
                </a:lnTo>
                <a:lnTo>
                  <a:pt x="0" y="0"/>
                </a:lnTo>
                <a:close/>
              </a:path>
            </a:pathLst>
          </a:custGeom>
          <a:blipFill>
            <a:blip r:embed="rId5"/>
            <a:stretch>
              <a:fillRect l="0" t="0" r="0" b="-34162"/>
            </a:stretch>
          </a:blipFill>
          <a:ln w="38100" cap="sq">
            <a:solidFill>
              <a:srgbClr val="000000"/>
            </a:solidFill>
            <a:prstDash val="dash"/>
            <a:miter/>
          </a:ln>
        </p:spPr>
      </p:sp>
      <p:grpSp>
        <p:nvGrpSpPr>
          <p:cNvPr name="Group 16" id="16"/>
          <p:cNvGrpSpPr/>
          <p:nvPr/>
        </p:nvGrpSpPr>
        <p:grpSpPr>
          <a:xfrm rot="0">
            <a:off x="10113591" y="2651639"/>
            <a:ext cx="1815721" cy="1369315"/>
            <a:chOff x="0" y="0"/>
            <a:chExt cx="528322" cy="398431"/>
          </a:xfrm>
        </p:grpSpPr>
        <p:sp>
          <p:nvSpPr>
            <p:cNvPr name="Freeform 17" id="17"/>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sp>
        <p:sp>
          <p:nvSpPr>
            <p:cNvPr name="TextBox 18" id="18"/>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0113591" y="5848279"/>
            <a:ext cx="1815721" cy="1369315"/>
            <a:chOff x="0" y="0"/>
            <a:chExt cx="528322" cy="398431"/>
          </a:xfrm>
        </p:grpSpPr>
        <p:sp>
          <p:nvSpPr>
            <p:cNvPr name="Freeform 20" id="20"/>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sp>
        <p:sp>
          <p:nvSpPr>
            <p:cNvPr name="TextBox 21" id="21"/>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0162641" y="2221491"/>
            <a:ext cx="1279010" cy="1375280"/>
          </a:xfrm>
          <a:custGeom>
            <a:avLst/>
            <a:gdLst/>
            <a:ahLst/>
            <a:cxnLst/>
            <a:rect r="r" b="b" t="t" l="l"/>
            <a:pathLst>
              <a:path h="1375280" w="1279010">
                <a:moveTo>
                  <a:pt x="0" y="0"/>
                </a:moveTo>
                <a:lnTo>
                  <a:pt x="1279010" y="0"/>
                </a:lnTo>
                <a:lnTo>
                  <a:pt x="1279010" y="1375280"/>
                </a:lnTo>
                <a:lnTo>
                  <a:pt x="0" y="1375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0113591" y="5421083"/>
            <a:ext cx="1198206" cy="1369378"/>
          </a:xfrm>
          <a:custGeom>
            <a:avLst/>
            <a:gdLst/>
            <a:ahLst/>
            <a:cxnLst/>
            <a:rect r="r" b="b" t="t" l="l"/>
            <a:pathLst>
              <a:path h="1369378" w="1198206">
                <a:moveTo>
                  <a:pt x="0" y="0"/>
                </a:moveTo>
                <a:lnTo>
                  <a:pt x="1198205" y="0"/>
                </a:lnTo>
                <a:lnTo>
                  <a:pt x="1198205" y="1369377"/>
                </a:lnTo>
                <a:lnTo>
                  <a:pt x="0" y="13693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4" id="24"/>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- 11</a:t>
            </a:r>
          </a:p>
        </p:txBody>
      </p:sp>
      <p:sp>
        <p:nvSpPr>
          <p:cNvPr name="TextBox 25" id="25"/>
          <p:cNvSpPr txBox="true"/>
          <p:nvPr/>
        </p:nvSpPr>
        <p:spPr>
          <a:xfrm rot="0">
            <a:off x="1028700" y="1443591"/>
            <a:ext cx="18267881" cy="790575"/>
          </a:xfrm>
          <a:prstGeom prst="rect">
            <a:avLst/>
          </a:prstGeom>
        </p:spPr>
        <p:txBody>
          <a:bodyPr anchor="t" rtlCol="false" tIns="0" lIns="0" bIns="0" rIns="0">
            <a:spAutoFit/>
          </a:bodyPr>
          <a:lstStyle/>
          <a:p>
            <a:pPr algn="l">
              <a:lnSpc>
                <a:spcPts val="5999"/>
              </a:lnSpc>
            </a:pPr>
            <a:r>
              <a:rPr lang="en-US" sz="5999">
                <a:solidFill>
                  <a:srgbClr val="0B132B"/>
                </a:solidFill>
                <a:latin typeface="Rubik One"/>
                <a:ea typeface="Rubik One"/>
                <a:cs typeface="Rubik One"/>
                <a:sym typeface="Rubik One"/>
              </a:rPr>
              <a:t>Distribusi Target &amp; Korelasi Variabel</a:t>
            </a:r>
          </a:p>
        </p:txBody>
      </p:sp>
      <p:sp>
        <p:nvSpPr>
          <p:cNvPr name="TextBox 26" id="26"/>
          <p:cNvSpPr txBox="true"/>
          <p:nvPr/>
        </p:nvSpPr>
        <p:spPr>
          <a:xfrm rot="0">
            <a:off x="12120392" y="2718314"/>
            <a:ext cx="419254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Insight</a:t>
            </a:r>
          </a:p>
        </p:txBody>
      </p:sp>
      <p:sp>
        <p:nvSpPr>
          <p:cNvPr name="TextBox 27" id="27"/>
          <p:cNvSpPr txBox="true"/>
          <p:nvPr/>
        </p:nvSpPr>
        <p:spPr>
          <a:xfrm rot="0">
            <a:off x="11929311" y="3140342"/>
            <a:ext cx="5138908" cy="2515990"/>
          </a:xfrm>
          <a:prstGeom prst="rect">
            <a:avLst/>
          </a:prstGeom>
        </p:spPr>
        <p:txBody>
          <a:bodyPr anchor="t" rtlCol="false" tIns="0" lIns="0" bIns="0" rIns="0">
            <a:spAutoFit/>
          </a:bodyPr>
          <a:lstStyle/>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Ut</a:t>
            </a:r>
            <a:r>
              <a:rPr lang="en-US" sz="1820" spc="45">
                <a:solidFill>
                  <a:srgbClr val="0B132B"/>
                </a:solidFill>
                <a:latin typeface="Bricolage Grotesque"/>
                <a:ea typeface="Bricolage Grotesque"/>
                <a:cs typeface="Bricolage Grotesque"/>
                <a:sym typeface="Bricolage Grotesque"/>
              </a:rPr>
              <a:t>ilisasi </a:t>
            </a:r>
            <a:r>
              <a:rPr lang="en-US" b="true" sz="1820" spc="45">
                <a:solidFill>
                  <a:srgbClr val="0B132B"/>
                </a:solidFill>
                <a:latin typeface="Bricolage Grotesque Bold"/>
                <a:ea typeface="Bricolage Grotesque Bold"/>
                <a:cs typeface="Bricolage Grotesque Bold"/>
                <a:sym typeface="Bricolage Grotesque Bold"/>
              </a:rPr>
              <a:t>terklip </a:t>
            </a:r>
            <a:r>
              <a:rPr lang="en-US" sz="1820" spc="45">
                <a:solidFill>
                  <a:srgbClr val="0B132B"/>
                </a:solidFill>
                <a:latin typeface="Bricolage Grotesque"/>
                <a:ea typeface="Bricolage Grotesque"/>
                <a:cs typeface="Bricolage Grotesque"/>
                <a:sym typeface="Bricolage Grotesque"/>
              </a:rPr>
              <a:t>pada 0,02–0,98, dengan </a:t>
            </a:r>
            <a:r>
              <a:rPr lang="en-US" b="true" sz="1820" spc="45">
                <a:solidFill>
                  <a:srgbClr val="0B132B"/>
                </a:solidFill>
                <a:latin typeface="Bricolage Grotesque Bold"/>
                <a:ea typeface="Bricolage Grotesque Bold"/>
                <a:cs typeface="Bricolage Grotesque Bold"/>
                <a:sym typeface="Bricolage Grotesque Bold"/>
              </a:rPr>
              <a:t>dua puncak</a:t>
            </a:r>
            <a:r>
              <a:rPr lang="en-US" sz="1820" spc="45">
                <a:solidFill>
                  <a:srgbClr val="0B132B"/>
                </a:solidFill>
                <a:latin typeface="Bricolage Grotesque"/>
                <a:ea typeface="Bricolage Grotesque"/>
                <a:cs typeface="Bricolage Grotesque"/>
                <a:sym typeface="Bricolage Grotesque"/>
              </a:rPr>
              <a:t> distribusi yang mencerminkan </a:t>
            </a:r>
            <a:r>
              <a:rPr lang="en-US" b="true" sz="1820" spc="45">
                <a:solidFill>
                  <a:srgbClr val="0B132B"/>
                </a:solidFill>
                <a:latin typeface="Bricolage Grotesque Bold"/>
                <a:ea typeface="Bricolage Grotesque Bold"/>
                <a:cs typeface="Bricolage Grotesque Bold"/>
                <a:sym typeface="Bricolage Grotesque Bold"/>
              </a:rPr>
              <a:t>idle </a:t>
            </a:r>
            <a:r>
              <a:rPr lang="en-US" sz="1820" spc="45">
                <a:solidFill>
                  <a:srgbClr val="0B132B"/>
                </a:solidFill>
                <a:latin typeface="Bricolage Grotesque"/>
                <a:ea typeface="Bricolage Grotesque"/>
                <a:cs typeface="Bricolage Grotesque"/>
                <a:sym typeface="Bricolage Grotesque"/>
              </a:rPr>
              <a:t>dan </a:t>
            </a:r>
            <a:r>
              <a:rPr lang="en-US" b="true" sz="1820" spc="45">
                <a:solidFill>
                  <a:srgbClr val="0B132B"/>
                </a:solidFill>
                <a:latin typeface="Bricolage Grotesque Bold"/>
                <a:ea typeface="Bricolage Grotesque Bold"/>
                <a:cs typeface="Bricolage Grotesque Bold"/>
                <a:sym typeface="Bricolage Grotesque Bold"/>
              </a:rPr>
              <a:t>rush hours</a:t>
            </a:r>
          </a:p>
          <a:p>
            <a:pPr algn="just" marL="393000" indent="-196500" lvl="1">
              <a:lnSpc>
                <a:spcPts val="2548"/>
              </a:lnSpc>
              <a:buFont typeface="Arial"/>
              <a:buChar char="•"/>
            </a:pPr>
            <a:r>
              <a:rPr lang="en-US" b="true" sz="1820" spc="45">
                <a:solidFill>
                  <a:srgbClr val="0B132B"/>
                </a:solidFill>
                <a:latin typeface="Bricolage Grotesque Bold"/>
                <a:ea typeface="Bricolage Grotesque Bold"/>
                <a:cs typeface="Bricolage Grotesque Bold"/>
                <a:sym typeface="Bricolage Grotesque Bold"/>
              </a:rPr>
              <a:t>Harga </a:t>
            </a:r>
            <a:r>
              <a:rPr lang="en-US" sz="1820" spc="45">
                <a:solidFill>
                  <a:srgbClr val="0B132B"/>
                </a:solidFill>
                <a:latin typeface="Bricolage Grotesque"/>
                <a:ea typeface="Bricolage Grotesque"/>
                <a:cs typeface="Bricolage Grotesque"/>
                <a:sym typeface="Bricolage Grotesque"/>
              </a:rPr>
              <a:t>bensin berkorelasi </a:t>
            </a:r>
            <a:r>
              <a:rPr lang="en-US" b="true" sz="1820" spc="45">
                <a:solidFill>
                  <a:srgbClr val="0B132B"/>
                </a:solidFill>
                <a:latin typeface="Bricolage Grotesque Bold"/>
                <a:ea typeface="Bricolage Grotesque Bold"/>
                <a:cs typeface="Bricolage Grotesque Bold"/>
                <a:sym typeface="Bricolage Grotesque Bold"/>
              </a:rPr>
              <a:t>positif</a:t>
            </a:r>
            <a:r>
              <a:rPr lang="en-US" sz="1820" spc="45">
                <a:solidFill>
                  <a:srgbClr val="0B132B"/>
                </a:solidFill>
                <a:latin typeface="Bricolage Grotesque"/>
                <a:ea typeface="Bricolage Grotesque"/>
                <a:cs typeface="Bricolage Grotesque"/>
                <a:sym typeface="Bricolage Grotesque"/>
              </a:rPr>
              <a:t>, sementara </a:t>
            </a:r>
            <a:r>
              <a:rPr lang="en-US" b="true" sz="1820" spc="45">
                <a:solidFill>
                  <a:srgbClr val="0B132B"/>
                </a:solidFill>
                <a:latin typeface="Bricolage Grotesque Bold"/>
                <a:ea typeface="Bricolage Grotesque Bold"/>
                <a:cs typeface="Bricolage Grotesque Bold"/>
                <a:sym typeface="Bricolage Grotesque Bold"/>
              </a:rPr>
              <a:t>longitude </a:t>
            </a:r>
            <a:r>
              <a:rPr lang="en-US" sz="1820" spc="45">
                <a:solidFill>
                  <a:srgbClr val="0B132B"/>
                </a:solidFill>
                <a:latin typeface="Bricolage Grotesque"/>
                <a:ea typeface="Bricolage Grotesque"/>
                <a:cs typeface="Bricolage Grotesque"/>
                <a:sym typeface="Bricolage Grotesque"/>
              </a:rPr>
              <a:t>berkorelasi </a:t>
            </a:r>
            <a:r>
              <a:rPr lang="en-US" b="true" sz="1820" spc="45">
                <a:solidFill>
                  <a:srgbClr val="0B132B"/>
                </a:solidFill>
                <a:latin typeface="Bricolage Grotesque Bold"/>
                <a:ea typeface="Bricolage Grotesque Bold"/>
                <a:cs typeface="Bricolage Grotesque Bold"/>
                <a:sym typeface="Bricolage Grotesque Bold"/>
              </a:rPr>
              <a:t>negatif </a:t>
            </a:r>
            <a:r>
              <a:rPr lang="en-US" sz="1820" spc="45">
                <a:solidFill>
                  <a:srgbClr val="0B132B"/>
                </a:solidFill>
                <a:latin typeface="Bricolage Grotesque"/>
                <a:ea typeface="Bricolage Grotesque"/>
                <a:cs typeface="Bricolage Grotesque"/>
                <a:sym typeface="Bricolage Grotesque"/>
              </a:rPr>
              <a:t>dengan </a:t>
            </a:r>
            <a:r>
              <a:rPr lang="en-US" b="true" sz="1820" spc="45">
                <a:solidFill>
                  <a:srgbClr val="0B132B"/>
                </a:solidFill>
                <a:latin typeface="Bricolage Grotesque Bold"/>
                <a:ea typeface="Bricolage Grotesque Bold"/>
                <a:cs typeface="Bricolage Grotesque Bold"/>
                <a:sym typeface="Bricolage Grotesque Bold"/>
              </a:rPr>
              <a:t>utilisasi</a:t>
            </a:r>
            <a:r>
              <a:rPr lang="en-US" sz="1820" spc="45">
                <a:solidFill>
                  <a:srgbClr val="0B132B"/>
                </a:solidFill>
                <a:latin typeface="Bricolage Grotesque"/>
                <a:ea typeface="Bricolage Grotesque"/>
                <a:cs typeface="Bricolage Grotesque"/>
                <a:sym typeface="Bricolage Grotesque"/>
              </a:rPr>
              <a:t>.</a:t>
            </a:r>
          </a:p>
          <a:p>
            <a:pPr algn="just" marL="393000" indent="-196500" lvl="1">
              <a:lnSpc>
                <a:spcPts val="2548"/>
              </a:lnSpc>
              <a:buFont typeface="Arial"/>
              <a:buChar char="•"/>
            </a:pPr>
            <a:r>
              <a:rPr lang="en-US" b="true" sz="1820" spc="45">
                <a:solidFill>
                  <a:srgbClr val="0B132B"/>
                </a:solidFill>
                <a:latin typeface="Bricolage Grotesque Bold"/>
                <a:ea typeface="Bricolage Grotesque Bold"/>
                <a:cs typeface="Bricolage Grotesque Bold"/>
                <a:sym typeface="Bricolage Grotesque Bold"/>
              </a:rPr>
              <a:t>Harga </a:t>
            </a:r>
            <a:r>
              <a:rPr lang="en-US" sz="1820" spc="45">
                <a:solidFill>
                  <a:srgbClr val="0B132B"/>
                </a:solidFill>
                <a:latin typeface="Bricolage Grotesque"/>
                <a:ea typeface="Bricolage Grotesque"/>
                <a:cs typeface="Bricolage Grotesque"/>
                <a:sym typeface="Bricolage Grotesque"/>
              </a:rPr>
              <a:t>bensin lebih </a:t>
            </a:r>
            <a:r>
              <a:rPr lang="en-US" b="true" sz="1820" spc="45">
                <a:solidFill>
                  <a:srgbClr val="0B132B"/>
                </a:solidFill>
                <a:latin typeface="Bricolage Grotesque Bold"/>
                <a:ea typeface="Bricolage Grotesque Bold"/>
                <a:cs typeface="Bricolage Grotesque Bold"/>
                <a:sym typeface="Bricolage Grotesque Bold"/>
              </a:rPr>
              <a:t>tinggi </a:t>
            </a:r>
            <a:r>
              <a:rPr lang="en-US" sz="1820" spc="45">
                <a:solidFill>
                  <a:srgbClr val="0B132B"/>
                </a:solidFill>
                <a:latin typeface="Bricolage Grotesque"/>
                <a:ea typeface="Bricolage Grotesque"/>
                <a:cs typeface="Bricolage Grotesque"/>
                <a:sym typeface="Bricolage Grotesque"/>
              </a:rPr>
              <a:t>di </a:t>
            </a:r>
            <a:r>
              <a:rPr lang="en-US" b="true" sz="1820" spc="45">
                <a:solidFill>
                  <a:srgbClr val="0B132B"/>
                </a:solidFill>
                <a:latin typeface="Bricolage Grotesque Bold"/>
                <a:ea typeface="Bricolage Grotesque Bold"/>
                <a:cs typeface="Bricolage Grotesque Bold"/>
                <a:sym typeface="Bricolage Grotesque Bold"/>
              </a:rPr>
              <a:t>barat</a:t>
            </a:r>
            <a:r>
              <a:rPr lang="en-US" sz="1820" spc="45">
                <a:solidFill>
                  <a:srgbClr val="0B132B"/>
                </a:solidFill>
                <a:latin typeface="Bricolage Grotesque"/>
                <a:ea typeface="Bricolage Grotesque"/>
                <a:cs typeface="Bricolage Grotesque"/>
                <a:sym typeface="Bricolage Grotesque"/>
              </a:rPr>
              <a:t>; </a:t>
            </a:r>
            <a:r>
              <a:rPr lang="en-US" b="true" sz="1820" spc="45">
                <a:solidFill>
                  <a:srgbClr val="0B132B"/>
                </a:solidFill>
                <a:latin typeface="Bricolage Grotesque Bold"/>
                <a:ea typeface="Bricolage Grotesque Bold"/>
                <a:cs typeface="Bricolage Grotesque Bold"/>
                <a:sym typeface="Bricolage Grotesque Bold"/>
              </a:rPr>
              <a:t>suhu </a:t>
            </a:r>
            <a:r>
              <a:rPr lang="en-US" sz="1820" spc="45">
                <a:solidFill>
                  <a:srgbClr val="0B132B"/>
                </a:solidFill>
                <a:latin typeface="Bricolage Grotesque"/>
                <a:ea typeface="Bricolage Grotesque"/>
                <a:cs typeface="Bricolage Grotesque"/>
                <a:sym typeface="Bricolage Grotesque"/>
              </a:rPr>
              <a:t>cenderung lebih </a:t>
            </a:r>
            <a:r>
              <a:rPr lang="en-US" b="true" sz="1820" spc="45">
                <a:solidFill>
                  <a:srgbClr val="0B132B"/>
                </a:solidFill>
                <a:latin typeface="Bricolage Grotesque Bold"/>
                <a:ea typeface="Bricolage Grotesque Bold"/>
                <a:cs typeface="Bricolage Grotesque Bold"/>
                <a:sym typeface="Bricolage Grotesque Bold"/>
              </a:rPr>
              <a:t>rendah </a:t>
            </a:r>
            <a:r>
              <a:rPr lang="en-US" sz="1820" spc="45">
                <a:solidFill>
                  <a:srgbClr val="0B132B"/>
                </a:solidFill>
                <a:latin typeface="Bricolage Grotesque"/>
                <a:ea typeface="Bricolage Grotesque"/>
                <a:cs typeface="Bricolage Grotesque"/>
                <a:sym typeface="Bricolage Grotesque"/>
              </a:rPr>
              <a:t>di </a:t>
            </a:r>
            <a:r>
              <a:rPr lang="en-US" b="true" sz="1820" spc="45">
                <a:solidFill>
                  <a:srgbClr val="0B132B"/>
                </a:solidFill>
                <a:latin typeface="Bricolage Grotesque Bold"/>
                <a:ea typeface="Bricolage Grotesque Bold"/>
                <a:cs typeface="Bricolage Grotesque Bold"/>
                <a:sym typeface="Bricolage Grotesque Bold"/>
              </a:rPr>
              <a:t>utara</a:t>
            </a:r>
            <a:r>
              <a:rPr lang="en-US" sz="1820" spc="45">
                <a:solidFill>
                  <a:srgbClr val="0B132B"/>
                </a:solidFill>
                <a:latin typeface="Bricolage Grotesque"/>
                <a:ea typeface="Bricolage Grotesque"/>
                <a:cs typeface="Bricolage Grotesque"/>
                <a:sym typeface="Bricolage Grotesque"/>
              </a:rPr>
              <a:t>.</a:t>
            </a:r>
          </a:p>
        </p:txBody>
      </p:sp>
      <p:sp>
        <p:nvSpPr>
          <p:cNvPr name="TextBox 28" id="28"/>
          <p:cNvSpPr txBox="true"/>
          <p:nvPr/>
        </p:nvSpPr>
        <p:spPr>
          <a:xfrm rot="0">
            <a:off x="12120392" y="5914954"/>
            <a:ext cx="419254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Decision</a:t>
            </a:r>
          </a:p>
        </p:txBody>
      </p:sp>
      <p:sp>
        <p:nvSpPr>
          <p:cNvPr name="TextBox 29" id="29"/>
          <p:cNvSpPr txBox="true"/>
          <p:nvPr/>
        </p:nvSpPr>
        <p:spPr>
          <a:xfrm rot="0">
            <a:off x="11929311" y="6336983"/>
            <a:ext cx="5329989" cy="2830315"/>
          </a:xfrm>
          <a:prstGeom prst="rect">
            <a:avLst/>
          </a:prstGeom>
        </p:spPr>
        <p:txBody>
          <a:bodyPr anchor="t" rtlCol="false" tIns="0" lIns="0" bIns="0" rIns="0">
            <a:spAutoFit/>
          </a:bodyPr>
          <a:lstStyle/>
          <a:p>
            <a:pPr algn="just" marL="393000" indent="-196500" lvl="1">
              <a:lnSpc>
                <a:spcPts val="2548"/>
              </a:lnSpc>
              <a:buFont typeface="Arial"/>
              <a:buChar char="•"/>
            </a:pPr>
            <a:r>
              <a:rPr lang="en-US" b="true" sz="1820" spc="45">
                <a:solidFill>
                  <a:srgbClr val="0B132B"/>
                </a:solidFill>
                <a:latin typeface="Bricolage Grotesque Bold"/>
                <a:ea typeface="Bricolage Grotesque Bold"/>
                <a:cs typeface="Bricolage Grotesque Bold"/>
                <a:sym typeface="Bricolage Grotesque Bold"/>
              </a:rPr>
              <a:t>GBDT </a:t>
            </a:r>
            <a:r>
              <a:rPr lang="en-US" sz="1820" spc="45">
                <a:solidFill>
                  <a:srgbClr val="0B132B"/>
                </a:solidFill>
                <a:latin typeface="Bricolage Grotesque"/>
                <a:ea typeface="Bricolage Grotesque"/>
                <a:cs typeface="Bricolage Grotesque"/>
                <a:sym typeface="Bricolage Grotesque"/>
              </a:rPr>
              <a:t>dipilih untuk </a:t>
            </a:r>
            <a:r>
              <a:rPr lang="en-US" b="true" sz="1820" spc="45">
                <a:solidFill>
                  <a:srgbClr val="0B132B"/>
                </a:solidFill>
                <a:latin typeface="Bricolage Grotesque Bold"/>
                <a:ea typeface="Bricolage Grotesque Bold"/>
                <a:cs typeface="Bricolage Grotesque Bold"/>
                <a:sym typeface="Bricolage Grotesque Bold"/>
              </a:rPr>
              <a:t>menangkap </a:t>
            </a:r>
            <a:r>
              <a:rPr lang="en-US" sz="1820" spc="45">
                <a:solidFill>
                  <a:srgbClr val="0B132B"/>
                </a:solidFill>
                <a:latin typeface="Bricolage Grotesque"/>
                <a:ea typeface="Bricolage Grotesque"/>
                <a:cs typeface="Bricolage Grotesque"/>
                <a:sym typeface="Bricolage Grotesque"/>
              </a:rPr>
              <a:t>pola ut</a:t>
            </a:r>
            <a:r>
              <a:rPr lang="en-US" sz="1820" spc="45">
                <a:solidFill>
                  <a:srgbClr val="0B132B"/>
                </a:solidFill>
                <a:latin typeface="Bricolage Grotesque"/>
                <a:ea typeface="Bricolage Grotesque"/>
                <a:cs typeface="Bricolage Grotesque"/>
                <a:sym typeface="Bricolage Grotesque"/>
              </a:rPr>
              <a:t>ilisasi </a:t>
            </a:r>
            <a:r>
              <a:rPr lang="en-US" b="true" sz="1820" spc="45">
                <a:solidFill>
                  <a:srgbClr val="0B132B"/>
                </a:solidFill>
                <a:latin typeface="Bricolage Grotesque Bold"/>
                <a:ea typeface="Bricolage Grotesque Bold"/>
                <a:cs typeface="Bricolage Grotesque Bold"/>
                <a:sym typeface="Bricolage Grotesque Bold"/>
              </a:rPr>
              <a:t>nonlinier</a:t>
            </a:r>
            <a:r>
              <a:rPr lang="en-US" sz="1820" spc="45">
                <a:solidFill>
                  <a:srgbClr val="0B132B"/>
                </a:solidFill>
                <a:latin typeface="Bricolage Grotesque"/>
                <a:ea typeface="Bricolage Grotesque"/>
                <a:cs typeface="Bricolage Grotesque"/>
                <a:sym typeface="Bricolage Grotesque"/>
              </a:rPr>
              <a:t>, </a:t>
            </a:r>
            <a:r>
              <a:rPr lang="en-US" b="true" sz="1820" spc="45">
                <a:solidFill>
                  <a:srgbClr val="0B132B"/>
                </a:solidFill>
                <a:latin typeface="Bricolage Grotesque Bold"/>
                <a:ea typeface="Bricolage Grotesque Bold"/>
                <a:cs typeface="Bricolage Grotesque Bold"/>
                <a:sym typeface="Bricolage Grotesque Bold"/>
              </a:rPr>
              <a:t>batas </a:t>
            </a:r>
            <a:r>
              <a:rPr lang="en-US" sz="1820" spc="45">
                <a:solidFill>
                  <a:srgbClr val="0B132B"/>
                </a:solidFill>
                <a:latin typeface="Bricolage Grotesque"/>
                <a:ea typeface="Bricolage Grotesque"/>
                <a:cs typeface="Bricolage Grotesque"/>
                <a:sym typeface="Bricolage Grotesque"/>
              </a:rPr>
              <a:t>target, dan </a:t>
            </a:r>
            <a:r>
              <a:rPr lang="en-US" b="true" sz="1820" spc="45">
                <a:solidFill>
                  <a:srgbClr val="0B132B"/>
                </a:solidFill>
                <a:latin typeface="Bricolage Grotesque Bold"/>
                <a:ea typeface="Bricolage Grotesque Bold"/>
                <a:cs typeface="Bricolage Grotesque Bold"/>
                <a:sym typeface="Bricolage Grotesque Bold"/>
              </a:rPr>
              <a:t>interaksi </a:t>
            </a:r>
            <a:r>
              <a:rPr lang="en-US" sz="1820" spc="45">
                <a:solidFill>
                  <a:srgbClr val="0B132B"/>
                </a:solidFill>
                <a:latin typeface="Bricolage Grotesque"/>
                <a:ea typeface="Bricolage Grotesque"/>
                <a:cs typeface="Bricolage Grotesque"/>
                <a:sym typeface="Bricolage Grotesque"/>
              </a:rPr>
              <a:t>antar fitur.</a:t>
            </a:r>
          </a:p>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Sampel dengan </a:t>
            </a:r>
            <a:r>
              <a:rPr lang="en-US" b="true" sz="1820" spc="45">
                <a:solidFill>
                  <a:srgbClr val="0B132B"/>
                </a:solidFill>
                <a:latin typeface="Bricolage Grotesque Bold"/>
                <a:ea typeface="Bricolage Grotesque Bold"/>
                <a:cs typeface="Bricolage Grotesque Bold"/>
                <a:sym typeface="Bricolage Grotesque Bold"/>
              </a:rPr>
              <a:t>utilisasi ≥ 0,40</a:t>
            </a:r>
            <a:r>
              <a:rPr lang="en-US" sz="1820" spc="45">
                <a:solidFill>
                  <a:srgbClr val="0B132B"/>
                </a:solidFill>
                <a:latin typeface="Bricolage Grotesque"/>
                <a:ea typeface="Bricolage Grotesque"/>
                <a:cs typeface="Bricolage Grotesque"/>
                <a:sym typeface="Bricolage Grotesque"/>
              </a:rPr>
              <a:t> diberi </a:t>
            </a:r>
            <a:r>
              <a:rPr lang="en-US" b="true" sz="1820" spc="45">
                <a:solidFill>
                  <a:srgbClr val="0B132B"/>
                </a:solidFill>
                <a:latin typeface="Bricolage Grotesque Bold"/>
                <a:ea typeface="Bricolage Grotesque Bold"/>
                <a:cs typeface="Bricolage Grotesque Bold"/>
                <a:sym typeface="Bricolage Grotesque Bold"/>
              </a:rPr>
              <a:t>bobot 1,10×</a:t>
            </a:r>
            <a:r>
              <a:rPr lang="en-US" sz="1820" spc="45">
                <a:solidFill>
                  <a:srgbClr val="0B132B"/>
                </a:solidFill>
                <a:latin typeface="Bricolage Grotesque"/>
                <a:ea typeface="Bricolage Grotesque"/>
                <a:cs typeface="Bricolage Grotesque"/>
                <a:sym typeface="Bricolage Grotesque"/>
              </a:rPr>
              <a:t> untuk mengurangi prediksi rendah.</a:t>
            </a:r>
          </a:p>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Fitur </a:t>
            </a:r>
            <a:r>
              <a:rPr lang="en-US" b="true" sz="1820" spc="45">
                <a:solidFill>
                  <a:srgbClr val="0B132B"/>
                </a:solidFill>
                <a:latin typeface="Bricolage Grotesque Bold"/>
                <a:ea typeface="Bricolage Grotesque Bold"/>
                <a:cs typeface="Bricolage Grotesque Bold"/>
                <a:sym typeface="Bricolage Grotesque Bold"/>
              </a:rPr>
              <a:t>interaksi </a:t>
            </a:r>
            <a:r>
              <a:rPr lang="en-US" sz="1820" spc="45">
                <a:solidFill>
                  <a:srgbClr val="0B132B"/>
                </a:solidFill>
                <a:latin typeface="Bricolage Grotesque"/>
                <a:ea typeface="Bricolage Grotesque"/>
                <a:cs typeface="Bricolage Grotesque"/>
                <a:sym typeface="Bricolage Grotesque"/>
              </a:rPr>
              <a:t>dan </a:t>
            </a:r>
            <a:r>
              <a:rPr lang="en-US" b="true" sz="1820" spc="45">
                <a:solidFill>
                  <a:srgbClr val="0B132B"/>
                </a:solidFill>
                <a:latin typeface="Bricolage Grotesque Bold"/>
                <a:ea typeface="Bricolage Grotesque Bold"/>
                <a:cs typeface="Bricolage Grotesque Bold"/>
                <a:sym typeface="Bricolage Grotesque Bold"/>
              </a:rPr>
              <a:t>profil Bayesian</a:t>
            </a:r>
            <a:r>
              <a:rPr lang="en-US" sz="1820" spc="45">
                <a:solidFill>
                  <a:srgbClr val="0B132B"/>
                </a:solidFill>
                <a:latin typeface="Bricolage Grotesque"/>
                <a:ea typeface="Bricolage Grotesque"/>
                <a:cs typeface="Bricolage Grotesque"/>
                <a:sym typeface="Bricolage Grotesque"/>
              </a:rPr>
              <a:t> membantu </a:t>
            </a:r>
            <a:r>
              <a:rPr lang="en-US" b="true" sz="1820" spc="45">
                <a:solidFill>
                  <a:srgbClr val="0B132B"/>
                </a:solidFill>
                <a:latin typeface="Bricolage Grotesque Bold"/>
                <a:ea typeface="Bricolage Grotesque Bold"/>
                <a:cs typeface="Bricolage Grotesque Bold"/>
                <a:sym typeface="Bricolage Grotesque Bold"/>
              </a:rPr>
              <a:t>merepresentasikan </a:t>
            </a:r>
            <a:r>
              <a:rPr lang="en-US" sz="1820" spc="45">
                <a:solidFill>
                  <a:srgbClr val="0B132B"/>
                </a:solidFill>
                <a:latin typeface="Bricolage Grotesque"/>
                <a:ea typeface="Bricolage Grotesque"/>
                <a:cs typeface="Bricolage Grotesque"/>
                <a:sym typeface="Bricolage Grotesque"/>
              </a:rPr>
              <a:t>perbedaan pola </a:t>
            </a:r>
            <a:r>
              <a:rPr lang="en-US" b="true" sz="1820" spc="45">
                <a:solidFill>
                  <a:srgbClr val="0B132B"/>
                </a:solidFill>
                <a:latin typeface="Bricolage Grotesque Bold"/>
                <a:ea typeface="Bricolage Grotesque Bold"/>
                <a:cs typeface="Bricolage Grotesque Bold"/>
                <a:sym typeface="Bricolage Grotesque Bold"/>
              </a:rPr>
              <a:t>stasiun</a:t>
            </a:r>
            <a:r>
              <a:rPr lang="en-US" sz="1820" spc="45">
                <a:solidFill>
                  <a:srgbClr val="0B132B"/>
                </a:solidFill>
                <a:latin typeface="Bricolage Grotesque"/>
                <a:ea typeface="Bricolage Grotesque"/>
                <a:cs typeface="Bricolage Grotesque"/>
                <a:sym typeface="Bricolage Grotesque"/>
              </a:rPr>
              <a:t>, </a:t>
            </a:r>
            <a:r>
              <a:rPr lang="en-US" b="true" sz="1820" spc="45">
                <a:solidFill>
                  <a:srgbClr val="0B132B"/>
                </a:solidFill>
                <a:latin typeface="Bricolage Grotesque Bold"/>
                <a:ea typeface="Bricolage Grotesque Bold"/>
                <a:cs typeface="Bricolage Grotesque Bold"/>
                <a:sym typeface="Bricolage Grotesque Bold"/>
              </a:rPr>
              <a:t>waktu</a:t>
            </a:r>
            <a:r>
              <a:rPr lang="en-US" sz="1820" spc="45">
                <a:solidFill>
                  <a:srgbClr val="0B132B"/>
                </a:solidFill>
                <a:latin typeface="Bricolage Grotesque"/>
                <a:ea typeface="Bricolage Grotesque"/>
                <a:cs typeface="Bricolage Grotesque"/>
                <a:sym typeface="Bricolage Grotesque"/>
              </a:rPr>
              <a:t>, </a:t>
            </a:r>
            <a:r>
              <a:rPr lang="en-US" b="true" sz="1820" spc="45">
                <a:solidFill>
                  <a:srgbClr val="0B132B"/>
                </a:solidFill>
                <a:latin typeface="Bricolage Grotesque Bold"/>
                <a:ea typeface="Bricolage Grotesque Bold"/>
                <a:cs typeface="Bricolage Grotesque Bold"/>
                <a:sym typeface="Bricolage Grotesque Bold"/>
              </a:rPr>
              <a:t>lokasi</a:t>
            </a:r>
            <a:r>
              <a:rPr lang="en-US" sz="1820" spc="45">
                <a:solidFill>
                  <a:srgbClr val="0B132B"/>
                </a:solidFill>
                <a:latin typeface="Bricolage Grotesque"/>
                <a:ea typeface="Bricolage Grotesque"/>
                <a:cs typeface="Bricolage Grotesque"/>
                <a:sym typeface="Bricolage Grotesque"/>
              </a:rPr>
              <a:t>, serta </a:t>
            </a:r>
            <a:r>
              <a:rPr lang="en-US" b="true" sz="1820" spc="45">
                <a:solidFill>
                  <a:srgbClr val="0B132B"/>
                </a:solidFill>
                <a:latin typeface="Bricolage Grotesque Bold"/>
                <a:ea typeface="Bricolage Grotesque Bold"/>
                <a:cs typeface="Bricolage Grotesque Bold"/>
                <a:sym typeface="Bricolage Grotesque Bold"/>
              </a:rPr>
              <a:t>cuaca</a:t>
            </a:r>
            <a:r>
              <a:rPr lang="en-US" sz="1820" spc="45">
                <a:solidFill>
                  <a:srgbClr val="0B132B"/>
                </a:solidFill>
                <a:latin typeface="Bricolage Grotesque"/>
                <a:ea typeface="Bricolage Grotesque"/>
                <a:cs typeface="Bricolage Grotesque"/>
                <a:sym typeface="Bricolage Grotesque"/>
              </a:rPr>
              <a: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956527" y="8473564"/>
            <a:ext cx="2473138" cy="447540"/>
            <a:chOff x="0" y="0"/>
            <a:chExt cx="2201755" cy="398431"/>
          </a:xfrm>
        </p:grpSpPr>
        <p:sp>
          <p:nvSpPr>
            <p:cNvPr name="Freeform 3" id="3"/>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4" id="4"/>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793061"/>
            <a:ext cx="4463067" cy="235560"/>
            <a:chOff x="0" y="0"/>
            <a:chExt cx="5950756" cy="314080"/>
          </a:xfrm>
        </p:grpSpPr>
        <p:sp>
          <p:nvSpPr>
            <p:cNvPr name="Freeform 6" id="6"/>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8" id="8"/>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- 12</a:t>
            </a:r>
          </a:p>
        </p:txBody>
      </p:sp>
      <p:sp>
        <p:nvSpPr>
          <p:cNvPr name="TextBox 9" id="9"/>
          <p:cNvSpPr txBox="true"/>
          <p:nvPr/>
        </p:nvSpPr>
        <p:spPr>
          <a:xfrm rot="0">
            <a:off x="1028700" y="1443591"/>
            <a:ext cx="18267881" cy="790575"/>
          </a:xfrm>
          <a:prstGeom prst="rect">
            <a:avLst/>
          </a:prstGeom>
        </p:spPr>
        <p:txBody>
          <a:bodyPr anchor="t" rtlCol="false" tIns="0" lIns="0" bIns="0" rIns="0">
            <a:spAutoFit/>
          </a:bodyPr>
          <a:lstStyle/>
          <a:p>
            <a:pPr algn="l">
              <a:lnSpc>
                <a:spcPts val="5999"/>
              </a:lnSpc>
            </a:pPr>
            <a:r>
              <a:rPr lang="en-US" sz="5999">
                <a:solidFill>
                  <a:srgbClr val="0B132B"/>
                </a:solidFill>
                <a:latin typeface="Rubik One"/>
                <a:ea typeface="Rubik One"/>
                <a:cs typeface="Rubik One"/>
                <a:sym typeface="Rubik One"/>
              </a:rPr>
              <a:t>Pola Utilisasi Harian &amp; Jumlah Port</a:t>
            </a:r>
          </a:p>
        </p:txBody>
      </p:sp>
      <p:sp>
        <p:nvSpPr>
          <p:cNvPr name="Freeform 10" id="10"/>
          <p:cNvSpPr/>
          <p:nvPr/>
        </p:nvSpPr>
        <p:spPr>
          <a:xfrm flipH="false" flipV="false" rot="0">
            <a:off x="794718" y="2655780"/>
            <a:ext cx="9001630" cy="2952595"/>
          </a:xfrm>
          <a:custGeom>
            <a:avLst/>
            <a:gdLst/>
            <a:ahLst/>
            <a:cxnLst/>
            <a:rect r="r" b="b" t="t" l="l"/>
            <a:pathLst>
              <a:path h="2952595" w="9001630">
                <a:moveTo>
                  <a:pt x="0" y="0"/>
                </a:moveTo>
                <a:lnTo>
                  <a:pt x="9001630" y="0"/>
                </a:lnTo>
                <a:lnTo>
                  <a:pt x="9001630" y="2952595"/>
                </a:lnTo>
                <a:lnTo>
                  <a:pt x="0" y="2952595"/>
                </a:lnTo>
                <a:lnTo>
                  <a:pt x="0" y="0"/>
                </a:lnTo>
                <a:close/>
              </a:path>
            </a:pathLst>
          </a:custGeom>
          <a:blipFill>
            <a:blip r:embed="rId4"/>
            <a:stretch>
              <a:fillRect l="0" t="0" r="0" b="0"/>
            </a:stretch>
          </a:blipFill>
          <a:ln w="38100" cap="sq">
            <a:solidFill>
              <a:srgbClr val="000000"/>
            </a:solidFill>
            <a:prstDash val="dash"/>
            <a:miter/>
          </a:ln>
        </p:spPr>
      </p:sp>
      <p:sp>
        <p:nvSpPr>
          <p:cNvPr name="Freeform 11" id="11"/>
          <p:cNvSpPr/>
          <p:nvPr/>
        </p:nvSpPr>
        <p:spPr>
          <a:xfrm flipH="false" flipV="false" rot="0">
            <a:off x="794718" y="5656000"/>
            <a:ext cx="9001630" cy="3549682"/>
          </a:xfrm>
          <a:custGeom>
            <a:avLst/>
            <a:gdLst/>
            <a:ahLst/>
            <a:cxnLst/>
            <a:rect r="r" b="b" t="t" l="l"/>
            <a:pathLst>
              <a:path h="3549682" w="9001630">
                <a:moveTo>
                  <a:pt x="0" y="0"/>
                </a:moveTo>
                <a:lnTo>
                  <a:pt x="9001630" y="0"/>
                </a:lnTo>
                <a:lnTo>
                  <a:pt x="9001630" y="3549682"/>
                </a:lnTo>
                <a:lnTo>
                  <a:pt x="0" y="3549682"/>
                </a:lnTo>
                <a:lnTo>
                  <a:pt x="0" y="0"/>
                </a:lnTo>
                <a:close/>
              </a:path>
            </a:pathLst>
          </a:custGeom>
          <a:blipFill>
            <a:blip r:embed="rId5"/>
            <a:stretch>
              <a:fillRect l="0" t="0" r="0" b="0"/>
            </a:stretch>
          </a:blipFill>
          <a:ln w="38100" cap="sq">
            <a:solidFill>
              <a:srgbClr val="000000"/>
            </a:solidFill>
            <a:prstDash val="dash"/>
            <a:miter/>
          </a:ln>
        </p:spPr>
      </p:sp>
      <p:grpSp>
        <p:nvGrpSpPr>
          <p:cNvPr name="Group 12" id="12"/>
          <p:cNvGrpSpPr/>
          <p:nvPr/>
        </p:nvGrpSpPr>
        <p:grpSpPr>
          <a:xfrm rot="0">
            <a:off x="10113591" y="2651639"/>
            <a:ext cx="1815721" cy="1369315"/>
            <a:chOff x="0" y="0"/>
            <a:chExt cx="528322" cy="398431"/>
          </a:xfrm>
        </p:grpSpPr>
        <p:sp>
          <p:nvSpPr>
            <p:cNvPr name="Freeform 13" id="13"/>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sp>
        <p:sp>
          <p:nvSpPr>
            <p:cNvPr name="TextBox 14" id="14"/>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113591" y="5848279"/>
            <a:ext cx="1815721" cy="1369315"/>
            <a:chOff x="0" y="0"/>
            <a:chExt cx="528322" cy="398431"/>
          </a:xfrm>
        </p:grpSpPr>
        <p:sp>
          <p:nvSpPr>
            <p:cNvPr name="Freeform 16" id="16"/>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sp>
        <p:sp>
          <p:nvSpPr>
            <p:cNvPr name="TextBox 17" id="17"/>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0162641" y="2221491"/>
            <a:ext cx="1279010" cy="1375280"/>
          </a:xfrm>
          <a:custGeom>
            <a:avLst/>
            <a:gdLst/>
            <a:ahLst/>
            <a:cxnLst/>
            <a:rect r="r" b="b" t="t" l="l"/>
            <a:pathLst>
              <a:path h="1375280" w="1279010">
                <a:moveTo>
                  <a:pt x="0" y="0"/>
                </a:moveTo>
                <a:lnTo>
                  <a:pt x="1279010" y="0"/>
                </a:lnTo>
                <a:lnTo>
                  <a:pt x="1279010" y="1375280"/>
                </a:lnTo>
                <a:lnTo>
                  <a:pt x="0" y="1375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10113591" y="5421083"/>
            <a:ext cx="1198206" cy="1369378"/>
          </a:xfrm>
          <a:custGeom>
            <a:avLst/>
            <a:gdLst/>
            <a:ahLst/>
            <a:cxnLst/>
            <a:rect r="r" b="b" t="t" l="l"/>
            <a:pathLst>
              <a:path h="1369378" w="1198206">
                <a:moveTo>
                  <a:pt x="0" y="0"/>
                </a:moveTo>
                <a:lnTo>
                  <a:pt x="1198205" y="0"/>
                </a:lnTo>
                <a:lnTo>
                  <a:pt x="1198205" y="1369377"/>
                </a:lnTo>
                <a:lnTo>
                  <a:pt x="0" y="13693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0" id="20"/>
          <p:cNvSpPr txBox="true"/>
          <p:nvPr/>
        </p:nvSpPr>
        <p:spPr>
          <a:xfrm rot="0">
            <a:off x="12120392" y="2718314"/>
            <a:ext cx="419254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Insight</a:t>
            </a:r>
          </a:p>
        </p:txBody>
      </p:sp>
      <p:sp>
        <p:nvSpPr>
          <p:cNvPr name="TextBox 21" id="21"/>
          <p:cNvSpPr txBox="true"/>
          <p:nvPr/>
        </p:nvSpPr>
        <p:spPr>
          <a:xfrm rot="0">
            <a:off x="11929311" y="3140342"/>
            <a:ext cx="5329989" cy="2515990"/>
          </a:xfrm>
          <a:prstGeom prst="rect">
            <a:avLst/>
          </a:prstGeom>
        </p:spPr>
        <p:txBody>
          <a:bodyPr anchor="t" rtlCol="false" tIns="0" lIns="0" bIns="0" rIns="0">
            <a:spAutoFit/>
          </a:bodyPr>
          <a:lstStyle/>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Ut</a:t>
            </a:r>
            <a:r>
              <a:rPr lang="en-US" sz="1820" spc="45">
                <a:solidFill>
                  <a:srgbClr val="0B132B"/>
                </a:solidFill>
                <a:latin typeface="Bricolage Grotesque"/>
                <a:ea typeface="Bricolage Grotesque"/>
                <a:cs typeface="Bricolage Grotesque"/>
                <a:sym typeface="Bricolage Grotesque"/>
              </a:rPr>
              <a:t>ilisasi </a:t>
            </a:r>
            <a:r>
              <a:rPr lang="en-US" b="true" sz="1820" spc="45">
                <a:solidFill>
                  <a:srgbClr val="0B132B"/>
                </a:solidFill>
                <a:latin typeface="Bricolage Grotesque Bold"/>
                <a:ea typeface="Bricolage Grotesque Bold"/>
                <a:cs typeface="Bricolage Grotesque Bold"/>
                <a:sym typeface="Bricolage Grotesque Bold"/>
              </a:rPr>
              <a:t>terendah </a:t>
            </a:r>
            <a:r>
              <a:rPr lang="en-US" sz="1820" spc="45">
                <a:solidFill>
                  <a:srgbClr val="0B132B"/>
                </a:solidFill>
                <a:latin typeface="Bricolage Grotesque"/>
                <a:ea typeface="Bricolage Grotesque"/>
                <a:cs typeface="Bricolage Grotesque"/>
                <a:sym typeface="Bricolage Grotesque"/>
              </a:rPr>
              <a:t>terjadi </a:t>
            </a:r>
            <a:r>
              <a:rPr lang="en-US" b="true" sz="1820" spc="45">
                <a:solidFill>
                  <a:srgbClr val="0B132B"/>
                </a:solidFill>
                <a:latin typeface="Bricolage Grotesque Bold"/>
                <a:ea typeface="Bricolage Grotesque Bold"/>
                <a:cs typeface="Bricolage Grotesque Bold"/>
                <a:sym typeface="Bricolage Grotesque Bold"/>
              </a:rPr>
              <a:t>dini </a:t>
            </a:r>
            <a:r>
              <a:rPr lang="en-US" sz="1820" spc="45">
                <a:solidFill>
                  <a:srgbClr val="0B132B"/>
                </a:solidFill>
                <a:latin typeface="Bricolage Grotesque"/>
                <a:ea typeface="Bricolage Grotesque"/>
                <a:cs typeface="Bricolage Grotesque"/>
                <a:sym typeface="Bricolage Grotesque"/>
              </a:rPr>
              <a:t>hari, lalu </a:t>
            </a:r>
            <a:r>
              <a:rPr lang="en-US" b="true" sz="1820" spc="45">
                <a:solidFill>
                  <a:srgbClr val="0B132B"/>
                </a:solidFill>
                <a:latin typeface="Bricolage Grotesque Bold"/>
                <a:ea typeface="Bricolage Grotesque Bold"/>
                <a:cs typeface="Bricolage Grotesque Bold"/>
                <a:sym typeface="Bricolage Grotesque Bold"/>
              </a:rPr>
              <a:t>meningkat </a:t>
            </a:r>
            <a:r>
              <a:rPr lang="en-US" sz="1820" spc="45">
                <a:solidFill>
                  <a:srgbClr val="0B132B"/>
                </a:solidFill>
                <a:latin typeface="Bricolage Grotesque"/>
                <a:ea typeface="Bricolage Grotesque"/>
                <a:cs typeface="Bricolage Grotesque"/>
                <a:sym typeface="Bricolage Grotesque"/>
              </a:rPr>
              <a:t>menuju puncak </a:t>
            </a:r>
            <a:r>
              <a:rPr lang="en-US" b="true" sz="1820" spc="45">
                <a:solidFill>
                  <a:srgbClr val="0B132B"/>
                </a:solidFill>
                <a:latin typeface="Bricolage Grotesque Bold"/>
                <a:ea typeface="Bricolage Grotesque Bold"/>
                <a:cs typeface="Bricolage Grotesque Bold"/>
                <a:sym typeface="Bricolage Grotesque Bold"/>
              </a:rPr>
              <a:t>siang </a:t>
            </a:r>
            <a:r>
              <a:rPr lang="en-US" sz="1820" spc="45">
                <a:solidFill>
                  <a:srgbClr val="0B132B"/>
                </a:solidFill>
                <a:latin typeface="Bricolage Grotesque"/>
                <a:ea typeface="Bricolage Grotesque"/>
                <a:cs typeface="Bricolage Grotesque"/>
                <a:sym typeface="Bricolage Grotesque"/>
              </a:rPr>
              <a:t>dan </a:t>
            </a:r>
            <a:r>
              <a:rPr lang="en-US" b="true" sz="1820" spc="45">
                <a:solidFill>
                  <a:srgbClr val="0B132B"/>
                </a:solidFill>
                <a:latin typeface="Bricolage Grotesque Bold"/>
                <a:ea typeface="Bricolage Grotesque Bold"/>
                <a:cs typeface="Bricolage Grotesque Bold"/>
                <a:sym typeface="Bricolage Grotesque Bold"/>
              </a:rPr>
              <a:t>sore</a:t>
            </a:r>
            <a:r>
              <a:rPr lang="en-US" sz="1820" spc="45">
                <a:solidFill>
                  <a:srgbClr val="0B132B"/>
                </a:solidFill>
                <a:latin typeface="Bricolage Grotesque"/>
                <a:ea typeface="Bricolage Grotesque"/>
                <a:cs typeface="Bricolage Grotesque"/>
                <a:sym typeface="Bricolage Grotesque"/>
              </a:rPr>
              <a:t>.</a:t>
            </a:r>
          </a:p>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Hari </a:t>
            </a:r>
            <a:r>
              <a:rPr lang="en-US" b="true" sz="1820" spc="45">
                <a:solidFill>
                  <a:srgbClr val="0B132B"/>
                </a:solidFill>
                <a:latin typeface="Bricolage Grotesque Bold"/>
                <a:ea typeface="Bricolage Grotesque Bold"/>
                <a:cs typeface="Bricolage Grotesque Bold"/>
                <a:sym typeface="Bricolage Grotesque Bold"/>
              </a:rPr>
              <a:t>kerja </a:t>
            </a:r>
            <a:r>
              <a:rPr lang="en-US" sz="1820" spc="45">
                <a:solidFill>
                  <a:srgbClr val="0B132B"/>
                </a:solidFill>
                <a:latin typeface="Bricolage Grotesque"/>
                <a:ea typeface="Bricolage Grotesque"/>
                <a:cs typeface="Bricolage Grotesque"/>
                <a:sym typeface="Bricolage Grotesque"/>
              </a:rPr>
              <a:t>menunjukkan </a:t>
            </a:r>
            <a:r>
              <a:rPr lang="en-US" b="true" sz="1820" spc="45">
                <a:solidFill>
                  <a:srgbClr val="0B132B"/>
                </a:solidFill>
                <a:latin typeface="Bricolage Grotesque Bold"/>
                <a:ea typeface="Bricolage Grotesque Bold"/>
                <a:cs typeface="Bricolage Grotesque Bold"/>
                <a:sym typeface="Bricolage Grotesque Bold"/>
              </a:rPr>
              <a:t>puncak </a:t>
            </a:r>
            <a:r>
              <a:rPr lang="en-US" sz="1820" spc="45">
                <a:solidFill>
                  <a:srgbClr val="0B132B"/>
                </a:solidFill>
                <a:latin typeface="Bricolage Grotesque"/>
                <a:ea typeface="Bricolage Grotesque"/>
                <a:cs typeface="Bricolage Grotesque"/>
                <a:sym typeface="Bricolage Grotesque"/>
              </a:rPr>
              <a:t>komuter lebih </a:t>
            </a:r>
            <a:r>
              <a:rPr lang="en-US" b="true" sz="1820" spc="45">
                <a:solidFill>
                  <a:srgbClr val="0B132B"/>
                </a:solidFill>
                <a:latin typeface="Bricolage Grotesque Bold"/>
                <a:ea typeface="Bricolage Grotesque Bold"/>
                <a:cs typeface="Bricolage Grotesque Bold"/>
                <a:sym typeface="Bricolage Grotesque Bold"/>
              </a:rPr>
              <a:t>jelas</a:t>
            </a:r>
            <a:r>
              <a:rPr lang="en-US" sz="1820" spc="45">
                <a:solidFill>
                  <a:srgbClr val="0B132B"/>
                </a:solidFill>
                <a:latin typeface="Bricolage Grotesque"/>
                <a:ea typeface="Bricolage Grotesque"/>
                <a:cs typeface="Bricolage Grotesque"/>
                <a:sym typeface="Bricolage Grotesque"/>
              </a:rPr>
              <a:t>; akhir </a:t>
            </a:r>
            <a:r>
              <a:rPr lang="en-US" b="true" sz="1820" spc="45">
                <a:solidFill>
                  <a:srgbClr val="0B132B"/>
                </a:solidFill>
                <a:latin typeface="Bricolage Grotesque Bold"/>
                <a:ea typeface="Bricolage Grotesque Bold"/>
                <a:cs typeface="Bricolage Grotesque Bold"/>
                <a:sym typeface="Bricolage Grotesque Bold"/>
              </a:rPr>
              <a:t>pekan </a:t>
            </a:r>
            <a:r>
              <a:rPr lang="en-US" sz="1820" spc="45">
                <a:solidFill>
                  <a:srgbClr val="0B132B"/>
                </a:solidFill>
                <a:latin typeface="Bricolage Grotesque"/>
                <a:ea typeface="Bricolage Grotesque"/>
                <a:cs typeface="Bricolage Grotesque"/>
                <a:sym typeface="Bricolage Grotesque"/>
              </a:rPr>
              <a:t>lebih landai dan </a:t>
            </a:r>
            <a:r>
              <a:rPr lang="en-US" b="true" sz="1820" spc="45">
                <a:solidFill>
                  <a:srgbClr val="0B132B"/>
                </a:solidFill>
                <a:latin typeface="Bricolage Grotesque Bold"/>
                <a:ea typeface="Bricolage Grotesque Bold"/>
                <a:cs typeface="Bricolage Grotesque Bold"/>
                <a:sym typeface="Bricolage Grotesque Bold"/>
              </a:rPr>
              <a:t>stabil</a:t>
            </a:r>
            <a:r>
              <a:rPr lang="en-US" sz="1820" spc="45">
                <a:solidFill>
                  <a:srgbClr val="0B132B"/>
                </a:solidFill>
                <a:latin typeface="Bricolage Grotesque"/>
                <a:ea typeface="Bricolage Grotesque"/>
                <a:cs typeface="Bricolage Grotesque"/>
                <a:sym typeface="Bricolage Grotesque"/>
              </a:rPr>
              <a:t>.</a:t>
            </a:r>
          </a:p>
          <a:p>
            <a:pPr algn="just" marL="393000" indent="-196500" lvl="1">
              <a:lnSpc>
                <a:spcPts val="2548"/>
              </a:lnSpc>
              <a:buFont typeface="Arial"/>
              <a:buChar char="•"/>
            </a:pPr>
            <a:r>
              <a:rPr lang="en-US" b="true" sz="1820" spc="45">
                <a:solidFill>
                  <a:srgbClr val="0B132B"/>
                </a:solidFill>
                <a:latin typeface="Bricolage Grotesque Bold"/>
                <a:ea typeface="Bricolage Grotesque Bold"/>
                <a:cs typeface="Bricolage Grotesque Bold"/>
                <a:sym typeface="Bricolage Grotesque Bold"/>
              </a:rPr>
              <a:t>Stasiun </a:t>
            </a:r>
            <a:r>
              <a:rPr lang="en-US" sz="1820" spc="45">
                <a:solidFill>
                  <a:srgbClr val="0B132B"/>
                </a:solidFill>
                <a:latin typeface="Bricolage Grotesque"/>
                <a:ea typeface="Bricolage Grotesque"/>
                <a:cs typeface="Bricolage Grotesque"/>
                <a:sym typeface="Bricolage Grotesque"/>
              </a:rPr>
              <a:t>berkapasitas </a:t>
            </a:r>
            <a:r>
              <a:rPr lang="en-US" b="true" sz="1820" spc="45">
                <a:solidFill>
                  <a:srgbClr val="0B132B"/>
                </a:solidFill>
                <a:latin typeface="Bricolage Grotesque Bold"/>
                <a:ea typeface="Bricolage Grotesque Bold"/>
                <a:cs typeface="Bricolage Grotesque Bold"/>
                <a:sym typeface="Bricolage Grotesque Bold"/>
              </a:rPr>
              <a:t>2–8 port</a:t>
            </a:r>
            <a:r>
              <a:rPr lang="en-US" sz="1820" spc="45">
                <a:solidFill>
                  <a:srgbClr val="0B132B"/>
                </a:solidFill>
                <a:latin typeface="Bricolage Grotesque"/>
                <a:ea typeface="Bricolage Grotesque"/>
                <a:cs typeface="Bricolage Grotesque"/>
                <a:sym typeface="Bricolage Grotesque"/>
              </a:rPr>
              <a:t> </a:t>
            </a:r>
            <a:r>
              <a:rPr lang="en-US" b="true" sz="1820" spc="45">
                <a:solidFill>
                  <a:srgbClr val="0B132B"/>
                </a:solidFill>
                <a:latin typeface="Bricolage Grotesque Bold"/>
                <a:ea typeface="Bricolage Grotesque Bold"/>
                <a:cs typeface="Bricolage Grotesque Bold"/>
                <a:sym typeface="Bricolage Grotesque Bold"/>
              </a:rPr>
              <a:t>mendominasi</a:t>
            </a:r>
            <a:r>
              <a:rPr lang="en-US" sz="1820" spc="45">
                <a:solidFill>
                  <a:srgbClr val="0B132B"/>
                </a:solidFill>
                <a:latin typeface="Bricolage Grotesque"/>
                <a:ea typeface="Bricolage Grotesque"/>
                <a:cs typeface="Bricolage Grotesque"/>
                <a:sym typeface="Bricolage Grotesque"/>
              </a:rPr>
              <a:t>, sementara </a:t>
            </a:r>
            <a:r>
              <a:rPr lang="en-US" b="true" sz="1820" spc="45">
                <a:solidFill>
                  <a:srgbClr val="0B132B"/>
                </a:solidFill>
                <a:latin typeface="Bricolage Grotesque Bold"/>
                <a:ea typeface="Bricolage Grotesque Bold"/>
                <a:cs typeface="Bricolage Grotesque Bold"/>
                <a:sym typeface="Bricolage Grotesque Bold"/>
              </a:rPr>
              <a:t>megahub </a:t>
            </a:r>
            <a:r>
              <a:rPr lang="en-US" sz="1820" spc="45">
                <a:solidFill>
                  <a:srgbClr val="0B132B"/>
                </a:solidFill>
                <a:latin typeface="Bricolage Grotesque"/>
                <a:ea typeface="Bricolage Grotesque"/>
                <a:cs typeface="Bricolage Grotesque"/>
                <a:sym typeface="Bricolage Grotesque"/>
              </a:rPr>
              <a:t>melayani koridor </a:t>
            </a:r>
            <a:r>
              <a:rPr lang="en-US" b="true" sz="1820" spc="45">
                <a:solidFill>
                  <a:srgbClr val="0B132B"/>
                </a:solidFill>
                <a:latin typeface="Bricolage Grotesque Bold"/>
                <a:ea typeface="Bricolage Grotesque Bold"/>
                <a:cs typeface="Bricolage Grotesque Bold"/>
                <a:sym typeface="Bricolage Grotesque Bold"/>
              </a:rPr>
              <a:t>perjalanan </a:t>
            </a:r>
            <a:r>
              <a:rPr lang="en-US" sz="1820" spc="45">
                <a:solidFill>
                  <a:srgbClr val="0B132B"/>
                </a:solidFill>
                <a:latin typeface="Bricolage Grotesque"/>
                <a:ea typeface="Bricolage Grotesque"/>
                <a:cs typeface="Bricolage Grotesque"/>
                <a:sym typeface="Bricolage Grotesque"/>
              </a:rPr>
              <a:t>antarkota.</a:t>
            </a:r>
          </a:p>
        </p:txBody>
      </p:sp>
      <p:sp>
        <p:nvSpPr>
          <p:cNvPr name="TextBox 22" id="22"/>
          <p:cNvSpPr txBox="true"/>
          <p:nvPr/>
        </p:nvSpPr>
        <p:spPr>
          <a:xfrm rot="0">
            <a:off x="12120392" y="5914954"/>
            <a:ext cx="419254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Decision</a:t>
            </a:r>
          </a:p>
        </p:txBody>
      </p:sp>
      <p:sp>
        <p:nvSpPr>
          <p:cNvPr name="TextBox 23" id="23"/>
          <p:cNvSpPr txBox="true"/>
          <p:nvPr/>
        </p:nvSpPr>
        <p:spPr>
          <a:xfrm rot="0">
            <a:off x="11929311" y="6336983"/>
            <a:ext cx="5138908" cy="2830315"/>
          </a:xfrm>
          <a:prstGeom prst="rect">
            <a:avLst/>
          </a:prstGeom>
        </p:spPr>
        <p:txBody>
          <a:bodyPr anchor="t" rtlCol="false" tIns="0" lIns="0" bIns="0" rIns="0">
            <a:spAutoFit/>
          </a:bodyPr>
          <a:lstStyle/>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Penambahan fitur </a:t>
            </a:r>
            <a:r>
              <a:rPr lang="en-US" b="true" sz="1820" spc="45">
                <a:solidFill>
                  <a:srgbClr val="0B132B"/>
                </a:solidFill>
                <a:latin typeface="Bricolage Grotesque Bold"/>
                <a:ea typeface="Bricolage Grotesque Bold"/>
                <a:cs typeface="Bricolage Grotesque Bold"/>
                <a:sym typeface="Bricolage Grotesque Bold"/>
              </a:rPr>
              <a:t>waktu </a:t>
            </a:r>
            <a:r>
              <a:rPr lang="en-US" sz="1820" spc="45">
                <a:solidFill>
                  <a:srgbClr val="0B132B"/>
                </a:solidFill>
                <a:latin typeface="Bricolage Grotesque"/>
                <a:ea typeface="Bricolage Grotesque"/>
                <a:cs typeface="Bricolage Grotesque"/>
                <a:sym typeface="Bricolage Grotesque"/>
              </a:rPr>
              <a:t>menangkap jam, h</a:t>
            </a:r>
            <a:r>
              <a:rPr lang="en-US" sz="1820" spc="45">
                <a:solidFill>
                  <a:srgbClr val="0B132B"/>
                </a:solidFill>
                <a:latin typeface="Bricolage Grotesque"/>
                <a:ea typeface="Bricolage Grotesque"/>
                <a:cs typeface="Bricolage Grotesque"/>
                <a:sym typeface="Bricolage Grotesque"/>
              </a:rPr>
              <a:t>ari, serta </a:t>
            </a:r>
            <a:r>
              <a:rPr lang="en-US" b="true" sz="1820" spc="45">
                <a:solidFill>
                  <a:srgbClr val="0B132B"/>
                </a:solidFill>
                <a:latin typeface="Bricolage Grotesque Bold"/>
                <a:ea typeface="Bricolage Grotesque Bold"/>
                <a:cs typeface="Bricolage Grotesque Bold"/>
                <a:sym typeface="Bricolage Grotesque Bold"/>
              </a:rPr>
              <a:t>perbedaan </a:t>
            </a:r>
            <a:r>
              <a:rPr lang="en-US" sz="1820" spc="45">
                <a:solidFill>
                  <a:srgbClr val="0B132B"/>
                </a:solidFill>
                <a:latin typeface="Bricolage Grotesque"/>
                <a:ea typeface="Bricolage Grotesque"/>
                <a:cs typeface="Bricolage Grotesque"/>
                <a:sym typeface="Bricolage Grotesque"/>
              </a:rPr>
              <a:t>pola utilisasi </a:t>
            </a:r>
            <a:r>
              <a:rPr lang="en-US" b="true" sz="1820" spc="45">
                <a:solidFill>
                  <a:srgbClr val="0B132B"/>
                </a:solidFill>
                <a:latin typeface="Bricolage Grotesque Bold"/>
                <a:ea typeface="Bricolage Grotesque Bold"/>
                <a:cs typeface="Bricolage Grotesque Bold"/>
                <a:sym typeface="Bricolage Grotesque Bold"/>
              </a:rPr>
              <a:t>hari kerja </a:t>
            </a:r>
            <a:r>
              <a:rPr lang="en-US" sz="1820" spc="45">
                <a:solidFill>
                  <a:srgbClr val="0B132B"/>
                </a:solidFill>
                <a:latin typeface="Bricolage Grotesque"/>
                <a:ea typeface="Bricolage Grotesque"/>
                <a:cs typeface="Bricolage Grotesque"/>
                <a:sym typeface="Bricolage Grotesque"/>
              </a:rPr>
              <a:t>dan </a:t>
            </a:r>
            <a:r>
              <a:rPr lang="en-US" b="true" sz="1820" spc="45">
                <a:solidFill>
                  <a:srgbClr val="0B132B"/>
                </a:solidFill>
                <a:latin typeface="Bricolage Grotesque Bold"/>
                <a:ea typeface="Bricolage Grotesque Bold"/>
                <a:cs typeface="Bricolage Grotesque Bold"/>
                <a:sym typeface="Bricolage Grotesque Bold"/>
              </a:rPr>
              <a:t>akhir pekan.</a:t>
            </a:r>
          </a:p>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Penambahan </a:t>
            </a:r>
            <a:r>
              <a:rPr lang="en-US" b="true" sz="1820" spc="45">
                <a:solidFill>
                  <a:srgbClr val="0B132B"/>
                </a:solidFill>
                <a:latin typeface="Bricolage Grotesque Bold"/>
                <a:ea typeface="Bricolage Grotesque Bold"/>
                <a:cs typeface="Bricolage Grotesque Bold"/>
                <a:sym typeface="Bricolage Grotesque Bold"/>
              </a:rPr>
              <a:t>t</a:t>
            </a:r>
            <a:r>
              <a:rPr lang="en-US" b="true" sz="1820" spc="45">
                <a:solidFill>
                  <a:srgbClr val="0B132B"/>
                </a:solidFill>
                <a:latin typeface="Bricolage Grotesque Bold"/>
                <a:ea typeface="Bricolage Grotesque Bold"/>
                <a:cs typeface="Bricolage Grotesque Bold"/>
                <a:sym typeface="Bricolage Grotesque Bold"/>
              </a:rPr>
              <a:t>ransformasi siklik</a:t>
            </a:r>
            <a:r>
              <a:rPr lang="en-US" sz="1820" spc="45">
                <a:solidFill>
                  <a:srgbClr val="0B132B"/>
                </a:solidFill>
                <a:latin typeface="Bricolage Grotesque"/>
                <a:ea typeface="Bricolage Grotesque"/>
                <a:cs typeface="Bricolage Grotesque"/>
                <a:sym typeface="Bricolage Grotesque"/>
              </a:rPr>
              <a:t> sinus-kosinus menjaga </a:t>
            </a:r>
            <a:r>
              <a:rPr lang="en-US" b="true" sz="1820" spc="45">
                <a:solidFill>
                  <a:srgbClr val="0B132B"/>
                </a:solidFill>
                <a:latin typeface="Bricolage Grotesque Bold"/>
                <a:ea typeface="Bricolage Grotesque Bold"/>
                <a:cs typeface="Bricolage Grotesque Bold"/>
                <a:sym typeface="Bricolage Grotesque Bold"/>
              </a:rPr>
              <a:t>kesinambungan </a:t>
            </a:r>
            <a:r>
              <a:rPr lang="en-US" sz="1820" spc="45">
                <a:solidFill>
                  <a:srgbClr val="0B132B"/>
                </a:solidFill>
                <a:latin typeface="Bricolage Grotesque"/>
                <a:ea typeface="Bricolage Grotesque"/>
                <a:cs typeface="Bricolage Grotesque"/>
                <a:sym typeface="Bricolage Grotesque"/>
              </a:rPr>
              <a:t>pola waktu </a:t>
            </a:r>
            <a:r>
              <a:rPr lang="en-US" b="true" sz="1820" spc="45">
                <a:solidFill>
                  <a:srgbClr val="0B132B"/>
                </a:solidFill>
                <a:latin typeface="Bricolage Grotesque Bold"/>
                <a:ea typeface="Bricolage Grotesque Bold"/>
                <a:cs typeface="Bricolage Grotesque Bold"/>
                <a:sym typeface="Bricolage Grotesque Bold"/>
              </a:rPr>
              <a:t>harian </a:t>
            </a:r>
            <a:r>
              <a:rPr lang="en-US" sz="1820" spc="45">
                <a:solidFill>
                  <a:srgbClr val="0B132B"/>
                </a:solidFill>
                <a:latin typeface="Bricolage Grotesque"/>
                <a:ea typeface="Bricolage Grotesque"/>
                <a:cs typeface="Bricolage Grotesque"/>
                <a:sym typeface="Bricolage Grotesque"/>
              </a:rPr>
              <a:t>dan </a:t>
            </a:r>
            <a:r>
              <a:rPr lang="en-US" b="true" sz="1820" spc="45">
                <a:solidFill>
                  <a:srgbClr val="0B132B"/>
                </a:solidFill>
                <a:latin typeface="Bricolage Grotesque Bold"/>
                <a:ea typeface="Bricolage Grotesque Bold"/>
                <a:cs typeface="Bricolage Grotesque Bold"/>
                <a:sym typeface="Bricolage Grotesque Bold"/>
              </a:rPr>
              <a:t>mingguan</a:t>
            </a:r>
            <a:r>
              <a:rPr lang="en-US" sz="1820" spc="45">
                <a:solidFill>
                  <a:srgbClr val="0B132B"/>
                </a:solidFill>
                <a:latin typeface="Bricolage Grotesque"/>
                <a:ea typeface="Bricolage Grotesque"/>
                <a:cs typeface="Bricolage Grotesque"/>
                <a:sym typeface="Bricolage Grotesque"/>
              </a:rPr>
              <a:t>.</a:t>
            </a:r>
          </a:p>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Penambahan f</a:t>
            </a:r>
            <a:r>
              <a:rPr lang="en-US" sz="1820" spc="45">
                <a:solidFill>
                  <a:srgbClr val="0B132B"/>
                </a:solidFill>
                <a:latin typeface="Bricolage Grotesque"/>
                <a:ea typeface="Bricolage Grotesque"/>
                <a:cs typeface="Bricolage Grotesque"/>
                <a:sym typeface="Bricolage Grotesque"/>
              </a:rPr>
              <a:t>itur </a:t>
            </a:r>
            <a:r>
              <a:rPr lang="en-US" b="true" sz="1820" spc="45">
                <a:solidFill>
                  <a:srgbClr val="0B132B"/>
                </a:solidFill>
                <a:latin typeface="Bricolage Grotesque Bold"/>
                <a:ea typeface="Bricolage Grotesque Bold"/>
                <a:cs typeface="Bricolage Grotesque Bold"/>
                <a:sym typeface="Bricolage Grotesque Bold"/>
              </a:rPr>
              <a:t>kapasitas </a:t>
            </a:r>
            <a:r>
              <a:rPr lang="en-US" sz="1820" spc="45">
                <a:solidFill>
                  <a:srgbClr val="0B132B"/>
                </a:solidFill>
                <a:latin typeface="Bricolage Grotesque"/>
                <a:ea typeface="Bricolage Grotesque"/>
                <a:cs typeface="Bricolage Grotesque"/>
                <a:sym typeface="Bricolage Grotesque"/>
              </a:rPr>
              <a:t>mengidentifikasi </a:t>
            </a:r>
            <a:r>
              <a:rPr lang="en-US" b="true" sz="1820" spc="45">
                <a:solidFill>
                  <a:srgbClr val="0B132B"/>
                </a:solidFill>
                <a:latin typeface="Bricolage Grotesque Bold"/>
                <a:ea typeface="Bricolage Grotesque Bold"/>
                <a:cs typeface="Bricolage Grotesque Bold"/>
                <a:sym typeface="Bricolage Grotesque Bold"/>
              </a:rPr>
              <a:t>megahub </a:t>
            </a:r>
            <a:r>
              <a:rPr lang="en-US" sz="1820" spc="45">
                <a:solidFill>
                  <a:srgbClr val="0B132B"/>
                </a:solidFill>
                <a:latin typeface="Bricolage Grotesque"/>
                <a:ea typeface="Bricolage Grotesque"/>
                <a:cs typeface="Bricolage Grotesque"/>
                <a:sym typeface="Bricolage Grotesque"/>
              </a:rPr>
              <a:t>dan </a:t>
            </a:r>
            <a:r>
              <a:rPr lang="en-US" b="true" sz="1820" spc="45">
                <a:solidFill>
                  <a:srgbClr val="0B132B"/>
                </a:solidFill>
                <a:latin typeface="Bricolage Grotesque Bold"/>
                <a:ea typeface="Bricolage Grotesque Bold"/>
                <a:cs typeface="Bricolage Grotesque Bold"/>
                <a:sym typeface="Bricolage Grotesque Bold"/>
              </a:rPr>
              <a:t>interaksi </a:t>
            </a:r>
            <a:r>
              <a:rPr lang="en-US" sz="1820" spc="45">
                <a:solidFill>
                  <a:srgbClr val="0B132B"/>
                </a:solidFill>
                <a:latin typeface="Bricolage Grotesque"/>
                <a:ea typeface="Bricolage Grotesque"/>
                <a:cs typeface="Bricolage Grotesque"/>
                <a:sym typeface="Bricolage Grotesque"/>
              </a:rPr>
              <a:t>stasiun besar dengan koridor </a:t>
            </a:r>
            <a:r>
              <a:rPr lang="en-US" b="true" sz="1820" spc="45">
                <a:solidFill>
                  <a:srgbClr val="0B132B"/>
                </a:solidFill>
                <a:latin typeface="Bricolage Grotesque Bold"/>
                <a:ea typeface="Bricolage Grotesque Bold"/>
                <a:cs typeface="Bricolage Grotesque Bold"/>
                <a:sym typeface="Bricolage Grotesque Bold"/>
              </a:rPr>
              <a:t>jalan tol</a:t>
            </a:r>
            <a:r>
              <a:rPr lang="en-US" sz="1820" spc="45">
                <a:solidFill>
                  <a:srgbClr val="0B132B"/>
                </a:solidFill>
                <a:latin typeface="Bricolage Grotesque"/>
                <a:ea typeface="Bricolage Grotesque"/>
                <a:cs typeface="Bricolage Grotesque"/>
                <a:sym typeface="Bricolage Grotesque"/>
              </a:rPr>
              <a:t>.</a:t>
            </a:r>
          </a:p>
        </p:txBody>
      </p:sp>
      <p:grpSp>
        <p:nvGrpSpPr>
          <p:cNvPr name="Group 24" id="24"/>
          <p:cNvGrpSpPr/>
          <p:nvPr/>
        </p:nvGrpSpPr>
        <p:grpSpPr>
          <a:xfrm rot="0">
            <a:off x="11502671" y="9960324"/>
            <a:ext cx="9960587" cy="1142074"/>
            <a:chOff x="0" y="0"/>
            <a:chExt cx="2572779" cy="294993"/>
          </a:xfrm>
        </p:grpSpPr>
        <p:sp>
          <p:nvSpPr>
            <p:cNvPr name="Freeform 25" id="25"/>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6" id="26"/>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27" id="27"/>
          <p:cNvGrpSpPr/>
          <p:nvPr/>
        </p:nvGrpSpPr>
        <p:grpSpPr>
          <a:xfrm rot="0">
            <a:off x="-5959063" y="-784283"/>
            <a:ext cx="9960587" cy="1142074"/>
            <a:chOff x="0" y="0"/>
            <a:chExt cx="2572779" cy="294993"/>
          </a:xfrm>
        </p:grpSpPr>
        <p:sp>
          <p:nvSpPr>
            <p:cNvPr name="Freeform 28" id="28"/>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9" id="29"/>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956527" y="8473564"/>
            <a:ext cx="2473138" cy="447540"/>
            <a:chOff x="0" y="0"/>
            <a:chExt cx="2201755" cy="398431"/>
          </a:xfrm>
        </p:grpSpPr>
        <p:sp>
          <p:nvSpPr>
            <p:cNvPr name="Freeform 3" id="3"/>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4" id="4"/>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150242" y="9960324"/>
            <a:ext cx="9960587" cy="1142074"/>
            <a:chOff x="0" y="0"/>
            <a:chExt cx="2572779" cy="294993"/>
          </a:xfrm>
        </p:grpSpPr>
        <p:sp>
          <p:nvSpPr>
            <p:cNvPr name="Freeform 6" id="6"/>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7" id="7"/>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338615" y="-784283"/>
            <a:ext cx="12457569" cy="1142074"/>
            <a:chOff x="0" y="0"/>
            <a:chExt cx="3217739" cy="294993"/>
          </a:xfrm>
        </p:grpSpPr>
        <p:sp>
          <p:nvSpPr>
            <p:cNvPr name="Freeform 9" id="9"/>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10" id="10"/>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28700" y="793061"/>
            <a:ext cx="4463067" cy="235560"/>
            <a:chOff x="0" y="0"/>
            <a:chExt cx="5950756" cy="314080"/>
          </a:xfrm>
        </p:grpSpPr>
        <p:sp>
          <p:nvSpPr>
            <p:cNvPr name="Freeform 12" id="12"/>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Freeform 14" id="14"/>
          <p:cNvSpPr/>
          <p:nvPr/>
        </p:nvSpPr>
        <p:spPr>
          <a:xfrm flipH="false" flipV="false" rot="0">
            <a:off x="1653201" y="2695860"/>
            <a:ext cx="7008782" cy="3396732"/>
          </a:xfrm>
          <a:custGeom>
            <a:avLst/>
            <a:gdLst/>
            <a:ahLst/>
            <a:cxnLst/>
            <a:rect r="r" b="b" t="t" l="l"/>
            <a:pathLst>
              <a:path h="3396732" w="7008782">
                <a:moveTo>
                  <a:pt x="0" y="0"/>
                </a:moveTo>
                <a:lnTo>
                  <a:pt x="7008782" y="0"/>
                </a:lnTo>
                <a:lnTo>
                  <a:pt x="7008782" y="3396732"/>
                </a:lnTo>
                <a:lnTo>
                  <a:pt x="0" y="3396732"/>
                </a:lnTo>
                <a:lnTo>
                  <a:pt x="0" y="0"/>
                </a:lnTo>
                <a:close/>
              </a:path>
            </a:pathLst>
          </a:custGeom>
          <a:blipFill>
            <a:blip r:embed="rId4"/>
            <a:stretch>
              <a:fillRect l="0" t="0" r="-97459" b="0"/>
            </a:stretch>
          </a:blipFill>
          <a:ln w="38100" cap="sq">
            <a:solidFill>
              <a:srgbClr val="000000"/>
            </a:solidFill>
            <a:prstDash val="dash"/>
            <a:miter/>
          </a:ln>
        </p:spPr>
      </p:sp>
      <p:sp>
        <p:nvSpPr>
          <p:cNvPr name="TextBox 15" id="15"/>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- 13</a:t>
            </a:r>
          </a:p>
        </p:txBody>
      </p:sp>
      <p:sp>
        <p:nvSpPr>
          <p:cNvPr name="TextBox 16" id="16"/>
          <p:cNvSpPr txBox="true"/>
          <p:nvPr/>
        </p:nvSpPr>
        <p:spPr>
          <a:xfrm rot="0">
            <a:off x="1028700" y="1443591"/>
            <a:ext cx="18267881" cy="790575"/>
          </a:xfrm>
          <a:prstGeom prst="rect">
            <a:avLst/>
          </a:prstGeom>
        </p:spPr>
        <p:txBody>
          <a:bodyPr anchor="t" rtlCol="false" tIns="0" lIns="0" bIns="0" rIns="0">
            <a:spAutoFit/>
          </a:bodyPr>
          <a:lstStyle/>
          <a:p>
            <a:pPr algn="l">
              <a:lnSpc>
                <a:spcPts val="5999"/>
              </a:lnSpc>
            </a:pPr>
            <a:r>
              <a:rPr lang="en-US" sz="5999">
                <a:solidFill>
                  <a:srgbClr val="0B132B"/>
                </a:solidFill>
                <a:latin typeface="Rubik One"/>
                <a:ea typeface="Rubik One"/>
                <a:cs typeface="Rubik One"/>
                <a:sym typeface="Rubik One"/>
              </a:rPr>
              <a:t>Distribusi Suhu Udara &amp; Gas Price</a:t>
            </a:r>
          </a:p>
        </p:txBody>
      </p:sp>
      <p:sp>
        <p:nvSpPr>
          <p:cNvPr name="Freeform 17" id="17"/>
          <p:cNvSpPr/>
          <p:nvPr/>
        </p:nvSpPr>
        <p:spPr>
          <a:xfrm flipH="false" flipV="false" rot="0">
            <a:off x="1653201" y="6132940"/>
            <a:ext cx="7008782" cy="3478363"/>
          </a:xfrm>
          <a:custGeom>
            <a:avLst/>
            <a:gdLst/>
            <a:ahLst/>
            <a:cxnLst/>
            <a:rect r="r" b="b" t="t" l="l"/>
            <a:pathLst>
              <a:path h="3478363" w="7008782">
                <a:moveTo>
                  <a:pt x="0" y="0"/>
                </a:moveTo>
                <a:lnTo>
                  <a:pt x="7008782" y="0"/>
                </a:lnTo>
                <a:lnTo>
                  <a:pt x="7008782" y="3478363"/>
                </a:lnTo>
                <a:lnTo>
                  <a:pt x="0" y="3478363"/>
                </a:lnTo>
                <a:lnTo>
                  <a:pt x="0" y="0"/>
                </a:lnTo>
                <a:close/>
              </a:path>
            </a:pathLst>
          </a:custGeom>
          <a:blipFill>
            <a:blip r:embed="rId4"/>
            <a:stretch>
              <a:fillRect l="-102204" t="0" r="0" b="0"/>
            </a:stretch>
          </a:blipFill>
          <a:ln w="38100" cap="sq">
            <a:solidFill>
              <a:srgbClr val="000000"/>
            </a:solidFill>
            <a:prstDash val="dash"/>
            <a:miter/>
          </a:ln>
        </p:spPr>
      </p:sp>
      <p:grpSp>
        <p:nvGrpSpPr>
          <p:cNvPr name="Group 18" id="18"/>
          <p:cNvGrpSpPr/>
          <p:nvPr/>
        </p:nvGrpSpPr>
        <p:grpSpPr>
          <a:xfrm rot="0">
            <a:off x="10113591" y="2651639"/>
            <a:ext cx="1815721" cy="1369315"/>
            <a:chOff x="0" y="0"/>
            <a:chExt cx="528322" cy="398431"/>
          </a:xfrm>
        </p:grpSpPr>
        <p:sp>
          <p:nvSpPr>
            <p:cNvPr name="Freeform 19" id="19"/>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sp>
        <p:sp>
          <p:nvSpPr>
            <p:cNvPr name="TextBox 20" id="20"/>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0113591" y="5848279"/>
            <a:ext cx="1815721" cy="1369315"/>
            <a:chOff x="0" y="0"/>
            <a:chExt cx="528322" cy="398431"/>
          </a:xfrm>
        </p:grpSpPr>
        <p:sp>
          <p:nvSpPr>
            <p:cNvPr name="Freeform 22" id="22"/>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sp>
        <p:sp>
          <p:nvSpPr>
            <p:cNvPr name="TextBox 23" id="23"/>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10162641" y="2221491"/>
            <a:ext cx="1279010" cy="1375280"/>
          </a:xfrm>
          <a:custGeom>
            <a:avLst/>
            <a:gdLst/>
            <a:ahLst/>
            <a:cxnLst/>
            <a:rect r="r" b="b" t="t" l="l"/>
            <a:pathLst>
              <a:path h="1375280" w="1279010">
                <a:moveTo>
                  <a:pt x="0" y="0"/>
                </a:moveTo>
                <a:lnTo>
                  <a:pt x="1279010" y="0"/>
                </a:lnTo>
                <a:lnTo>
                  <a:pt x="1279010" y="1375280"/>
                </a:lnTo>
                <a:lnTo>
                  <a:pt x="0" y="1375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0">
            <a:off x="10113591" y="5421083"/>
            <a:ext cx="1198206" cy="1369378"/>
          </a:xfrm>
          <a:custGeom>
            <a:avLst/>
            <a:gdLst/>
            <a:ahLst/>
            <a:cxnLst/>
            <a:rect r="r" b="b" t="t" l="l"/>
            <a:pathLst>
              <a:path h="1369378" w="1198206">
                <a:moveTo>
                  <a:pt x="0" y="0"/>
                </a:moveTo>
                <a:lnTo>
                  <a:pt x="1198205" y="0"/>
                </a:lnTo>
                <a:lnTo>
                  <a:pt x="1198205" y="1369377"/>
                </a:lnTo>
                <a:lnTo>
                  <a:pt x="0" y="13693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6" id="26"/>
          <p:cNvSpPr txBox="true"/>
          <p:nvPr/>
        </p:nvSpPr>
        <p:spPr>
          <a:xfrm rot="0">
            <a:off x="12120392" y="2718314"/>
            <a:ext cx="419254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Insight</a:t>
            </a:r>
          </a:p>
        </p:txBody>
      </p:sp>
      <p:sp>
        <p:nvSpPr>
          <p:cNvPr name="TextBox 27" id="27"/>
          <p:cNvSpPr txBox="true"/>
          <p:nvPr/>
        </p:nvSpPr>
        <p:spPr>
          <a:xfrm rot="0">
            <a:off x="11929311" y="3140342"/>
            <a:ext cx="5138908" cy="2515990"/>
          </a:xfrm>
          <a:prstGeom prst="rect">
            <a:avLst/>
          </a:prstGeom>
        </p:spPr>
        <p:txBody>
          <a:bodyPr anchor="t" rtlCol="false" tIns="0" lIns="0" bIns="0" rIns="0">
            <a:spAutoFit/>
          </a:bodyPr>
          <a:lstStyle/>
          <a:p>
            <a:pPr algn="just" marL="393000" indent="-196500" lvl="1">
              <a:lnSpc>
                <a:spcPts val="2548"/>
              </a:lnSpc>
              <a:buFont typeface="Arial"/>
              <a:buChar char="•"/>
            </a:pPr>
            <a:r>
              <a:rPr lang="en-US" b="true" sz="1820" spc="45">
                <a:solidFill>
                  <a:srgbClr val="0B132B"/>
                </a:solidFill>
                <a:latin typeface="Bricolage Grotesque Bold"/>
                <a:ea typeface="Bricolage Grotesque Bold"/>
                <a:cs typeface="Bricolage Grotesque Bold"/>
                <a:sym typeface="Bricolage Grotesque Bold"/>
              </a:rPr>
              <a:t>Suhu </a:t>
            </a:r>
            <a:r>
              <a:rPr lang="en-US" sz="1820" spc="45">
                <a:solidFill>
                  <a:srgbClr val="0B132B"/>
                </a:solidFill>
                <a:latin typeface="Bricolage Grotesque"/>
                <a:ea typeface="Bricolage Grotesque"/>
                <a:cs typeface="Bricolage Grotesque"/>
                <a:sym typeface="Bricolage Grotesque"/>
              </a:rPr>
              <a:t>rat</a:t>
            </a:r>
            <a:r>
              <a:rPr lang="en-US" sz="1820" spc="45">
                <a:solidFill>
                  <a:srgbClr val="0B132B"/>
                </a:solidFill>
                <a:latin typeface="Bricolage Grotesque"/>
                <a:ea typeface="Bricolage Grotesque"/>
                <a:cs typeface="Bricolage Grotesque"/>
                <a:sym typeface="Bricolage Grotesque"/>
              </a:rPr>
              <a:t>a-rata </a:t>
            </a:r>
            <a:r>
              <a:rPr lang="en-US" b="true" sz="1820" spc="45">
                <a:solidFill>
                  <a:srgbClr val="0B132B"/>
                </a:solidFill>
                <a:latin typeface="Bricolage Grotesque Bold"/>
                <a:ea typeface="Bricolage Grotesque Bold"/>
                <a:cs typeface="Bricolage Grotesque Bold"/>
                <a:sym typeface="Bricolage Grotesque Bold"/>
              </a:rPr>
              <a:t>turun </a:t>
            </a:r>
            <a:r>
              <a:rPr lang="en-US" sz="1820" spc="45">
                <a:solidFill>
                  <a:srgbClr val="0B132B"/>
                </a:solidFill>
                <a:latin typeface="Bricolage Grotesque"/>
                <a:ea typeface="Bricolage Grotesque"/>
                <a:cs typeface="Bricolage Grotesque"/>
                <a:sym typeface="Bricolage Grotesque"/>
              </a:rPr>
              <a:t>dari </a:t>
            </a:r>
            <a:r>
              <a:rPr lang="en-US" b="true" sz="1820" spc="45">
                <a:solidFill>
                  <a:srgbClr val="0B132B"/>
                </a:solidFill>
                <a:latin typeface="Bricolage Grotesque Bold"/>
                <a:ea typeface="Bricolage Grotesque Bold"/>
                <a:cs typeface="Bricolage Grotesque Bold"/>
                <a:sym typeface="Bricolage Grotesque Bold"/>
              </a:rPr>
              <a:t>77,15°F</a:t>
            </a:r>
            <a:r>
              <a:rPr lang="en-US" sz="1820" spc="45">
                <a:solidFill>
                  <a:srgbClr val="0B132B"/>
                </a:solidFill>
                <a:latin typeface="Bricolage Grotesque"/>
                <a:ea typeface="Bricolage Grotesque"/>
                <a:cs typeface="Bricolage Grotesque"/>
                <a:sym typeface="Bricolage Grotesque"/>
              </a:rPr>
              <a:t> pada data </a:t>
            </a:r>
            <a:r>
              <a:rPr lang="en-US" b="true" sz="1820" spc="45">
                <a:solidFill>
                  <a:srgbClr val="0B132B"/>
                </a:solidFill>
                <a:latin typeface="Bricolage Grotesque Bold"/>
                <a:ea typeface="Bricolage Grotesque Bold"/>
                <a:cs typeface="Bricolage Grotesque Bold"/>
                <a:sym typeface="Bricolage Grotesque Bold"/>
              </a:rPr>
              <a:t>latih </a:t>
            </a:r>
            <a:r>
              <a:rPr lang="en-US" sz="1820" spc="45">
                <a:solidFill>
                  <a:srgbClr val="0B132B"/>
                </a:solidFill>
                <a:latin typeface="Bricolage Grotesque"/>
                <a:ea typeface="Bricolage Grotesque"/>
                <a:cs typeface="Bricolage Grotesque"/>
                <a:sym typeface="Bricolage Grotesque"/>
              </a:rPr>
              <a:t>menjadi </a:t>
            </a:r>
            <a:r>
              <a:rPr lang="en-US" b="true" sz="1820" spc="45">
                <a:solidFill>
                  <a:srgbClr val="0B132B"/>
                </a:solidFill>
                <a:latin typeface="Bricolage Grotesque Bold"/>
                <a:ea typeface="Bricolage Grotesque Bold"/>
                <a:cs typeface="Bricolage Grotesque Bold"/>
                <a:sym typeface="Bricolage Grotesque Bold"/>
              </a:rPr>
              <a:t>49,77°F</a:t>
            </a:r>
            <a:r>
              <a:rPr lang="en-US" sz="1820" spc="45">
                <a:solidFill>
                  <a:srgbClr val="0B132B"/>
                </a:solidFill>
                <a:latin typeface="Bricolage Grotesque"/>
                <a:ea typeface="Bricolage Grotesque"/>
                <a:cs typeface="Bricolage Grotesque"/>
                <a:sym typeface="Bricolage Grotesque"/>
              </a:rPr>
              <a:t> pada data </a:t>
            </a:r>
            <a:r>
              <a:rPr lang="en-US" b="true" sz="1820" spc="45">
                <a:solidFill>
                  <a:srgbClr val="0B132B"/>
                </a:solidFill>
                <a:latin typeface="Bricolage Grotesque Bold"/>
                <a:ea typeface="Bricolage Grotesque Bold"/>
                <a:cs typeface="Bricolage Grotesque Bold"/>
                <a:sym typeface="Bricolage Grotesque Bold"/>
              </a:rPr>
              <a:t>uji</a:t>
            </a:r>
            <a:r>
              <a:rPr lang="en-US" sz="1820" spc="45">
                <a:solidFill>
                  <a:srgbClr val="0B132B"/>
                </a:solidFill>
                <a:latin typeface="Bricolage Grotesque"/>
                <a:ea typeface="Bricolage Grotesque"/>
                <a:cs typeface="Bricolage Grotesque"/>
                <a:sym typeface="Bricolage Grotesque"/>
              </a:rPr>
              <a:t>.</a:t>
            </a:r>
          </a:p>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Cuaca </a:t>
            </a:r>
            <a:r>
              <a:rPr lang="en-US" b="true" sz="1820" spc="45">
                <a:solidFill>
                  <a:srgbClr val="0B132B"/>
                </a:solidFill>
                <a:latin typeface="Bricolage Grotesque Bold"/>
                <a:ea typeface="Bricolage Grotesque Bold"/>
                <a:cs typeface="Bricolage Grotesque Bold"/>
                <a:sym typeface="Bricolage Grotesque Bold"/>
              </a:rPr>
              <a:t>dingin </a:t>
            </a:r>
            <a:r>
              <a:rPr lang="en-US" sz="1820" spc="45">
                <a:solidFill>
                  <a:srgbClr val="0B132B"/>
                </a:solidFill>
                <a:latin typeface="Bricolage Grotesque"/>
                <a:ea typeface="Bricolage Grotesque"/>
                <a:cs typeface="Bricolage Grotesque"/>
                <a:sym typeface="Bricolage Grotesque"/>
              </a:rPr>
              <a:t>dapat </a:t>
            </a:r>
            <a:r>
              <a:rPr lang="en-US" b="true" sz="1820" spc="45">
                <a:solidFill>
                  <a:srgbClr val="0B132B"/>
                </a:solidFill>
                <a:latin typeface="Bricolage Grotesque Bold"/>
                <a:ea typeface="Bricolage Grotesque Bold"/>
                <a:cs typeface="Bricolage Grotesque Bold"/>
                <a:sym typeface="Bricolage Grotesque Bold"/>
              </a:rPr>
              <a:t>memperlambat pengisian </a:t>
            </a:r>
            <a:r>
              <a:rPr lang="en-US" sz="1820" spc="45">
                <a:solidFill>
                  <a:srgbClr val="0B132B"/>
                </a:solidFill>
                <a:latin typeface="Bricolage Grotesque"/>
                <a:ea typeface="Bricolage Grotesque"/>
                <a:cs typeface="Bricolage Grotesque"/>
                <a:sym typeface="Bricolage Grotesque"/>
              </a:rPr>
              <a:t>dan </a:t>
            </a:r>
            <a:r>
              <a:rPr lang="en-US" b="true" sz="1820" spc="45">
                <a:solidFill>
                  <a:srgbClr val="0B132B"/>
                </a:solidFill>
                <a:latin typeface="Bricolage Grotesque Bold"/>
                <a:ea typeface="Bricolage Grotesque Bold"/>
                <a:cs typeface="Bricolage Grotesque Bold"/>
                <a:sym typeface="Bricolage Grotesque Bold"/>
              </a:rPr>
              <a:t>meningkatkan frekuensi</a:t>
            </a:r>
            <a:r>
              <a:rPr lang="en-US" sz="1820" spc="45">
                <a:solidFill>
                  <a:srgbClr val="0B132B"/>
                </a:solidFill>
                <a:latin typeface="Bricolage Grotesque"/>
                <a:ea typeface="Bricolage Grotesque"/>
                <a:cs typeface="Bricolage Grotesque"/>
                <a:sym typeface="Bricolage Grotesque"/>
              </a:rPr>
              <a:t> kendaraan mengisi daya.</a:t>
            </a:r>
          </a:p>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Harga </a:t>
            </a:r>
            <a:r>
              <a:rPr lang="en-US" b="true" sz="1820" spc="45">
                <a:solidFill>
                  <a:srgbClr val="0B132B"/>
                </a:solidFill>
                <a:latin typeface="Bricolage Grotesque Bold"/>
                <a:ea typeface="Bricolage Grotesque Bold"/>
                <a:cs typeface="Bricolage Grotesque Bold"/>
                <a:sym typeface="Bricolage Grotesque Bold"/>
              </a:rPr>
              <a:t>bensin</a:t>
            </a:r>
            <a:r>
              <a:rPr lang="en-US" sz="1820" spc="45">
                <a:solidFill>
                  <a:srgbClr val="0B132B"/>
                </a:solidFill>
                <a:latin typeface="Bricolage Grotesque"/>
                <a:ea typeface="Bricolage Grotesque"/>
                <a:cs typeface="Bricolage Grotesque"/>
                <a:sym typeface="Bricolage Grotesque"/>
              </a:rPr>
              <a:t> lebih mencerminkan </a:t>
            </a:r>
            <a:r>
              <a:rPr lang="en-US" b="true" sz="1820" spc="45">
                <a:solidFill>
                  <a:srgbClr val="0B132B"/>
                </a:solidFill>
                <a:latin typeface="Bricolage Grotesque Bold"/>
                <a:ea typeface="Bricolage Grotesque Bold"/>
                <a:cs typeface="Bricolage Grotesque Bold"/>
                <a:sym typeface="Bricolage Grotesque Bold"/>
              </a:rPr>
              <a:t>perbedaan ekonomi</a:t>
            </a:r>
            <a:r>
              <a:rPr lang="en-US" sz="1820" spc="45">
                <a:solidFill>
                  <a:srgbClr val="0B132B"/>
                </a:solidFill>
                <a:latin typeface="Bricolage Grotesque"/>
                <a:ea typeface="Bricolage Grotesque"/>
                <a:cs typeface="Bricolage Grotesque"/>
                <a:sym typeface="Bricolage Grotesque"/>
              </a:rPr>
              <a:t> regional daripada </a:t>
            </a:r>
            <a:r>
              <a:rPr lang="en-US" b="true" sz="1820" spc="45">
                <a:solidFill>
                  <a:srgbClr val="0B132B"/>
                </a:solidFill>
                <a:latin typeface="Bricolage Grotesque Bold"/>
                <a:ea typeface="Bricolage Grotesque Bold"/>
                <a:cs typeface="Bricolage Grotesque Bold"/>
                <a:sym typeface="Bricolage Grotesque Bold"/>
              </a:rPr>
              <a:t>perubahan utilisasi</a:t>
            </a:r>
            <a:r>
              <a:rPr lang="en-US" sz="1820" spc="45">
                <a:solidFill>
                  <a:srgbClr val="0B132B"/>
                </a:solidFill>
                <a:latin typeface="Bricolage Grotesque"/>
                <a:ea typeface="Bricolage Grotesque"/>
                <a:cs typeface="Bricolage Grotesque"/>
                <a:sym typeface="Bricolage Grotesque"/>
              </a:rPr>
              <a:t> per jam.</a:t>
            </a:r>
          </a:p>
        </p:txBody>
      </p:sp>
      <p:sp>
        <p:nvSpPr>
          <p:cNvPr name="TextBox 28" id="28"/>
          <p:cNvSpPr txBox="true"/>
          <p:nvPr/>
        </p:nvSpPr>
        <p:spPr>
          <a:xfrm rot="0">
            <a:off x="12120392" y="5914954"/>
            <a:ext cx="419254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Decision</a:t>
            </a:r>
          </a:p>
        </p:txBody>
      </p:sp>
      <p:sp>
        <p:nvSpPr>
          <p:cNvPr name="TextBox 29" id="29"/>
          <p:cNvSpPr txBox="true"/>
          <p:nvPr/>
        </p:nvSpPr>
        <p:spPr>
          <a:xfrm rot="0">
            <a:off x="11929311" y="6336983"/>
            <a:ext cx="5138908" cy="2830315"/>
          </a:xfrm>
          <a:prstGeom prst="rect">
            <a:avLst/>
          </a:prstGeom>
        </p:spPr>
        <p:txBody>
          <a:bodyPr anchor="t" rtlCol="false" tIns="0" lIns="0" bIns="0" rIns="0">
            <a:spAutoFit/>
          </a:bodyPr>
          <a:lstStyle/>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Penambahan fitur </a:t>
            </a:r>
            <a:r>
              <a:rPr lang="en-US" b="true" sz="1820" spc="45">
                <a:solidFill>
                  <a:srgbClr val="0B132B"/>
                </a:solidFill>
                <a:latin typeface="Bricolage Grotesque Bold"/>
                <a:ea typeface="Bricolage Grotesque Bold"/>
                <a:cs typeface="Bricolage Grotesque Bold"/>
                <a:sym typeface="Bricolage Grotesque Bold"/>
              </a:rPr>
              <a:t>indikator suhu</a:t>
            </a:r>
            <a:r>
              <a:rPr lang="en-US" sz="1820" spc="45">
                <a:solidFill>
                  <a:srgbClr val="0B132B"/>
                </a:solidFill>
                <a:latin typeface="Bricolage Grotesque"/>
                <a:ea typeface="Bricolage Grotesque"/>
                <a:cs typeface="Bricolage Grotesque"/>
                <a:sym typeface="Bricolage Grotesque"/>
              </a:rPr>
              <a:t> beku dan </a:t>
            </a:r>
            <a:r>
              <a:rPr lang="en-US" b="true" sz="1820" spc="45">
                <a:solidFill>
                  <a:srgbClr val="0B132B"/>
                </a:solidFill>
                <a:latin typeface="Bricolage Grotesque Bold"/>
                <a:ea typeface="Bricolage Grotesque Bold"/>
                <a:cs typeface="Bricolage Grotesque Bold"/>
                <a:sym typeface="Bricolage Grotesque Bold"/>
              </a:rPr>
              <a:t>pen</a:t>
            </a:r>
            <a:r>
              <a:rPr lang="en-US" b="true" sz="1820" spc="45">
                <a:solidFill>
                  <a:srgbClr val="0B132B"/>
                </a:solidFill>
                <a:latin typeface="Bricolage Grotesque Bold"/>
                <a:ea typeface="Bricolage Grotesque Bold"/>
                <a:cs typeface="Bricolage Grotesque Bold"/>
                <a:sym typeface="Bricolage Grotesque Bold"/>
              </a:rPr>
              <a:t>alti baterai</a:t>
            </a:r>
            <a:r>
              <a:rPr lang="en-US" sz="1820" spc="45">
                <a:solidFill>
                  <a:srgbClr val="0B132B"/>
                </a:solidFill>
                <a:latin typeface="Bricolage Grotesque"/>
                <a:ea typeface="Bricolage Grotesque"/>
                <a:cs typeface="Bricolage Grotesque"/>
                <a:sym typeface="Bricolage Grotesque"/>
              </a:rPr>
              <a:t> merepresentasikan dampak </a:t>
            </a:r>
            <a:r>
              <a:rPr lang="en-US" b="true" sz="1820" spc="45">
                <a:solidFill>
                  <a:srgbClr val="0B132B"/>
                </a:solidFill>
                <a:latin typeface="Bricolage Grotesque Bold"/>
                <a:ea typeface="Bricolage Grotesque Bold"/>
                <a:cs typeface="Bricolage Grotesque Bold"/>
                <a:sym typeface="Bricolage Grotesque Bold"/>
              </a:rPr>
              <a:t>cuaca dingin</a:t>
            </a:r>
            <a:r>
              <a:rPr lang="en-US" sz="1820" spc="45">
                <a:solidFill>
                  <a:srgbClr val="0B132B"/>
                </a:solidFill>
                <a:latin typeface="Bricolage Grotesque"/>
                <a:ea typeface="Bricolage Grotesque"/>
                <a:cs typeface="Bricolage Grotesque"/>
                <a:sym typeface="Bricolage Grotesque"/>
              </a:rPr>
              <a:t> terhadap pengisian.</a:t>
            </a:r>
          </a:p>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Penambahan fitur </a:t>
            </a:r>
            <a:r>
              <a:rPr lang="en-US" b="true" sz="1820" spc="45">
                <a:solidFill>
                  <a:srgbClr val="0B132B"/>
                </a:solidFill>
                <a:latin typeface="Bricolage Grotesque Bold"/>
                <a:ea typeface="Bricolage Grotesque Bold"/>
                <a:cs typeface="Bricolage Grotesque Bold"/>
                <a:sym typeface="Bricolage Grotesque Bold"/>
              </a:rPr>
              <a:t>r</a:t>
            </a:r>
            <a:r>
              <a:rPr lang="en-US" b="true" sz="1820" spc="45">
                <a:solidFill>
                  <a:srgbClr val="0B132B"/>
                </a:solidFill>
                <a:latin typeface="Bricolage Grotesque Bold"/>
                <a:ea typeface="Bricolage Grotesque Bold"/>
                <a:cs typeface="Bricolage Grotesque Bold"/>
                <a:sym typeface="Bricolage Grotesque Bold"/>
              </a:rPr>
              <a:t>asio h</a:t>
            </a:r>
            <a:r>
              <a:rPr lang="en-US" b="true" sz="1820" spc="45">
                <a:solidFill>
                  <a:srgbClr val="0B132B"/>
                </a:solidFill>
                <a:latin typeface="Bricolage Grotesque Bold"/>
                <a:ea typeface="Bricolage Grotesque Bold"/>
                <a:cs typeface="Bricolage Grotesque Bold"/>
                <a:sym typeface="Bricolage Grotesque Bold"/>
              </a:rPr>
              <a:t>arga bensin</a:t>
            </a:r>
            <a:r>
              <a:rPr lang="en-US" sz="1820" spc="45">
                <a:solidFill>
                  <a:srgbClr val="0B132B"/>
                </a:solidFill>
                <a:latin typeface="Bricolage Grotesque"/>
                <a:ea typeface="Bricolage Grotesque"/>
                <a:cs typeface="Bricolage Grotesque"/>
                <a:sym typeface="Bricolage Grotesque"/>
              </a:rPr>
              <a:t> per kota men</a:t>
            </a:r>
            <a:r>
              <a:rPr lang="en-US" sz="1820" spc="45">
                <a:solidFill>
                  <a:srgbClr val="0B132B"/>
                </a:solidFill>
                <a:latin typeface="Bricolage Grotesque"/>
                <a:ea typeface="Bricolage Grotesque"/>
                <a:cs typeface="Bricolage Grotesque"/>
                <a:sym typeface="Bricolage Grotesque"/>
              </a:rPr>
              <a:t>angkap </a:t>
            </a:r>
            <a:r>
              <a:rPr lang="en-US" b="true" sz="1820" spc="45">
                <a:solidFill>
                  <a:srgbClr val="0B132B"/>
                </a:solidFill>
                <a:latin typeface="Bricolage Grotesque Bold"/>
                <a:ea typeface="Bricolage Grotesque Bold"/>
                <a:cs typeface="Bricolage Grotesque Bold"/>
                <a:sym typeface="Bricolage Grotesque Bold"/>
              </a:rPr>
              <a:t>perbedaan </a:t>
            </a:r>
            <a:r>
              <a:rPr lang="en-US" sz="1820" spc="45">
                <a:solidFill>
                  <a:srgbClr val="0B132B"/>
                </a:solidFill>
                <a:latin typeface="Bricolage Grotesque"/>
                <a:ea typeface="Bricolage Grotesque"/>
                <a:cs typeface="Bricolage Grotesque"/>
                <a:sym typeface="Bricolage Grotesque"/>
              </a:rPr>
              <a:t>tekanan </a:t>
            </a:r>
            <a:r>
              <a:rPr lang="en-US" b="true" sz="1820" spc="45">
                <a:solidFill>
                  <a:srgbClr val="0B132B"/>
                </a:solidFill>
                <a:latin typeface="Bricolage Grotesque Bold"/>
                <a:ea typeface="Bricolage Grotesque Bold"/>
                <a:cs typeface="Bricolage Grotesque Bold"/>
                <a:sym typeface="Bricolage Grotesque Bold"/>
              </a:rPr>
              <a:t>ekonomi </a:t>
            </a:r>
            <a:r>
              <a:rPr lang="en-US" sz="1820" spc="45">
                <a:solidFill>
                  <a:srgbClr val="0B132B"/>
                </a:solidFill>
                <a:latin typeface="Bricolage Grotesque"/>
                <a:ea typeface="Bricolage Grotesque"/>
                <a:cs typeface="Bricolage Grotesque"/>
                <a:sym typeface="Bricolage Grotesque"/>
              </a:rPr>
              <a:t>antarwilayah.</a:t>
            </a:r>
          </a:p>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Penambahan fitur </a:t>
            </a:r>
            <a:r>
              <a:rPr lang="en-US" b="true" sz="1820" spc="45">
                <a:solidFill>
                  <a:srgbClr val="0B132B"/>
                </a:solidFill>
                <a:latin typeface="Bricolage Grotesque Bold"/>
                <a:ea typeface="Bricolage Grotesque Bold"/>
                <a:cs typeface="Bricolage Grotesque Bold"/>
                <a:sym typeface="Bricolage Grotesque Bold"/>
              </a:rPr>
              <a:t>i</a:t>
            </a:r>
            <a:r>
              <a:rPr lang="en-US" b="true" sz="1820" spc="45">
                <a:solidFill>
                  <a:srgbClr val="0B132B"/>
                </a:solidFill>
                <a:latin typeface="Bricolage Grotesque Bold"/>
                <a:ea typeface="Bricolage Grotesque Bold"/>
                <a:cs typeface="Bricolage Grotesque Bold"/>
                <a:sym typeface="Bricolage Grotesque Bold"/>
              </a:rPr>
              <a:t>nteraksi harga </a:t>
            </a:r>
            <a:r>
              <a:rPr lang="en-US" sz="1820" spc="45">
                <a:solidFill>
                  <a:srgbClr val="0B132B"/>
                </a:solidFill>
                <a:latin typeface="Bricolage Grotesque"/>
                <a:ea typeface="Bricolage Grotesque"/>
                <a:cs typeface="Bricolage Grotesque"/>
                <a:sym typeface="Bricolage Grotesque"/>
              </a:rPr>
              <a:t>bensin, </a:t>
            </a:r>
            <a:r>
              <a:rPr lang="en-US" b="true" sz="1820" spc="45">
                <a:solidFill>
                  <a:srgbClr val="0B132B"/>
                </a:solidFill>
                <a:latin typeface="Bricolage Grotesque Bold"/>
                <a:ea typeface="Bricolage Grotesque Bold"/>
                <a:cs typeface="Bricolage Grotesque Bold"/>
                <a:sym typeface="Bricolage Grotesque Bold"/>
              </a:rPr>
              <a:t>lokasi </a:t>
            </a:r>
            <a:r>
              <a:rPr lang="en-US" sz="1820" spc="45">
                <a:solidFill>
                  <a:srgbClr val="0B132B"/>
                </a:solidFill>
                <a:latin typeface="Bricolage Grotesque"/>
                <a:ea typeface="Bricolage Grotesque"/>
                <a:cs typeface="Bricolage Grotesque"/>
                <a:sym typeface="Bricolage Grotesque"/>
              </a:rPr>
              <a:t>koridor, dan </a:t>
            </a:r>
            <a:r>
              <a:rPr lang="en-US" b="true" sz="1820" spc="45">
                <a:solidFill>
                  <a:srgbClr val="0B132B"/>
                </a:solidFill>
                <a:latin typeface="Bricolage Grotesque Bold"/>
                <a:ea typeface="Bricolage Grotesque Bold"/>
                <a:cs typeface="Bricolage Grotesque Bold"/>
                <a:sym typeface="Bricolage Grotesque Bold"/>
              </a:rPr>
              <a:t>jam sibuk</a:t>
            </a:r>
            <a:r>
              <a:rPr lang="en-US" sz="1820" spc="45">
                <a:solidFill>
                  <a:srgbClr val="0B132B"/>
                </a:solidFill>
                <a:latin typeface="Bricolage Grotesque"/>
                <a:ea typeface="Bricolage Grotesque"/>
                <a:cs typeface="Bricolage Grotesque"/>
                <a:sym typeface="Bricolage Grotesque"/>
              </a:rPr>
              <a:t> mem</a:t>
            </a:r>
            <a:r>
              <a:rPr lang="en-US" sz="1820" spc="45">
                <a:solidFill>
                  <a:srgbClr val="0B132B"/>
                </a:solidFill>
                <a:latin typeface="Bricolage Grotesque"/>
                <a:ea typeface="Bricolage Grotesque"/>
                <a:cs typeface="Bricolage Grotesque"/>
                <a:sym typeface="Bricolage Grotesque"/>
              </a:rPr>
              <a:t>perkirakan tekanan </a:t>
            </a:r>
            <a:r>
              <a:rPr lang="en-US" b="true" sz="1820" spc="45">
                <a:solidFill>
                  <a:srgbClr val="0B132B"/>
                </a:solidFill>
                <a:latin typeface="Bricolage Grotesque Bold"/>
                <a:ea typeface="Bricolage Grotesque Bold"/>
                <a:cs typeface="Bricolage Grotesque Bold"/>
                <a:sym typeface="Bricolage Grotesque Bold"/>
              </a:rPr>
              <a:t>mobilitas</a:t>
            </a:r>
            <a:r>
              <a:rPr lang="en-US" sz="1820" spc="45">
                <a:solidFill>
                  <a:srgbClr val="0B132B"/>
                </a:solidFill>
                <a:latin typeface="Bricolage Grotesque"/>
                <a:ea typeface="Bricolage Grotesque"/>
                <a:cs typeface="Bricolage Grotesque"/>
                <a:sym typeface="Bricolage Grotesque"/>
              </a:rPr>
              <a: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956527" y="8473564"/>
            <a:ext cx="2473138" cy="447540"/>
            <a:chOff x="0" y="0"/>
            <a:chExt cx="2201755" cy="398431"/>
          </a:xfrm>
        </p:grpSpPr>
        <p:sp>
          <p:nvSpPr>
            <p:cNvPr name="Freeform 3" id="3"/>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4" id="4"/>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793061"/>
            <a:ext cx="4463067" cy="235560"/>
            <a:chOff x="0" y="0"/>
            <a:chExt cx="5950756" cy="314080"/>
          </a:xfrm>
        </p:grpSpPr>
        <p:sp>
          <p:nvSpPr>
            <p:cNvPr name="Freeform 6" id="6"/>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Freeform 8" id="8"/>
          <p:cNvSpPr/>
          <p:nvPr/>
        </p:nvSpPr>
        <p:spPr>
          <a:xfrm flipH="false" flipV="false" rot="0">
            <a:off x="1613527" y="2594489"/>
            <a:ext cx="7278824" cy="3570744"/>
          </a:xfrm>
          <a:custGeom>
            <a:avLst/>
            <a:gdLst/>
            <a:ahLst/>
            <a:cxnLst/>
            <a:rect r="r" b="b" t="t" l="l"/>
            <a:pathLst>
              <a:path h="3570744" w="7278824">
                <a:moveTo>
                  <a:pt x="0" y="0"/>
                </a:moveTo>
                <a:lnTo>
                  <a:pt x="7278825" y="0"/>
                </a:lnTo>
                <a:lnTo>
                  <a:pt x="7278825" y="3570744"/>
                </a:lnTo>
                <a:lnTo>
                  <a:pt x="0" y="3570744"/>
                </a:lnTo>
                <a:lnTo>
                  <a:pt x="0" y="0"/>
                </a:lnTo>
                <a:close/>
              </a:path>
            </a:pathLst>
          </a:custGeom>
          <a:blipFill>
            <a:blip r:embed="rId4"/>
            <a:stretch>
              <a:fillRect l="0" t="0" r="-100000" b="0"/>
            </a:stretch>
          </a:blipFill>
          <a:ln w="38100" cap="sq">
            <a:solidFill>
              <a:srgbClr val="000000"/>
            </a:solidFill>
            <a:prstDash val="dash"/>
            <a:miter/>
          </a:ln>
        </p:spPr>
      </p:sp>
      <p:sp>
        <p:nvSpPr>
          <p:cNvPr name="TextBox 9" id="9"/>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- 14</a:t>
            </a:r>
          </a:p>
        </p:txBody>
      </p:sp>
      <p:sp>
        <p:nvSpPr>
          <p:cNvPr name="TextBox 10" id="10"/>
          <p:cNvSpPr txBox="true"/>
          <p:nvPr/>
        </p:nvSpPr>
        <p:spPr>
          <a:xfrm rot="0">
            <a:off x="1028700" y="1443591"/>
            <a:ext cx="18267881" cy="800427"/>
          </a:xfrm>
          <a:prstGeom prst="rect">
            <a:avLst/>
          </a:prstGeom>
        </p:spPr>
        <p:txBody>
          <a:bodyPr anchor="t" rtlCol="false" tIns="0" lIns="0" bIns="0" rIns="0">
            <a:spAutoFit/>
          </a:bodyPr>
          <a:lstStyle/>
          <a:p>
            <a:pPr algn="l">
              <a:lnSpc>
                <a:spcPts val="6012"/>
              </a:lnSpc>
            </a:pPr>
            <a:r>
              <a:rPr lang="en-US" sz="6012">
                <a:solidFill>
                  <a:srgbClr val="0B132B"/>
                </a:solidFill>
                <a:latin typeface="Rubik One"/>
                <a:ea typeface="Rubik One"/>
                <a:cs typeface="Rubik One"/>
                <a:sym typeface="Rubik One"/>
              </a:rPr>
              <a:t>Distribusi Utilisasi per Lokasi &amp; Tipe</a:t>
            </a:r>
          </a:p>
        </p:txBody>
      </p:sp>
      <p:sp>
        <p:nvSpPr>
          <p:cNvPr name="Freeform 11" id="11"/>
          <p:cNvSpPr/>
          <p:nvPr/>
        </p:nvSpPr>
        <p:spPr>
          <a:xfrm flipH="false" flipV="false" rot="0">
            <a:off x="1613527" y="6222383"/>
            <a:ext cx="7278824" cy="3564128"/>
          </a:xfrm>
          <a:custGeom>
            <a:avLst/>
            <a:gdLst/>
            <a:ahLst/>
            <a:cxnLst/>
            <a:rect r="r" b="b" t="t" l="l"/>
            <a:pathLst>
              <a:path h="3564128" w="7278824">
                <a:moveTo>
                  <a:pt x="0" y="0"/>
                </a:moveTo>
                <a:lnTo>
                  <a:pt x="7278825" y="0"/>
                </a:lnTo>
                <a:lnTo>
                  <a:pt x="7278825" y="3564128"/>
                </a:lnTo>
                <a:lnTo>
                  <a:pt x="0" y="3564128"/>
                </a:lnTo>
                <a:lnTo>
                  <a:pt x="0" y="0"/>
                </a:lnTo>
                <a:close/>
              </a:path>
            </a:pathLst>
          </a:custGeom>
          <a:blipFill>
            <a:blip r:embed="rId4"/>
            <a:stretch>
              <a:fillRect l="-99629" t="0" r="0" b="0"/>
            </a:stretch>
          </a:blipFill>
          <a:ln w="38100" cap="sq">
            <a:solidFill>
              <a:srgbClr val="000000"/>
            </a:solidFill>
            <a:prstDash val="dash"/>
            <a:miter/>
          </a:ln>
        </p:spPr>
      </p:sp>
      <p:grpSp>
        <p:nvGrpSpPr>
          <p:cNvPr name="Group 12" id="12"/>
          <p:cNvGrpSpPr/>
          <p:nvPr/>
        </p:nvGrpSpPr>
        <p:grpSpPr>
          <a:xfrm rot="0">
            <a:off x="10113591" y="2651639"/>
            <a:ext cx="1815721" cy="1369315"/>
            <a:chOff x="0" y="0"/>
            <a:chExt cx="528322" cy="398431"/>
          </a:xfrm>
        </p:grpSpPr>
        <p:sp>
          <p:nvSpPr>
            <p:cNvPr name="Freeform 13" id="13"/>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sp>
        <p:sp>
          <p:nvSpPr>
            <p:cNvPr name="TextBox 14" id="14"/>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113591" y="6315050"/>
            <a:ext cx="1815721" cy="1369315"/>
            <a:chOff x="0" y="0"/>
            <a:chExt cx="528322" cy="398431"/>
          </a:xfrm>
        </p:grpSpPr>
        <p:sp>
          <p:nvSpPr>
            <p:cNvPr name="Freeform 16" id="16"/>
            <p:cNvSpPr/>
            <p:nvPr/>
          </p:nvSpPr>
          <p:spPr>
            <a:xfrm flipH="false" flipV="false" rot="0">
              <a:off x="24781" y="0"/>
              <a:ext cx="478760" cy="398431"/>
            </a:xfrm>
            <a:custGeom>
              <a:avLst/>
              <a:gdLst/>
              <a:ahLst/>
              <a:cxnLst/>
              <a:rect r="r" b="b" t="t" l="l"/>
              <a:pathLst>
                <a:path h="398431" w="478760">
                  <a:moveTo>
                    <a:pt x="242376" y="0"/>
                  </a:moveTo>
                  <a:lnTo>
                    <a:pt x="439584" y="0"/>
                  </a:lnTo>
                  <a:cubicBezTo>
                    <a:pt x="453217" y="0"/>
                    <a:pt x="465870" y="7088"/>
                    <a:pt x="472991" y="18713"/>
                  </a:cubicBezTo>
                  <a:cubicBezTo>
                    <a:pt x="480112" y="30339"/>
                    <a:pt x="480677" y="44831"/>
                    <a:pt x="474483" y="56976"/>
                  </a:cubicBezTo>
                  <a:lnTo>
                    <a:pt x="329399" y="341455"/>
                  </a:lnTo>
                  <a:cubicBezTo>
                    <a:pt x="311567" y="376420"/>
                    <a:pt x="275633" y="398431"/>
                    <a:pt x="236384" y="398431"/>
                  </a:cubicBezTo>
                  <a:lnTo>
                    <a:pt x="39176" y="398431"/>
                  </a:lnTo>
                  <a:cubicBezTo>
                    <a:pt x="25543" y="398431"/>
                    <a:pt x="12890" y="391343"/>
                    <a:pt x="5769" y="379718"/>
                  </a:cubicBezTo>
                  <a:cubicBezTo>
                    <a:pt x="-1352" y="368092"/>
                    <a:pt x="-1917" y="353600"/>
                    <a:pt x="4277" y="341455"/>
                  </a:cubicBezTo>
                  <a:lnTo>
                    <a:pt x="149361" y="56976"/>
                  </a:lnTo>
                  <a:cubicBezTo>
                    <a:pt x="167193" y="22011"/>
                    <a:pt x="203127" y="0"/>
                    <a:pt x="242376" y="0"/>
                  </a:cubicBezTo>
                  <a:close/>
                </a:path>
              </a:pathLst>
            </a:custGeom>
            <a:solidFill>
              <a:srgbClr val="00B58F"/>
            </a:solidFill>
          </p:spPr>
        </p:sp>
        <p:sp>
          <p:nvSpPr>
            <p:cNvPr name="TextBox 17" id="17"/>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0162641" y="2221491"/>
            <a:ext cx="1279010" cy="1375280"/>
          </a:xfrm>
          <a:custGeom>
            <a:avLst/>
            <a:gdLst/>
            <a:ahLst/>
            <a:cxnLst/>
            <a:rect r="r" b="b" t="t" l="l"/>
            <a:pathLst>
              <a:path h="1375280" w="1279010">
                <a:moveTo>
                  <a:pt x="0" y="0"/>
                </a:moveTo>
                <a:lnTo>
                  <a:pt x="1279010" y="0"/>
                </a:lnTo>
                <a:lnTo>
                  <a:pt x="1279010" y="1375280"/>
                </a:lnTo>
                <a:lnTo>
                  <a:pt x="0" y="13752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9" id="19"/>
          <p:cNvSpPr/>
          <p:nvPr/>
        </p:nvSpPr>
        <p:spPr>
          <a:xfrm flipH="false" flipV="false" rot="0">
            <a:off x="10113591" y="5887853"/>
            <a:ext cx="1198206" cy="1369378"/>
          </a:xfrm>
          <a:custGeom>
            <a:avLst/>
            <a:gdLst/>
            <a:ahLst/>
            <a:cxnLst/>
            <a:rect r="r" b="b" t="t" l="l"/>
            <a:pathLst>
              <a:path h="1369378" w="1198206">
                <a:moveTo>
                  <a:pt x="0" y="0"/>
                </a:moveTo>
                <a:lnTo>
                  <a:pt x="1198205" y="0"/>
                </a:lnTo>
                <a:lnTo>
                  <a:pt x="1198205" y="1369378"/>
                </a:lnTo>
                <a:lnTo>
                  <a:pt x="0" y="13693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0" id="20"/>
          <p:cNvSpPr txBox="true"/>
          <p:nvPr/>
        </p:nvSpPr>
        <p:spPr>
          <a:xfrm rot="0">
            <a:off x="12120392" y="2718314"/>
            <a:ext cx="419254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Insight</a:t>
            </a:r>
          </a:p>
        </p:txBody>
      </p:sp>
      <p:sp>
        <p:nvSpPr>
          <p:cNvPr name="TextBox 21" id="21"/>
          <p:cNvSpPr txBox="true"/>
          <p:nvPr/>
        </p:nvSpPr>
        <p:spPr>
          <a:xfrm rot="0">
            <a:off x="11929311" y="3140342"/>
            <a:ext cx="5138908" cy="2830315"/>
          </a:xfrm>
          <a:prstGeom prst="rect">
            <a:avLst/>
          </a:prstGeom>
        </p:spPr>
        <p:txBody>
          <a:bodyPr anchor="t" rtlCol="false" tIns="0" lIns="0" bIns="0" rIns="0">
            <a:spAutoFit/>
          </a:bodyPr>
          <a:lstStyle/>
          <a:p>
            <a:pPr algn="just" marL="393000" indent="-196500" lvl="1">
              <a:lnSpc>
                <a:spcPts val="2548"/>
              </a:lnSpc>
              <a:buFont typeface="Arial"/>
              <a:buChar char="•"/>
            </a:pPr>
            <a:r>
              <a:rPr lang="en-US" b="true" sz="1820" spc="45">
                <a:solidFill>
                  <a:srgbClr val="0B132B"/>
                </a:solidFill>
                <a:latin typeface="Bricolage Grotesque Bold"/>
                <a:ea typeface="Bricolage Grotesque Bold"/>
                <a:cs typeface="Bricolage Grotesque Bold"/>
                <a:sym typeface="Bricolage Grotesque Bold"/>
              </a:rPr>
              <a:t>Shopping cente</a:t>
            </a:r>
            <a:r>
              <a:rPr lang="en-US" b="true" sz="1820" spc="45">
                <a:solidFill>
                  <a:srgbClr val="0B132B"/>
                </a:solidFill>
                <a:latin typeface="Bricolage Grotesque Bold"/>
                <a:ea typeface="Bricolage Grotesque Bold"/>
                <a:cs typeface="Bricolage Grotesque Bold"/>
                <a:sym typeface="Bricolage Grotesque Bold"/>
              </a:rPr>
              <a:t>r, highway corridor, </a:t>
            </a:r>
            <a:r>
              <a:rPr lang="en-US" sz="1820" spc="45">
                <a:solidFill>
                  <a:srgbClr val="0B132B"/>
                </a:solidFill>
                <a:latin typeface="Bricolage Grotesque"/>
                <a:ea typeface="Bricolage Grotesque"/>
                <a:cs typeface="Bricolage Grotesque"/>
                <a:sym typeface="Bricolage Grotesque"/>
              </a:rPr>
              <a:t>dan </a:t>
            </a:r>
            <a:r>
              <a:rPr lang="en-US" b="true" sz="1820" spc="45">
                <a:solidFill>
                  <a:srgbClr val="0B132B"/>
                </a:solidFill>
                <a:latin typeface="Bricolage Grotesque Bold"/>
                <a:ea typeface="Bricolage Grotesque Bold"/>
                <a:cs typeface="Bricolage Grotesque Bold"/>
                <a:sym typeface="Bricolage Grotesque Bold"/>
              </a:rPr>
              <a:t>urban center</a:t>
            </a:r>
            <a:r>
              <a:rPr lang="en-US" sz="1820" spc="45">
                <a:solidFill>
                  <a:srgbClr val="0B132B"/>
                </a:solidFill>
                <a:latin typeface="Bricolage Grotesque"/>
                <a:ea typeface="Bricolage Grotesque"/>
                <a:cs typeface="Bricolage Grotesque"/>
                <a:sym typeface="Bricolage Grotesque"/>
              </a:rPr>
              <a:t> mencatat </a:t>
            </a:r>
            <a:r>
              <a:rPr lang="en-US" b="true" sz="1820" spc="45">
                <a:solidFill>
                  <a:srgbClr val="0B132B"/>
                </a:solidFill>
                <a:latin typeface="Bricolage Grotesque Bold"/>
                <a:ea typeface="Bricolage Grotesque Bold"/>
                <a:cs typeface="Bricolage Grotesque Bold"/>
                <a:sym typeface="Bricolage Grotesque Bold"/>
              </a:rPr>
              <a:t>median </a:t>
            </a:r>
            <a:r>
              <a:rPr lang="en-US" sz="1820" spc="45">
                <a:solidFill>
                  <a:srgbClr val="0B132B"/>
                </a:solidFill>
                <a:latin typeface="Bricolage Grotesque"/>
                <a:ea typeface="Bricolage Grotesque"/>
                <a:cs typeface="Bricolage Grotesque"/>
                <a:sym typeface="Bricolage Grotesque"/>
              </a:rPr>
              <a:t>utilisasi </a:t>
            </a:r>
            <a:r>
              <a:rPr lang="en-US" b="true" sz="1820" spc="45">
                <a:solidFill>
                  <a:srgbClr val="0B132B"/>
                </a:solidFill>
                <a:latin typeface="Bricolage Grotesque Bold"/>
                <a:ea typeface="Bricolage Grotesque Bold"/>
                <a:cs typeface="Bricolage Grotesque Bold"/>
                <a:sym typeface="Bricolage Grotesque Bold"/>
              </a:rPr>
              <a:t>tertinggi </a:t>
            </a:r>
            <a:r>
              <a:rPr lang="en-US" sz="1820" spc="45">
                <a:solidFill>
                  <a:srgbClr val="0B132B"/>
                </a:solidFill>
                <a:latin typeface="Bricolage Grotesque"/>
                <a:ea typeface="Bricolage Grotesque"/>
                <a:cs typeface="Bricolage Grotesque"/>
                <a:sym typeface="Bricolage Grotesque"/>
              </a:rPr>
              <a:t>dengan </a:t>
            </a:r>
            <a:r>
              <a:rPr lang="en-US" b="true" sz="1820" spc="45">
                <a:solidFill>
                  <a:srgbClr val="0B132B"/>
                </a:solidFill>
                <a:latin typeface="Bricolage Grotesque Bold"/>
                <a:ea typeface="Bricolage Grotesque Bold"/>
                <a:cs typeface="Bricolage Grotesque Bold"/>
                <a:sym typeface="Bricolage Grotesque Bold"/>
              </a:rPr>
              <a:t>fluktuasi </a:t>
            </a:r>
            <a:r>
              <a:rPr lang="en-US" sz="1820" spc="45">
                <a:solidFill>
                  <a:srgbClr val="0B132B"/>
                </a:solidFill>
                <a:latin typeface="Bricolage Grotesque"/>
                <a:ea typeface="Bricolage Grotesque"/>
                <a:cs typeface="Bricolage Grotesque"/>
                <a:sym typeface="Bricolage Grotesque"/>
              </a:rPr>
              <a:t>yang </a:t>
            </a:r>
            <a:r>
              <a:rPr lang="en-US" b="true" sz="1820" spc="45">
                <a:solidFill>
                  <a:srgbClr val="0B132B"/>
                </a:solidFill>
                <a:latin typeface="Bricolage Grotesque Bold"/>
                <a:ea typeface="Bricolage Grotesque Bold"/>
                <a:cs typeface="Bricolage Grotesque Bold"/>
                <a:sym typeface="Bricolage Grotesque Bold"/>
              </a:rPr>
              <a:t>lebar</a:t>
            </a:r>
            <a:r>
              <a:rPr lang="en-US" sz="1820" spc="45">
                <a:solidFill>
                  <a:srgbClr val="0B132B"/>
                </a:solidFill>
                <a:latin typeface="Bricolage Grotesque"/>
                <a:ea typeface="Bricolage Grotesque"/>
                <a:cs typeface="Bricolage Grotesque"/>
                <a:sym typeface="Bricolage Grotesque"/>
              </a:rPr>
              <a:t>.</a:t>
            </a:r>
          </a:p>
          <a:p>
            <a:pPr algn="just" marL="393000" indent="-196500" lvl="1">
              <a:lnSpc>
                <a:spcPts val="2548"/>
              </a:lnSpc>
              <a:buFont typeface="Arial"/>
              <a:buChar char="•"/>
            </a:pPr>
            <a:r>
              <a:rPr lang="en-US" b="true" sz="1820" spc="45">
                <a:solidFill>
                  <a:srgbClr val="0B132B"/>
                </a:solidFill>
                <a:latin typeface="Bricolage Grotesque Bold"/>
                <a:ea typeface="Bricolage Grotesque Bold"/>
                <a:cs typeface="Bricolage Grotesque Bold"/>
                <a:sym typeface="Bricolage Grotesque Bold"/>
              </a:rPr>
              <a:t>Airport</a:t>
            </a:r>
            <a:r>
              <a:rPr lang="en-US" sz="1820" spc="45">
                <a:solidFill>
                  <a:srgbClr val="0B132B"/>
                </a:solidFill>
                <a:latin typeface="Bricolage Grotesque"/>
                <a:ea typeface="Bricolage Grotesque"/>
                <a:cs typeface="Bricolage Grotesque"/>
                <a:sym typeface="Bricolage Grotesque"/>
              </a:rPr>
              <a:t>, </a:t>
            </a:r>
            <a:r>
              <a:rPr lang="en-US" b="true" sz="1820" spc="45">
                <a:solidFill>
                  <a:srgbClr val="0B132B"/>
                </a:solidFill>
                <a:latin typeface="Bricolage Grotesque Bold"/>
                <a:ea typeface="Bricolage Grotesque Bold"/>
                <a:cs typeface="Bricolage Grotesque Bold"/>
                <a:sym typeface="Bricolage Grotesque Bold"/>
              </a:rPr>
              <a:t>hotel</a:t>
            </a:r>
            <a:r>
              <a:rPr lang="en-US" sz="1820" spc="45">
                <a:solidFill>
                  <a:srgbClr val="0B132B"/>
                </a:solidFill>
                <a:latin typeface="Bricolage Grotesque"/>
                <a:ea typeface="Bricolage Grotesque"/>
                <a:cs typeface="Bricolage Grotesque"/>
                <a:sym typeface="Bricolage Grotesque"/>
              </a:rPr>
              <a:t>, dan </a:t>
            </a:r>
            <a:r>
              <a:rPr lang="en-US" b="true" sz="1820" spc="45">
                <a:solidFill>
                  <a:srgbClr val="0B132B"/>
                </a:solidFill>
                <a:latin typeface="Bricolage Grotesque Bold"/>
                <a:ea typeface="Bricolage Grotesque Bold"/>
                <a:cs typeface="Bricolage Grotesque Bold"/>
                <a:sym typeface="Bricolage Grotesque Bold"/>
              </a:rPr>
              <a:t>suburban </a:t>
            </a:r>
            <a:r>
              <a:rPr lang="en-US" sz="1820" spc="45">
                <a:solidFill>
                  <a:srgbClr val="0B132B"/>
                </a:solidFill>
                <a:latin typeface="Bricolage Grotesque"/>
                <a:ea typeface="Bricolage Grotesque"/>
                <a:cs typeface="Bricolage Grotesque"/>
                <a:sym typeface="Bricolage Grotesque"/>
              </a:rPr>
              <a:t>lebih </a:t>
            </a:r>
            <a:r>
              <a:rPr lang="en-US" b="true" sz="1820" spc="45">
                <a:solidFill>
                  <a:srgbClr val="0B132B"/>
                </a:solidFill>
                <a:latin typeface="Bricolage Grotesque Bold"/>
                <a:ea typeface="Bricolage Grotesque Bold"/>
                <a:cs typeface="Bricolage Grotesque Bold"/>
                <a:sym typeface="Bricolage Grotesque Bold"/>
              </a:rPr>
              <a:t>stabil</a:t>
            </a:r>
            <a:r>
              <a:rPr lang="en-US" sz="1820" spc="45">
                <a:solidFill>
                  <a:srgbClr val="0B132B"/>
                </a:solidFill>
                <a:latin typeface="Bricolage Grotesque"/>
                <a:ea typeface="Bricolage Grotesque"/>
                <a:cs typeface="Bricolage Grotesque"/>
                <a:sym typeface="Bricolage Grotesque"/>
              </a:rPr>
              <a:t>; </a:t>
            </a:r>
            <a:r>
              <a:rPr lang="en-US" b="true" sz="1820" spc="45">
                <a:solidFill>
                  <a:srgbClr val="0B132B"/>
                </a:solidFill>
                <a:latin typeface="Bricolage Grotesque Bold"/>
                <a:ea typeface="Bricolage Grotesque Bold"/>
                <a:cs typeface="Bricolage Grotesque Bold"/>
                <a:sym typeface="Bricolage Grotesque Bold"/>
              </a:rPr>
              <a:t>workplace </a:t>
            </a:r>
            <a:r>
              <a:rPr lang="en-US" sz="1820" spc="45">
                <a:solidFill>
                  <a:srgbClr val="0B132B"/>
                </a:solidFill>
                <a:latin typeface="Bricolage Grotesque"/>
                <a:ea typeface="Bricolage Grotesque"/>
                <a:cs typeface="Bricolage Grotesque"/>
                <a:sym typeface="Bricolage Grotesque"/>
              </a:rPr>
              <a:t>memuncak saat </a:t>
            </a:r>
            <a:r>
              <a:rPr lang="en-US" b="true" sz="1820" spc="45">
                <a:solidFill>
                  <a:srgbClr val="0B132B"/>
                </a:solidFill>
                <a:latin typeface="Bricolage Grotesque Bold"/>
                <a:ea typeface="Bricolage Grotesque Bold"/>
                <a:cs typeface="Bricolage Grotesque Bold"/>
                <a:sym typeface="Bricolage Grotesque Bold"/>
              </a:rPr>
              <a:t>kerja</a:t>
            </a:r>
            <a:r>
              <a:rPr lang="en-US" sz="1820" spc="45">
                <a:solidFill>
                  <a:srgbClr val="0B132B"/>
                </a:solidFill>
                <a:latin typeface="Bricolage Grotesque"/>
                <a:ea typeface="Bricolage Grotesque"/>
                <a:cs typeface="Bricolage Grotesque"/>
                <a:sym typeface="Bricolage Grotesque"/>
              </a:rPr>
              <a:t>, </a:t>
            </a:r>
            <a:r>
              <a:rPr lang="en-US" b="true" sz="1820" spc="45">
                <a:solidFill>
                  <a:srgbClr val="0B132B"/>
                </a:solidFill>
                <a:latin typeface="Bricolage Grotesque Bold"/>
                <a:ea typeface="Bricolage Grotesque Bold"/>
                <a:cs typeface="Bricolage Grotesque Bold"/>
                <a:sym typeface="Bricolage Grotesque Bold"/>
              </a:rPr>
              <a:t>residential </a:t>
            </a:r>
            <a:r>
              <a:rPr lang="en-US" sz="1820" spc="45">
                <a:solidFill>
                  <a:srgbClr val="0B132B"/>
                </a:solidFill>
                <a:latin typeface="Bricolage Grotesque"/>
                <a:ea typeface="Bricolage Grotesque"/>
                <a:cs typeface="Bricolage Grotesque"/>
                <a:sym typeface="Bricolage Grotesque"/>
              </a:rPr>
              <a:t>pada </a:t>
            </a:r>
            <a:r>
              <a:rPr lang="en-US" b="true" sz="1820" spc="45">
                <a:solidFill>
                  <a:srgbClr val="0B132B"/>
                </a:solidFill>
                <a:latin typeface="Bricolage Grotesque Bold"/>
                <a:ea typeface="Bricolage Grotesque Bold"/>
                <a:cs typeface="Bricolage Grotesque Bold"/>
                <a:sym typeface="Bricolage Grotesque Bold"/>
              </a:rPr>
              <a:t>malam </a:t>
            </a:r>
            <a:r>
              <a:rPr lang="en-US" sz="1820" spc="45">
                <a:solidFill>
                  <a:srgbClr val="0B132B"/>
                </a:solidFill>
                <a:latin typeface="Bricolage Grotesque"/>
                <a:ea typeface="Bricolage Grotesque"/>
                <a:cs typeface="Bricolage Grotesque"/>
                <a:sym typeface="Bricolage Grotesque"/>
              </a:rPr>
              <a:t>hari.</a:t>
            </a:r>
          </a:p>
          <a:p>
            <a:pPr algn="just" marL="393000" indent="-196500" lvl="1">
              <a:lnSpc>
                <a:spcPts val="2548"/>
              </a:lnSpc>
              <a:buFont typeface="Arial"/>
              <a:buChar char="•"/>
            </a:pPr>
            <a:r>
              <a:rPr lang="en-US" b="true" sz="1820" spc="45">
                <a:solidFill>
                  <a:srgbClr val="0B132B"/>
                </a:solidFill>
                <a:latin typeface="Bricolage Grotesque Bold"/>
                <a:ea typeface="Bricolage Grotesque Bold"/>
                <a:cs typeface="Bricolage Grotesque Bold"/>
                <a:sym typeface="Bricolage Grotesque Bold"/>
              </a:rPr>
              <a:t>Level 2</a:t>
            </a:r>
            <a:r>
              <a:rPr lang="en-US" sz="1820" spc="45">
                <a:solidFill>
                  <a:srgbClr val="0B132B"/>
                </a:solidFill>
                <a:latin typeface="Bricolage Grotesque"/>
                <a:ea typeface="Bricolage Grotesque"/>
                <a:cs typeface="Bricolage Grotesque"/>
                <a:sym typeface="Bricolage Grotesque"/>
              </a:rPr>
              <a:t> mempertahankan </a:t>
            </a:r>
            <a:r>
              <a:rPr lang="en-US" b="true" sz="1820" spc="45">
                <a:solidFill>
                  <a:srgbClr val="0B132B"/>
                </a:solidFill>
                <a:latin typeface="Bricolage Grotesque Bold"/>
                <a:ea typeface="Bricolage Grotesque Bold"/>
                <a:cs typeface="Bricolage Grotesque Bold"/>
                <a:sym typeface="Bricolage Grotesque Bold"/>
              </a:rPr>
              <a:t>okupansi </a:t>
            </a:r>
            <a:r>
              <a:rPr lang="en-US" sz="1820" spc="45">
                <a:solidFill>
                  <a:srgbClr val="0B132B"/>
                </a:solidFill>
                <a:latin typeface="Bricolage Grotesque"/>
                <a:ea typeface="Bricolage Grotesque"/>
                <a:cs typeface="Bricolage Grotesque"/>
                <a:sym typeface="Bricolage Grotesque"/>
              </a:rPr>
              <a:t>port lebih </a:t>
            </a:r>
            <a:r>
              <a:rPr lang="en-US" b="true" sz="1820" spc="45">
                <a:solidFill>
                  <a:srgbClr val="0B132B"/>
                </a:solidFill>
                <a:latin typeface="Bricolage Grotesque Bold"/>
                <a:ea typeface="Bricolage Grotesque Bold"/>
                <a:cs typeface="Bricolage Grotesque Bold"/>
                <a:sym typeface="Bricolage Grotesque Bold"/>
              </a:rPr>
              <a:t>lama</a:t>
            </a:r>
            <a:r>
              <a:rPr lang="en-US" sz="1820" spc="45">
                <a:solidFill>
                  <a:srgbClr val="0B132B"/>
                </a:solidFill>
                <a:latin typeface="Bricolage Grotesque"/>
                <a:ea typeface="Bricolage Grotesque"/>
                <a:cs typeface="Bricolage Grotesque"/>
                <a:sym typeface="Bricolage Grotesque"/>
              </a:rPr>
              <a:t>, sedangkan </a:t>
            </a:r>
            <a:r>
              <a:rPr lang="en-US" b="true" sz="1820" spc="45">
                <a:solidFill>
                  <a:srgbClr val="0B132B"/>
                </a:solidFill>
                <a:latin typeface="Bricolage Grotesque Bold"/>
                <a:ea typeface="Bricolage Grotesque Bold"/>
                <a:cs typeface="Bricolage Grotesque Bold"/>
                <a:sym typeface="Bricolage Grotesque Bold"/>
              </a:rPr>
              <a:t>Hyper-Fast</a:t>
            </a:r>
            <a:r>
              <a:rPr lang="en-US" sz="1820" spc="45">
                <a:solidFill>
                  <a:srgbClr val="0B132B"/>
                </a:solidFill>
                <a:latin typeface="Bricolage Grotesque"/>
                <a:ea typeface="Bricolage Grotesque"/>
                <a:cs typeface="Bricolage Grotesque"/>
                <a:sym typeface="Bricolage Grotesque"/>
              </a:rPr>
              <a:t> mempercepat </a:t>
            </a:r>
            <a:r>
              <a:rPr lang="en-US" b="true" sz="1820" spc="45">
                <a:solidFill>
                  <a:srgbClr val="0B132B"/>
                </a:solidFill>
                <a:latin typeface="Bricolage Grotesque Bold"/>
                <a:ea typeface="Bricolage Grotesque Bold"/>
                <a:cs typeface="Bricolage Grotesque Bold"/>
                <a:sym typeface="Bricolage Grotesque Bold"/>
              </a:rPr>
              <a:t>pergantian </a:t>
            </a:r>
            <a:r>
              <a:rPr lang="en-US" sz="1820" spc="45">
                <a:solidFill>
                  <a:srgbClr val="0B132B"/>
                </a:solidFill>
                <a:latin typeface="Bricolage Grotesque"/>
                <a:ea typeface="Bricolage Grotesque"/>
                <a:cs typeface="Bricolage Grotesque"/>
                <a:sym typeface="Bricolage Grotesque"/>
              </a:rPr>
              <a:t>kendaraan.</a:t>
            </a:r>
          </a:p>
        </p:txBody>
      </p:sp>
      <p:sp>
        <p:nvSpPr>
          <p:cNvPr name="TextBox 22" id="22"/>
          <p:cNvSpPr txBox="true"/>
          <p:nvPr/>
        </p:nvSpPr>
        <p:spPr>
          <a:xfrm rot="0">
            <a:off x="12120392" y="6381725"/>
            <a:ext cx="419254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Decision</a:t>
            </a:r>
          </a:p>
        </p:txBody>
      </p:sp>
      <p:sp>
        <p:nvSpPr>
          <p:cNvPr name="TextBox 23" id="23"/>
          <p:cNvSpPr txBox="true"/>
          <p:nvPr/>
        </p:nvSpPr>
        <p:spPr>
          <a:xfrm rot="0">
            <a:off x="11929311" y="6803753"/>
            <a:ext cx="5138908" cy="2515990"/>
          </a:xfrm>
          <a:prstGeom prst="rect">
            <a:avLst/>
          </a:prstGeom>
        </p:spPr>
        <p:txBody>
          <a:bodyPr anchor="t" rtlCol="false" tIns="0" lIns="0" bIns="0" rIns="0">
            <a:spAutoFit/>
          </a:bodyPr>
          <a:lstStyle/>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Fitur </a:t>
            </a:r>
            <a:r>
              <a:rPr lang="en-US" b="true" sz="1820" spc="45">
                <a:solidFill>
                  <a:srgbClr val="0B132B"/>
                </a:solidFill>
                <a:latin typeface="Bricolage Grotesque Bold"/>
                <a:ea typeface="Bricolage Grotesque Bold"/>
                <a:cs typeface="Bricolage Grotesque Bold"/>
                <a:sym typeface="Bricolage Grotesque Bold"/>
              </a:rPr>
              <a:t>jam puncak</a:t>
            </a:r>
            <a:r>
              <a:rPr lang="en-US" sz="1820" spc="45">
                <a:solidFill>
                  <a:srgbClr val="0B132B"/>
                </a:solidFill>
                <a:latin typeface="Bricolage Grotesque"/>
                <a:ea typeface="Bricolage Grotesque"/>
                <a:cs typeface="Bricolage Grotesque"/>
                <a:sym typeface="Bricolage Grotesque"/>
              </a:rPr>
              <a:t> workplace dan </a:t>
            </a:r>
            <a:r>
              <a:rPr lang="en-US" b="true" sz="1820" spc="45">
                <a:solidFill>
                  <a:srgbClr val="0B132B"/>
                </a:solidFill>
                <a:latin typeface="Bricolage Grotesque Bold"/>
                <a:ea typeface="Bricolage Grotesque Bold"/>
                <a:cs typeface="Bricolage Grotesque Bold"/>
                <a:sym typeface="Bricolage Grotesque Bold"/>
              </a:rPr>
              <a:t>m</a:t>
            </a:r>
            <a:r>
              <a:rPr lang="en-US" b="true" sz="1820" spc="45">
                <a:solidFill>
                  <a:srgbClr val="0B132B"/>
                </a:solidFill>
                <a:latin typeface="Bricolage Grotesque Bold"/>
                <a:ea typeface="Bricolage Grotesque Bold"/>
                <a:cs typeface="Bricolage Grotesque Bold"/>
                <a:sym typeface="Bricolage Grotesque Bold"/>
              </a:rPr>
              <a:t>alam </a:t>
            </a:r>
            <a:r>
              <a:rPr lang="en-US" sz="1820" spc="45">
                <a:solidFill>
                  <a:srgbClr val="0B132B"/>
                </a:solidFill>
                <a:latin typeface="Bricolage Grotesque"/>
                <a:ea typeface="Bricolage Grotesque"/>
                <a:cs typeface="Bricolage Grotesque"/>
                <a:sym typeface="Bricolage Grotesque"/>
              </a:rPr>
              <a:t>residential menangkap </a:t>
            </a:r>
            <a:r>
              <a:rPr lang="en-US" b="true" sz="1820" spc="45">
                <a:solidFill>
                  <a:srgbClr val="0B132B"/>
                </a:solidFill>
                <a:latin typeface="Bricolage Grotesque Bold"/>
                <a:ea typeface="Bricolage Grotesque Bold"/>
                <a:cs typeface="Bricolage Grotesque Bold"/>
                <a:sym typeface="Bricolage Grotesque Bold"/>
              </a:rPr>
              <a:t>pola </a:t>
            </a:r>
            <a:r>
              <a:rPr lang="en-US" sz="1820" spc="45">
                <a:solidFill>
                  <a:srgbClr val="0B132B"/>
                </a:solidFill>
                <a:latin typeface="Bricolage Grotesque"/>
                <a:ea typeface="Bricolage Grotesque"/>
                <a:cs typeface="Bricolage Grotesque"/>
                <a:sym typeface="Bricolage Grotesque"/>
              </a:rPr>
              <a:t>utilisasi </a:t>
            </a:r>
            <a:r>
              <a:rPr lang="en-US" b="true" sz="1820" spc="45">
                <a:solidFill>
                  <a:srgbClr val="0B132B"/>
                </a:solidFill>
                <a:latin typeface="Bricolage Grotesque Bold"/>
                <a:ea typeface="Bricolage Grotesque Bold"/>
                <a:cs typeface="Bricolage Grotesque Bold"/>
                <a:sym typeface="Bricolage Grotesque Bold"/>
              </a:rPr>
              <a:t>spesifik </a:t>
            </a:r>
            <a:r>
              <a:rPr lang="en-US" sz="1820" spc="45">
                <a:solidFill>
                  <a:srgbClr val="0B132B"/>
                </a:solidFill>
                <a:latin typeface="Bricolage Grotesque"/>
                <a:ea typeface="Bricolage Grotesque"/>
                <a:cs typeface="Bricolage Grotesque"/>
                <a:sym typeface="Bricolage Grotesque"/>
              </a:rPr>
              <a:t>setiap </a:t>
            </a:r>
            <a:r>
              <a:rPr lang="en-US" b="true" sz="1820" spc="45">
                <a:solidFill>
                  <a:srgbClr val="0B132B"/>
                </a:solidFill>
                <a:latin typeface="Bricolage Grotesque Bold"/>
                <a:ea typeface="Bricolage Grotesque Bold"/>
                <a:cs typeface="Bricolage Grotesque Bold"/>
                <a:sym typeface="Bricolage Grotesque Bold"/>
              </a:rPr>
              <a:t>lokasi</a:t>
            </a:r>
            <a:r>
              <a:rPr lang="en-US" sz="1820" spc="45">
                <a:solidFill>
                  <a:srgbClr val="0B132B"/>
                </a:solidFill>
                <a:latin typeface="Bricolage Grotesque"/>
                <a:ea typeface="Bricolage Grotesque"/>
                <a:cs typeface="Bricolage Grotesque"/>
                <a:sym typeface="Bricolage Grotesque"/>
              </a:rPr>
              <a:t>.</a:t>
            </a:r>
          </a:p>
          <a:p>
            <a:pPr algn="just" marL="393000" indent="-196500" lvl="1">
              <a:lnSpc>
                <a:spcPts val="2548"/>
              </a:lnSpc>
              <a:buFont typeface="Arial"/>
              <a:buChar char="•"/>
            </a:pPr>
            <a:r>
              <a:rPr lang="en-US" b="true" sz="1820" spc="45">
                <a:solidFill>
                  <a:srgbClr val="0B132B"/>
                </a:solidFill>
                <a:latin typeface="Bricolage Grotesque Bold"/>
                <a:ea typeface="Bricolage Grotesque Bold"/>
                <a:cs typeface="Bricolage Grotesque Bold"/>
                <a:sym typeface="Bricolage Grotesque Bold"/>
              </a:rPr>
              <a:t>R</a:t>
            </a:r>
            <a:r>
              <a:rPr lang="en-US" b="true" sz="1820" spc="45">
                <a:solidFill>
                  <a:srgbClr val="0B132B"/>
                </a:solidFill>
                <a:latin typeface="Bricolage Grotesque Bold"/>
                <a:ea typeface="Bricolage Grotesque Bold"/>
                <a:cs typeface="Bricolage Grotesque Bold"/>
                <a:sym typeface="Bricolage Grotesque Bold"/>
              </a:rPr>
              <a:t>asio </a:t>
            </a:r>
            <a:r>
              <a:rPr lang="en-US" sz="1820" spc="45">
                <a:solidFill>
                  <a:srgbClr val="0B132B"/>
                </a:solidFill>
                <a:latin typeface="Bricolage Grotesque"/>
                <a:ea typeface="Bricolage Grotesque"/>
                <a:cs typeface="Bricolage Grotesque"/>
                <a:sym typeface="Bricolage Grotesque"/>
              </a:rPr>
              <a:t>d</a:t>
            </a:r>
            <a:r>
              <a:rPr lang="en-US" sz="1820" spc="45">
                <a:solidFill>
                  <a:srgbClr val="0B132B"/>
                </a:solidFill>
                <a:latin typeface="Bricolage Grotesque"/>
                <a:ea typeface="Bricolage Grotesque"/>
                <a:cs typeface="Bricolage Grotesque"/>
                <a:sym typeface="Bricolage Grotesque"/>
              </a:rPr>
              <a:t>aya per port men</a:t>
            </a:r>
            <a:r>
              <a:rPr lang="en-US" sz="1820" spc="45">
                <a:solidFill>
                  <a:srgbClr val="0B132B"/>
                </a:solidFill>
                <a:latin typeface="Bricolage Grotesque"/>
                <a:ea typeface="Bricolage Grotesque"/>
                <a:cs typeface="Bricolage Grotesque"/>
                <a:sym typeface="Bricolage Grotesque"/>
              </a:rPr>
              <a:t>ghubungkan </a:t>
            </a:r>
            <a:r>
              <a:rPr lang="en-US" b="true" sz="1820" spc="45">
                <a:solidFill>
                  <a:srgbClr val="0B132B"/>
                </a:solidFill>
                <a:latin typeface="Bricolage Grotesque Bold"/>
                <a:ea typeface="Bricolage Grotesque Bold"/>
                <a:cs typeface="Bricolage Grotesque Bold"/>
                <a:sym typeface="Bricolage Grotesque Bold"/>
              </a:rPr>
              <a:t>kap</a:t>
            </a:r>
            <a:r>
              <a:rPr lang="en-US" b="true" sz="1820" spc="45">
                <a:solidFill>
                  <a:srgbClr val="0B132B"/>
                </a:solidFill>
                <a:latin typeface="Bricolage Grotesque Bold"/>
                <a:ea typeface="Bricolage Grotesque Bold"/>
                <a:cs typeface="Bricolage Grotesque Bold"/>
                <a:sym typeface="Bricolage Grotesque Bold"/>
              </a:rPr>
              <a:t>asit</a:t>
            </a:r>
            <a:r>
              <a:rPr lang="en-US" b="true" sz="1820" spc="45">
                <a:solidFill>
                  <a:srgbClr val="0B132B"/>
                </a:solidFill>
                <a:latin typeface="Bricolage Grotesque Bold"/>
                <a:ea typeface="Bricolage Grotesque Bold"/>
                <a:cs typeface="Bricolage Grotesque Bold"/>
                <a:sym typeface="Bricolage Grotesque Bold"/>
              </a:rPr>
              <a:t>as </a:t>
            </a:r>
            <a:r>
              <a:rPr lang="en-US" sz="1820" spc="45">
                <a:solidFill>
                  <a:srgbClr val="0B132B"/>
                </a:solidFill>
                <a:latin typeface="Bricolage Grotesque"/>
                <a:ea typeface="Bricolage Grotesque"/>
                <a:cs typeface="Bricolage Grotesque"/>
                <a:sym typeface="Bricolage Grotesque"/>
              </a:rPr>
              <a:t>charger dengan </a:t>
            </a:r>
            <a:r>
              <a:rPr lang="en-US" b="true" sz="1820" spc="45">
                <a:solidFill>
                  <a:srgbClr val="0B132B"/>
                </a:solidFill>
                <a:latin typeface="Bricolage Grotesque Bold"/>
                <a:ea typeface="Bricolage Grotesque Bold"/>
                <a:cs typeface="Bricolage Grotesque Bold"/>
                <a:sym typeface="Bricolage Grotesque Bold"/>
              </a:rPr>
              <a:t>potensi </a:t>
            </a:r>
            <a:r>
              <a:rPr lang="en-US" sz="1820" spc="45">
                <a:solidFill>
                  <a:srgbClr val="0B132B"/>
                </a:solidFill>
                <a:latin typeface="Bricolage Grotesque"/>
                <a:ea typeface="Bricolage Grotesque"/>
                <a:cs typeface="Bricolage Grotesque"/>
                <a:sym typeface="Bricolage Grotesque"/>
              </a:rPr>
              <a:t>durasi</a:t>
            </a:r>
            <a:r>
              <a:rPr lang="en-US" sz="1820" spc="45">
                <a:solidFill>
                  <a:srgbClr val="0B132B"/>
                </a:solidFill>
                <a:latin typeface="Bricolage Grotesque"/>
                <a:ea typeface="Bricolage Grotesque"/>
                <a:cs typeface="Bricolage Grotesque"/>
                <a:sym typeface="Bricolage Grotesque"/>
              </a:rPr>
              <a:t> o</a:t>
            </a:r>
            <a:r>
              <a:rPr lang="en-US" sz="1820" spc="45">
                <a:solidFill>
                  <a:srgbClr val="0B132B"/>
                </a:solidFill>
                <a:latin typeface="Bricolage Grotesque"/>
                <a:ea typeface="Bricolage Grotesque"/>
                <a:cs typeface="Bricolage Grotesque"/>
                <a:sym typeface="Bricolage Grotesque"/>
              </a:rPr>
              <a:t>kupansi stasiun.</a:t>
            </a:r>
          </a:p>
          <a:p>
            <a:pPr algn="just" marL="393000" indent="-196500" lvl="1">
              <a:lnSpc>
                <a:spcPts val="2548"/>
              </a:lnSpc>
              <a:buFont typeface="Arial"/>
              <a:buChar char="•"/>
            </a:pPr>
            <a:r>
              <a:rPr lang="en-US" sz="1820" spc="45">
                <a:solidFill>
                  <a:srgbClr val="0B132B"/>
                </a:solidFill>
                <a:latin typeface="Bricolage Grotesque"/>
                <a:ea typeface="Bricolage Grotesque"/>
                <a:cs typeface="Bricolage Grotesque"/>
                <a:sym typeface="Bricolage Grotesque"/>
              </a:rPr>
              <a:t>Fitur </a:t>
            </a:r>
            <a:r>
              <a:rPr lang="en-US" b="true" sz="1820" spc="45">
                <a:solidFill>
                  <a:srgbClr val="0B132B"/>
                </a:solidFill>
                <a:latin typeface="Bricolage Grotesque Bold"/>
                <a:ea typeface="Bricolage Grotesque Bold"/>
                <a:cs typeface="Bricolage Grotesque Bold"/>
                <a:sym typeface="Bricolage Grotesque Bold"/>
              </a:rPr>
              <a:t>interaksi </a:t>
            </a:r>
            <a:r>
              <a:rPr lang="en-US" sz="1820" spc="45">
                <a:solidFill>
                  <a:srgbClr val="0B132B"/>
                </a:solidFill>
                <a:latin typeface="Bricolage Grotesque"/>
                <a:ea typeface="Bricolage Grotesque"/>
                <a:cs typeface="Bricolage Grotesque"/>
                <a:sym typeface="Bricolage Grotesque"/>
              </a:rPr>
              <a:t>membantu model membedakan </a:t>
            </a:r>
            <a:r>
              <a:rPr lang="en-US" b="true" sz="1820" spc="45">
                <a:solidFill>
                  <a:srgbClr val="0B132B"/>
                </a:solidFill>
                <a:latin typeface="Bricolage Grotesque Bold"/>
                <a:ea typeface="Bricolage Grotesque Bold"/>
                <a:cs typeface="Bricolage Grotesque Bold"/>
                <a:sym typeface="Bricolage Grotesque Bold"/>
              </a:rPr>
              <a:t>pola </a:t>
            </a:r>
            <a:r>
              <a:rPr lang="en-US" sz="1820" spc="45">
                <a:solidFill>
                  <a:srgbClr val="0B132B"/>
                </a:solidFill>
                <a:latin typeface="Bricolage Grotesque"/>
                <a:ea typeface="Bricolage Grotesque"/>
                <a:cs typeface="Bricolage Grotesque"/>
                <a:sym typeface="Bricolage Grotesque"/>
              </a:rPr>
              <a:t>utilisasi stasiun.</a:t>
            </a:r>
          </a:p>
        </p:txBody>
      </p:sp>
      <p:grpSp>
        <p:nvGrpSpPr>
          <p:cNvPr name="Group 24" id="24"/>
          <p:cNvGrpSpPr/>
          <p:nvPr/>
        </p:nvGrpSpPr>
        <p:grpSpPr>
          <a:xfrm rot="0">
            <a:off x="11502671" y="9960324"/>
            <a:ext cx="9960587" cy="1142074"/>
            <a:chOff x="0" y="0"/>
            <a:chExt cx="2572779" cy="294993"/>
          </a:xfrm>
        </p:grpSpPr>
        <p:sp>
          <p:nvSpPr>
            <p:cNvPr name="Freeform 25" id="25"/>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6" id="26"/>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27" id="27"/>
          <p:cNvGrpSpPr/>
          <p:nvPr/>
        </p:nvGrpSpPr>
        <p:grpSpPr>
          <a:xfrm rot="0">
            <a:off x="-5959063" y="-784283"/>
            <a:ext cx="9960587" cy="1142074"/>
            <a:chOff x="0" y="0"/>
            <a:chExt cx="2572779" cy="294993"/>
          </a:xfrm>
        </p:grpSpPr>
        <p:sp>
          <p:nvSpPr>
            <p:cNvPr name="Freeform 28" id="28"/>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9" id="29"/>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5952812" y="8474412"/>
            <a:ext cx="4559724" cy="447540"/>
            <a:chOff x="0" y="0"/>
            <a:chExt cx="4059375" cy="398431"/>
          </a:xfrm>
        </p:grpSpPr>
        <p:sp>
          <p:nvSpPr>
            <p:cNvPr name="Freeform 3" id="3"/>
            <p:cNvSpPr/>
            <p:nvPr/>
          </p:nvSpPr>
          <p:spPr>
            <a:xfrm flipH="false" flipV="false" rot="0">
              <a:off x="9868" y="0"/>
              <a:ext cx="4039639" cy="398431"/>
            </a:xfrm>
            <a:custGeom>
              <a:avLst/>
              <a:gdLst/>
              <a:ahLst/>
              <a:cxnLst/>
              <a:rect r="r" b="b" t="t" l="l"/>
              <a:pathLst>
                <a:path h="398431" w="4039639">
                  <a:moveTo>
                    <a:pt x="218800" y="0"/>
                  </a:moveTo>
                  <a:lnTo>
                    <a:pt x="4024039" y="0"/>
                  </a:lnTo>
                  <a:cubicBezTo>
                    <a:pt x="4029468" y="0"/>
                    <a:pt x="4034506" y="2822"/>
                    <a:pt x="4037342" y="7452"/>
                  </a:cubicBezTo>
                  <a:cubicBezTo>
                    <a:pt x="4040177" y="12081"/>
                    <a:pt x="4040403" y="17852"/>
                    <a:pt x="4037936" y="22688"/>
                  </a:cubicBezTo>
                  <a:lnTo>
                    <a:pt x="3857878" y="375743"/>
                  </a:lnTo>
                  <a:cubicBezTo>
                    <a:pt x="3850777" y="389666"/>
                    <a:pt x="3836468" y="398431"/>
                    <a:pt x="3820839" y="398431"/>
                  </a:cubicBezTo>
                  <a:lnTo>
                    <a:pt x="15600" y="398431"/>
                  </a:lnTo>
                  <a:cubicBezTo>
                    <a:pt x="10171" y="398431"/>
                    <a:pt x="5133" y="395608"/>
                    <a:pt x="2297" y="390979"/>
                  </a:cubicBezTo>
                  <a:cubicBezTo>
                    <a:pt x="-538" y="386350"/>
                    <a:pt x="-764" y="380579"/>
                    <a:pt x="1703" y="375743"/>
                  </a:cubicBezTo>
                  <a:lnTo>
                    <a:pt x="181761" y="22688"/>
                  </a:lnTo>
                  <a:cubicBezTo>
                    <a:pt x="188862" y="8765"/>
                    <a:pt x="203171" y="0"/>
                    <a:pt x="218800" y="0"/>
                  </a:cubicBezTo>
                  <a:close/>
                </a:path>
              </a:pathLst>
            </a:custGeom>
            <a:solidFill>
              <a:srgbClr val="EDF6F9"/>
            </a:solidFill>
          </p:spPr>
        </p:sp>
        <p:sp>
          <p:nvSpPr>
            <p:cNvPr name="TextBox 4" id="4"/>
            <p:cNvSpPr txBox="true"/>
            <p:nvPr/>
          </p:nvSpPr>
          <p:spPr>
            <a:xfrm>
              <a:off x="101600" y="-38100"/>
              <a:ext cx="385617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56527" y="8473564"/>
            <a:ext cx="2473138" cy="447540"/>
            <a:chOff x="0" y="0"/>
            <a:chExt cx="2201755" cy="398431"/>
          </a:xfrm>
        </p:grpSpPr>
        <p:sp>
          <p:nvSpPr>
            <p:cNvPr name="Freeform 6" id="6"/>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7" id="7"/>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- 15</a:t>
            </a:r>
          </a:p>
        </p:txBody>
      </p:sp>
      <p:grpSp>
        <p:nvGrpSpPr>
          <p:cNvPr name="Group 9" id="9"/>
          <p:cNvGrpSpPr/>
          <p:nvPr/>
        </p:nvGrpSpPr>
        <p:grpSpPr>
          <a:xfrm rot="0">
            <a:off x="-3150242" y="9960324"/>
            <a:ext cx="9960587" cy="1142074"/>
            <a:chOff x="0" y="0"/>
            <a:chExt cx="2572779" cy="294993"/>
          </a:xfrm>
        </p:grpSpPr>
        <p:sp>
          <p:nvSpPr>
            <p:cNvPr name="Freeform 10" id="1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1" id="1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4338615" y="-784283"/>
            <a:ext cx="12457569" cy="1142074"/>
            <a:chOff x="0" y="0"/>
            <a:chExt cx="3217739" cy="294993"/>
          </a:xfrm>
        </p:grpSpPr>
        <p:sp>
          <p:nvSpPr>
            <p:cNvPr name="Freeform 13" id="13"/>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14" id="14"/>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726265" y="4072467"/>
            <a:ext cx="14835470" cy="2344632"/>
          </a:xfrm>
          <a:prstGeom prst="rect">
            <a:avLst/>
          </a:prstGeom>
        </p:spPr>
        <p:txBody>
          <a:bodyPr anchor="t" rtlCol="false" tIns="0" lIns="0" bIns="0" rIns="0">
            <a:spAutoFit/>
          </a:bodyPr>
          <a:lstStyle/>
          <a:p>
            <a:pPr algn="ctr">
              <a:lnSpc>
                <a:spcPts val="9058"/>
              </a:lnSpc>
            </a:pPr>
            <a:r>
              <a:rPr lang="en-US" sz="9058">
                <a:solidFill>
                  <a:srgbClr val="112752"/>
                </a:solidFill>
                <a:latin typeface="Rubik One"/>
                <a:ea typeface="Rubik One"/>
                <a:cs typeface="Rubik One"/>
                <a:sym typeface="Rubik One"/>
              </a:rPr>
              <a:t>PREPROCESSING &amp;</a:t>
            </a:r>
          </a:p>
          <a:p>
            <a:pPr algn="ctr">
              <a:lnSpc>
                <a:spcPts val="9058"/>
              </a:lnSpc>
            </a:pPr>
            <a:r>
              <a:rPr lang="en-US" sz="9058">
                <a:solidFill>
                  <a:srgbClr val="00B58F"/>
                </a:solidFill>
                <a:latin typeface="Rubik One"/>
                <a:ea typeface="Rubik One"/>
                <a:cs typeface="Rubik One"/>
                <a:sym typeface="Rubik One"/>
              </a:rPr>
              <a:t>FEATURE ENGINEERING</a:t>
            </a:r>
          </a:p>
        </p:txBody>
      </p:sp>
      <p:grpSp>
        <p:nvGrpSpPr>
          <p:cNvPr name="Group 16" id="16"/>
          <p:cNvGrpSpPr/>
          <p:nvPr/>
        </p:nvGrpSpPr>
        <p:grpSpPr>
          <a:xfrm rot="0">
            <a:off x="7270483" y="3272198"/>
            <a:ext cx="3747034" cy="613261"/>
            <a:chOff x="0" y="0"/>
            <a:chExt cx="4996045" cy="817681"/>
          </a:xfrm>
        </p:grpSpPr>
        <p:grpSp>
          <p:nvGrpSpPr>
            <p:cNvPr name="Group 17" id="17"/>
            <p:cNvGrpSpPr/>
            <p:nvPr/>
          </p:nvGrpSpPr>
          <p:grpSpPr>
            <a:xfrm rot="0">
              <a:off x="802794" y="0"/>
              <a:ext cx="1140217" cy="813012"/>
              <a:chOff x="0" y="0"/>
              <a:chExt cx="407622" cy="290648"/>
            </a:xfrm>
          </p:grpSpPr>
          <p:sp>
            <p:nvSpPr>
              <p:cNvPr name="Freeform 18" id="1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9" id="19"/>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0" id="20"/>
            <p:cNvGrpSpPr/>
            <p:nvPr/>
          </p:nvGrpSpPr>
          <p:grpSpPr>
            <a:xfrm rot="0">
              <a:off x="1586425" y="4669"/>
              <a:ext cx="1140217" cy="813012"/>
              <a:chOff x="0" y="0"/>
              <a:chExt cx="407622" cy="290648"/>
            </a:xfrm>
          </p:grpSpPr>
          <p:sp>
            <p:nvSpPr>
              <p:cNvPr name="Freeform 21" id="2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22" id="22"/>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3" id="23"/>
            <p:cNvGrpSpPr/>
            <p:nvPr/>
          </p:nvGrpSpPr>
          <p:grpSpPr>
            <a:xfrm rot="0">
              <a:off x="2355240" y="4669"/>
              <a:ext cx="1140217" cy="813012"/>
              <a:chOff x="0" y="0"/>
              <a:chExt cx="407622" cy="290648"/>
            </a:xfrm>
          </p:grpSpPr>
          <p:sp>
            <p:nvSpPr>
              <p:cNvPr name="Freeform 24" id="2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5" id="25"/>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6" id="26"/>
            <p:cNvGrpSpPr/>
            <p:nvPr/>
          </p:nvGrpSpPr>
          <p:grpSpPr>
            <a:xfrm rot="0">
              <a:off x="3087013" y="4669"/>
              <a:ext cx="1140217" cy="813012"/>
              <a:chOff x="0" y="0"/>
              <a:chExt cx="407622" cy="290648"/>
            </a:xfrm>
          </p:grpSpPr>
          <p:sp>
            <p:nvSpPr>
              <p:cNvPr name="Freeform 27" id="2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8" id="28"/>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9" id="29"/>
            <p:cNvGrpSpPr/>
            <p:nvPr/>
          </p:nvGrpSpPr>
          <p:grpSpPr>
            <a:xfrm rot="0">
              <a:off x="3855828" y="4669"/>
              <a:ext cx="1140217" cy="813012"/>
              <a:chOff x="0" y="0"/>
              <a:chExt cx="407622" cy="290648"/>
            </a:xfrm>
          </p:grpSpPr>
          <p:sp>
            <p:nvSpPr>
              <p:cNvPr name="Freeform 30" id="30"/>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31" id="31"/>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32" id="32"/>
            <p:cNvGrpSpPr/>
            <p:nvPr/>
          </p:nvGrpSpPr>
          <p:grpSpPr>
            <a:xfrm rot="0">
              <a:off x="0" y="0"/>
              <a:ext cx="1140217" cy="813012"/>
              <a:chOff x="0" y="0"/>
              <a:chExt cx="407622" cy="290648"/>
            </a:xfrm>
          </p:grpSpPr>
          <p:sp>
            <p:nvSpPr>
              <p:cNvPr name="Freeform 33" id="33"/>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34" id="34"/>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grpSp>
        <p:nvGrpSpPr>
          <p:cNvPr name="Group 35" id="35"/>
          <p:cNvGrpSpPr/>
          <p:nvPr/>
        </p:nvGrpSpPr>
        <p:grpSpPr>
          <a:xfrm rot="0">
            <a:off x="1028700" y="793061"/>
            <a:ext cx="4463067" cy="235560"/>
            <a:chOff x="0" y="0"/>
            <a:chExt cx="5950756" cy="314080"/>
          </a:xfrm>
        </p:grpSpPr>
        <p:sp>
          <p:nvSpPr>
            <p:cNvPr name="Freeform 36" id="36"/>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7" id="37"/>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028700" y="5354639"/>
            <a:ext cx="10540881" cy="738552"/>
            <a:chOff x="0" y="0"/>
            <a:chExt cx="2722667" cy="190765"/>
          </a:xfrm>
        </p:grpSpPr>
        <p:sp>
          <p:nvSpPr>
            <p:cNvPr name="Freeform 3" id="3"/>
            <p:cNvSpPr/>
            <p:nvPr/>
          </p:nvSpPr>
          <p:spPr>
            <a:xfrm flipH="false" flipV="false" rot="0">
              <a:off x="0" y="0"/>
              <a:ext cx="2722667" cy="190765"/>
            </a:xfrm>
            <a:custGeom>
              <a:avLst/>
              <a:gdLst/>
              <a:ahLst/>
              <a:cxnLst/>
              <a:rect r="r" b="b" t="t" l="l"/>
              <a:pathLst>
                <a:path h="190765" w="2722667">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B1E36"/>
            </a:solidFill>
            <a:ln cap="sq">
              <a:noFill/>
              <a:prstDash val="solid"/>
              <a:miter/>
            </a:ln>
          </p:spPr>
        </p:sp>
        <p:sp>
          <p:nvSpPr>
            <p:cNvPr name="TextBox 4" id="4"/>
            <p:cNvSpPr txBox="true"/>
            <p:nvPr/>
          </p:nvSpPr>
          <p:spPr>
            <a:xfrm>
              <a:off x="0" y="-38100"/>
              <a:ext cx="2722667" cy="22886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7538611"/>
            <a:ext cx="10540881" cy="738552"/>
            <a:chOff x="0" y="0"/>
            <a:chExt cx="2722667" cy="190765"/>
          </a:xfrm>
        </p:grpSpPr>
        <p:sp>
          <p:nvSpPr>
            <p:cNvPr name="Freeform 6" id="6"/>
            <p:cNvSpPr/>
            <p:nvPr/>
          </p:nvSpPr>
          <p:spPr>
            <a:xfrm flipH="false" flipV="false" rot="0">
              <a:off x="0" y="0"/>
              <a:ext cx="2722667" cy="190765"/>
            </a:xfrm>
            <a:custGeom>
              <a:avLst/>
              <a:gdLst/>
              <a:ahLst/>
              <a:cxnLst/>
              <a:rect r="r" b="b" t="t" l="l"/>
              <a:pathLst>
                <a:path h="190765" w="2722667">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B1E36"/>
            </a:solidFill>
            <a:ln cap="sq">
              <a:noFill/>
              <a:prstDash val="solid"/>
              <a:miter/>
            </a:ln>
          </p:spPr>
        </p:sp>
        <p:sp>
          <p:nvSpPr>
            <p:cNvPr name="TextBox 7" id="7"/>
            <p:cNvSpPr txBox="true"/>
            <p:nvPr/>
          </p:nvSpPr>
          <p:spPr>
            <a:xfrm>
              <a:off x="0" y="-38100"/>
              <a:ext cx="2722667" cy="22886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8700" y="3170667"/>
            <a:ext cx="10540881" cy="738552"/>
            <a:chOff x="0" y="0"/>
            <a:chExt cx="14054509" cy="984735"/>
          </a:xfrm>
        </p:grpSpPr>
        <p:grpSp>
          <p:nvGrpSpPr>
            <p:cNvPr name="Group 9" id="9"/>
            <p:cNvGrpSpPr/>
            <p:nvPr/>
          </p:nvGrpSpPr>
          <p:grpSpPr>
            <a:xfrm rot="0">
              <a:off x="0" y="0"/>
              <a:ext cx="14054509" cy="984735"/>
              <a:chOff x="0" y="0"/>
              <a:chExt cx="2722667" cy="190765"/>
            </a:xfrm>
          </p:grpSpPr>
          <p:sp>
            <p:nvSpPr>
              <p:cNvPr name="Freeform 10" id="10"/>
              <p:cNvSpPr/>
              <p:nvPr/>
            </p:nvSpPr>
            <p:spPr>
              <a:xfrm flipH="false" flipV="false" rot="0">
                <a:off x="0" y="0"/>
                <a:ext cx="2722667" cy="190765"/>
              </a:xfrm>
              <a:custGeom>
                <a:avLst/>
                <a:gdLst/>
                <a:ahLst/>
                <a:cxnLst/>
                <a:rect r="r" b="b" t="t" l="l"/>
                <a:pathLst>
                  <a:path h="190765" w="2722667">
                    <a:moveTo>
                      <a:pt x="7345" y="0"/>
                    </a:moveTo>
                    <a:lnTo>
                      <a:pt x="2715322" y="0"/>
                    </a:lnTo>
                    <a:cubicBezTo>
                      <a:pt x="2719378" y="0"/>
                      <a:pt x="2722667" y="3288"/>
                      <a:pt x="2722667" y="7345"/>
                    </a:cubicBezTo>
                    <a:lnTo>
                      <a:pt x="2722667" y="183420"/>
                    </a:lnTo>
                    <a:cubicBezTo>
                      <a:pt x="2722667" y="187477"/>
                      <a:pt x="2719378" y="190765"/>
                      <a:pt x="2715322" y="190765"/>
                    </a:cubicBezTo>
                    <a:lnTo>
                      <a:pt x="7345" y="190765"/>
                    </a:lnTo>
                    <a:cubicBezTo>
                      <a:pt x="3288" y="190765"/>
                      <a:pt x="0" y="187477"/>
                      <a:pt x="0" y="183420"/>
                    </a:cubicBezTo>
                    <a:lnTo>
                      <a:pt x="0" y="7345"/>
                    </a:lnTo>
                    <a:cubicBezTo>
                      <a:pt x="0" y="3288"/>
                      <a:pt x="3288" y="0"/>
                      <a:pt x="7345" y="0"/>
                    </a:cubicBezTo>
                    <a:close/>
                  </a:path>
                </a:pathLst>
              </a:custGeom>
              <a:solidFill>
                <a:srgbClr val="0B1E36"/>
              </a:solidFill>
              <a:ln cap="sq">
                <a:noFill/>
                <a:prstDash val="solid"/>
                <a:miter/>
              </a:ln>
            </p:spPr>
          </p:sp>
          <p:sp>
            <p:nvSpPr>
              <p:cNvPr name="TextBox 11" id="11"/>
              <p:cNvSpPr txBox="true"/>
              <p:nvPr/>
            </p:nvSpPr>
            <p:spPr>
              <a:xfrm>
                <a:off x="0" y="-38100"/>
                <a:ext cx="2722667" cy="228865"/>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10800000">
              <a:off x="13098153" y="253735"/>
              <a:ext cx="711397" cy="622472"/>
              <a:chOff x="0" y="0"/>
              <a:chExt cx="812800" cy="711200"/>
            </a:xfrm>
          </p:grpSpPr>
          <p:sp>
            <p:nvSpPr>
              <p:cNvPr name="Freeform 13" id="13"/>
              <p:cNvSpPr/>
              <p:nvPr/>
            </p:nvSpPr>
            <p:spPr>
              <a:xfrm flipH="false" flipV="false" rot="0">
                <a:off x="60896" y="84206"/>
                <a:ext cx="691007" cy="626994"/>
              </a:xfrm>
              <a:custGeom>
                <a:avLst/>
                <a:gdLst/>
                <a:ahLst/>
                <a:cxnLst/>
                <a:rect r="r" b="b" t="t" l="l"/>
                <a:pathLst>
                  <a:path h="626994" w="691007">
                    <a:moveTo>
                      <a:pt x="417495" y="41778"/>
                    </a:moveTo>
                    <a:lnTo>
                      <a:pt x="679913" y="501010"/>
                    </a:lnTo>
                    <a:cubicBezTo>
                      <a:pt x="694806" y="527072"/>
                      <a:pt x="694699" y="559091"/>
                      <a:pt x="679632" y="585053"/>
                    </a:cubicBezTo>
                    <a:cubicBezTo>
                      <a:pt x="664566" y="611015"/>
                      <a:pt x="636818" y="626994"/>
                      <a:pt x="606801" y="626994"/>
                    </a:cubicBezTo>
                    <a:lnTo>
                      <a:pt x="84207" y="626994"/>
                    </a:lnTo>
                    <a:cubicBezTo>
                      <a:pt x="54190" y="626994"/>
                      <a:pt x="26442" y="611015"/>
                      <a:pt x="11376" y="585053"/>
                    </a:cubicBezTo>
                    <a:cubicBezTo>
                      <a:pt x="-3691" y="559091"/>
                      <a:pt x="-3798" y="527072"/>
                      <a:pt x="11095" y="501010"/>
                    </a:cubicBezTo>
                    <a:lnTo>
                      <a:pt x="273513" y="41778"/>
                    </a:lnTo>
                    <a:cubicBezTo>
                      <a:pt x="288275" y="15944"/>
                      <a:pt x="315749" y="0"/>
                      <a:pt x="345504" y="0"/>
                    </a:cubicBezTo>
                    <a:cubicBezTo>
                      <a:pt x="375259" y="0"/>
                      <a:pt x="402733" y="15944"/>
                      <a:pt x="417495" y="41778"/>
                    </a:cubicBezTo>
                    <a:close/>
                  </a:path>
                </a:pathLst>
              </a:custGeom>
              <a:solidFill>
                <a:srgbClr val="FFFFFF"/>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grpSp>
        <p:nvGrpSpPr>
          <p:cNvPr name="Group 15" id="15"/>
          <p:cNvGrpSpPr/>
          <p:nvPr/>
        </p:nvGrpSpPr>
        <p:grpSpPr>
          <a:xfrm rot="-10800000">
            <a:off x="10852314" y="5544940"/>
            <a:ext cx="533548" cy="466854"/>
            <a:chOff x="0" y="0"/>
            <a:chExt cx="812800" cy="711200"/>
          </a:xfrm>
        </p:grpSpPr>
        <p:sp>
          <p:nvSpPr>
            <p:cNvPr name="Freeform 16" id="16"/>
            <p:cNvSpPr/>
            <p:nvPr/>
          </p:nvSpPr>
          <p:spPr>
            <a:xfrm flipH="false" flipV="false" rot="0">
              <a:off x="60896" y="84206"/>
              <a:ext cx="691007" cy="626994"/>
            </a:xfrm>
            <a:custGeom>
              <a:avLst/>
              <a:gdLst/>
              <a:ahLst/>
              <a:cxnLst/>
              <a:rect r="r" b="b" t="t" l="l"/>
              <a:pathLst>
                <a:path h="626994" w="691007">
                  <a:moveTo>
                    <a:pt x="417495" y="41778"/>
                  </a:moveTo>
                  <a:lnTo>
                    <a:pt x="679913" y="501010"/>
                  </a:lnTo>
                  <a:cubicBezTo>
                    <a:pt x="694806" y="527072"/>
                    <a:pt x="694699" y="559091"/>
                    <a:pt x="679632" y="585053"/>
                  </a:cubicBezTo>
                  <a:cubicBezTo>
                    <a:pt x="664566" y="611015"/>
                    <a:pt x="636818" y="626994"/>
                    <a:pt x="606801" y="626994"/>
                  </a:cubicBezTo>
                  <a:lnTo>
                    <a:pt x="84207" y="626994"/>
                  </a:lnTo>
                  <a:cubicBezTo>
                    <a:pt x="54190" y="626994"/>
                    <a:pt x="26442" y="611015"/>
                    <a:pt x="11376" y="585053"/>
                  </a:cubicBezTo>
                  <a:cubicBezTo>
                    <a:pt x="-3691" y="559091"/>
                    <a:pt x="-3798" y="527072"/>
                    <a:pt x="11095" y="501010"/>
                  </a:cubicBezTo>
                  <a:lnTo>
                    <a:pt x="273513" y="41778"/>
                  </a:lnTo>
                  <a:cubicBezTo>
                    <a:pt x="288275" y="15944"/>
                    <a:pt x="315749" y="0"/>
                    <a:pt x="345504" y="0"/>
                  </a:cubicBezTo>
                  <a:cubicBezTo>
                    <a:pt x="375259" y="0"/>
                    <a:pt x="402733" y="15944"/>
                    <a:pt x="417495" y="41778"/>
                  </a:cubicBezTo>
                  <a:close/>
                </a:path>
              </a:pathLst>
            </a:custGeom>
            <a:solidFill>
              <a:srgbClr val="FFFFFF"/>
            </a:solidFill>
          </p:spPr>
        </p:sp>
        <p:sp>
          <p:nvSpPr>
            <p:cNvPr name="TextBox 17" id="17"/>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0800000">
            <a:off x="10852314" y="7728912"/>
            <a:ext cx="533548" cy="466854"/>
            <a:chOff x="0" y="0"/>
            <a:chExt cx="812800" cy="711200"/>
          </a:xfrm>
        </p:grpSpPr>
        <p:sp>
          <p:nvSpPr>
            <p:cNvPr name="Freeform 19" id="19"/>
            <p:cNvSpPr/>
            <p:nvPr/>
          </p:nvSpPr>
          <p:spPr>
            <a:xfrm flipH="false" flipV="false" rot="0">
              <a:off x="60896" y="84206"/>
              <a:ext cx="691007" cy="626994"/>
            </a:xfrm>
            <a:custGeom>
              <a:avLst/>
              <a:gdLst/>
              <a:ahLst/>
              <a:cxnLst/>
              <a:rect r="r" b="b" t="t" l="l"/>
              <a:pathLst>
                <a:path h="626994" w="691007">
                  <a:moveTo>
                    <a:pt x="417495" y="41778"/>
                  </a:moveTo>
                  <a:lnTo>
                    <a:pt x="679913" y="501010"/>
                  </a:lnTo>
                  <a:cubicBezTo>
                    <a:pt x="694806" y="527072"/>
                    <a:pt x="694699" y="559091"/>
                    <a:pt x="679632" y="585053"/>
                  </a:cubicBezTo>
                  <a:cubicBezTo>
                    <a:pt x="664566" y="611015"/>
                    <a:pt x="636818" y="626994"/>
                    <a:pt x="606801" y="626994"/>
                  </a:cubicBezTo>
                  <a:lnTo>
                    <a:pt x="84207" y="626994"/>
                  </a:lnTo>
                  <a:cubicBezTo>
                    <a:pt x="54190" y="626994"/>
                    <a:pt x="26442" y="611015"/>
                    <a:pt x="11376" y="585053"/>
                  </a:cubicBezTo>
                  <a:cubicBezTo>
                    <a:pt x="-3691" y="559091"/>
                    <a:pt x="-3798" y="527072"/>
                    <a:pt x="11095" y="501010"/>
                  </a:cubicBezTo>
                  <a:lnTo>
                    <a:pt x="273513" y="41778"/>
                  </a:lnTo>
                  <a:cubicBezTo>
                    <a:pt x="288275" y="15944"/>
                    <a:pt x="315749" y="0"/>
                    <a:pt x="345504" y="0"/>
                  </a:cubicBezTo>
                  <a:cubicBezTo>
                    <a:pt x="375259" y="0"/>
                    <a:pt x="402733" y="15944"/>
                    <a:pt x="417495" y="41778"/>
                  </a:cubicBezTo>
                  <a:close/>
                </a:path>
              </a:pathLst>
            </a:custGeom>
            <a:solidFill>
              <a:srgbClr val="FFFFFF"/>
            </a:solidFill>
          </p:spPr>
        </p:sp>
        <p:sp>
          <p:nvSpPr>
            <p:cNvPr name="TextBox 20" id="20"/>
            <p:cNvSpPr txBox="true"/>
            <p:nvPr/>
          </p:nvSpPr>
          <p:spPr>
            <a:xfrm>
              <a:off x="127000" y="292100"/>
              <a:ext cx="558800" cy="3683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2426731" y="3169056"/>
            <a:ext cx="3077979" cy="5545320"/>
            <a:chOff x="0" y="0"/>
            <a:chExt cx="795029" cy="1432334"/>
          </a:xfrm>
        </p:grpSpPr>
        <p:sp>
          <p:nvSpPr>
            <p:cNvPr name="Freeform 22" id="22"/>
            <p:cNvSpPr/>
            <p:nvPr/>
          </p:nvSpPr>
          <p:spPr>
            <a:xfrm flipH="false" flipV="false" rot="0">
              <a:off x="0" y="0"/>
              <a:ext cx="795030" cy="1432334"/>
            </a:xfrm>
            <a:custGeom>
              <a:avLst/>
              <a:gdLst/>
              <a:ahLst/>
              <a:cxnLst/>
              <a:rect r="r" b="b" t="t" l="l"/>
              <a:pathLst>
                <a:path h="1432334" w="795030">
                  <a:moveTo>
                    <a:pt x="150916" y="0"/>
                  </a:moveTo>
                  <a:lnTo>
                    <a:pt x="644114" y="0"/>
                  </a:lnTo>
                  <a:cubicBezTo>
                    <a:pt x="684139" y="0"/>
                    <a:pt x="722525" y="15900"/>
                    <a:pt x="750827" y="44202"/>
                  </a:cubicBezTo>
                  <a:cubicBezTo>
                    <a:pt x="779130" y="72504"/>
                    <a:pt x="795030" y="110890"/>
                    <a:pt x="795030" y="150916"/>
                  </a:cubicBezTo>
                  <a:lnTo>
                    <a:pt x="795030" y="1281418"/>
                  </a:lnTo>
                  <a:cubicBezTo>
                    <a:pt x="795030" y="1321443"/>
                    <a:pt x="779130" y="1359829"/>
                    <a:pt x="750827" y="1388131"/>
                  </a:cubicBezTo>
                  <a:cubicBezTo>
                    <a:pt x="722525" y="1416434"/>
                    <a:pt x="684139" y="1432334"/>
                    <a:pt x="644114" y="1432334"/>
                  </a:cubicBezTo>
                  <a:lnTo>
                    <a:pt x="150916" y="1432334"/>
                  </a:lnTo>
                  <a:cubicBezTo>
                    <a:pt x="110890" y="1432334"/>
                    <a:pt x="72504" y="1416434"/>
                    <a:pt x="44202" y="1388131"/>
                  </a:cubicBezTo>
                  <a:cubicBezTo>
                    <a:pt x="15900" y="1359829"/>
                    <a:pt x="0" y="1321443"/>
                    <a:pt x="0" y="1281418"/>
                  </a:cubicBezTo>
                  <a:lnTo>
                    <a:pt x="0" y="150916"/>
                  </a:lnTo>
                  <a:cubicBezTo>
                    <a:pt x="0" y="110890"/>
                    <a:pt x="15900" y="72504"/>
                    <a:pt x="44202" y="44202"/>
                  </a:cubicBezTo>
                  <a:cubicBezTo>
                    <a:pt x="72504" y="15900"/>
                    <a:pt x="110890" y="0"/>
                    <a:pt x="150916" y="0"/>
                  </a:cubicBezTo>
                  <a:close/>
                </a:path>
              </a:pathLst>
            </a:custGeom>
            <a:ln w="19050" cap="rnd">
              <a:solidFill>
                <a:srgbClr val="00B58F"/>
              </a:solidFill>
              <a:prstDash val="solid"/>
              <a:round/>
            </a:ln>
          </p:spPr>
        </p:sp>
        <p:sp>
          <p:nvSpPr>
            <p:cNvPr name="TextBox 23" id="23"/>
            <p:cNvSpPr txBox="true"/>
            <p:nvPr/>
          </p:nvSpPr>
          <p:spPr>
            <a:xfrm>
              <a:off x="0" y="-38100"/>
              <a:ext cx="795029" cy="1470434"/>
            </a:xfrm>
            <a:prstGeom prst="rect">
              <a:avLst/>
            </a:prstGeom>
          </p:spPr>
          <p:txBody>
            <a:bodyPr anchor="ctr" rtlCol="false" tIns="50800" lIns="50800" bIns="50800" rIns="50800"/>
            <a:lstStyle/>
            <a:p>
              <a:pPr algn="ctr">
                <a:lnSpc>
                  <a:spcPts val="2659"/>
                </a:lnSpc>
                <a:spcBef>
                  <a:spcPct val="0"/>
                </a:spcBef>
              </a:pPr>
            </a:p>
          </p:txBody>
        </p:sp>
      </p:grpSp>
      <p:grpSp>
        <p:nvGrpSpPr>
          <p:cNvPr name="Group 24" id="24"/>
          <p:cNvGrpSpPr/>
          <p:nvPr/>
        </p:nvGrpSpPr>
        <p:grpSpPr>
          <a:xfrm rot="0">
            <a:off x="12723348" y="2614263"/>
            <a:ext cx="3946558" cy="6644037"/>
            <a:chOff x="0" y="0"/>
            <a:chExt cx="3771900" cy="6350000"/>
          </a:xfrm>
        </p:grpSpPr>
        <p:sp>
          <p:nvSpPr>
            <p:cNvPr name="Freeform 25" id="25"/>
            <p:cNvSpPr/>
            <p:nvPr/>
          </p:nvSpPr>
          <p:spPr>
            <a:xfrm flipH="false" flipV="false" rot="0">
              <a:off x="0" y="0"/>
              <a:ext cx="3771900" cy="6349937"/>
            </a:xfrm>
            <a:custGeom>
              <a:avLst/>
              <a:gdLst/>
              <a:ahLst/>
              <a:cxnLst/>
              <a:rect r="r" b="b" t="t" l="l"/>
              <a:pathLst>
                <a:path h="6349937" w="37719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2"/>
              <a:stretch>
                <a:fillRect l="-165999" t="0" r="-165999" b="0"/>
              </a:stretch>
            </a:blipFill>
          </p:spPr>
        </p:sp>
      </p:grpSp>
      <p:sp>
        <p:nvSpPr>
          <p:cNvPr name="TextBox 26" id="26"/>
          <p:cNvSpPr txBox="true"/>
          <p:nvPr/>
        </p:nvSpPr>
        <p:spPr>
          <a:xfrm rot="0">
            <a:off x="953562" y="1459214"/>
            <a:ext cx="15716344" cy="848360"/>
          </a:xfrm>
          <a:prstGeom prst="rect">
            <a:avLst/>
          </a:prstGeom>
        </p:spPr>
        <p:txBody>
          <a:bodyPr anchor="t" rtlCol="false" tIns="0" lIns="0" bIns="0" rIns="0">
            <a:spAutoFit/>
          </a:bodyPr>
          <a:lstStyle/>
          <a:p>
            <a:pPr algn="l">
              <a:lnSpc>
                <a:spcPts val="6399"/>
              </a:lnSpc>
            </a:pPr>
            <a:r>
              <a:rPr lang="en-US" sz="6399">
                <a:solidFill>
                  <a:srgbClr val="0B132B"/>
                </a:solidFill>
                <a:latin typeface="Rubik One"/>
                <a:ea typeface="Rubik One"/>
                <a:cs typeface="Rubik One"/>
                <a:sym typeface="Rubik One"/>
              </a:rPr>
              <a:t>PREPROCESSING &amp; DATA HYGIENE</a:t>
            </a:r>
          </a:p>
        </p:txBody>
      </p:sp>
      <p:grpSp>
        <p:nvGrpSpPr>
          <p:cNvPr name="Group 27" id="27"/>
          <p:cNvGrpSpPr/>
          <p:nvPr/>
        </p:nvGrpSpPr>
        <p:grpSpPr>
          <a:xfrm rot="-8714302">
            <a:off x="12302692" y="8266204"/>
            <a:ext cx="3052823" cy="1082740"/>
            <a:chOff x="0" y="0"/>
            <a:chExt cx="3787228" cy="1343210"/>
          </a:xfrm>
        </p:grpSpPr>
        <p:sp>
          <p:nvSpPr>
            <p:cNvPr name="Freeform 28" id="28"/>
            <p:cNvSpPr/>
            <p:nvPr/>
          </p:nvSpPr>
          <p:spPr>
            <a:xfrm flipH="false" flipV="false" rot="0">
              <a:off x="17278" y="8081"/>
              <a:ext cx="3752672" cy="1335129"/>
            </a:xfrm>
            <a:custGeom>
              <a:avLst/>
              <a:gdLst/>
              <a:ahLst/>
              <a:cxnLst/>
              <a:rect r="r" b="b" t="t" l="l"/>
              <a:pathLst>
                <a:path h="1335129" w="3752672">
                  <a:moveTo>
                    <a:pt x="1897020" y="6591"/>
                  </a:moveTo>
                  <a:lnTo>
                    <a:pt x="3749266" y="1320457"/>
                  </a:lnTo>
                  <a:cubicBezTo>
                    <a:pt x="3752135" y="1322492"/>
                    <a:pt x="3753358" y="1326150"/>
                    <a:pt x="3752290" y="1329502"/>
                  </a:cubicBezTo>
                  <a:cubicBezTo>
                    <a:pt x="3751222" y="1332854"/>
                    <a:pt x="3748108" y="1335129"/>
                    <a:pt x="3744590" y="1335129"/>
                  </a:cubicBezTo>
                  <a:lnTo>
                    <a:pt x="8082" y="1335129"/>
                  </a:lnTo>
                  <a:cubicBezTo>
                    <a:pt x="4564" y="1335129"/>
                    <a:pt x="1450" y="1332854"/>
                    <a:pt x="382" y="1329502"/>
                  </a:cubicBezTo>
                  <a:cubicBezTo>
                    <a:pt x="-686" y="1326150"/>
                    <a:pt x="537" y="1322492"/>
                    <a:pt x="3406" y="1320457"/>
                  </a:cubicBezTo>
                  <a:lnTo>
                    <a:pt x="1855652" y="6591"/>
                  </a:lnTo>
                  <a:cubicBezTo>
                    <a:pt x="1868041" y="-2197"/>
                    <a:pt x="1884631" y="-2197"/>
                    <a:pt x="1897020" y="6591"/>
                  </a:cubicBezTo>
                  <a:close/>
                </a:path>
              </a:pathLst>
            </a:custGeom>
            <a:solidFill>
              <a:srgbClr val="00B58F"/>
            </a:solidFill>
          </p:spPr>
        </p:sp>
        <p:sp>
          <p:nvSpPr>
            <p:cNvPr name="TextBox 29" id="29"/>
            <p:cNvSpPr txBox="true"/>
            <p:nvPr/>
          </p:nvSpPr>
          <p:spPr>
            <a:xfrm>
              <a:off x="591754" y="585533"/>
              <a:ext cx="2603719" cy="661733"/>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028700" y="793061"/>
            <a:ext cx="4463067" cy="235560"/>
            <a:chOff x="0" y="0"/>
            <a:chExt cx="5950756" cy="314080"/>
          </a:xfrm>
        </p:grpSpPr>
        <p:sp>
          <p:nvSpPr>
            <p:cNvPr name="Freeform 31" id="31"/>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2" id="32"/>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Freeform 33" id="33"/>
          <p:cNvSpPr/>
          <p:nvPr/>
        </p:nvSpPr>
        <p:spPr>
          <a:xfrm flipH="false" flipV="false" rot="0">
            <a:off x="1097518" y="3221106"/>
            <a:ext cx="618495" cy="618495"/>
          </a:xfrm>
          <a:custGeom>
            <a:avLst/>
            <a:gdLst/>
            <a:ahLst/>
            <a:cxnLst/>
            <a:rect r="r" b="b" t="t" l="l"/>
            <a:pathLst>
              <a:path h="618495" w="618495">
                <a:moveTo>
                  <a:pt x="0" y="0"/>
                </a:moveTo>
                <a:lnTo>
                  <a:pt x="618495" y="0"/>
                </a:lnTo>
                <a:lnTo>
                  <a:pt x="618495" y="618495"/>
                </a:lnTo>
                <a:lnTo>
                  <a:pt x="0" y="6184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4" id="34"/>
          <p:cNvSpPr/>
          <p:nvPr/>
        </p:nvSpPr>
        <p:spPr>
          <a:xfrm flipH="false" flipV="false" rot="0">
            <a:off x="1135618" y="5438227"/>
            <a:ext cx="569988" cy="590661"/>
          </a:xfrm>
          <a:custGeom>
            <a:avLst/>
            <a:gdLst/>
            <a:ahLst/>
            <a:cxnLst/>
            <a:rect r="r" b="b" t="t" l="l"/>
            <a:pathLst>
              <a:path h="590661" w="569988">
                <a:moveTo>
                  <a:pt x="0" y="0"/>
                </a:moveTo>
                <a:lnTo>
                  <a:pt x="569988" y="0"/>
                </a:lnTo>
                <a:lnTo>
                  <a:pt x="569988" y="590661"/>
                </a:lnTo>
                <a:lnTo>
                  <a:pt x="0" y="5906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5" id="35"/>
          <p:cNvSpPr/>
          <p:nvPr/>
        </p:nvSpPr>
        <p:spPr>
          <a:xfrm flipH="false" flipV="false" rot="0">
            <a:off x="1137629" y="7609945"/>
            <a:ext cx="538273" cy="615169"/>
          </a:xfrm>
          <a:custGeom>
            <a:avLst/>
            <a:gdLst/>
            <a:ahLst/>
            <a:cxnLst/>
            <a:rect r="r" b="b" t="t" l="l"/>
            <a:pathLst>
              <a:path h="615169" w="538273">
                <a:moveTo>
                  <a:pt x="0" y="0"/>
                </a:moveTo>
                <a:lnTo>
                  <a:pt x="538273" y="0"/>
                </a:lnTo>
                <a:lnTo>
                  <a:pt x="538273" y="615169"/>
                </a:lnTo>
                <a:lnTo>
                  <a:pt x="0" y="6151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6" id="36"/>
          <p:cNvSpPr txBox="true"/>
          <p:nvPr/>
        </p:nvSpPr>
        <p:spPr>
          <a:xfrm rot="0">
            <a:off x="1986136" y="3322868"/>
            <a:ext cx="7117279" cy="405809"/>
          </a:xfrm>
          <a:prstGeom prst="rect">
            <a:avLst/>
          </a:prstGeom>
        </p:spPr>
        <p:txBody>
          <a:bodyPr anchor="t" rtlCol="false" tIns="0" lIns="0" bIns="0" rIns="0">
            <a:spAutoFit/>
          </a:bodyPr>
          <a:lstStyle/>
          <a:p>
            <a:pPr algn="l">
              <a:lnSpc>
                <a:spcPts val="3359"/>
              </a:lnSpc>
            </a:pPr>
            <a:r>
              <a:rPr lang="en-US" b="true" sz="2400" spc="60">
                <a:solidFill>
                  <a:srgbClr val="FFFFFF"/>
                </a:solidFill>
                <a:latin typeface="Bricolage Grotesque Bold"/>
                <a:ea typeface="Bricolage Grotesque Bold"/>
                <a:cs typeface="Bricolage Grotesque Bold"/>
                <a:sym typeface="Bricolage Grotesque Bold"/>
              </a:rPr>
              <a:t>SPATIAL</a:t>
            </a:r>
            <a:r>
              <a:rPr lang="en-US" b="true" sz="2400" spc="60">
                <a:solidFill>
                  <a:srgbClr val="FFFFFF"/>
                </a:solidFill>
                <a:latin typeface="Bricolage Grotesque Bold"/>
                <a:ea typeface="Bricolage Grotesque Bold"/>
                <a:cs typeface="Bricolage Grotesque Bold"/>
                <a:sym typeface="Bricolage Grotesque Bold"/>
              </a:rPr>
              <a:t> RESOLUTION</a:t>
            </a:r>
          </a:p>
        </p:txBody>
      </p:sp>
      <p:sp>
        <p:nvSpPr>
          <p:cNvPr name="TextBox 37" id="37"/>
          <p:cNvSpPr txBox="true"/>
          <p:nvPr/>
        </p:nvSpPr>
        <p:spPr>
          <a:xfrm rot="0">
            <a:off x="1986136" y="5506840"/>
            <a:ext cx="7864601" cy="405809"/>
          </a:xfrm>
          <a:prstGeom prst="rect">
            <a:avLst/>
          </a:prstGeom>
        </p:spPr>
        <p:txBody>
          <a:bodyPr anchor="t" rtlCol="false" tIns="0" lIns="0" bIns="0" rIns="0">
            <a:spAutoFit/>
          </a:bodyPr>
          <a:lstStyle/>
          <a:p>
            <a:pPr algn="l">
              <a:lnSpc>
                <a:spcPts val="3359"/>
              </a:lnSpc>
            </a:pPr>
            <a:r>
              <a:rPr lang="en-US" b="true" sz="2400" spc="60">
                <a:solidFill>
                  <a:srgbClr val="FFFFFF"/>
                </a:solidFill>
                <a:latin typeface="Bricolage Grotesque Bold"/>
                <a:ea typeface="Bricolage Grotesque Bold"/>
                <a:cs typeface="Bricolage Grotesque Bold"/>
                <a:sym typeface="Bricolage Grotesque Bold"/>
              </a:rPr>
              <a:t>TEMPORAL</a:t>
            </a:r>
            <a:r>
              <a:rPr lang="en-US" b="true" sz="2400" spc="60">
                <a:solidFill>
                  <a:srgbClr val="FFFFFF"/>
                </a:solidFill>
                <a:latin typeface="Bricolage Grotesque Bold"/>
                <a:ea typeface="Bricolage Grotesque Bold"/>
                <a:cs typeface="Bricolage Grotesque Bold"/>
                <a:sym typeface="Bricolage Grotesque Bold"/>
              </a:rPr>
              <a:t> ORDERING</a:t>
            </a:r>
          </a:p>
        </p:txBody>
      </p:sp>
      <p:sp>
        <p:nvSpPr>
          <p:cNvPr name="TextBox 38" id="38"/>
          <p:cNvSpPr txBox="true"/>
          <p:nvPr/>
        </p:nvSpPr>
        <p:spPr>
          <a:xfrm rot="0">
            <a:off x="1986136" y="7690812"/>
            <a:ext cx="7999364" cy="405809"/>
          </a:xfrm>
          <a:prstGeom prst="rect">
            <a:avLst/>
          </a:prstGeom>
        </p:spPr>
        <p:txBody>
          <a:bodyPr anchor="t" rtlCol="false" tIns="0" lIns="0" bIns="0" rIns="0">
            <a:spAutoFit/>
          </a:bodyPr>
          <a:lstStyle/>
          <a:p>
            <a:pPr algn="just">
              <a:lnSpc>
                <a:spcPts val="3359"/>
              </a:lnSpc>
            </a:pPr>
            <a:r>
              <a:rPr lang="en-US" b="true" sz="2400" spc="60">
                <a:solidFill>
                  <a:srgbClr val="FFFFFF"/>
                </a:solidFill>
                <a:latin typeface="Bricolage Grotesque Bold"/>
                <a:ea typeface="Bricolage Grotesque Bold"/>
                <a:cs typeface="Bricolage Grotesque Bold"/>
                <a:sym typeface="Bricolage Grotesque Bold"/>
              </a:rPr>
              <a:t>CAUSAL</a:t>
            </a:r>
            <a:r>
              <a:rPr lang="en-US" b="true" sz="2400" spc="60">
                <a:solidFill>
                  <a:srgbClr val="FFFFFF"/>
                </a:solidFill>
                <a:latin typeface="Bricolage Grotesque Bold"/>
                <a:ea typeface="Bricolage Grotesque Bold"/>
                <a:cs typeface="Bricolage Grotesque Bold"/>
                <a:sym typeface="Bricolage Grotesque Bold"/>
              </a:rPr>
              <a:t> IMPUTATION</a:t>
            </a:r>
          </a:p>
        </p:txBody>
      </p:sp>
      <p:sp>
        <p:nvSpPr>
          <p:cNvPr name="TextBox 39" id="39"/>
          <p:cNvSpPr txBox="true"/>
          <p:nvPr/>
        </p:nvSpPr>
        <p:spPr>
          <a:xfrm rot="0">
            <a:off x="1028700" y="3910516"/>
            <a:ext cx="10395863" cy="1396497"/>
          </a:xfrm>
          <a:prstGeom prst="rect">
            <a:avLst/>
          </a:prstGeom>
        </p:spPr>
        <p:txBody>
          <a:bodyPr anchor="t" rtlCol="false" tIns="0" lIns="0" bIns="0" rIns="0">
            <a:spAutoFit/>
          </a:bodyPr>
          <a:lstStyle/>
          <a:p>
            <a:pPr algn="just">
              <a:lnSpc>
                <a:spcPts val="2379"/>
              </a:lnSpc>
            </a:pPr>
            <a:r>
              <a:rPr lang="en-US" b="true" sz="1699" spc="42">
                <a:solidFill>
                  <a:srgbClr val="0B132B"/>
                </a:solidFill>
                <a:latin typeface="Bricolage Grotesque Bold"/>
                <a:ea typeface="Bricolage Grotesque Bold"/>
                <a:cs typeface="Bricolage Grotesque Bold"/>
                <a:sym typeface="Bricolage Grotesque Bold"/>
              </a:rPr>
              <a:t>   150 Stasiun SPKLU Unik</a:t>
            </a:r>
          </a:p>
          <a:p>
            <a:pPr algn="just" marL="345439" indent="-172720" lvl="1">
              <a:lnSpc>
                <a:spcPts val="2239"/>
              </a:lnSpc>
              <a:buFont typeface="Arial"/>
              <a:buChar char="•"/>
            </a:pPr>
            <a:r>
              <a:rPr lang="en-US" sz="1599" spc="39">
                <a:solidFill>
                  <a:srgbClr val="0B132B"/>
                </a:solidFill>
                <a:latin typeface="Bricolage Grotesque"/>
                <a:ea typeface="Bricolage Grotesque"/>
                <a:cs typeface="Bricolage Grotesque"/>
                <a:sym typeface="Bricolage Grotesque"/>
              </a:rPr>
              <a:t>Res</a:t>
            </a:r>
            <a:r>
              <a:rPr lang="en-US" sz="1599" spc="39">
                <a:solidFill>
                  <a:srgbClr val="0B132B"/>
                </a:solidFill>
                <a:latin typeface="Bricolage Grotesque"/>
                <a:ea typeface="Bricolage Grotesque"/>
                <a:cs typeface="Bricolage Grotesque"/>
                <a:sym typeface="Bricolage Grotesque"/>
              </a:rPr>
              <a:t>olusi Mismatch: Mengoreksi inkonsistensi penamaan nama stasiun (casing, spasi ganda, dan ketidaksesuaian Station ID).</a:t>
            </a:r>
          </a:p>
          <a:p>
            <a:pPr algn="just" marL="345439" indent="-172720" lvl="1">
              <a:lnSpc>
                <a:spcPts val="2239"/>
              </a:lnSpc>
              <a:buFont typeface="Arial"/>
              <a:buChar char="•"/>
            </a:pPr>
            <a:r>
              <a:rPr lang="en-US" sz="1599" spc="39">
                <a:solidFill>
                  <a:srgbClr val="0B132B"/>
                </a:solidFill>
                <a:latin typeface="Bricolage Grotesque"/>
                <a:ea typeface="Bricolage Grotesque"/>
                <a:cs typeface="Bricolage Grotesque"/>
                <a:sym typeface="Bricolage Grotesque"/>
              </a:rPr>
              <a:t>Pemetaan Relasional: 150 stasiun dipetakan secara terverifikasi untuk mencegah fragmentasi identitas fisik charger.</a:t>
            </a:r>
          </a:p>
        </p:txBody>
      </p:sp>
      <p:sp>
        <p:nvSpPr>
          <p:cNvPr name="TextBox 40" id="40"/>
          <p:cNvSpPr txBox="true"/>
          <p:nvPr/>
        </p:nvSpPr>
        <p:spPr>
          <a:xfrm rot="0">
            <a:off x="1028700" y="6098602"/>
            <a:ext cx="10395863" cy="1396497"/>
          </a:xfrm>
          <a:prstGeom prst="rect">
            <a:avLst/>
          </a:prstGeom>
        </p:spPr>
        <p:txBody>
          <a:bodyPr anchor="t" rtlCol="false" tIns="0" lIns="0" bIns="0" rIns="0">
            <a:spAutoFit/>
          </a:bodyPr>
          <a:lstStyle/>
          <a:p>
            <a:pPr algn="l">
              <a:lnSpc>
                <a:spcPts val="2379"/>
              </a:lnSpc>
            </a:pPr>
            <a:r>
              <a:rPr lang="en-US" sz="1699" spc="42" b="true">
                <a:solidFill>
                  <a:srgbClr val="0B132B"/>
                </a:solidFill>
                <a:latin typeface="Bricolage Grotesque Bold"/>
                <a:ea typeface="Bricolage Grotesque Bold"/>
                <a:cs typeface="Bricolage Grotesque Bold"/>
                <a:sym typeface="Bricolage Grotesque Bold"/>
              </a:rPr>
              <a:t>   Granularitas 30 Menit</a:t>
            </a:r>
          </a:p>
          <a:p>
            <a:pPr algn="l" marL="345439" indent="-172720" lvl="1">
              <a:lnSpc>
                <a:spcPts val="2239"/>
              </a:lnSpc>
              <a:buFont typeface="Arial"/>
              <a:buChar char="•"/>
            </a:pPr>
            <a:r>
              <a:rPr lang="en-US" sz="1599" spc="39">
                <a:solidFill>
                  <a:srgbClr val="0B132B"/>
                </a:solidFill>
                <a:latin typeface="Bricolage Grotesque"/>
                <a:ea typeface="Bricolage Grotesque"/>
                <a:cs typeface="Bricolage Grotesque"/>
                <a:sym typeface="Bricolage Grotesque"/>
              </a:rPr>
              <a:t>P</a:t>
            </a:r>
            <a:r>
              <a:rPr lang="en-US" sz="1599" spc="39">
                <a:solidFill>
                  <a:srgbClr val="0B132B"/>
                </a:solidFill>
                <a:latin typeface="Bricolage Grotesque"/>
                <a:ea typeface="Bricolage Grotesque"/>
                <a:cs typeface="Bricolage Grotesque"/>
                <a:sym typeface="Bricolage Grotesque"/>
              </a:rPr>
              <a:t>enataan Kronologis: Data diurutkan strictly per-stasiun berdasarkan waktu (station_id, timestamp) tanpa pengacakan (no shuffling).</a:t>
            </a:r>
          </a:p>
          <a:p>
            <a:pPr algn="l" marL="345439" indent="-172720" lvl="1">
              <a:lnSpc>
                <a:spcPts val="2239"/>
              </a:lnSpc>
              <a:buFont typeface="Arial"/>
              <a:buChar char="•"/>
            </a:pPr>
            <a:r>
              <a:rPr lang="en-US" sz="1599" spc="39">
                <a:solidFill>
                  <a:srgbClr val="0B132B"/>
                </a:solidFill>
                <a:latin typeface="Bricolage Grotesque"/>
                <a:ea typeface="Bricolage Grotesque"/>
                <a:cs typeface="Bricolage Grotesque"/>
                <a:sym typeface="Bricolage Grotesque"/>
              </a:rPr>
              <a:t>Standardisasi Datetime: Konversi seluruh stempel waktu ke format standar UTC untuk menjaga kausalitas deret waktu.</a:t>
            </a:r>
          </a:p>
        </p:txBody>
      </p:sp>
      <p:sp>
        <p:nvSpPr>
          <p:cNvPr name="TextBox 41" id="41"/>
          <p:cNvSpPr txBox="true"/>
          <p:nvPr/>
        </p:nvSpPr>
        <p:spPr>
          <a:xfrm rot="0">
            <a:off x="1028700" y="8277163"/>
            <a:ext cx="10395863" cy="1396497"/>
          </a:xfrm>
          <a:prstGeom prst="rect">
            <a:avLst/>
          </a:prstGeom>
        </p:spPr>
        <p:txBody>
          <a:bodyPr anchor="t" rtlCol="false" tIns="0" lIns="0" bIns="0" rIns="0">
            <a:spAutoFit/>
          </a:bodyPr>
          <a:lstStyle/>
          <a:p>
            <a:pPr algn="l">
              <a:lnSpc>
                <a:spcPts val="2379"/>
              </a:lnSpc>
            </a:pPr>
            <a:r>
              <a:rPr lang="en-US" sz="1699" spc="42">
                <a:solidFill>
                  <a:srgbClr val="0B132B"/>
                </a:solidFill>
                <a:latin typeface="Bricolage Grotesque"/>
                <a:ea typeface="Bricolage Grotesque"/>
                <a:cs typeface="Bricolage Grotesque"/>
                <a:sym typeface="Bricolage Grotesque"/>
              </a:rPr>
              <a:t>   S</a:t>
            </a:r>
            <a:r>
              <a:rPr lang="en-US" sz="1699" spc="42" b="true">
                <a:solidFill>
                  <a:srgbClr val="0B132B"/>
                </a:solidFill>
                <a:latin typeface="Bricolage Grotesque Bold"/>
                <a:ea typeface="Bricolage Grotesque Bold"/>
                <a:cs typeface="Bricolage Grotesque Bold"/>
                <a:sym typeface="Bricolage Grotesque Bold"/>
              </a:rPr>
              <a:t>trict Zero-Leakage</a:t>
            </a:r>
          </a:p>
          <a:p>
            <a:pPr algn="l" marL="345439" indent="-172720" lvl="1">
              <a:lnSpc>
                <a:spcPts val="2239"/>
              </a:lnSpc>
              <a:buFont typeface="Arial"/>
              <a:buChar char="•"/>
            </a:pPr>
            <a:r>
              <a:rPr lang="en-US" sz="1599" spc="39">
                <a:solidFill>
                  <a:srgbClr val="0B132B"/>
                </a:solidFill>
                <a:latin typeface="Bricolage Grotesque"/>
                <a:ea typeface="Bricolage Grotesque"/>
                <a:cs typeface="Bricolage Grotesque"/>
                <a:sym typeface="Bricolage Grotesque"/>
              </a:rPr>
              <a:t> Time-Based F</a:t>
            </a:r>
            <a:r>
              <a:rPr lang="en-US" sz="1599" spc="39">
                <a:solidFill>
                  <a:srgbClr val="0B132B"/>
                </a:solidFill>
                <a:latin typeface="Bricolage Grotesque"/>
                <a:ea typeface="Bricolage Grotesque"/>
                <a:cs typeface="Bricolage Grotesque"/>
                <a:sym typeface="Bricolage Grotesque"/>
              </a:rPr>
              <a:t>orward Fill: Mengisi nilai kosong sensor cuaca &amp; telemetri hanya menggunakan informasi titik waktu sebelumnya  (t ≤ t₀).</a:t>
            </a:r>
          </a:p>
          <a:p>
            <a:pPr algn="l" marL="345439" indent="-172720" lvl="1">
              <a:lnSpc>
                <a:spcPts val="2239"/>
              </a:lnSpc>
              <a:buFont typeface="Arial"/>
              <a:buChar char="•"/>
            </a:pPr>
            <a:r>
              <a:rPr lang="en-US" sz="1599" spc="39">
                <a:solidFill>
                  <a:srgbClr val="0B132B"/>
                </a:solidFill>
                <a:latin typeface="Bricolage Grotesque"/>
                <a:ea typeface="Bricolage Grotesque"/>
                <a:cs typeface="Bricolage Grotesque"/>
                <a:sym typeface="Bricolage Grotesque"/>
              </a:rPr>
              <a:t>Station-Level Median: Mengisi gap awal stasiun menggunakan agregat median historis stasiun terkait, tanpa interpolasi ke masa depan.</a:t>
            </a:r>
          </a:p>
        </p:txBody>
      </p:sp>
      <p:sp>
        <p:nvSpPr>
          <p:cNvPr name="TextBox 42" id="42"/>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- 16</a:t>
            </a:r>
          </a:p>
        </p:txBody>
      </p:sp>
      <p:grpSp>
        <p:nvGrpSpPr>
          <p:cNvPr name="Group 43" id="43"/>
          <p:cNvGrpSpPr/>
          <p:nvPr/>
        </p:nvGrpSpPr>
        <p:grpSpPr>
          <a:xfrm rot="0">
            <a:off x="12875748" y="2766663"/>
            <a:ext cx="3946558" cy="6644037"/>
            <a:chOff x="0" y="0"/>
            <a:chExt cx="3771900" cy="6350000"/>
          </a:xfrm>
        </p:grpSpPr>
        <p:sp>
          <p:nvSpPr>
            <p:cNvPr name="Freeform 44" id="44"/>
            <p:cNvSpPr/>
            <p:nvPr/>
          </p:nvSpPr>
          <p:spPr>
            <a:xfrm flipH="false" flipV="false" rot="0">
              <a:off x="0" y="0"/>
              <a:ext cx="3771900" cy="6349937"/>
            </a:xfrm>
            <a:custGeom>
              <a:avLst/>
              <a:gdLst/>
              <a:ahLst/>
              <a:cxnLst/>
              <a:rect r="r" b="b" t="t" l="l"/>
              <a:pathLst>
                <a:path h="6349937" w="3771900">
                  <a:moveTo>
                    <a:pt x="0" y="546100"/>
                  </a:moveTo>
                  <a:lnTo>
                    <a:pt x="0" y="3953510"/>
                  </a:lnTo>
                  <a:cubicBezTo>
                    <a:pt x="0" y="4132580"/>
                    <a:pt x="87630" y="4301490"/>
                    <a:pt x="236220" y="4403090"/>
                  </a:cubicBezTo>
                  <a:lnTo>
                    <a:pt x="2914650" y="6252210"/>
                  </a:lnTo>
                  <a:cubicBezTo>
                    <a:pt x="3276600" y="6502400"/>
                    <a:pt x="3771900" y="6243320"/>
                    <a:pt x="3771900" y="5802630"/>
                  </a:cubicBezTo>
                  <a:lnTo>
                    <a:pt x="3771900" y="546100"/>
                  </a:lnTo>
                  <a:cubicBezTo>
                    <a:pt x="3771900" y="243840"/>
                    <a:pt x="3526790" y="0"/>
                    <a:pt x="3225800" y="0"/>
                  </a:cubicBezTo>
                  <a:lnTo>
                    <a:pt x="546100" y="0"/>
                  </a:lnTo>
                  <a:cubicBezTo>
                    <a:pt x="245110" y="0"/>
                    <a:pt x="0" y="245110"/>
                    <a:pt x="0" y="546100"/>
                  </a:cubicBezTo>
                  <a:close/>
                </a:path>
              </a:pathLst>
            </a:custGeom>
            <a:blipFill>
              <a:blip r:embed="rId11"/>
              <a:stretch>
                <a:fillRect l="-5975" t="0" r="-5975" b="0"/>
              </a:stretch>
            </a:blipFill>
          </p:spPr>
        </p:sp>
      </p:grpSp>
      <p:grpSp>
        <p:nvGrpSpPr>
          <p:cNvPr name="Group 45" id="45"/>
          <p:cNvGrpSpPr/>
          <p:nvPr/>
        </p:nvGrpSpPr>
        <p:grpSpPr>
          <a:xfrm rot="0">
            <a:off x="1028700" y="2307574"/>
            <a:ext cx="6130613" cy="738552"/>
            <a:chOff x="0" y="0"/>
            <a:chExt cx="8174151" cy="984735"/>
          </a:xfrm>
        </p:grpSpPr>
        <p:grpSp>
          <p:nvGrpSpPr>
            <p:cNvPr name="Group 46" id="46"/>
            <p:cNvGrpSpPr/>
            <p:nvPr/>
          </p:nvGrpSpPr>
          <p:grpSpPr>
            <a:xfrm rot="0">
              <a:off x="31626" y="0"/>
              <a:ext cx="8142525" cy="984735"/>
              <a:chOff x="0" y="0"/>
              <a:chExt cx="1577386" cy="190765"/>
            </a:xfrm>
          </p:grpSpPr>
          <p:sp>
            <p:nvSpPr>
              <p:cNvPr name="Freeform 47" id="47"/>
              <p:cNvSpPr/>
              <p:nvPr/>
            </p:nvSpPr>
            <p:spPr>
              <a:xfrm flipH="false" flipV="false" rot="0">
                <a:off x="0" y="0"/>
                <a:ext cx="1577386" cy="190765"/>
              </a:xfrm>
              <a:custGeom>
                <a:avLst/>
                <a:gdLst/>
                <a:ahLst/>
                <a:cxnLst/>
                <a:rect r="r" b="b" t="t" l="l"/>
                <a:pathLst>
                  <a:path h="190765" w="1577386">
                    <a:moveTo>
                      <a:pt x="12677" y="0"/>
                    </a:moveTo>
                    <a:lnTo>
                      <a:pt x="1564708" y="0"/>
                    </a:lnTo>
                    <a:cubicBezTo>
                      <a:pt x="1568071" y="0"/>
                      <a:pt x="1571295" y="1336"/>
                      <a:pt x="1573673" y="3713"/>
                    </a:cubicBezTo>
                    <a:cubicBezTo>
                      <a:pt x="1576050" y="6091"/>
                      <a:pt x="1577386" y="9315"/>
                      <a:pt x="1577386" y="12677"/>
                    </a:cubicBezTo>
                    <a:lnTo>
                      <a:pt x="1577386" y="178088"/>
                    </a:lnTo>
                    <a:cubicBezTo>
                      <a:pt x="1577386" y="181450"/>
                      <a:pt x="1576050" y="184674"/>
                      <a:pt x="1573673" y="187052"/>
                    </a:cubicBezTo>
                    <a:cubicBezTo>
                      <a:pt x="1571295" y="189429"/>
                      <a:pt x="1568071" y="190765"/>
                      <a:pt x="1564708" y="190765"/>
                    </a:cubicBezTo>
                    <a:lnTo>
                      <a:pt x="12677" y="190765"/>
                    </a:lnTo>
                    <a:cubicBezTo>
                      <a:pt x="9315" y="190765"/>
                      <a:pt x="6091" y="189429"/>
                      <a:pt x="3713" y="187052"/>
                    </a:cubicBezTo>
                    <a:cubicBezTo>
                      <a:pt x="1336" y="184674"/>
                      <a:pt x="0" y="181450"/>
                      <a:pt x="0" y="178088"/>
                    </a:cubicBezTo>
                    <a:lnTo>
                      <a:pt x="0" y="12677"/>
                    </a:lnTo>
                    <a:cubicBezTo>
                      <a:pt x="0" y="9315"/>
                      <a:pt x="1336" y="6091"/>
                      <a:pt x="3713" y="3713"/>
                    </a:cubicBezTo>
                    <a:cubicBezTo>
                      <a:pt x="6091" y="1336"/>
                      <a:pt x="9315" y="0"/>
                      <a:pt x="12677" y="0"/>
                    </a:cubicBezTo>
                    <a:close/>
                  </a:path>
                </a:pathLst>
              </a:custGeom>
              <a:solidFill>
                <a:srgbClr val="00B58F"/>
              </a:solidFill>
              <a:ln cap="sq">
                <a:noFill/>
                <a:prstDash val="solid"/>
                <a:miter/>
              </a:ln>
            </p:spPr>
          </p:sp>
          <p:sp>
            <p:nvSpPr>
              <p:cNvPr name="TextBox 48" id="48"/>
              <p:cNvSpPr txBox="true"/>
              <p:nvPr/>
            </p:nvSpPr>
            <p:spPr>
              <a:xfrm>
                <a:off x="0" y="-38100"/>
                <a:ext cx="1577386" cy="228865"/>
              </a:xfrm>
              <a:prstGeom prst="rect">
                <a:avLst/>
              </a:prstGeom>
            </p:spPr>
            <p:txBody>
              <a:bodyPr anchor="ctr" rtlCol="false" tIns="50800" lIns="50800" bIns="50800" rIns="50800"/>
              <a:lstStyle/>
              <a:p>
                <a:pPr algn="r">
                  <a:lnSpc>
                    <a:spcPts val="2659"/>
                  </a:lnSpc>
                  <a:spcBef>
                    <a:spcPct val="0"/>
                  </a:spcBef>
                </a:pPr>
              </a:p>
            </p:txBody>
          </p:sp>
        </p:grpSp>
        <p:sp>
          <p:nvSpPr>
            <p:cNvPr name="TextBox 49" id="49"/>
            <p:cNvSpPr txBox="true"/>
            <p:nvPr/>
          </p:nvSpPr>
          <p:spPr>
            <a:xfrm rot="0">
              <a:off x="0" y="322072"/>
              <a:ext cx="8174151" cy="446587"/>
            </a:xfrm>
            <a:prstGeom prst="rect">
              <a:avLst/>
            </a:prstGeom>
          </p:spPr>
          <p:txBody>
            <a:bodyPr anchor="t" rtlCol="false" tIns="0" lIns="0" bIns="0" rIns="0">
              <a:spAutoFit/>
            </a:bodyPr>
            <a:lstStyle/>
            <a:p>
              <a:pPr algn="r">
                <a:lnSpc>
                  <a:spcPts val="2499"/>
                </a:lnSpc>
              </a:pPr>
              <a:r>
                <a:rPr lang="en-US" sz="2499">
                  <a:solidFill>
                    <a:srgbClr val="FFFFFF"/>
                  </a:solidFill>
                  <a:latin typeface="Rubik One"/>
                  <a:ea typeface="Rubik One"/>
                  <a:cs typeface="Rubik One"/>
                  <a:sym typeface="Rubik One"/>
                </a:rPr>
                <a:t>3-STAGE ANTI-LEAKAGE PIPELINE</a:t>
              </a:r>
            </a:p>
          </p:txBody>
        </p:sp>
      </p:grpSp>
      <p:grpSp>
        <p:nvGrpSpPr>
          <p:cNvPr name="Group 50" id="50"/>
          <p:cNvGrpSpPr/>
          <p:nvPr/>
        </p:nvGrpSpPr>
        <p:grpSpPr>
          <a:xfrm rot="0">
            <a:off x="11502671" y="9960324"/>
            <a:ext cx="9960587" cy="1142074"/>
            <a:chOff x="0" y="0"/>
            <a:chExt cx="2572779" cy="294993"/>
          </a:xfrm>
        </p:grpSpPr>
        <p:sp>
          <p:nvSpPr>
            <p:cNvPr name="Freeform 51" id="51"/>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52" id="52"/>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3" id="53"/>
          <p:cNvGrpSpPr/>
          <p:nvPr/>
        </p:nvGrpSpPr>
        <p:grpSpPr>
          <a:xfrm rot="0">
            <a:off x="-5959063" y="-784283"/>
            <a:ext cx="9960587" cy="1142074"/>
            <a:chOff x="0" y="0"/>
            <a:chExt cx="2572779" cy="294993"/>
          </a:xfrm>
        </p:grpSpPr>
        <p:sp>
          <p:nvSpPr>
            <p:cNvPr name="Freeform 54" id="54"/>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55" id="55"/>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5952812" y="8245812"/>
            <a:ext cx="4559724" cy="447540"/>
            <a:chOff x="0" y="0"/>
            <a:chExt cx="4059375" cy="398431"/>
          </a:xfrm>
        </p:grpSpPr>
        <p:sp>
          <p:nvSpPr>
            <p:cNvPr name="Freeform 3" id="3"/>
            <p:cNvSpPr/>
            <p:nvPr/>
          </p:nvSpPr>
          <p:spPr>
            <a:xfrm flipH="false" flipV="false" rot="0">
              <a:off x="9868" y="0"/>
              <a:ext cx="4039639" cy="398431"/>
            </a:xfrm>
            <a:custGeom>
              <a:avLst/>
              <a:gdLst/>
              <a:ahLst/>
              <a:cxnLst/>
              <a:rect r="r" b="b" t="t" l="l"/>
              <a:pathLst>
                <a:path h="398431" w="4039639">
                  <a:moveTo>
                    <a:pt x="218800" y="0"/>
                  </a:moveTo>
                  <a:lnTo>
                    <a:pt x="4024039" y="0"/>
                  </a:lnTo>
                  <a:cubicBezTo>
                    <a:pt x="4029468" y="0"/>
                    <a:pt x="4034506" y="2822"/>
                    <a:pt x="4037342" y="7452"/>
                  </a:cubicBezTo>
                  <a:cubicBezTo>
                    <a:pt x="4040177" y="12081"/>
                    <a:pt x="4040403" y="17852"/>
                    <a:pt x="4037936" y="22688"/>
                  </a:cubicBezTo>
                  <a:lnTo>
                    <a:pt x="3857878" y="375743"/>
                  </a:lnTo>
                  <a:cubicBezTo>
                    <a:pt x="3850777" y="389666"/>
                    <a:pt x="3836468" y="398431"/>
                    <a:pt x="3820839" y="398431"/>
                  </a:cubicBezTo>
                  <a:lnTo>
                    <a:pt x="15600" y="398431"/>
                  </a:lnTo>
                  <a:cubicBezTo>
                    <a:pt x="10171" y="398431"/>
                    <a:pt x="5133" y="395608"/>
                    <a:pt x="2297" y="390979"/>
                  </a:cubicBezTo>
                  <a:cubicBezTo>
                    <a:pt x="-538" y="386350"/>
                    <a:pt x="-764" y="380579"/>
                    <a:pt x="1703" y="375743"/>
                  </a:cubicBezTo>
                  <a:lnTo>
                    <a:pt x="181761" y="22688"/>
                  </a:lnTo>
                  <a:cubicBezTo>
                    <a:pt x="188862" y="8765"/>
                    <a:pt x="203171" y="0"/>
                    <a:pt x="218800" y="0"/>
                  </a:cubicBezTo>
                  <a:close/>
                </a:path>
              </a:pathLst>
            </a:custGeom>
            <a:solidFill>
              <a:srgbClr val="EDF6F9"/>
            </a:solidFill>
          </p:spPr>
        </p:sp>
        <p:sp>
          <p:nvSpPr>
            <p:cNvPr name="TextBox 4" id="4"/>
            <p:cNvSpPr txBox="true"/>
            <p:nvPr/>
          </p:nvSpPr>
          <p:spPr>
            <a:xfrm>
              <a:off x="101600" y="-38100"/>
              <a:ext cx="385617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56527" y="8244964"/>
            <a:ext cx="2473138" cy="447540"/>
            <a:chOff x="0" y="0"/>
            <a:chExt cx="2201755" cy="398431"/>
          </a:xfrm>
        </p:grpSpPr>
        <p:sp>
          <p:nvSpPr>
            <p:cNvPr name="Freeform 6" id="6"/>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7" id="7"/>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52972" y="6143815"/>
            <a:ext cx="8115300" cy="3914585"/>
            <a:chOff x="0" y="0"/>
            <a:chExt cx="10820400" cy="5219447"/>
          </a:xfrm>
        </p:grpSpPr>
        <p:grpSp>
          <p:nvGrpSpPr>
            <p:cNvPr name="Group 9" id="9"/>
            <p:cNvGrpSpPr/>
            <p:nvPr/>
          </p:nvGrpSpPr>
          <p:grpSpPr>
            <a:xfrm rot="0">
              <a:off x="210242" y="382477"/>
              <a:ext cx="10238395" cy="4454492"/>
              <a:chOff x="0" y="0"/>
              <a:chExt cx="1842533" cy="801644"/>
            </a:xfrm>
          </p:grpSpPr>
          <p:sp>
            <p:nvSpPr>
              <p:cNvPr name="Freeform 10" id="10"/>
              <p:cNvSpPr/>
              <p:nvPr/>
            </p:nvSpPr>
            <p:spPr>
              <a:xfrm flipH="false" flipV="false" rot="0">
                <a:off x="0" y="0"/>
                <a:ext cx="1842532" cy="801644"/>
              </a:xfrm>
              <a:custGeom>
                <a:avLst/>
                <a:gdLst/>
                <a:ahLst/>
                <a:cxnLst/>
                <a:rect r="r" b="b" t="t" l="l"/>
                <a:pathLst>
                  <a:path h="801644" w="1842532">
                    <a:moveTo>
                      <a:pt x="18243" y="0"/>
                    </a:moveTo>
                    <a:lnTo>
                      <a:pt x="1824289" y="0"/>
                    </a:lnTo>
                    <a:cubicBezTo>
                      <a:pt x="1829128" y="0"/>
                      <a:pt x="1833768" y="1922"/>
                      <a:pt x="1837189" y="5343"/>
                    </a:cubicBezTo>
                    <a:cubicBezTo>
                      <a:pt x="1840611" y="8764"/>
                      <a:pt x="1842532" y="13405"/>
                      <a:pt x="1842532" y="18243"/>
                    </a:cubicBezTo>
                    <a:lnTo>
                      <a:pt x="1842532" y="783401"/>
                    </a:lnTo>
                    <a:cubicBezTo>
                      <a:pt x="1842532" y="793476"/>
                      <a:pt x="1834365" y="801644"/>
                      <a:pt x="1824289" y="801644"/>
                    </a:cubicBezTo>
                    <a:lnTo>
                      <a:pt x="18243" y="801644"/>
                    </a:lnTo>
                    <a:cubicBezTo>
                      <a:pt x="13405" y="801644"/>
                      <a:pt x="8764" y="799722"/>
                      <a:pt x="5343" y="796301"/>
                    </a:cubicBezTo>
                    <a:cubicBezTo>
                      <a:pt x="1922" y="792879"/>
                      <a:pt x="0" y="788239"/>
                      <a:pt x="0" y="783401"/>
                    </a:cubicBezTo>
                    <a:lnTo>
                      <a:pt x="0" y="18243"/>
                    </a:lnTo>
                    <a:cubicBezTo>
                      <a:pt x="0" y="8168"/>
                      <a:pt x="8168" y="0"/>
                      <a:pt x="18243" y="0"/>
                    </a:cubicBezTo>
                    <a:close/>
                  </a:path>
                </a:pathLst>
              </a:custGeom>
              <a:solidFill>
                <a:srgbClr val="0B1E36"/>
              </a:solidFill>
              <a:ln cap="sq">
                <a:noFill/>
                <a:prstDash val="solid"/>
                <a:miter/>
              </a:ln>
            </p:spPr>
          </p:sp>
          <p:sp>
            <p:nvSpPr>
              <p:cNvPr name="TextBox 11" id="11"/>
              <p:cNvSpPr txBox="true"/>
              <p:nvPr/>
            </p:nvSpPr>
            <p:spPr>
              <a:xfrm>
                <a:off x="0" y="-38100"/>
                <a:ext cx="1842533" cy="839744"/>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0" y="0"/>
              <a:ext cx="8824476" cy="764955"/>
              <a:chOff x="0" y="0"/>
              <a:chExt cx="5008469" cy="434162"/>
            </a:xfrm>
          </p:grpSpPr>
          <p:sp>
            <p:nvSpPr>
              <p:cNvPr name="Freeform 13" id="13"/>
              <p:cNvSpPr/>
              <p:nvPr/>
            </p:nvSpPr>
            <p:spPr>
              <a:xfrm flipH="false" flipV="false" rot="0">
                <a:off x="5777" y="0"/>
                <a:ext cx="4996915" cy="434162"/>
              </a:xfrm>
              <a:custGeom>
                <a:avLst/>
                <a:gdLst/>
                <a:ahLst/>
                <a:cxnLst/>
                <a:rect r="r" b="b" t="t" l="l"/>
                <a:pathLst>
                  <a:path h="434162" w="4996915">
                    <a:moveTo>
                      <a:pt x="213298" y="0"/>
                    </a:moveTo>
                    <a:lnTo>
                      <a:pt x="4986817" y="0"/>
                    </a:lnTo>
                    <a:cubicBezTo>
                      <a:pt x="4990271" y="0"/>
                      <a:pt x="4993484" y="1765"/>
                      <a:pt x="4995338" y="4678"/>
                    </a:cubicBezTo>
                    <a:cubicBezTo>
                      <a:pt x="4997191" y="7592"/>
                      <a:pt x="4997427" y="11250"/>
                      <a:pt x="4995963" y="14378"/>
                    </a:cubicBezTo>
                    <a:lnTo>
                      <a:pt x="4806221" y="419784"/>
                    </a:lnTo>
                    <a:cubicBezTo>
                      <a:pt x="4802115" y="428557"/>
                      <a:pt x="4793304" y="434162"/>
                      <a:pt x="4783617" y="434162"/>
                    </a:cubicBezTo>
                    <a:lnTo>
                      <a:pt x="10098" y="434162"/>
                    </a:lnTo>
                    <a:cubicBezTo>
                      <a:pt x="6644" y="434162"/>
                      <a:pt x="3431" y="432397"/>
                      <a:pt x="1578" y="429484"/>
                    </a:cubicBezTo>
                    <a:cubicBezTo>
                      <a:pt x="-276" y="426570"/>
                      <a:pt x="-512" y="422912"/>
                      <a:pt x="952" y="419784"/>
                    </a:cubicBezTo>
                    <a:lnTo>
                      <a:pt x="190694" y="14378"/>
                    </a:lnTo>
                    <a:cubicBezTo>
                      <a:pt x="194800" y="5605"/>
                      <a:pt x="203611" y="0"/>
                      <a:pt x="213298" y="0"/>
                    </a:cubicBezTo>
                    <a:close/>
                  </a:path>
                </a:pathLst>
              </a:custGeom>
              <a:solidFill>
                <a:srgbClr val="EDF6F9"/>
              </a:solidFill>
            </p:spPr>
          </p:sp>
          <p:sp>
            <p:nvSpPr>
              <p:cNvPr name="TextBox 14" id="14"/>
              <p:cNvSpPr txBox="true"/>
              <p:nvPr/>
            </p:nvSpPr>
            <p:spPr>
              <a:xfrm>
                <a:off x="101600" y="-38100"/>
                <a:ext cx="4805269" cy="47226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995924" y="4454492"/>
              <a:ext cx="8824476" cy="764955"/>
              <a:chOff x="0" y="0"/>
              <a:chExt cx="5008469" cy="434162"/>
            </a:xfrm>
          </p:grpSpPr>
          <p:sp>
            <p:nvSpPr>
              <p:cNvPr name="Freeform 16" id="16"/>
              <p:cNvSpPr/>
              <p:nvPr/>
            </p:nvSpPr>
            <p:spPr>
              <a:xfrm flipH="false" flipV="false" rot="0">
                <a:off x="5777" y="0"/>
                <a:ext cx="4996915" cy="434162"/>
              </a:xfrm>
              <a:custGeom>
                <a:avLst/>
                <a:gdLst/>
                <a:ahLst/>
                <a:cxnLst/>
                <a:rect r="r" b="b" t="t" l="l"/>
                <a:pathLst>
                  <a:path h="434162" w="4996915">
                    <a:moveTo>
                      <a:pt x="213298" y="0"/>
                    </a:moveTo>
                    <a:lnTo>
                      <a:pt x="4986817" y="0"/>
                    </a:lnTo>
                    <a:cubicBezTo>
                      <a:pt x="4990271" y="0"/>
                      <a:pt x="4993484" y="1765"/>
                      <a:pt x="4995338" y="4678"/>
                    </a:cubicBezTo>
                    <a:cubicBezTo>
                      <a:pt x="4997191" y="7592"/>
                      <a:pt x="4997427" y="11250"/>
                      <a:pt x="4995963" y="14378"/>
                    </a:cubicBezTo>
                    <a:lnTo>
                      <a:pt x="4806221" y="419784"/>
                    </a:lnTo>
                    <a:cubicBezTo>
                      <a:pt x="4802115" y="428557"/>
                      <a:pt x="4793304" y="434162"/>
                      <a:pt x="4783617" y="434162"/>
                    </a:cubicBezTo>
                    <a:lnTo>
                      <a:pt x="10098" y="434162"/>
                    </a:lnTo>
                    <a:cubicBezTo>
                      <a:pt x="6644" y="434162"/>
                      <a:pt x="3431" y="432397"/>
                      <a:pt x="1578" y="429484"/>
                    </a:cubicBezTo>
                    <a:cubicBezTo>
                      <a:pt x="-276" y="426570"/>
                      <a:pt x="-512" y="422912"/>
                      <a:pt x="952" y="419784"/>
                    </a:cubicBezTo>
                    <a:lnTo>
                      <a:pt x="190694" y="14378"/>
                    </a:lnTo>
                    <a:cubicBezTo>
                      <a:pt x="194800" y="5605"/>
                      <a:pt x="203611" y="0"/>
                      <a:pt x="213298" y="0"/>
                    </a:cubicBezTo>
                    <a:close/>
                  </a:path>
                </a:pathLst>
              </a:custGeom>
              <a:solidFill>
                <a:srgbClr val="EDF6F9"/>
              </a:solidFill>
            </p:spPr>
          </p:sp>
          <p:sp>
            <p:nvSpPr>
              <p:cNvPr name="TextBox 17" id="17"/>
              <p:cNvSpPr txBox="true"/>
              <p:nvPr/>
            </p:nvSpPr>
            <p:spPr>
              <a:xfrm>
                <a:off x="101600" y="-38100"/>
                <a:ext cx="4805269" cy="472262"/>
              </a:xfrm>
              <a:prstGeom prst="rect">
                <a:avLst/>
              </a:prstGeom>
            </p:spPr>
            <p:txBody>
              <a:bodyPr anchor="ctr" rtlCol="false" tIns="50800" lIns="50800" bIns="50800" rIns="50800"/>
              <a:lstStyle/>
              <a:p>
                <a:pPr algn="ctr">
                  <a:lnSpc>
                    <a:spcPts val="2659"/>
                  </a:lnSpc>
                </a:pPr>
              </a:p>
            </p:txBody>
          </p:sp>
        </p:grpSp>
      </p:grpSp>
      <p:sp>
        <p:nvSpPr>
          <p:cNvPr name="TextBox 18" id="18"/>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- 16</a:t>
            </a:r>
          </a:p>
        </p:txBody>
      </p:sp>
      <p:grpSp>
        <p:nvGrpSpPr>
          <p:cNvPr name="Group 19" id="19"/>
          <p:cNvGrpSpPr/>
          <p:nvPr/>
        </p:nvGrpSpPr>
        <p:grpSpPr>
          <a:xfrm rot="0">
            <a:off x="-3150242" y="9960324"/>
            <a:ext cx="9960587" cy="1142074"/>
            <a:chOff x="0" y="0"/>
            <a:chExt cx="2572779" cy="294993"/>
          </a:xfrm>
        </p:grpSpPr>
        <p:sp>
          <p:nvSpPr>
            <p:cNvPr name="Freeform 20" id="2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1" id="2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14338615" y="-784283"/>
            <a:ext cx="12457569" cy="1142074"/>
            <a:chOff x="0" y="0"/>
            <a:chExt cx="3217739" cy="294993"/>
          </a:xfrm>
        </p:grpSpPr>
        <p:sp>
          <p:nvSpPr>
            <p:cNvPr name="Freeform 23" id="23"/>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24" id="24"/>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1028700" y="793061"/>
            <a:ext cx="4463067" cy="235560"/>
            <a:chOff x="0" y="0"/>
            <a:chExt cx="5950756" cy="314080"/>
          </a:xfrm>
        </p:grpSpPr>
        <p:sp>
          <p:nvSpPr>
            <p:cNvPr name="Freeform 26" id="26"/>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7" id="27"/>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grpSp>
        <p:nvGrpSpPr>
          <p:cNvPr name="Group 28" id="28"/>
          <p:cNvGrpSpPr/>
          <p:nvPr/>
        </p:nvGrpSpPr>
        <p:grpSpPr>
          <a:xfrm rot="0">
            <a:off x="852972" y="2567595"/>
            <a:ext cx="8115300" cy="3914585"/>
            <a:chOff x="0" y="0"/>
            <a:chExt cx="10820400" cy="5219447"/>
          </a:xfrm>
        </p:grpSpPr>
        <p:grpSp>
          <p:nvGrpSpPr>
            <p:cNvPr name="Group 29" id="29"/>
            <p:cNvGrpSpPr/>
            <p:nvPr/>
          </p:nvGrpSpPr>
          <p:grpSpPr>
            <a:xfrm rot="0">
              <a:off x="210242" y="382477"/>
              <a:ext cx="10238395" cy="4454492"/>
              <a:chOff x="0" y="0"/>
              <a:chExt cx="1842533" cy="801644"/>
            </a:xfrm>
          </p:grpSpPr>
          <p:sp>
            <p:nvSpPr>
              <p:cNvPr name="Freeform 30" id="30"/>
              <p:cNvSpPr/>
              <p:nvPr/>
            </p:nvSpPr>
            <p:spPr>
              <a:xfrm flipH="false" flipV="false" rot="0">
                <a:off x="0" y="0"/>
                <a:ext cx="1842532" cy="801644"/>
              </a:xfrm>
              <a:custGeom>
                <a:avLst/>
                <a:gdLst/>
                <a:ahLst/>
                <a:cxnLst/>
                <a:rect r="r" b="b" t="t" l="l"/>
                <a:pathLst>
                  <a:path h="801644" w="1842532">
                    <a:moveTo>
                      <a:pt x="0" y="0"/>
                    </a:moveTo>
                    <a:lnTo>
                      <a:pt x="1842532" y="0"/>
                    </a:lnTo>
                    <a:lnTo>
                      <a:pt x="1842532" y="801644"/>
                    </a:lnTo>
                    <a:lnTo>
                      <a:pt x="0" y="801644"/>
                    </a:lnTo>
                    <a:close/>
                  </a:path>
                </a:pathLst>
              </a:custGeom>
              <a:solidFill>
                <a:srgbClr val="0B1E36"/>
              </a:solidFill>
              <a:ln cap="sq">
                <a:noFill/>
                <a:prstDash val="solid"/>
                <a:miter/>
              </a:ln>
            </p:spPr>
          </p:sp>
          <p:sp>
            <p:nvSpPr>
              <p:cNvPr name="TextBox 31" id="31"/>
              <p:cNvSpPr txBox="true"/>
              <p:nvPr/>
            </p:nvSpPr>
            <p:spPr>
              <a:xfrm>
                <a:off x="0" y="-38100"/>
                <a:ext cx="1842533" cy="839744"/>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0">
              <a:off x="0" y="0"/>
              <a:ext cx="8824476" cy="764955"/>
              <a:chOff x="0" y="0"/>
              <a:chExt cx="5008469" cy="434162"/>
            </a:xfrm>
          </p:grpSpPr>
          <p:sp>
            <p:nvSpPr>
              <p:cNvPr name="Freeform 33" id="33"/>
              <p:cNvSpPr/>
              <p:nvPr/>
            </p:nvSpPr>
            <p:spPr>
              <a:xfrm flipH="false" flipV="false" rot="0">
                <a:off x="0" y="0"/>
                <a:ext cx="5008469" cy="434162"/>
              </a:xfrm>
              <a:custGeom>
                <a:avLst/>
                <a:gdLst/>
                <a:ahLst/>
                <a:cxnLst/>
                <a:rect r="r" b="b" t="t" l="l"/>
                <a:pathLst>
                  <a:path h="434162" w="5008469">
                    <a:moveTo>
                      <a:pt x="203200" y="0"/>
                    </a:moveTo>
                    <a:lnTo>
                      <a:pt x="5008469" y="0"/>
                    </a:lnTo>
                    <a:lnTo>
                      <a:pt x="4805269" y="434162"/>
                    </a:lnTo>
                    <a:lnTo>
                      <a:pt x="0" y="434162"/>
                    </a:lnTo>
                    <a:lnTo>
                      <a:pt x="203200" y="0"/>
                    </a:lnTo>
                    <a:close/>
                  </a:path>
                </a:pathLst>
              </a:custGeom>
              <a:solidFill>
                <a:srgbClr val="EDF6F9"/>
              </a:solidFill>
            </p:spPr>
          </p:sp>
          <p:sp>
            <p:nvSpPr>
              <p:cNvPr name="TextBox 34" id="34"/>
              <p:cNvSpPr txBox="true"/>
              <p:nvPr/>
            </p:nvSpPr>
            <p:spPr>
              <a:xfrm>
                <a:off x="101600" y="-38100"/>
                <a:ext cx="4805269" cy="472262"/>
              </a:xfrm>
              <a:prstGeom prst="rect">
                <a:avLst/>
              </a:prstGeom>
            </p:spPr>
            <p:txBody>
              <a:bodyPr anchor="ctr" rtlCol="false" tIns="50800" lIns="50800" bIns="50800" rIns="50800"/>
              <a:lstStyle/>
              <a:p>
                <a:pPr algn="ctr">
                  <a:lnSpc>
                    <a:spcPts val="2659"/>
                  </a:lnSpc>
                </a:pPr>
              </a:p>
            </p:txBody>
          </p:sp>
        </p:grpSp>
        <p:grpSp>
          <p:nvGrpSpPr>
            <p:cNvPr name="Group 35" id="35"/>
            <p:cNvGrpSpPr/>
            <p:nvPr/>
          </p:nvGrpSpPr>
          <p:grpSpPr>
            <a:xfrm rot="0">
              <a:off x="1995924" y="4454492"/>
              <a:ext cx="8824476" cy="764955"/>
              <a:chOff x="0" y="0"/>
              <a:chExt cx="5008469" cy="434162"/>
            </a:xfrm>
          </p:grpSpPr>
          <p:sp>
            <p:nvSpPr>
              <p:cNvPr name="Freeform 36" id="36"/>
              <p:cNvSpPr/>
              <p:nvPr/>
            </p:nvSpPr>
            <p:spPr>
              <a:xfrm flipH="false" flipV="false" rot="0">
                <a:off x="0" y="0"/>
                <a:ext cx="5008469" cy="434162"/>
              </a:xfrm>
              <a:custGeom>
                <a:avLst/>
                <a:gdLst/>
                <a:ahLst/>
                <a:cxnLst/>
                <a:rect r="r" b="b" t="t" l="l"/>
                <a:pathLst>
                  <a:path h="434162" w="5008469">
                    <a:moveTo>
                      <a:pt x="203200" y="0"/>
                    </a:moveTo>
                    <a:lnTo>
                      <a:pt x="5008469" y="0"/>
                    </a:lnTo>
                    <a:lnTo>
                      <a:pt x="4805269" y="434162"/>
                    </a:lnTo>
                    <a:lnTo>
                      <a:pt x="0" y="434162"/>
                    </a:lnTo>
                    <a:lnTo>
                      <a:pt x="203200" y="0"/>
                    </a:lnTo>
                    <a:close/>
                  </a:path>
                </a:pathLst>
              </a:custGeom>
              <a:solidFill>
                <a:srgbClr val="EDF6F9"/>
              </a:solidFill>
            </p:spPr>
          </p:sp>
          <p:sp>
            <p:nvSpPr>
              <p:cNvPr name="TextBox 37" id="37"/>
              <p:cNvSpPr txBox="true"/>
              <p:nvPr/>
            </p:nvSpPr>
            <p:spPr>
              <a:xfrm>
                <a:off x="101600" y="-38100"/>
                <a:ext cx="4805269" cy="472262"/>
              </a:xfrm>
              <a:prstGeom prst="rect">
                <a:avLst/>
              </a:prstGeom>
            </p:spPr>
            <p:txBody>
              <a:bodyPr anchor="ctr" rtlCol="false" tIns="50800" lIns="50800" bIns="50800" rIns="50800"/>
              <a:lstStyle/>
              <a:p>
                <a:pPr algn="ctr">
                  <a:lnSpc>
                    <a:spcPts val="2659"/>
                  </a:lnSpc>
                </a:pPr>
              </a:p>
            </p:txBody>
          </p:sp>
        </p:grpSp>
      </p:grpSp>
      <p:sp>
        <p:nvSpPr>
          <p:cNvPr name="TextBox 38" id="38"/>
          <p:cNvSpPr txBox="true"/>
          <p:nvPr/>
        </p:nvSpPr>
        <p:spPr>
          <a:xfrm rot="0">
            <a:off x="1028700" y="1324218"/>
            <a:ext cx="16513580" cy="1571625"/>
          </a:xfrm>
          <a:prstGeom prst="rect">
            <a:avLst/>
          </a:prstGeom>
        </p:spPr>
        <p:txBody>
          <a:bodyPr anchor="t" rtlCol="false" tIns="0" lIns="0" bIns="0" rIns="0">
            <a:spAutoFit/>
          </a:bodyPr>
          <a:lstStyle/>
          <a:p>
            <a:pPr algn="l">
              <a:lnSpc>
                <a:spcPts val="6000"/>
              </a:lnSpc>
            </a:pPr>
            <a:r>
              <a:rPr lang="en-US" sz="6000">
                <a:solidFill>
                  <a:srgbClr val="0B132B"/>
                </a:solidFill>
                <a:latin typeface="Rubik One"/>
                <a:ea typeface="Rubik One"/>
                <a:cs typeface="Rubik One"/>
                <a:sym typeface="Rubik One"/>
              </a:rPr>
              <a:t>FEATURE ENGINEERING: 83 LEAK-FREE FEATURES</a:t>
            </a:r>
          </a:p>
        </p:txBody>
      </p:sp>
      <p:grpSp>
        <p:nvGrpSpPr>
          <p:cNvPr name="Group 39" id="39"/>
          <p:cNvGrpSpPr/>
          <p:nvPr/>
        </p:nvGrpSpPr>
        <p:grpSpPr>
          <a:xfrm rot="0">
            <a:off x="9426980" y="6143815"/>
            <a:ext cx="8115300" cy="3914585"/>
            <a:chOff x="0" y="0"/>
            <a:chExt cx="10820400" cy="5219447"/>
          </a:xfrm>
        </p:grpSpPr>
        <p:grpSp>
          <p:nvGrpSpPr>
            <p:cNvPr name="Group 40" id="40"/>
            <p:cNvGrpSpPr/>
            <p:nvPr/>
          </p:nvGrpSpPr>
          <p:grpSpPr>
            <a:xfrm rot="0">
              <a:off x="210242" y="382477"/>
              <a:ext cx="10238395" cy="4454492"/>
              <a:chOff x="0" y="0"/>
              <a:chExt cx="1842533" cy="801644"/>
            </a:xfrm>
          </p:grpSpPr>
          <p:sp>
            <p:nvSpPr>
              <p:cNvPr name="Freeform 41" id="41"/>
              <p:cNvSpPr/>
              <p:nvPr/>
            </p:nvSpPr>
            <p:spPr>
              <a:xfrm flipH="false" flipV="false" rot="0">
                <a:off x="0" y="0"/>
                <a:ext cx="1842532" cy="801644"/>
              </a:xfrm>
              <a:custGeom>
                <a:avLst/>
                <a:gdLst/>
                <a:ahLst/>
                <a:cxnLst/>
                <a:rect r="r" b="b" t="t" l="l"/>
                <a:pathLst>
                  <a:path h="801644" w="1842532">
                    <a:moveTo>
                      <a:pt x="18243" y="0"/>
                    </a:moveTo>
                    <a:lnTo>
                      <a:pt x="1824289" y="0"/>
                    </a:lnTo>
                    <a:cubicBezTo>
                      <a:pt x="1829128" y="0"/>
                      <a:pt x="1833768" y="1922"/>
                      <a:pt x="1837189" y="5343"/>
                    </a:cubicBezTo>
                    <a:cubicBezTo>
                      <a:pt x="1840611" y="8764"/>
                      <a:pt x="1842532" y="13405"/>
                      <a:pt x="1842532" y="18243"/>
                    </a:cubicBezTo>
                    <a:lnTo>
                      <a:pt x="1842532" y="783401"/>
                    </a:lnTo>
                    <a:cubicBezTo>
                      <a:pt x="1842532" y="793476"/>
                      <a:pt x="1834365" y="801644"/>
                      <a:pt x="1824289" y="801644"/>
                    </a:cubicBezTo>
                    <a:lnTo>
                      <a:pt x="18243" y="801644"/>
                    </a:lnTo>
                    <a:cubicBezTo>
                      <a:pt x="13405" y="801644"/>
                      <a:pt x="8764" y="799722"/>
                      <a:pt x="5343" y="796301"/>
                    </a:cubicBezTo>
                    <a:cubicBezTo>
                      <a:pt x="1922" y="792879"/>
                      <a:pt x="0" y="788239"/>
                      <a:pt x="0" y="783401"/>
                    </a:cubicBezTo>
                    <a:lnTo>
                      <a:pt x="0" y="18243"/>
                    </a:lnTo>
                    <a:cubicBezTo>
                      <a:pt x="0" y="8168"/>
                      <a:pt x="8168" y="0"/>
                      <a:pt x="18243" y="0"/>
                    </a:cubicBezTo>
                    <a:close/>
                  </a:path>
                </a:pathLst>
              </a:custGeom>
              <a:solidFill>
                <a:srgbClr val="0B1E36"/>
              </a:solidFill>
              <a:ln cap="sq">
                <a:noFill/>
                <a:prstDash val="solid"/>
                <a:miter/>
              </a:ln>
            </p:spPr>
          </p:sp>
          <p:sp>
            <p:nvSpPr>
              <p:cNvPr name="TextBox 42" id="42"/>
              <p:cNvSpPr txBox="true"/>
              <p:nvPr/>
            </p:nvSpPr>
            <p:spPr>
              <a:xfrm>
                <a:off x="0" y="-38100"/>
                <a:ext cx="1842533" cy="839744"/>
              </a:xfrm>
              <a:prstGeom prst="rect">
                <a:avLst/>
              </a:prstGeom>
            </p:spPr>
            <p:txBody>
              <a:bodyPr anchor="ctr" rtlCol="false" tIns="50800" lIns="50800" bIns="50800" rIns="50800"/>
              <a:lstStyle/>
              <a:p>
                <a:pPr algn="ctr">
                  <a:lnSpc>
                    <a:spcPts val="2659"/>
                  </a:lnSpc>
                  <a:spcBef>
                    <a:spcPct val="0"/>
                  </a:spcBef>
                </a:pPr>
              </a:p>
            </p:txBody>
          </p:sp>
        </p:grpSp>
        <p:grpSp>
          <p:nvGrpSpPr>
            <p:cNvPr name="Group 43" id="43"/>
            <p:cNvGrpSpPr/>
            <p:nvPr/>
          </p:nvGrpSpPr>
          <p:grpSpPr>
            <a:xfrm rot="0">
              <a:off x="0" y="0"/>
              <a:ext cx="8824476" cy="764955"/>
              <a:chOff x="0" y="0"/>
              <a:chExt cx="5008469" cy="434162"/>
            </a:xfrm>
          </p:grpSpPr>
          <p:sp>
            <p:nvSpPr>
              <p:cNvPr name="Freeform 44" id="44"/>
              <p:cNvSpPr/>
              <p:nvPr/>
            </p:nvSpPr>
            <p:spPr>
              <a:xfrm flipH="false" flipV="false" rot="0">
                <a:off x="5777" y="0"/>
                <a:ext cx="4996915" cy="434162"/>
              </a:xfrm>
              <a:custGeom>
                <a:avLst/>
                <a:gdLst/>
                <a:ahLst/>
                <a:cxnLst/>
                <a:rect r="r" b="b" t="t" l="l"/>
                <a:pathLst>
                  <a:path h="434162" w="4996915">
                    <a:moveTo>
                      <a:pt x="213298" y="0"/>
                    </a:moveTo>
                    <a:lnTo>
                      <a:pt x="4986817" y="0"/>
                    </a:lnTo>
                    <a:cubicBezTo>
                      <a:pt x="4990271" y="0"/>
                      <a:pt x="4993484" y="1765"/>
                      <a:pt x="4995338" y="4678"/>
                    </a:cubicBezTo>
                    <a:cubicBezTo>
                      <a:pt x="4997191" y="7592"/>
                      <a:pt x="4997427" y="11250"/>
                      <a:pt x="4995963" y="14378"/>
                    </a:cubicBezTo>
                    <a:lnTo>
                      <a:pt x="4806221" y="419784"/>
                    </a:lnTo>
                    <a:cubicBezTo>
                      <a:pt x="4802115" y="428557"/>
                      <a:pt x="4793304" y="434162"/>
                      <a:pt x="4783617" y="434162"/>
                    </a:cubicBezTo>
                    <a:lnTo>
                      <a:pt x="10098" y="434162"/>
                    </a:lnTo>
                    <a:cubicBezTo>
                      <a:pt x="6644" y="434162"/>
                      <a:pt x="3431" y="432397"/>
                      <a:pt x="1578" y="429484"/>
                    </a:cubicBezTo>
                    <a:cubicBezTo>
                      <a:pt x="-276" y="426570"/>
                      <a:pt x="-512" y="422912"/>
                      <a:pt x="952" y="419784"/>
                    </a:cubicBezTo>
                    <a:lnTo>
                      <a:pt x="190694" y="14378"/>
                    </a:lnTo>
                    <a:cubicBezTo>
                      <a:pt x="194800" y="5605"/>
                      <a:pt x="203611" y="0"/>
                      <a:pt x="213298" y="0"/>
                    </a:cubicBezTo>
                    <a:close/>
                  </a:path>
                </a:pathLst>
              </a:custGeom>
              <a:solidFill>
                <a:srgbClr val="EDF6F9"/>
              </a:solidFill>
            </p:spPr>
          </p:sp>
          <p:sp>
            <p:nvSpPr>
              <p:cNvPr name="TextBox 45" id="45"/>
              <p:cNvSpPr txBox="true"/>
              <p:nvPr/>
            </p:nvSpPr>
            <p:spPr>
              <a:xfrm>
                <a:off x="101600" y="-38100"/>
                <a:ext cx="4805269" cy="472262"/>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1995924" y="4454492"/>
              <a:ext cx="8824476" cy="764955"/>
              <a:chOff x="0" y="0"/>
              <a:chExt cx="5008469" cy="434162"/>
            </a:xfrm>
          </p:grpSpPr>
          <p:sp>
            <p:nvSpPr>
              <p:cNvPr name="Freeform 47" id="47"/>
              <p:cNvSpPr/>
              <p:nvPr/>
            </p:nvSpPr>
            <p:spPr>
              <a:xfrm flipH="false" flipV="false" rot="0">
                <a:off x="5777" y="0"/>
                <a:ext cx="4996915" cy="434162"/>
              </a:xfrm>
              <a:custGeom>
                <a:avLst/>
                <a:gdLst/>
                <a:ahLst/>
                <a:cxnLst/>
                <a:rect r="r" b="b" t="t" l="l"/>
                <a:pathLst>
                  <a:path h="434162" w="4996915">
                    <a:moveTo>
                      <a:pt x="213298" y="0"/>
                    </a:moveTo>
                    <a:lnTo>
                      <a:pt x="4986817" y="0"/>
                    </a:lnTo>
                    <a:cubicBezTo>
                      <a:pt x="4990271" y="0"/>
                      <a:pt x="4993484" y="1765"/>
                      <a:pt x="4995338" y="4678"/>
                    </a:cubicBezTo>
                    <a:cubicBezTo>
                      <a:pt x="4997191" y="7592"/>
                      <a:pt x="4997427" y="11250"/>
                      <a:pt x="4995963" y="14378"/>
                    </a:cubicBezTo>
                    <a:lnTo>
                      <a:pt x="4806221" y="419784"/>
                    </a:lnTo>
                    <a:cubicBezTo>
                      <a:pt x="4802115" y="428557"/>
                      <a:pt x="4793304" y="434162"/>
                      <a:pt x="4783617" y="434162"/>
                    </a:cubicBezTo>
                    <a:lnTo>
                      <a:pt x="10098" y="434162"/>
                    </a:lnTo>
                    <a:cubicBezTo>
                      <a:pt x="6644" y="434162"/>
                      <a:pt x="3431" y="432397"/>
                      <a:pt x="1578" y="429484"/>
                    </a:cubicBezTo>
                    <a:cubicBezTo>
                      <a:pt x="-276" y="426570"/>
                      <a:pt x="-512" y="422912"/>
                      <a:pt x="952" y="419784"/>
                    </a:cubicBezTo>
                    <a:lnTo>
                      <a:pt x="190694" y="14378"/>
                    </a:lnTo>
                    <a:cubicBezTo>
                      <a:pt x="194800" y="5605"/>
                      <a:pt x="203611" y="0"/>
                      <a:pt x="213298" y="0"/>
                    </a:cubicBezTo>
                    <a:close/>
                  </a:path>
                </a:pathLst>
              </a:custGeom>
              <a:solidFill>
                <a:srgbClr val="EDF6F9"/>
              </a:solidFill>
            </p:spPr>
          </p:sp>
          <p:sp>
            <p:nvSpPr>
              <p:cNvPr name="TextBox 48" id="48"/>
              <p:cNvSpPr txBox="true"/>
              <p:nvPr/>
            </p:nvSpPr>
            <p:spPr>
              <a:xfrm>
                <a:off x="101600" y="-38100"/>
                <a:ext cx="4805269" cy="472262"/>
              </a:xfrm>
              <a:prstGeom prst="rect">
                <a:avLst/>
              </a:prstGeom>
            </p:spPr>
            <p:txBody>
              <a:bodyPr anchor="ctr" rtlCol="false" tIns="50800" lIns="50800" bIns="50800" rIns="50800"/>
              <a:lstStyle/>
              <a:p>
                <a:pPr algn="ctr">
                  <a:lnSpc>
                    <a:spcPts val="2659"/>
                  </a:lnSpc>
                </a:pPr>
              </a:p>
            </p:txBody>
          </p:sp>
        </p:grpSp>
      </p:grpSp>
      <p:sp>
        <p:nvSpPr>
          <p:cNvPr name="Freeform 49" id="49"/>
          <p:cNvSpPr/>
          <p:nvPr/>
        </p:nvSpPr>
        <p:spPr>
          <a:xfrm flipH="false" flipV="false" rot="0">
            <a:off x="9729340" y="7276760"/>
            <a:ext cx="1042978" cy="1191975"/>
          </a:xfrm>
          <a:custGeom>
            <a:avLst/>
            <a:gdLst/>
            <a:ahLst/>
            <a:cxnLst/>
            <a:rect r="r" b="b" t="t" l="l"/>
            <a:pathLst>
              <a:path h="1191975" w="1042978">
                <a:moveTo>
                  <a:pt x="0" y="0"/>
                </a:moveTo>
                <a:lnTo>
                  <a:pt x="1042978" y="0"/>
                </a:lnTo>
                <a:lnTo>
                  <a:pt x="1042978" y="1191974"/>
                </a:lnTo>
                <a:lnTo>
                  <a:pt x="0" y="1191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0" id="50"/>
          <p:cNvGrpSpPr/>
          <p:nvPr/>
        </p:nvGrpSpPr>
        <p:grpSpPr>
          <a:xfrm rot="0">
            <a:off x="9267631" y="2567595"/>
            <a:ext cx="8115300" cy="3914585"/>
            <a:chOff x="0" y="0"/>
            <a:chExt cx="10820400" cy="5219447"/>
          </a:xfrm>
        </p:grpSpPr>
        <p:grpSp>
          <p:nvGrpSpPr>
            <p:cNvPr name="Group 51" id="51"/>
            <p:cNvGrpSpPr/>
            <p:nvPr/>
          </p:nvGrpSpPr>
          <p:grpSpPr>
            <a:xfrm rot="0">
              <a:off x="210242" y="382477"/>
              <a:ext cx="10238395" cy="4454492"/>
              <a:chOff x="0" y="0"/>
              <a:chExt cx="1842533" cy="801644"/>
            </a:xfrm>
          </p:grpSpPr>
          <p:sp>
            <p:nvSpPr>
              <p:cNvPr name="Freeform 52" id="52"/>
              <p:cNvSpPr/>
              <p:nvPr/>
            </p:nvSpPr>
            <p:spPr>
              <a:xfrm flipH="false" flipV="false" rot="0">
                <a:off x="0" y="0"/>
                <a:ext cx="1842532" cy="801644"/>
              </a:xfrm>
              <a:custGeom>
                <a:avLst/>
                <a:gdLst/>
                <a:ahLst/>
                <a:cxnLst/>
                <a:rect r="r" b="b" t="t" l="l"/>
                <a:pathLst>
                  <a:path h="801644" w="1842532">
                    <a:moveTo>
                      <a:pt x="18243" y="0"/>
                    </a:moveTo>
                    <a:lnTo>
                      <a:pt x="1824289" y="0"/>
                    </a:lnTo>
                    <a:cubicBezTo>
                      <a:pt x="1829128" y="0"/>
                      <a:pt x="1833768" y="1922"/>
                      <a:pt x="1837189" y="5343"/>
                    </a:cubicBezTo>
                    <a:cubicBezTo>
                      <a:pt x="1840611" y="8764"/>
                      <a:pt x="1842532" y="13405"/>
                      <a:pt x="1842532" y="18243"/>
                    </a:cubicBezTo>
                    <a:lnTo>
                      <a:pt x="1842532" y="783401"/>
                    </a:lnTo>
                    <a:cubicBezTo>
                      <a:pt x="1842532" y="793476"/>
                      <a:pt x="1834365" y="801644"/>
                      <a:pt x="1824289" y="801644"/>
                    </a:cubicBezTo>
                    <a:lnTo>
                      <a:pt x="18243" y="801644"/>
                    </a:lnTo>
                    <a:cubicBezTo>
                      <a:pt x="13405" y="801644"/>
                      <a:pt x="8764" y="799722"/>
                      <a:pt x="5343" y="796301"/>
                    </a:cubicBezTo>
                    <a:cubicBezTo>
                      <a:pt x="1922" y="792879"/>
                      <a:pt x="0" y="788239"/>
                      <a:pt x="0" y="783401"/>
                    </a:cubicBezTo>
                    <a:lnTo>
                      <a:pt x="0" y="18243"/>
                    </a:lnTo>
                    <a:cubicBezTo>
                      <a:pt x="0" y="8168"/>
                      <a:pt x="8168" y="0"/>
                      <a:pt x="18243" y="0"/>
                    </a:cubicBezTo>
                    <a:close/>
                  </a:path>
                </a:pathLst>
              </a:custGeom>
              <a:solidFill>
                <a:srgbClr val="0B1E36"/>
              </a:solidFill>
              <a:ln cap="sq">
                <a:noFill/>
                <a:prstDash val="solid"/>
                <a:miter/>
              </a:ln>
            </p:spPr>
          </p:sp>
          <p:sp>
            <p:nvSpPr>
              <p:cNvPr name="TextBox 53" id="53"/>
              <p:cNvSpPr txBox="true"/>
              <p:nvPr/>
            </p:nvSpPr>
            <p:spPr>
              <a:xfrm>
                <a:off x="0" y="-38100"/>
                <a:ext cx="1842533" cy="839744"/>
              </a:xfrm>
              <a:prstGeom prst="rect">
                <a:avLst/>
              </a:prstGeom>
            </p:spPr>
            <p:txBody>
              <a:bodyPr anchor="ctr" rtlCol="false" tIns="50800" lIns="50800" bIns="50800" rIns="50800"/>
              <a:lstStyle/>
              <a:p>
                <a:pPr algn="ctr">
                  <a:lnSpc>
                    <a:spcPts val="2659"/>
                  </a:lnSpc>
                  <a:spcBef>
                    <a:spcPct val="0"/>
                  </a:spcBef>
                </a:pPr>
              </a:p>
            </p:txBody>
          </p:sp>
        </p:grpSp>
        <p:grpSp>
          <p:nvGrpSpPr>
            <p:cNvPr name="Group 54" id="54"/>
            <p:cNvGrpSpPr/>
            <p:nvPr/>
          </p:nvGrpSpPr>
          <p:grpSpPr>
            <a:xfrm rot="0">
              <a:off x="0" y="0"/>
              <a:ext cx="8824476" cy="764955"/>
              <a:chOff x="0" y="0"/>
              <a:chExt cx="5008469" cy="434162"/>
            </a:xfrm>
          </p:grpSpPr>
          <p:sp>
            <p:nvSpPr>
              <p:cNvPr name="Freeform 55" id="55"/>
              <p:cNvSpPr/>
              <p:nvPr/>
            </p:nvSpPr>
            <p:spPr>
              <a:xfrm flipH="false" flipV="false" rot="0">
                <a:off x="5777" y="0"/>
                <a:ext cx="4996915" cy="434162"/>
              </a:xfrm>
              <a:custGeom>
                <a:avLst/>
                <a:gdLst/>
                <a:ahLst/>
                <a:cxnLst/>
                <a:rect r="r" b="b" t="t" l="l"/>
                <a:pathLst>
                  <a:path h="434162" w="4996915">
                    <a:moveTo>
                      <a:pt x="213298" y="0"/>
                    </a:moveTo>
                    <a:lnTo>
                      <a:pt x="4986817" y="0"/>
                    </a:lnTo>
                    <a:cubicBezTo>
                      <a:pt x="4990271" y="0"/>
                      <a:pt x="4993484" y="1765"/>
                      <a:pt x="4995338" y="4678"/>
                    </a:cubicBezTo>
                    <a:cubicBezTo>
                      <a:pt x="4997191" y="7592"/>
                      <a:pt x="4997427" y="11250"/>
                      <a:pt x="4995963" y="14378"/>
                    </a:cubicBezTo>
                    <a:lnTo>
                      <a:pt x="4806221" y="419784"/>
                    </a:lnTo>
                    <a:cubicBezTo>
                      <a:pt x="4802115" y="428557"/>
                      <a:pt x="4793304" y="434162"/>
                      <a:pt x="4783617" y="434162"/>
                    </a:cubicBezTo>
                    <a:lnTo>
                      <a:pt x="10098" y="434162"/>
                    </a:lnTo>
                    <a:cubicBezTo>
                      <a:pt x="6644" y="434162"/>
                      <a:pt x="3431" y="432397"/>
                      <a:pt x="1578" y="429484"/>
                    </a:cubicBezTo>
                    <a:cubicBezTo>
                      <a:pt x="-276" y="426570"/>
                      <a:pt x="-512" y="422912"/>
                      <a:pt x="952" y="419784"/>
                    </a:cubicBezTo>
                    <a:lnTo>
                      <a:pt x="190694" y="14378"/>
                    </a:lnTo>
                    <a:cubicBezTo>
                      <a:pt x="194800" y="5605"/>
                      <a:pt x="203611" y="0"/>
                      <a:pt x="213298" y="0"/>
                    </a:cubicBezTo>
                    <a:close/>
                  </a:path>
                </a:pathLst>
              </a:custGeom>
              <a:solidFill>
                <a:srgbClr val="EDF6F9"/>
              </a:solidFill>
            </p:spPr>
          </p:sp>
          <p:sp>
            <p:nvSpPr>
              <p:cNvPr name="TextBox 56" id="56"/>
              <p:cNvSpPr txBox="true"/>
              <p:nvPr/>
            </p:nvSpPr>
            <p:spPr>
              <a:xfrm>
                <a:off x="101600" y="-38100"/>
                <a:ext cx="4805269" cy="472262"/>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1995924" y="4454492"/>
              <a:ext cx="8824476" cy="764955"/>
              <a:chOff x="0" y="0"/>
              <a:chExt cx="5008469" cy="434162"/>
            </a:xfrm>
          </p:grpSpPr>
          <p:sp>
            <p:nvSpPr>
              <p:cNvPr name="Freeform 58" id="58"/>
              <p:cNvSpPr/>
              <p:nvPr/>
            </p:nvSpPr>
            <p:spPr>
              <a:xfrm flipH="false" flipV="false" rot="0">
                <a:off x="5777" y="0"/>
                <a:ext cx="4996915" cy="434162"/>
              </a:xfrm>
              <a:custGeom>
                <a:avLst/>
                <a:gdLst/>
                <a:ahLst/>
                <a:cxnLst/>
                <a:rect r="r" b="b" t="t" l="l"/>
                <a:pathLst>
                  <a:path h="434162" w="4996915">
                    <a:moveTo>
                      <a:pt x="213298" y="0"/>
                    </a:moveTo>
                    <a:lnTo>
                      <a:pt x="4986817" y="0"/>
                    </a:lnTo>
                    <a:cubicBezTo>
                      <a:pt x="4990271" y="0"/>
                      <a:pt x="4993484" y="1765"/>
                      <a:pt x="4995338" y="4678"/>
                    </a:cubicBezTo>
                    <a:cubicBezTo>
                      <a:pt x="4997191" y="7592"/>
                      <a:pt x="4997427" y="11250"/>
                      <a:pt x="4995963" y="14378"/>
                    </a:cubicBezTo>
                    <a:lnTo>
                      <a:pt x="4806221" y="419784"/>
                    </a:lnTo>
                    <a:cubicBezTo>
                      <a:pt x="4802115" y="428557"/>
                      <a:pt x="4793304" y="434162"/>
                      <a:pt x="4783617" y="434162"/>
                    </a:cubicBezTo>
                    <a:lnTo>
                      <a:pt x="10098" y="434162"/>
                    </a:lnTo>
                    <a:cubicBezTo>
                      <a:pt x="6644" y="434162"/>
                      <a:pt x="3431" y="432397"/>
                      <a:pt x="1578" y="429484"/>
                    </a:cubicBezTo>
                    <a:cubicBezTo>
                      <a:pt x="-276" y="426570"/>
                      <a:pt x="-512" y="422912"/>
                      <a:pt x="952" y="419784"/>
                    </a:cubicBezTo>
                    <a:lnTo>
                      <a:pt x="190694" y="14378"/>
                    </a:lnTo>
                    <a:cubicBezTo>
                      <a:pt x="194800" y="5605"/>
                      <a:pt x="203611" y="0"/>
                      <a:pt x="213298" y="0"/>
                    </a:cubicBezTo>
                    <a:close/>
                  </a:path>
                </a:pathLst>
              </a:custGeom>
              <a:solidFill>
                <a:srgbClr val="EDF6F9"/>
              </a:solidFill>
            </p:spPr>
          </p:sp>
          <p:sp>
            <p:nvSpPr>
              <p:cNvPr name="TextBox 59" id="59"/>
              <p:cNvSpPr txBox="true"/>
              <p:nvPr/>
            </p:nvSpPr>
            <p:spPr>
              <a:xfrm>
                <a:off x="101600" y="-38100"/>
                <a:ext cx="4805269" cy="472262"/>
              </a:xfrm>
              <a:prstGeom prst="rect">
                <a:avLst/>
              </a:prstGeom>
            </p:spPr>
            <p:txBody>
              <a:bodyPr anchor="ctr" rtlCol="false" tIns="50800" lIns="50800" bIns="50800" rIns="50800"/>
              <a:lstStyle/>
              <a:p>
                <a:pPr algn="ctr">
                  <a:lnSpc>
                    <a:spcPts val="2659"/>
                  </a:lnSpc>
                </a:pPr>
              </a:p>
            </p:txBody>
          </p:sp>
        </p:grpSp>
      </p:grpSp>
      <p:grpSp>
        <p:nvGrpSpPr>
          <p:cNvPr name="Group 60" id="60"/>
          <p:cNvGrpSpPr/>
          <p:nvPr/>
        </p:nvGrpSpPr>
        <p:grpSpPr>
          <a:xfrm rot="0">
            <a:off x="13325281" y="2057643"/>
            <a:ext cx="3934019" cy="738552"/>
            <a:chOff x="0" y="0"/>
            <a:chExt cx="5245359" cy="984735"/>
          </a:xfrm>
        </p:grpSpPr>
        <p:grpSp>
          <p:nvGrpSpPr>
            <p:cNvPr name="Group 61" id="61"/>
            <p:cNvGrpSpPr/>
            <p:nvPr/>
          </p:nvGrpSpPr>
          <p:grpSpPr>
            <a:xfrm rot="0">
              <a:off x="20294" y="0"/>
              <a:ext cx="5225065" cy="984735"/>
              <a:chOff x="0" y="0"/>
              <a:chExt cx="1012210" cy="190765"/>
            </a:xfrm>
          </p:grpSpPr>
          <p:sp>
            <p:nvSpPr>
              <p:cNvPr name="Freeform 62" id="62"/>
              <p:cNvSpPr/>
              <p:nvPr/>
            </p:nvSpPr>
            <p:spPr>
              <a:xfrm flipH="false" flipV="false" rot="0">
                <a:off x="0" y="0"/>
                <a:ext cx="1012210" cy="190765"/>
              </a:xfrm>
              <a:custGeom>
                <a:avLst/>
                <a:gdLst/>
                <a:ahLst/>
                <a:cxnLst/>
                <a:rect r="r" b="b" t="t" l="l"/>
                <a:pathLst>
                  <a:path h="190765" w="1012210">
                    <a:moveTo>
                      <a:pt x="95382" y="0"/>
                    </a:moveTo>
                    <a:lnTo>
                      <a:pt x="916827" y="0"/>
                    </a:lnTo>
                    <a:cubicBezTo>
                      <a:pt x="942124" y="0"/>
                      <a:pt x="966385" y="10049"/>
                      <a:pt x="984273" y="27937"/>
                    </a:cubicBezTo>
                    <a:cubicBezTo>
                      <a:pt x="1002160" y="45825"/>
                      <a:pt x="1012210" y="70085"/>
                      <a:pt x="1012210" y="95382"/>
                    </a:cubicBezTo>
                    <a:lnTo>
                      <a:pt x="1012210" y="95382"/>
                    </a:lnTo>
                    <a:cubicBezTo>
                      <a:pt x="1012210" y="148061"/>
                      <a:pt x="969505" y="190765"/>
                      <a:pt x="916827" y="190765"/>
                    </a:cubicBezTo>
                    <a:lnTo>
                      <a:pt x="95382" y="190765"/>
                    </a:lnTo>
                    <a:cubicBezTo>
                      <a:pt x="42704" y="190765"/>
                      <a:pt x="0" y="148061"/>
                      <a:pt x="0" y="95382"/>
                    </a:cubicBezTo>
                    <a:lnTo>
                      <a:pt x="0" y="95382"/>
                    </a:lnTo>
                    <a:cubicBezTo>
                      <a:pt x="0" y="42704"/>
                      <a:pt x="42704" y="0"/>
                      <a:pt x="95382" y="0"/>
                    </a:cubicBezTo>
                    <a:close/>
                  </a:path>
                </a:pathLst>
              </a:custGeom>
              <a:solidFill>
                <a:srgbClr val="00B58F"/>
              </a:solidFill>
              <a:ln cap="rnd">
                <a:noFill/>
                <a:prstDash val="solid"/>
                <a:round/>
              </a:ln>
            </p:spPr>
          </p:sp>
          <p:sp>
            <p:nvSpPr>
              <p:cNvPr name="TextBox 63" id="63"/>
              <p:cNvSpPr txBox="true"/>
              <p:nvPr/>
            </p:nvSpPr>
            <p:spPr>
              <a:xfrm>
                <a:off x="0" y="-38100"/>
                <a:ext cx="1012210" cy="228865"/>
              </a:xfrm>
              <a:prstGeom prst="rect">
                <a:avLst/>
              </a:prstGeom>
            </p:spPr>
            <p:txBody>
              <a:bodyPr anchor="ctr" rtlCol="false" tIns="50800" lIns="50800" bIns="50800" rIns="50800"/>
              <a:lstStyle/>
              <a:p>
                <a:pPr algn="r">
                  <a:lnSpc>
                    <a:spcPts val="2659"/>
                  </a:lnSpc>
                  <a:spcBef>
                    <a:spcPct val="0"/>
                  </a:spcBef>
                </a:pPr>
              </a:p>
            </p:txBody>
          </p:sp>
        </p:grpSp>
        <p:sp>
          <p:nvSpPr>
            <p:cNvPr name="TextBox 64" id="64"/>
            <p:cNvSpPr txBox="true"/>
            <p:nvPr/>
          </p:nvSpPr>
          <p:spPr>
            <a:xfrm rot="0">
              <a:off x="0" y="322072"/>
              <a:ext cx="5245359" cy="446587"/>
            </a:xfrm>
            <a:prstGeom prst="rect">
              <a:avLst/>
            </a:prstGeom>
          </p:spPr>
          <p:txBody>
            <a:bodyPr anchor="t" rtlCol="false" tIns="0" lIns="0" bIns="0" rIns="0">
              <a:spAutoFit/>
            </a:bodyPr>
            <a:lstStyle/>
            <a:p>
              <a:pPr algn="ctr">
                <a:lnSpc>
                  <a:spcPts val="2499"/>
                </a:lnSpc>
              </a:pPr>
              <a:r>
                <a:rPr lang="en-US" sz="2499">
                  <a:solidFill>
                    <a:srgbClr val="FFFFFF"/>
                  </a:solidFill>
                  <a:latin typeface="Rubik One"/>
                  <a:ea typeface="Rubik One"/>
                  <a:cs typeface="Rubik One"/>
                  <a:sym typeface="Rubik One"/>
                </a:rPr>
                <a:t>4 DOMAIN SIGNALS</a:t>
              </a:r>
            </a:p>
          </p:txBody>
        </p:sp>
      </p:grpSp>
      <p:sp>
        <p:nvSpPr>
          <p:cNvPr name="Freeform 65" id="65"/>
          <p:cNvSpPr/>
          <p:nvPr/>
        </p:nvSpPr>
        <p:spPr>
          <a:xfrm flipH="false" flipV="false" rot="0">
            <a:off x="1323135" y="3439968"/>
            <a:ext cx="2113298" cy="2113298"/>
          </a:xfrm>
          <a:custGeom>
            <a:avLst/>
            <a:gdLst/>
            <a:ahLst/>
            <a:cxnLst/>
            <a:rect r="r" b="b" t="t" l="l"/>
            <a:pathLst>
              <a:path h="2113298" w="2113298">
                <a:moveTo>
                  <a:pt x="0" y="0"/>
                </a:moveTo>
                <a:lnTo>
                  <a:pt x="2113297" y="0"/>
                </a:lnTo>
                <a:lnTo>
                  <a:pt x="2113297" y="2113297"/>
                </a:lnTo>
                <a:lnTo>
                  <a:pt x="0" y="21132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6" id="66"/>
          <p:cNvSpPr/>
          <p:nvPr/>
        </p:nvSpPr>
        <p:spPr>
          <a:xfrm flipH="false" flipV="false" rot="0">
            <a:off x="1323135" y="7025105"/>
            <a:ext cx="1979162" cy="1979162"/>
          </a:xfrm>
          <a:custGeom>
            <a:avLst/>
            <a:gdLst/>
            <a:ahLst/>
            <a:cxnLst/>
            <a:rect r="r" b="b" t="t" l="l"/>
            <a:pathLst>
              <a:path h="1979162" w="1979162">
                <a:moveTo>
                  <a:pt x="0" y="0"/>
                </a:moveTo>
                <a:lnTo>
                  <a:pt x="1979162" y="0"/>
                </a:lnTo>
                <a:lnTo>
                  <a:pt x="1979162" y="1979162"/>
                </a:lnTo>
                <a:lnTo>
                  <a:pt x="0" y="19791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7" id="67"/>
          <p:cNvSpPr/>
          <p:nvPr/>
        </p:nvSpPr>
        <p:spPr>
          <a:xfrm flipH="false" flipV="false" rot="0">
            <a:off x="9857273" y="3439968"/>
            <a:ext cx="1485464" cy="2077572"/>
          </a:xfrm>
          <a:custGeom>
            <a:avLst/>
            <a:gdLst/>
            <a:ahLst/>
            <a:cxnLst/>
            <a:rect r="r" b="b" t="t" l="l"/>
            <a:pathLst>
              <a:path h="2077572" w="1485464">
                <a:moveTo>
                  <a:pt x="0" y="0"/>
                </a:moveTo>
                <a:lnTo>
                  <a:pt x="1485464" y="0"/>
                </a:lnTo>
                <a:lnTo>
                  <a:pt x="1485464" y="2077572"/>
                </a:lnTo>
                <a:lnTo>
                  <a:pt x="0" y="20775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8" id="68"/>
          <p:cNvSpPr/>
          <p:nvPr/>
        </p:nvSpPr>
        <p:spPr>
          <a:xfrm flipH="false" flipV="false" rot="0">
            <a:off x="10947619" y="7716374"/>
            <a:ext cx="695462" cy="1287893"/>
          </a:xfrm>
          <a:custGeom>
            <a:avLst/>
            <a:gdLst/>
            <a:ahLst/>
            <a:cxnLst/>
            <a:rect r="r" b="b" t="t" l="l"/>
            <a:pathLst>
              <a:path h="1287893" w="695462">
                <a:moveTo>
                  <a:pt x="0" y="0"/>
                </a:moveTo>
                <a:lnTo>
                  <a:pt x="695462" y="0"/>
                </a:lnTo>
                <a:lnTo>
                  <a:pt x="695462" y="1287893"/>
                </a:lnTo>
                <a:lnTo>
                  <a:pt x="0" y="128789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69" id="69"/>
          <p:cNvSpPr/>
          <p:nvPr/>
        </p:nvSpPr>
        <p:spPr>
          <a:xfrm flipH="true" flipV="false" rot="-9518818">
            <a:off x="10227958" y="7102564"/>
            <a:ext cx="1088721" cy="348391"/>
          </a:xfrm>
          <a:custGeom>
            <a:avLst/>
            <a:gdLst/>
            <a:ahLst/>
            <a:cxnLst/>
            <a:rect r="r" b="b" t="t" l="l"/>
            <a:pathLst>
              <a:path h="348391" w="1088721">
                <a:moveTo>
                  <a:pt x="1088720" y="0"/>
                </a:moveTo>
                <a:lnTo>
                  <a:pt x="0" y="0"/>
                </a:lnTo>
                <a:lnTo>
                  <a:pt x="0" y="348391"/>
                </a:lnTo>
                <a:lnTo>
                  <a:pt x="1088720" y="348391"/>
                </a:lnTo>
                <a:lnTo>
                  <a:pt x="108872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70" id="70"/>
          <p:cNvSpPr txBox="true"/>
          <p:nvPr/>
        </p:nvSpPr>
        <p:spPr>
          <a:xfrm rot="0">
            <a:off x="3436432" y="3234633"/>
            <a:ext cx="5044162" cy="2537350"/>
          </a:xfrm>
          <a:prstGeom prst="rect">
            <a:avLst/>
          </a:prstGeom>
        </p:spPr>
        <p:txBody>
          <a:bodyPr anchor="t" rtlCol="false" tIns="0" lIns="0" bIns="0" rIns="0">
            <a:spAutoFit/>
          </a:bodyPr>
          <a:lstStyle/>
          <a:p>
            <a:pPr algn="just">
              <a:lnSpc>
                <a:spcPts val="3195"/>
              </a:lnSpc>
            </a:pPr>
            <a:r>
              <a:rPr lang="en-US" b="true" sz="2282" spc="57">
                <a:solidFill>
                  <a:srgbClr val="FFFFFF"/>
                </a:solidFill>
                <a:latin typeface="Bricolage Grotesque Bold"/>
                <a:ea typeface="Bricolage Grotesque Bold"/>
                <a:cs typeface="Bricolage Grotesque Bold"/>
                <a:sym typeface="Bricolage Grotesque Bold"/>
              </a:rPr>
              <a:t>   TEMPORAL CYCLICAL (12 Feature)</a:t>
            </a:r>
          </a:p>
          <a:p>
            <a:pPr algn="just" marL="443494" indent="-221747" lvl="1">
              <a:lnSpc>
                <a:spcPts val="2875"/>
              </a:lnSpc>
              <a:buFont typeface="Arial"/>
              <a:buChar char="•"/>
            </a:pPr>
            <a:r>
              <a:rPr lang="en-US" sz="2054" spc="51">
                <a:solidFill>
                  <a:srgbClr val="FFFFFF"/>
                </a:solidFill>
                <a:latin typeface="Bricolage Grotesque"/>
                <a:ea typeface="Bricolage Grotesque"/>
                <a:cs typeface="Bricolage Grotesque"/>
                <a:sym typeface="Bricolage Grotesque"/>
              </a:rPr>
              <a:t>Sin-Cos Cycle: Jam (t/48) &amp; hari (t/7) kontinu melingkar (pukul 23:30 tersambung ke 00:00).</a:t>
            </a:r>
          </a:p>
          <a:p>
            <a:pPr algn="just" marL="443494" indent="-221747" lvl="1">
              <a:lnSpc>
                <a:spcPts val="2875"/>
              </a:lnSpc>
              <a:buFont typeface="Arial"/>
              <a:buChar char="•"/>
            </a:pPr>
            <a:r>
              <a:rPr lang="en-US" sz="2054" spc="51">
                <a:solidFill>
                  <a:srgbClr val="FFFFFF"/>
                </a:solidFill>
                <a:latin typeface="Bricolage Grotesque"/>
                <a:ea typeface="Bricolage Grotesque"/>
                <a:cs typeface="Bricolage Grotesque"/>
                <a:sym typeface="Bricolage Grotesque"/>
              </a:rPr>
              <a:t>Pola Kalender: Weekday, weekend, &amp; hari libur nasional untuk menangkap mobilitas komuter.</a:t>
            </a:r>
          </a:p>
        </p:txBody>
      </p:sp>
      <p:sp>
        <p:nvSpPr>
          <p:cNvPr name="TextBox 71" id="71"/>
          <p:cNvSpPr txBox="true"/>
          <p:nvPr/>
        </p:nvSpPr>
        <p:spPr>
          <a:xfrm rot="0">
            <a:off x="3643596" y="6767930"/>
            <a:ext cx="4629834" cy="2711727"/>
          </a:xfrm>
          <a:prstGeom prst="rect">
            <a:avLst/>
          </a:prstGeom>
        </p:spPr>
        <p:txBody>
          <a:bodyPr anchor="t" rtlCol="false" tIns="0" lIns="0" bIns="0" rIns="0">
            <a:spAutoFit/>
          </a:bodyPr>
          <a:lstStyle/>
          <a:p>
            <a:pPr algn="l">
              <a:lnSpc>
                <a:spcPts val="2870"/>
              </a:lnSpc>
            </a:pPr>
            <a:r>
              <a:rPr lang="en-US" sz="2050" spc="51" b="true">
                <a:solidFill>
                  <a:srgbClr val="FFFFFF"/>
                </a:solidFill>
                <a:latin typeface="Bricolage Grotesque Bold"/>
                <a:ea typeface="Bricolage Grotesque Bold"/>
                <a:cs typeface="Bricolage Grotesque Bold"/>
                <a:sym typeface="Bricolage Grotesque Bold"/>
              </a:rPr>
              <a:t>ROLLING WINDOW STATS (24  Feature)</a:t>
            </a:r>
          </a:p>
          <a:p>
            <a:pPr algn="just" marL="415404" indent="-207702" lvl="1">
              <a:lnSpc>
                <a:spcPts val="2693"/>
              </a:lnSpc>
              <a:buFont typeface="Arial"/>
              <a:buChar char="•"/>
            </a:pPr>
            <a:r>
              <a:rPr lang="en-US" sz="1924" spc="48">
                <a:solidFill>
                  <a:srgbClr val="FFFFFF"/>
                </a:solidFill>
                <a:latin typeface="Bricolage Grotesque"/>
                <a:ea typeface="Bricolage Grotesque"/>
                <a:cs typeface="Bricolage Grotesque"/>
                <a:sym typeface="Bricolage Grotesque"/>
              </a:rPr>
              <a:t>Statist</a:t>
            </a:r>
            <a:r>
              <a:rPr lang="en-US" sz="1924" spc="48">
                <a:solidFill>
                  <a:srgbClr val="FFFFFF"/>
                </a:solidFill>
                <a:latin typeface="Bricolage Grotesque"/>
                <a:ea typeface="Bricolage Grotesque"/>
                <a:cs typeface="Bricolage Grotesque"/>
                <a:sym typeface="Bricolage Grotesque"/>
              </a:rPr>
              <a:t>ik Multi-Skala: Mean, std, min, &amp; max pada jendela 1.5h, 3h, 6h, dan 24h.</a:t>
            </a:r>
          </a:p>
          <a:p>
            <a:pPr algn="just" marL="415404" indent="-207702" lvl="1">
              <a:lnSpc>
                <a:spcPts val="2693"/>
              </a:lnSpc>
              <a:buFont typeface="Arial"/>
              <a:buChar char="•"/>
            </a:pPr>
            <a:r>
              <a:rPr lang="en-US" sz="1924" spc="48">
                <a:solidFill>
                  <a:srgbClr val="FFFFFF"/>
                </a:solidFill>
                <a:latin typeface="Bricolage Grotesque"/>
                <a:ea typeface="Bricolage Grotesque"/>
                <a:cs typeface="Bricolage Grotesque"/>
                <a:sym typeface="Bricolage Grotesque"/>
              </a:rPr>
              <a:t>Deteksi Volatilitas: Mengukur laju akselerasi lonjakan sebelum stasiun mencapai titik jenuh.</a:t>
            </a:r>
          </a:p>
        </p:txBody>
      </p:sp>
      <p:sp>
        <p:nvSpPr>
          <p:cNvPr name="TextBox 72" id="72"/>
          <p:cNvSpPr txBox="true"/>
          <p:nvPr/>
        </p:nvSpPr>
        <p:spPr>
          <a:xfrm rot="0">
            <a:off x="11776431" y="3225108"/>
            <a:ext cx="5124368" cy="2195430"/>
          </a:xfrm>
          <a:prstGeom prst="rect">
            <a:avLst/>
          </a:prstGeom>
        </p:spPr>
        <p:txBody>
          <a:bodyPr anchor="t" rtlCol="false" tIns="0" lIns="0" bIns="0" rIns="0">
            <a:spAutoFit/>
          </a:bodyPr>
          <a:lstStyle/>
          <a:p>
            <a:pPr algn="just">
              <a:lnSpc>
                <a:spcPts val="3206"/>
              </a:lnSpc>
            </a:pPr>
            <a:r>
              <a:rPr lang="en-US" b="true" sz="2290" spc="57">
                <a:solidFill>
                  <a:srgbClr val="FFFFFF"/>
                </a:solidFill>
                <a:latin typeface="Bricolage Grotesque Bold"/>
                <a:ea typeface="Bricolage Grotesque Bold"/>
                <a:cs typeface="Bricolage Grotesque Bold"/>
                <a:sym typeface="Bricolage Grotesque Bold"/>
              </a:rPr>
              <a:t>   HISTORICAL LAGS (18 Feature)</a:t>
            </a:r>
          </a:p>
          <a:p>
            <a:pPr algn="just" marL="444994" indent="-222497" lvl="1">
              <a:lnSpc>
                <a:spcPts val="2885"/>
              </a:lnSpc>
              <a:buFont typeface="Arial"/>
              <a:buChar char="•"/>
            </a:pPr>
            <a:r>
              <a:rPr lang="en-US" sz="2061" spc="51">
                <a:solidFill>
                  <a:srgbClr val="FFFFFF"/>
                </a:solidFill>
                <a:latin typeface="Bricolage Grotesque"/>
                <a:ea typeface="Bricolage Grotesque"/>
                <a:cs typeface="Bricolage Grotesque"/>
                <a:sym typeface="Bricolage Grotesque"/>
              </a:rPr>
              <a:t>Iners</a:t>
            </a:r>
            <a:r>
              <a:rPr lang="en-US" sz="2061" spc="51">
                <a:solidFill>
                  <a:srgbClr val="FFFFFF"/>
                </a:solidFill>
                <a:latin typeface="Bricolage Grotesque"/>
                <a:ea typeface="Bricolage Grotesque"/>
                <a:cs typeface="Bricolage Grotesque"/>
                <a:sym typeface="Bricolage Grotesque"/>
              </a:rPr>
              <a:t>ia Cepat: Utilisasi masa lalu pada t-30m, t-1h, t-2h, dan t-4h.</a:t>
            </a:r>
          </a:p>
          <a:p>
            <a:pPr algn="just" marL="444994" indent="-222497" lvl="1">
              <a:lnSpc>
                <a:spcPts val="2885"/>
              </a:lnSpc>
              <a:buFont typeface="Arial"/>
              <a:buChar char="•"/>
            </a:pPr>
            <a:r>
              <a:rPr lang="en-US" sz="2061" spc="51">
                <a:solidFill>
                  <a:srgbClr val="FFFFFF"/>
                </a:solidFill>
                <a:latin typeface="Bricolage Grotesque"/>
                <a:ea typeface="Bricolage Grotesque"/>
                <a:cs typeface="Bricolage Grotesque"/>
                <a:sym typeface="Bricolage Grotesque"/>
              </a:rPr>
              <a:t>Siklus Musiman: Lag harian (t-24h) &amp; mingguan (t-168h) strictly past-only (t ≤ t₀).</a:t>
            </a:r>
          </a:p>
        </p:txBody>
      </p:sp>
      <p:sp>
        <p:nvSpPr>
          <p:cNvPr name="TextBox 73" id="73"/>
          <p:cNvSpPr txBox="true"/>
          <p:nvPr/>
        </p:nvSpPr>
        <p:spPr>
          <a:xfrm rot="0">
            <a:off x="11643081" y="6815555"/>
            <a:ext cx="5458145" cy="2358667"/>
          </a:xfrm>
          <a:prstGeom prst="rect">
            <a:avLst/>
          </a:prstGeom>
        </p:spPr>
        <p:txBody>
          <a:bodyPr anchor="t" rtlCol="false" tIns="0" lIns="0" bIns="0" rIns="0">
            <a:spAutoFit/>
          </a:bodyPr>
          <a:lstStyle/>
          <a:p>
            <a:pPr algn="just">
              <a:lnSpc>
                <a:spcPts val="2954"/>
              </a:lnSpc>
            </a:pPr>
            <a:r>
              <a:rPr lang="en-US" b="true" sz="2110" spc="52">
                <a:solidFill>
                  <a:srgbClr val="FFFFFF"/>
                </a:solidFill>
                <a:latin typeface="Bricolage Grotesque Bold"/>
                <a:ea typeface="Bricolage Grotesque Bold"/>
                <a:cs typeface="Bricolage Grotesque Bold"/>
                <a:sym typeface="Bricolage Grotesque Bold"/>
              </a:rPr>
              <a:t>   WEATHER &amp; COLD-GATING (29 Feature)</a:t>
            </a:r>
          </a:p>
          <a:p>
            <a:pPr algn="just" marL="410097" indent="-205048" lvl="1">
              <a:lnSpc>
                <a:spcPts val="2659"/>
              </a:lnSpc>
              <a:buFont typeface="Arial"/>
              <a:buChar char="•"/>
            </a:pPr>
            <a:r>
              <a:rPr lang="en-US" sz="1899" spc="47">
                <a:solidFill>
                  <a:srgbClr val="FFFFFF"/>
                </a:solidFill>
                <a:latin typeface="Bricolage Grotesque"/>
                <a:ea typeface="Bricolage Grotesque"/>
                <a:cs typeface="Bricolage Grotesque"/>
                <a:sym typeface="Bricolage Grotesque"/>
              </a:rPr>
              <a:t>Cold-Gating Pe</a:t>
            </a:r>
            <a:r>
              <a:rPr lang="en-US" sz="1899" spc="47">
                <a:solidFill>
                  <a:srgbClr val="FFFFFF"/>
                </a:solidFill>
                <a:latin typeface="Bricolage Grotesque"/>
                <a:ea typeface="Bricolage Grotesque"/>
                <a:cs typeface="Bricolage Grotesque"/>
                <a:sym typeface="Bricolage Grotesque"/>
              </a:rPr>
              <a:t>nalty: Suhu beku &lt; 32°F (penerimaan daya baterai melambat drastis).</a:t>
            </a:r>
          </a:p>
          <a:p>
            <a:pPr algn="just" marL="410097" indent="-205048" lvl="1">
              <a:lnSpc>
                <a:spcPts val="2659"/>
              </a:lnSpc>
              <a:buFont typeface="Arial"/>
              <a:buChar char="•"/>
            </a:pPr>
            <a:r>
              <a:rPr lang="en-US" sz="1899" spc="47">
                <a:solidFill>
                  <a:srgbClr val="FFFFFF"/>
                </a:solidFill>
                <a:latin typeface="Bricolage Grotesque"/>
                <a:ea typeface="Bricolage Grotesque"/>
                <a:cs typeface="Bricolage Grotesque"/>
                <a:sym typeface="Bricolage Grotesque"/>
              </a:rPr>
              <a:t>Interaksi Termal: Rasio daya charger terhadap suhu lingkungan &amp; cuaca ekstrem.</a:t>
            </a:r>
          </a:p>
        </p:txBody>
      </p:sp>
      <p:sp>
        <p:nvSpPr>
          <p:cNvPr name="TextBox 74" id="74"/>
          <p:cNvSpPr txBox="true"/>
          <p:nvPr/>
        </p:nvSpPr>
        <p:spPr>
          <a:xfrm rot="0">
            <a:off x="15030075" y="94749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5952812" y="8474412"/>
            <a:ext cx="4559724" cy="447540"/>
            <a:chOff x="0" y="0"/>
            <a:chExt cx="4059375" cy="398431"/>
          </a:xfrm>
        </p:grpSpPr>
        <p:sp>
          <p:nvSpPr>
            <p:cNvPr name="Freeform 3" id="3"/>
            <p:cNvSpPr/>
            <p:nvPr/>
          </p:nvSpPr>
          <p:spPr>
            <a:xfrm flipH="false" flipV="false" rot="0">
              <a:off x="9868" y="0"/>
              <a:ext cx="4039639" cy="398431"/>
            </a:xfrm>
            <a:custGeom>
              <a:avLst/>
              <a:gdLst/>
              <a:ahLst/>
              <a:cxnLst/>
              <a:rect r="r" b="b" t="t" l="l"/>
              <a:pathLst>
                <a:path h="398431" w="4039639">
                  <a:moveTo>
                    <a:pt x="218800" y="0"/>
                  </a:moveTo>
                  <a:lnTo>
                    <a:pt x="4024039" y="0"/>
                  </a:lnTo>
                  <a:cubicBezTo>
                    <a:pt x="4029468" y="0"/>
                    <a:pt x="4034506" y="2822"/>
                    <a:pt x="4037342" y="7452"/>
                  </a:cubicBezTo>
                  <a:cubicBezTo>
                    <a:pt x="4040177" y="12081"/>
                    <a:pt x="4040403" y="17852"/>
                    <a:pt x="4037936" y="22688"/>
                  </a:cubicBezTo>
                  <a:lnTo>
                    <a:pt x="3857878" y="375743"/>
                  </a:lnTo>
                  <a:cubicBezTo>
                    <a:pt x="3850777" y="389666"/>
                    <a:pt x="3836468" y="398431"/>
                    <a:pt x="3820839" y="398431"/>
                  </a:cubicBezTo>
                  <a:lnTo>
                    <a:pt x="15600" y="398431"/>
                  </a:lnTo>
                  <a:cubicBezTo>
                    <a:pt x="10171" y="398431"/>
                    <a:pt x="5133" y="395608"/>
                    <a:pt x="2297" y="390979"/>
                  </a:cubicBezTo>
                  <a:cubicBezTo>
                    <a:pt x="-538" y="386350"/>
                    <a:pt x="-764" y="380579"/>
                    <a:pt x="1703" y="375743"/>
                  </a:cubicBezTo>
                  <a:lnTo>
                    <a:pt x="181761" y="22688"/>
                  </a:lnTo>
                  <a:cubicBezTo>
                    <a:pt x="188862" y="8765"/>
                    <a:pt x="203171" y="0"/>
                    <a:pt x="218800" y="0"/>
                  </a:cubicBezTo>
                  <a:close/>
                </a:path>
              </a:pathLst>
            </a:custGeom>
            <a:solidFill>
              <a:srgbClr val="EDF6F9"/>
            </a:solidFill>
          </p:spPr>
        </p:sp>
        <p:sp>
          <p:nvSpPr>
            <p:cNvPr name="TextBox 4" id="4"/>
            <p:cNvSpPr txBox="true"/>
            <p:nvPr/>
          </p:nvSpPr>
          <p:spPr>
            <a:xfrm>
              <a:off x="101600" y="-38100"/>
              <a:ext cx="385617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56527" y="8473564"/>
            <a:ext cx="2473138" cy="447540"/>
            <a:chOff x="0" y="0"/>
            <a:chExt cx="2201755" cy="398431"/>
          </a:xfrm>
        </p:grpSpPr>
        <p:sp>
          <p:nvSpPr>
            <p:cNvPr name="Freeform 6" id="6"/>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7" id="7"/>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- 18</a:t>
            </a:r>
          </a:p>
        </p:txBody>
      </p:sp>
      <p:sp>
        <p:nvSpPr>
          <p:cNvPr name="TextBox 9" id="9"/>
          <p:cNvSpPr txBox="true"/>
          <p:nvPr/>
        </p:nvSpPr>
        <p:spPr>
          <a:xfrm rot="0">
            <a:off x="2616363" y="4628409"/>
            <a:ext cx="13055274" cy="1201632"/>
          </a:xfrm>
          <a:prstGeom prst="rect">
            <a:avLst/>
          </a:prstGeom>
        </p:spPr>
        <p:txBody>
          <a:bodyPr anchor="t" rtlCol="false" tIns="0" lIns="0" bIns="0" rIns="0">
            <a:spAutoFit/>
          </a:bodyPr>
          <a:lstStyle/>
          <a:p>
            <a:pPr algn="ctr">
              <a:lnSpc>
                <a:spcPts val="9058"/>
              </a:lnSpc>
            </a:pPr>
            <a:r>
              <a:rPr lang="en-US" sz="9058">
                <a:solidFill>
                  <a:srgbClr val="0B132B"/>
                </a:solidFill>
                <a:latin typeface="Rubik One"/>
                <a:ea typeface="Rubik One"/>
                <a:cs typeface="Rubik One"/>
                <a:sym typeface="Rubik One"/>
              </a:rPr>
              <a:t>RISK </a:t>
            </a:r>
            <a:r>
              <a:rPr lang="en-US" sz="9058">
                <a:solidFill>
                  <a:srgbClr val="00B58F"/>
                </a:solidFill>
                <a:latin typeface="Rubik One"/>
                <a:ea typeface="Rubik One"/>
                <a:cs typeface="Rubik One"/>
                <a:sym typeface="Rubik One"/>
              </a:rPr>
              <a:t>MODELING</a:t>
            </a:r>
          </a:p>
        </p:txBody>
      </p:sp>
      <p:grpSp>
        <p:nvGrpSpPr>
          <p:cNvPr name="Group 10" id="10"/>
          <p:cNvGrpSpPr/>
          <p:nvPr/>
        </p:nvGrpSpPr>
        <p:grpSpPr>
          <a:xfrm rot="0">
            <a:off x="7270483" y="3843698"/>
            <a:ext cx="3747034" cy="613261"/>
            <a:chOff x="0" y="0"/>
            <a:chExt cx="4996045" cy="817681"/>
          </a:xfrm>
        </p:grpSpPr>
        <p:grpSp>
          <p:nvGrpSpPr>
            <p:cNvPr name="Group 11" id="11"/>
            <p:cNvGrpSpPr/>
            <p:nvPr/>
          </p:nvGrpSpPr>
          <p:grpSpPr>
            <a:xfrm rot="0">
              <a:off x="802794" y="0"/>
              <a:ext cx="1140217" cy="813012"/>
              <a:chOff x="0" y="0"/>
              <a:chExt cx="407622" cy="290648"/>
            </a:xfrm>
          </p:grpSpPr>
          <p:sp>
            <p:nvSpPr>
              <p:cNvPr name="Freeform 12" id="12"/>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3" id="13"/>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4" id="14"/>
            <p:cNvGrpSpPr/>
            <p:nvPr/>
          </p:nvGrpSpPr>
          <p:grpSpPr>
            <a:xfrm rot="0">
              <a:off x="1586425" y="4669"/>
              <a:ext cx="1140217" cy="813012"/>
              <a:chOff x="0" y="0"/>
              <a:chExt cx="407622" cy="290648"/>
            </a:xfrm>
          </p:grpSpPr>
          <p:sp>
            <p:nvSpPr>
              <p:cNvPr name="Freeform 15" id="15"/>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6" id="16"/>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7" id="17"/>
            <p:cNvGrpSpPr/>
            <p:nvPr/>
          </p:nvGrpSpPr>
          <p:grpSpPr>
            <a:xfrm rot="0">
              <a:off x="2355240" y="4669"/>
              <a:ext cx="1140217" cy="813012"/>
              <a:chOff x="0" y="0"/>
              <a:chExt cx="407622" cy="290648"/>
            </a:xfrm>
          </p:grpSpPr>
          <p:sp>
            <p:nvSpPr>
              <p:cNvPr name="Freeform 18" id="1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9" id="19"/>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0" id="20"/>
            <p:cNvGrpSpPr/>
            <p:nvPr/>
          </p:nvGrpSpPr>
          <p:grpSpPr>
            <a:xfrm rot="0">
              <a:off x="3087013" y="4669"/>
              <a:ext cx="1140217" cy="813012"/>
              <a:chOff x="0" y="0"/>
              <a:chExt cx="407622" cy="290648"/>
            </a:xfrm>
          </p:grpSpPr>
          <p:sp>
            <p:nvSpPr>
              <p:cNvPr name="Freeform 21" id="2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2" id="22"/>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3" id="23"/>
            <p:cNvGrpSpPr/>
            <p:nvPr/>
          </p:nvGrpSpPr>
          <p:grpSpPr>
            <a:xfrm rot="0">
              <a:off x="3855828" y="4669"/>
              <a:ext cx="1140217" cy="813012"/>
              <a:chOff x="0" y="0"/>
              <a:chExt cx="407622" cy="290648"/>
            </a:xfrm>
          </p:grpSpPr>
          <p:sp>
            <p:nvSpPr>
              <p:cNvPr name="Freeform 24" id="2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25" id="25"/>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6" id="26"/>
            <p:cNvGrpSpPr/>
            <p:nvPr/>
          </p:nvGrpSpPr>
          <p:grpSpPr>
            <a:xfrm rot="0">
              <a:off x="0" y="0"/>
              <a:ext cx="1140217" cy="813012"/>
              <a:chOff x="0" y="0"/>
              <a:chExt cx="407622" cy="290648"/>
            </a:xfrm>
          </p:grpSpPr>
          <p:sp>
            <p:nvSpPr>
              <p:cNvPr name="Freeform 27" id="2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28" id="28"/>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grpSp>
        <p:nvGrpSpPr>
          <p:cNvPr name="Group 29" id="29"/>
          <p:cNvGrpSpPr/>
          <p:nvPr/>
        </p:nvGrpSpPr>
        <p:grpSpPr>
          <a:xfrm rot="0">
            <a:off x="11502671" y="9960324"/>
            <a:ext cx="9960587" cy="1142074"/>
            <a:chOff x="0" y="0"/>
            <a:chExt cx="2572779" cy="294993"/>
          </a:xfrm>
        </p:grpSpPr>
        <p:sp>
          <p:nvSpPr>
            <p:cNvPr name="Freeform 30" id="3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31" id="3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0">
            <a:off x="-5959063" y="-784283"/>
            <a:ext cx="9960587" cy="1142074"/>
            <a:chOff x="0" y="0"/>
            <a:chExt cx="2572779" cy="294993"/>
          </a:xfrm>
        </p:grpSpPr>
        <p:sp>
          <p:nvSpPr>
            <p:cNvPr name="Freeform 33" id="3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34" id="3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5" id="35"/>
          <p:cNvGrpSpPr/>
          <p:nvPr/>
        </p:nvGrpSpPr>
        <p:grpSpPr>
          <a:xfrm rot="0">
            <a:off x="1028700" y="793061"/>
            <a:ext cx="4463067" cy="235560"/>
            <a:chOff x="0" y="0"/>
            <a:chExt cx="5950756" cy="314080"/>
          </a:xfrm>
        </p:grpSpPr>
        <p:sp>
          <p:nvSpPr>
            <p:cNvPr name="Freeform 36" id="36"/>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7" id="37"/>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3150242"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338615" y="-784283"/>
            <a:ext cx="12457569" cy="1142074"/>
            <a:chOff x="0" y="0"/>
            <a:chExt cx="3217739" cy="294993"/>
          </a:xfrm>
        </p:grpSpPr>
        <p:sp>
          <p:nvSpPr>
            <p:cNvPr name="Freeform 6" id="6"/>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7" id="7"/>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8700" y="793061"/>
            <a:ext cx="4463067" cy="235560"/>
            <a:chOff x="0" y="0"/>
            <a:chExt cx="5950756" cy="314080"/>
          </a:xfrm>
        </p:grpSpPr>
        <p:sp>
          <p:nvSpPr>
            <p:cNvPr name="Freeform 9" id="9"/>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11" id="11"/>
          <p:cNvSpPr txBox="true"/>
          <p:nvPr/>
        </p:nvSpPr>
        <p:spPr>
          <a:xfrm rot="0">
            <a:off x="1028700" y="1324218"/>
            <a:ext cx="15039788" cy="809625"/>
          </a:xfrm>
          <a:prstGeom prst="rect">
            <a:avLst/>
          </a:prstGeom>
        </p:spPr>
        <p:txBody>
          <a:bodyPr anchor="t" rtlCol="false" tIns="0" lIns="0" bIns="0" rIns="0">
            <a:spAutoFit/>
          </a:bodyPr>
          <a:lstStyle/>
          <a:p>
            <a:pPr algn="l">
              <a:lnSpc>
                <a:spcPts val="6000"/>
              </a:lnSpc>
            </a:pPr>
            <a:r>
              <a:rPr lang="en-US" sz="6000">
                <a:solidFill>
                  <a:srgbClr val="0B132B"/>
                </a:solidFill>
                <a:latin typeface="Rubik One"/>
                <a:ea typeface="Rubik One"/>
                <a:cs typeface="Rubik One"/>
                <a:sym typeface="Rubik One"/>
              </a:rPr>
              <a:t>MODELLING &amp; ENSEMBLE STACKING</a:t>
            </a:r>
          </a:p>
        </p:txBody>
      </p:sp>
      <p:sp>
        <p:nvSpPr>
          <p:cNvPr name="TextBox 12" id="12"/>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- 19</a:t>
            </a:r>
          </a:p>
        </p:txBody>
      </p:sp>
      <p:sp>
        <p:nvSpPr>
          <p:cNvPr name="AutoShape 13" id="13"/>
          <p:cNvSpPr/>
          <p:nvPr/>
        </p:nvSpPr>
        <p:spPr>
          <a:xfrm>
            <a:off x="1800623" y="8372294"/>
            <a:ext cx="4103586" cy="0"/>
          </a:xfrm>
          <a:prstGeom prst="line">
            <a:avLst/>
          </a:prstGeom>
          <a:ln cap="flat" w="38100">
            <a:solidFill>
              <a:srgbClr val="FFFFFF"/>
            </a:solidFill>
            <a:prstDash val="sysDash"/>
            <a:headEnd type="none" len="sm" w="sm"/>
            <a:tailEnd type="none" len="sm" w="sm"/>
          </a:ln>
        </p:spPr>
      </p:sp>
      <p:grpSp>
        <p:nvGrpSpPr>
          <p:cNvPr name="Group 14" id="14"/>
          <p:cNvGrpSpPr/>
          <p:nvPr/>
        </p:nvGrpSpPr>
        <p:grpSpPr>
          <a:xfrm rot="0">
            <a:off x="6043787" y="6529524"/>
            <a:ext cx="5936861" cy="2213431"/>
            <a:chOff x="0" y="0"/>
            <a:chExt cx="1068671" cy="398431"/>
          </a:xfrm>
        </p:grpSpPr>
        <p:sp>
          <p:nvSpPr>
            <p:cNvPr name="Freeform 15" id="15"/>
            <p:cNvSpPr/>
            <p:nvPr/>
          </p:nvSpPr>
          <p:spPr>
            <a:xfrm flipH="false" flipV="false" rot="0">
              <a:off x="7579" y="0"/>
              <a:ext cx="1053513" cy="398431"/>
            </a:xfrm>
            <a:custGeom>
              <a:avLst/>
              <a:gdLst/>
              <a:ahLst/>
              <a:cxnLst/>
              <a:rect r="r" b="b" t="t" l="l"/>
              <a:pathLst>
                <a:path h="398431" w="1053513">
                  <a:moveTo>
                    <a:pt x="215182" y="0"/>
                  </a:moveTo>
                  <a:lnTo>
                    <a:pt x="1041531" y="0"/>
                  </a:lnTo>
                  <a:cubicBezTo>
                    <a:pt x="1045701" y="0"/>
                    <a:pt x="1049570" y="2168"/>
                    <a:pt x="1051748" y="5723"/>
                  </a:cubicBezTo>
                  <a:cubicBezTo>
                    <a:pt x="1053926" y="9279"/>
                    <a:pt x="1054099" y="13711"/>
                    <a:pt x="1052205" y="17425"/>
                  </a:cubicBezTo>
                  <a:lnTo>
                    <a:pt x="866778" y="381005"/>
                  </a:lnTo>
                  <a:cubicBezTo>
                    <a:pt x="861325" y="391699"/>
                    <a:pt x="850335" y="398431"/>
                    <a:pt x="838331" y="398431"/>
                  </a:cubicBezTo>
                  <a:lnTo>
                    <a:pt x="11982" y="398431"/>
                  </a:lnTo>
                  <a:cubicBezTo>
                    <a:pt x="7812" y="398431"/>
                    <a:pt x="3942" y="396263"/>
                    <a:pt x="1764" y="392708"/>
                  </a:cubicBezTo>
                  <a:cubicBezTo>
                    <a:pt x="-414" y="389152"/>
                    <a:pt x="-586" y="384720"/>
                    <a:pt x="1308" y="381005"/>
                  </a:cubicBezTo>
                  <a:lnTo>
                    <a:pt x="186734" y="17425"/>
                  </a:lnTo>
                  <a:cubicBezTo>
                    <a:pt x="192188" y="6732"/>
                    <a:pt x="203178" y="0"/>
                    <a:pt x="215182" y="0"/>
                  </a:cubicBezTo>
                  <a:close/>
                </a:path>
              </a:pathLst>
            </a:custGeom>
            <a:solidFill>
              <a:srgbClr val="00B58F"/>
            </a:solidFill>
          </p:spPr>
        </p:sp>
        <p:sp>
          <p:nvSpPr>
            <p:cNvPr name="TextBox 16" id="16"/>
            <p:cNvSpPr txBox="true"/>
            <p:nvPr/>
          </p:nvSpPr>
          <p:spPr>
            <a:xfrm>
              <a:off x="101600" y="-38100"/>
              <a:ext cx="865471" cy="43653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7841412" y="6404541"/>
            <a:ext cx="4264688" cy="779676"/>
            <a:chOff x="0" y="0"/>
            <a:chExt cx="2179345" cy="398431"/>
          </a:xfrm>
        </p:grpSpPr>
        <p:sp>
          <p:nvSpPr>
            <p:cNvPr name="Freeform 18" id="18"/>
            <p:cNvSpPr/>
            <p:nvPr/>
          </p:nvSpPr>
          <p:spPr>
            <a:xfrm flipH="false" flipV="false" rot="0">
              <a:off x="10551" y="0"/>
              <a:ext cx="2158244" cy="398431"/>
            </a:xfrm>
            <a:custGeom>
              <a:avLst/>
              <a:gdLst/>
              <a:ahLst/>
              <a:cxnLst/>
              <a:rect r="r" b="b" t="t" l="l"/>
              <a:pathLst>
                <a:path h="398431" w="2158244">
                  <a:moveTo>
                    <a:pt x="219879" y="0"/>
                  </a:moveTo>
                  <a:lnTo>
                    <a:pt x="2141564" y="0"/>
                  </a:lnTo>
                  <a:cubicBezTo>
                    <a:pt x="2147368" y="0"/>
                    <a:pt x="2152755" y="3018"/>
                    <a:pt x="2155787" y="7967"/>
                  </a:cubicBezTo>
                  <a:cubicBezTo>
                    <a:pt x="2158819" y="12917"/>
                    <a:pt x="2159060" y="19087"/>
                    <a:pt x="2156422" y="24258"/>
                  </a:cubicBezTo>
                  <a:lnTo>
                    <a:pt x="1977965" y="374173"/>
                  </a:lnTo>
                  <a:cubicBezTo>
                    <a:pt x="1970373" y="389059"/>
                    <a:pt x="1955074" y="398431"/>
                    <a:pt x="1938364" y="398431"/>
                  </a:cubicBezTo>
                  <a:lnTo>
                    <a:pt x="16679" y="398431"/>
                  </a:lnTo>
                  <a:cubicBezTo>
                    <a:pt x="10875" y="398431"/>
                    <a:pt x="5488" y="395413"/>
                    <a:pt x="2456" y="390464"/>
                  </a:cubicBezTo>
                  <a:cubicBezTo>
                    <a:pt x="-576" y="385514"/>
                    <a:pt x="-817" y="379344"/>
                    <a:pt x="1820" y="374173"/>
                  </a:cubicBezTo>
                  <a:lnTo>
                    <a:pt x="180278" y="24258"/>
                  </a:lnTo>
                  <a:cubicBezTo>
                    <a:pt x="187870" y="9371"/>
                    <a:pt x="203169" y="0"/>
                    <a:pt x="219879" y="0"/>
                  </a:cubicBezTo>
                  <a:close/>
                </a:path>
              </a:pathLst>
            </a:custGeom>
            <a:solidFill>
              <a:srgbClr val="EDF6F9"/>
            </a:solidFill>
          </p:spPr>
        </p:sp>
        <p:sp>
          <p:nvSpPr>
            <p:cNvPr name="TextBox 19" id="19"/>
            <p:cNvSpPr txBox="true"/>
            <p:nvPr/>
          </p:nvSpPr>
          <p:spPr>
            <a:xfrm>
              <a:off x="101600" y="-38100"/>
              <a:ext cx="1976145" cy="436531"/>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7114177" y="6735835"/>
            <a:ext cx="727234" cy="448310"/>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05</a:t>
            </a:r>
          </a:p>
        </p:txBody>
      </p:sp>
      <p:grpSp>
        <p:nvGrpSpPr>
          <p:cNvPr name="Group 21" id="21"/>
          <p:cNvGrpSpPr/>
          <p:nvPr/>
        </p:nvGrpSpPr>
        <p:grpSpPr>
          <a:xfrm rot="0">
            <a:off x="855357" y="6529524"/>
            <a:ext cx="5936861" cy="2213431"/>
            <a:chOff x="0" y="0"/>
            <a:chExt cx="1068671" cy="398431"/>
          </a:xfrm>
        </p:grpSpPr>
        <p:sp>
          <p:nvSpPr>
            <p:cNvPr name="Freeform 22" id="22"/>
            <p:cNvSpPr/>
            <p:nvPr/>
          </p:nvSpPr>
          <p:spPr>
            <a:xfrm flipH="false" flipV="false" rot="0">
              <a:off x="7579" y="0"/>
              <a:ext cx="1053513" cy="398431"/>
            </a:xfrm>
            <a:custGeom>
              <a:avLst/>
              <a:gdLst/>
              <a:ahLst/>
              <a:cxnLst/>
              <a:rect r="r" b="b" t="t" l="l"/>
              <a:pathLst>
                <a:path h="398431" w="1053513">
                  <a:moveTo>
                    <a:pt x="215182" y="0"/>
                  </a:moveTo>
                  <a:lnTo>
                    <a:pt x="1041531" y="0"/>
                  </a:lnTo>
                  <a:cubicBezTo>
                    <a:pt x="1045701" y="0"/>
                    <a:pt x="1049570" y="2168"/>
                    <a:pt x="1051748" y="5723"/>
                  </a:cubicBezTo>
                  <a:cubicBezTo>
                    <a:pt x="1053926" y="9279"/>
                    <a:pt x="1054099" y="13711"/>
                    <a:pt x="1052205" y="17425"/>
                  </a:cubicBezTo>
                  <a:lnTo>
                    <a:pt x="866778" y="381005"/>
                  </a:lnTo>
                  <a:cubicBezTo>
                    <a:pt x="861325" y="391699"/>
                    <a:pt x="850335" y="398431"/>
                    <a:pt x="838331" y="398431"/>
                  </a:cubicBezTo>
                  <a:lnTo>
                    <a:pt x="11982" y="398431"/>
                  </a:lnTo>
                  <a:cubicBezTo>
                    <a:pt x="7812" y="398431"/>
                    <a:pt x="3942" y="396263"/>
                    <a:pt x="1764" y="392708"/>
                  </a:cubicBezTo>
                  <a:cubicBezTo>
                    <a:pt x="-414" y="389152"/>
                    <a:pt x="-586" y="384720"/>
                    <a:pt x="1308" y="381005"/>
                  </a:cubicBezTo>
                  <a:lnTo>
                    <a:pt x="186734" y="17425"/>
                  </a:lnTo>
                  <a:cubicBezTo>
                    <a:pt x="192188" y="6732"/>
                    <a:pt x="203178" y="0"/>
                    <a:pt x="215182" y="0"/>
                  </a:cubicBezTo>
                  <a:close/>
                </a:path>
              </a:pathLst>
            </a:custGeom>
            <a:solidFill>
              <a:srgbClr val="00B58F"/>
            </a:solidFill>
          </p:spPr>
        </p:sp>
        <p:sp>
          <p:nvSpPr>
            <p:cNvPr name="TextBox 23" id="23"/>
            <p:cNvSpPr txBox="true"/>
            <p:nvPr/>
          </p:nvSpPr>
          <p:spPr>
            <a:xfrm>
              <a:off x="101600" y="-38100"/>
              <a:ext cx="865471" cy="436531"/>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2652982" y="6404541"/>
            <a:ext cx="4264688" cy="779676"/>
            <a:chOff x="0" y="0"/>
            <a:chExt cx="2179345" cy="398431"/>
          </a:xfrm>
        </p:grpSpPr>
        <p:sp>
          <p:nvSpPr>
            <p:cNvPr name="Freeform 25" id="25"/>
            <p:cNvSpPr/>
            <p:nvPr/>
          </p:nvSpPr>
          <p:spPr>
            <a:xfrm flipH="false" flipV="false" rot="0">
              <a:off x="10551" y="0"/>
              <a:ext cx="2158244" cy="398431"/>
            </a:xfrm>
            <a:custGeom>
              <a:avLst/>
              <a:gdLst/>
              <a:ahLst/>
              <a:cxnLst/>
              <a:rect r="r" b="b" t="t" l="l"/>
              <a:pathLst>
                <a:path h="398431" w="2158244">
                  <a:moveTo>
                    <a:pt x="219879" y="0"/>
                  </a:moveTo>
                  <a:lnTo>
                    <a:pt x="2141564" y="0"/>
                  </a:lnTo>
                  <a:cubicBezTo>
                    <a:pt x="2147368" y="0"/>
                    <a:pt x="2152755" y="3018"/>
                    <a:pt x="2155787" y="7967"/>
                  </a:cubicBezTo>
                  <a:cubicBezTo>
                    <a:pt x="2158819" y="12917"/>
                    <a:pt x="2159060" y="19087"/>
                    <a:pt x="2156422" y="24258"/>
                  </a:cubicBezTo>
                  <a:lnTo>
                    <a:pt x="1977965" y="374173"/>
                  </a:lnTo>
                  <a:cubicBezTo>
                    <a:pt x="1970373" y="389059"/>
                    <a:pt x="1955074" y="398431"/>
                    <a:pt x="1938364" y="398431"/>
                  </a:cubicBezTo>
                  <a:lnTo>
                    <a:pt x="16679" y="398431"/>
                  </a:lnTo>
                  <a:cubicBezTo>
                    <a:pt x="10875" y="398431"/>
                    <a:pt x="5488" y="395413"/>
                    <a:pt x="2456" y="390464"/>
                  </a:cubicBezTo>
                  <a:cubicBezTo>
                    <a:pt x="-576" y="385514"/>
                    <a:pt x="-817" y="379344"/>
                    <a:pt x="1820" y="374173"/>
                  </a:cubicBezTo>
                  <a:lnTo>
                    <a:pt x="180278" y="24258"/>
                  </a:lnTo>
                  <a:cubicBezTo>
                    <a:pt x="187870" y="9371"/>
                    <a:pt x="203169" y="0"/>
                    <a:pt x="219879" y="0"/>
                  </a:cubicBezTo>
                  <a:close/>
                </a:path>
              </a:pathLst>
            </a:custGeom>
            <a:solidFill>
              <a:srgbClr val="EDF6F9"/>
            </a:solidFill>
          </p:spPr>
        </p:sp>
        <p:sp>
          <p:nvSpPr>
            <p:cNvPr name="TextBox 26" id="26"/>
            <p:cNvSpPr txBox="true"/>
            <p:nvPr/>
          </p:nvSpPr>
          <p:spPr>
            <a:xfrm>
              <a:off x="101600" y="-38100"/>
              <a:ext cx="1976145" cy="436531"/>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925747" y="6735835"/>
            <a:ext cx="727234" cy="448310"/>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04</a:t>
            </a:r>
          </a:p>
        </p:txBody>
      </p:sp>
      <p:sp>
        <p:nvSpPr>
          <p:cNvPr name="TextBox 28" id="28"/>
          <p:cNvSpPr txBox="true"/>
          <p:nvPr/>
        </p:nvSpPr>
        <p:spPr>
          <a:xfrm rot="0">
            <a:off x="1659245" y="7280722"/>
            <a:ext cx="4065969" cy="1259205"/>
          </a:xfrm>
          <a:prstGeom prst="rect">
            <a:avLst/>
          </a:prstGeom>
        </p:spPr>
        <p:txBody>
          <a:bodyPr anchor="t" rtlCol="false" tIns="0" lIns="0" bIns="0" rIns="0">
            <a:spAutoFit/>
          </a:bodyPr>
          <a:lstStyle/>
          <a:p>
            <a:pPr algn="just">
              <a:lnSpc>
                <a:spcPts val="2519"/>
              </a:lnSpc>
            </a:pPr>
            <a:r>
              <a:rPr lang="en-US" sz="1799" spc="44">
                <a:solidFill>
                  <a:srgbClr val="FFFFFF"/>
                </a:solidFill>
                <a:latin typeface="Bricolage Grotesque"/>
                <a:ea typeface="Bricolage Grotesque"/>
                <a:cs typeface="Bricolage Grotesque"/>
                <a:sym typeface="Bricolage Grotesque"/>
              </a:rPr>
              <a:t>M</a:t>
            </a:r>
            <a:r>
              <a:rPr lang="en-US" sz="1799" spc="44">
                <a:solidFill>
                  <a:srgbClr val="FFFFFF"/>
                </a:solidFill>
                <a:latin typeface="Bricolage Grotesque"/>
                <a:ea typeface="Bricolage Grotesque"/>
                <a:cs typeface="Bricolage Grotesque"/>
                <a:sym typeface="Bricolage Grotesque"/>
              </a:rPr>
              <a:t>engutamakan generalisasi stabil menggunakan pohon berkedalaman 7 dan maksimal 45 daun untuk membatasi kompleksitas model.</a:t>
            </a:r>
          </a:p>
        </p:txBody>
      </p:sp>
      <p:sp>
        <p:nvSpPr>
          <p:cNvPr name="TextBox 29" id="29"/>
          <p:cNvSpPr txBox="true"/>
          <p:nvPr/>
        </p:nvSpPr>
        <p:spPr>
          <a:xfrm rot="0">
            <a:off x="3048208" y="6716785"/>
            <a:ext cx="3498833"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LightGBM Reg</a:t>
            </a:r>
          </a:p>
        </p:txBody>
      </p:sp>
      <p:sp>
        <p:nvSpPr>
          <p:cNvPr name="TextBox 30" id="30"/>
          <p:cNvSpPr txBox="true"/>
          <p:nvPr/>
        </p:nvSpPr>
        <p:spPr>
          <a:xfrm rot="0">
            <a:off x="6979233" y="7246446"/>
            <a:ext cx="4065969" cy="1259205"/>
          </a:xfrm>
          <a:prstGeom prst="rect">
            <a:avLst/>
          </a:prstGeom>
        </p:spPr>
        <p:txBody>
          <a:bodyPr anchor="t" rtlCol="false" tIns="0" lIns="0" bIns="0" rIns="0">
            <a:spAutoFit/>
          </a:bodyPr>
          <a:lstStyle/>
          <a:p>
            <a:pPr algn="just">
              <a:lnSpc>
                <a:spcPts val="2519"/>
              </a:lnSpc>
            </a:pPr>
            <a:r>
              <a:rPr lang="en-US" sz="1799" spc="44">
                <a:solidFill>
                  <a:srgbClr val="FFFFFF"/>
                </a:solidFill>
                <a:latin typeface="Bricolage Grotesque"/>
                <a:ea typeface="Bricolage Grotesque"/>
                <a:cs typeface="Bricolage Grotesque"/>
                <a:sym typeface="Bricolage Grotesque"/>
              </a:rPr>
              <a:t>Meng</a:t>
            </a:r>
            <a:r>
              <a:rPr lang="en-US" sz="1799" spc="44">
                <a:solidFill>
                  <a:srgbClr val="FFFFFF"/>
                </a:solidFill>
                <a:latin typeface="Bricolage Grotesque"/>
                <a:ea typeface="Bricolage Grotesque"/>
                <a:cs typeface="Bricolage Grotesque"/>
                <a:sym typeface="Bricolage Grotesque"/>
              </a:rPr>
              <a:t>endalikan kompleksitas pohon melalui kedalaman 6 dan regularisasi L2 (6) untuk membantu mengurangi risiko overfitting.</a:t>
            </a:r>
          </a:p>
        </p:txBody>
      </p:sp>
      <p:grpSp>
        <p:nvGrpSpPr>
          <p:cNvPr name="Group 31" id="31"/>
          <p:cNvGrpSpPr/>
          <p:nvPr/>
        </p:nvGrpSpPr>
        <p:grpSpPr>
          <a:xfrm rot="0">
            <a:off x="6335040" y="3420347"/>
            <a:ext cx="5936861" cy="2213431"/>
            <a:chOff x="0" y="0"/>
            <a:chExt cx="1068671" cy="398431"/>
          </a:xfrm>
        </p:grpSpPr>
        <p:sp>
          <p:nvSpPr>
            <p:cNvPr name="Freeform 32" id="32"/>
            <p:cNvSpPr/>
            <p:nvPr/>
          </p:nvSpPr>
          <p:spPr>
            <a:xfrm flipH="false" flipV="false" rot="0">
              <a:off x="7579" y="0"/>
              <a:ext cx="1053513" cy="398431"/>
            </a:xfrm>
            <a:custGeom>
              <a:avLst/>
              <a:gdLst/>
              <a:ahLst/>
              <a:cxnLst/>
              <a:rect r="r" b="b" t="t" l="l"/>
              <a:pathLst>
                <a:path h="398431" w="1053513">
                  <a:moveTo>
                    <a:pt x="215182" y="0"/>
                  </a:moveTo>
                  <a:lnTo>
                    <a:pt x="1041531" y="0"/>
                  </a:lnTo>
                  <a:cubicBezTo>
                    <a:pt x="1045701" y="0"/>
                    <a:pt x="1049570" y="2168"/>
                    <a:pt x="1051748" y="5723"/>
                  </a:cubicBezTo>
                  <a:cubicBezTo>
                    <a:pt x="1053926" y="9279"/>
                    <a:pt x="1054099" y="13711"/>
                    <a:pt x="1052205" y="17425"/>
                  </a:cubicBezTo>
                  <a:lnTo>
                    <a:pt x="866778" y="381005"/>
                  </a:lnTo>
                  <a:cubicBezTo>
                    <a:pt x="861325" y="391699"/>
                    <a:pt x="850335" y="398431"/>
                    <a:pt x="838331" y="398431"/>
                  </a:cubicBezTo>
                  <a:lnTo>
                    <a:pt x="11982" y="398431"/>
                  </a:lnTo>
                  <a:cubicBezTo>
                    <a:pt x="7812" y="398431"/>
                    <a:pt x="3942" y="396263"/>
                    <a:pt x="1764" y="392708"/>
                  </a:cubicBezTo>
                  <a:cubicBezTo>
                    <a:pt x="-414" y="389152"/>
                    <a:pt x="-586" y="384720"/>
                    <a:pt x="1308" y="381005"/>
                  </a:cubicBezTo>
                  <a:lnTo>
                    <a:pt x="186734" y="17425"/>
                  </a:lnTo>
                  <a:cubicBezTo>
                    <a:pt x="192188" y="6732"/>
                    <a:pt x="203178" y="0"/>
                    <a:pt x="215182" y="0"/>
                  </a:cubicBezTo>
                  <a:close/>
                </a:path>
              </a:pathLst>
            </a:custGeom>
            <a:solidFill>
              <a:srgbClr val="00B58F"/>
            </a:solidFill>
          </p:spPr>
        </p:sp>
        <p:sp>
          <p:nvSpPr>
            <p:cNvPr name="TextBox 33" id="33"/>
            <p:cNvSpPr txBox="true"/>
            <p:nvPr/>
          </p:nvSpPr>
          <p:spPr>
            <a:xfrm>
              <a:off x="101600" y="-38100"/>
              <a:ext cx="865471" cy="436531"/>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1496535" y="3420347"/>
            <a:ext cx="5936861" cy="2213431"/>
            <a:chOff x="0" y="0"/>
            <a:chExt cx="1068671" cy="398431"/>
          </a:xfrm>
        </p:grpSpPr>
        <p:sp>
          <p:nvSpPr>
            <p:cNvPr name="Freeform 35" id="35"/>
            <p:cNvSpPr/>
            <p:nvPr/>
          </p:nvSpPr>
          <p:spPr>
            <a:xfrm flipH="false" flipV="false" rot="0">
              <a:off x="7579" y="0"/>
              <a:ext cx="1053513" cy="398431"/>
            </a:xfrm>
            <a:custGeom>
              <a:avLst/>
              <a:gdLst/>
              <a:ahLst/>
              <a:cxnLst/>
              <a:rect r="r" b="b" t="t" l="l"/>
              <a:pathLst>
                <a:path h="398431" w="1053513">
                  <a:moveTo>
                    <a:pt x="215182" y="0"/>
                  </a:moveTo>
                  <a:lnTo>
                    <a:pt x="1041531" y="0"/>
                  </a:lnTo>
                  <a:cubicBezTo>
                    <a:pt x="1045701" y="0"/>
                    <a:pt x="1049570" y="2168"/>
                    <a:pt x="1051748" y="5723"/>
                  </a:cubicBezTo>
                  <a:cubicBezTo>
                    <a:pt x="1053926" y="9279"/>
                    <a:pt x="1054099" y="13711"/>
                    <a:pt x="1052205" y="17425"/>
                  </a:cubicBezTo>
                  <a:lnTo>
                    <a:pt x="866778" y="381005"/>
                  </a:lnTo>
                  <a:cubicBezTo>
                    <a:pt x="861325" y="391699"/>
                    <a:pt x="850335" y="398431"/>
                    <a:pt x="838331" y="398431"/>
                  </a:cubicBezTo>
                  <a:lnTo>
                    <a:pt x="11982" y="398431"/>
                  </a:lnTo>
                  <a:cubicBezTo>
                    <a:pt x="7812" y="398431"/>
                    <a:pt x="3942" y="396263"/>
                    <a:pt x="1764" y="392708"/>
                  </a:cubicBezTo>
                  <a:cubicBezTo>
                    <a:pt x="-414" y="389152"/>
                    <a:pt x="-586" y="384720"/>
                    <a:pt x="1308" y="381005"/>
                  </a:cubicBezTo>
                  <a:lnTo>
                    <a:pt x="186734" y="17425"/>
                  </a:lnTo>
                  <a:cubicBezTo>
                    <a:pt x="192188" y="6732"/>
                    <a:pt x="203178" y="0"/>
                    <a:pt x="215182" y="0"/>
                  </a:cubicBezTo>
                  <a:close/>
                </a:path>
              </a:pathLst>
            </a:custGeom>
            <a:solidFill>
              <a:srgbClr val="00B58F"/>
            </a:solidFill>
          </p:spPr>
        </p:sp>
        <p:sp>
          <p:nvSpPr>
            <p:cNvPr name="TextBox 36" id="36"/>
            <p:cNvSpPr txBox="true"/>
            <p:nvPr/>
          </p:nvSpPr>
          <p:spPr>
            <a:xfrm>
              <a:off x="101600" y="-38100"/>
              <a:ext cx="865471" cy="436531"/>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8132664" y="3295364"/>
            <a:ext cx="4264688" cy="779676"/>
            <a:chOff x="0" y="0"/>
            <a:chExt cx="2179345" cy="398431"/>
          </a:xfrm>
        </p:grpSpPr>
        <p:sp>
          <p:nvSpPr>
            <p:cNvPr name="Freeform 38" id="38"/>
            <p:cNvSpPr/>
            <p:nvPr/>
          </p:nvSpPr>
          <p:spPr>
            <a:xfrm flipH="false" flipV="false" rot="0">
              <a:off x="10551" y="0"/>
              <a:ext cx="2158244" cy="398431"/>
            </a:xfrm>
            <a:custGeom>
              <a:avLst/>
              <a:gdLst/>
              <a:ahLst/>
              <a:cxnLst/>
              <a:rect r="r" b="b" t="t" l="l"/>
              <a:pathLst>
                <a:path h="398431" w="2158244">
                  <a:moveTo>
                    <a:pt x="219879" y="0"/>
                  </a:moveTo>
                  <a:lnTo>
                    <a:pt x="2141564" y="0"/>
                  </a:lnTo>
                  <a:cubicBezTo>
                    <a:pt x="2147368" y="0"/>
                    <a:pt x="2152755" y="3018"/>
                    <a:pt x="2155787" y="7967"/>
                  </a:cubicBezTo>
                  <a:cubicBezTo>
                    <a:pt x="2158819" y="12917"/>
                    <a:pt x="2159060" y="19087"/>
                    <a:pt x="2156422" y="24258"/>
                  </a:cubicBezTo>
                  <a:lnTo>
                    <a:pt x="1977965" y="374173"/>
                  </a:lnTo>
                  <a:cubicBezTo>
                    <a:pt x="1970373" y="389059"/>
                    <a:pt x="1955074" y="398431"/>
                    <a:pt x="1938364" y="398431"/>
                  </a:cubicBezTo>
                  <a:lnTo>
                    <a:pt x="16679" y="398431"/>
                  </a:lnTo>
                  <a:cubicBezTo>
                    <a:pt x="10875" y="398431"/>
                    <a:pt x="5488" y="395413"/>
                    <a:pt x="2456" y="390464"/>
                  </a:cubicBezTo>
                  <a:cubicBezTo>
                    <a:pt x="-576" y="385514"/>
                    <a:pt x="-817" y="379344"/>
                    <a:pt x="1820" y="374173"/>
                  </a:cubicBezTo>
                  <a:lnTo>
                    <a:pt x="180278" y="24258"/>
                  </a:lnTo>
                  <a:cubicBezTo>
                    <a:pt x="187870" y="9371"/>
                    <a:pt x="203169" y="0"/>
                    <a:pt x="219879" y="0"/>
                  </a:cubicBezTo>
                  <a:close/>
                </a:path>
              </a:pathLst>
            </a:custGeom>
            <a:solidFill>
              <a:srgbClr val="EDF6F9"/>
            </a:solidFill>
          </p:spPr>
        </p:sp>
        <p:sp>
          <p:nvSpPr>
            <p:cNvPr name="TextBox 39" id="39"/>
            <p:cNvSpPr txBox="true"/>
            <p:nvPr/>
          </p:nvSpPr>
          <p:spPr>
            <a:xfrm>
              <a:off x="101600" y="-38100"/>
              <a:ext cx="1976145" cy="436531"/>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3294159" y="3295364"/>
            <a:ext cx="4264688" cy="779676"/>
            <a:chOff x="0" y="0"/>
            <a:chExt cx="2179345" cy="398431"/>
          </a:xfrm>
        </p:grpSpPr>
        <p:sp>
          <p:nvSpPr>
            <p:cNvPr name="Freeform 41" id="41"/>
            <p:cNvSpPr/>
            <p:nvPr/>
          </p:nvSpPr>
          <p:spPr>
            <a:xfrm flipH="false" flipV="false" rot="0">
              <a:off x="10551" y="0"/>
              <a:ext cx="2158244" cy="398431"/>
            </a:xfrm>
            <a:custGeom>
              <a:avLst/>
              <a:gdLst/>
              <a:ahLst/>
              <a:cxnLst/>
              <a:rect r="r" b="b" t="t" l="l"/>
              <a:pathLst>
                <a:path h="398431" w="2158244">
                  <a:moveTo>
                    <a:pt x="219879" y="0"/>
                  </a:moveTo>
                  <a:lnTo>
                    <a:pt x="2141564" y="0"/>
                  </a:lnTo>
                  <a:cubicBezTo>
                    <a:pt x="2147368" y="0"/>
                    <a:pt x="2152755" y="3018"/>
                    <a:pt x="2155787" y="7967"/>
                  </a:cubicBezTo>
                  <a:cubicBezTo>
                    <a:pt x="2158819" y="12917"/>
                    <a:pt x="2159060" y="19087"/>
                    <a:pt x="2156422" y="24258"/>
                  </a:cubicBezTo>
                  <a:lnTo>
                    <a:pt x="1977965" y="374173"/>
                  </a:lnTo>
                  <a:cubicBezTo>
                    <a:pt x="1970373" y="389059"/>
                    <a:pt x="1955074" y="398431"/>
                    <a:pt x="1938364" y="398431"/>
                  </a:cubicBezTo>
                  <a:lnTo>
                    <a:pt x="16679" y="398431"/>
                  </a:lnTo>
                  <a:cubicBezTo>
                    <a:pt x="10875" y="398431"/>
                    <a:pt x="5488" y="395413"/>
                    <a:pt x="2456" y="390464"/>
                  </a:cubicBezTo>
                  <a:cubicBezTo>
                    <a:pt x="-576" y="385514"/>
                    <a:pt x="-817" y="379344"/>
                    <a:pt x="1820" y="374173"/>
                  </a:cubicBezTo>
                  <a:lnTo>
                    <a:pt x="180278" y="24258"/>
                  </a:lnTo>
                  <a:cubicBezTo>
                    <a:pt x="187870" y="9371"/>
                    <a:pt x="203169" y="0"/>
                    <a:pt x="219879" y="0"/>
                  </a:cubicBezTo>
                  <a:close/>
                </a:path>
              </a:pathLst>
            </a:custGeom>
            <a:solidFill>
              <a:srgbClr val="EDF6F9"/>
            </a:solidFill>
          </p:spPr>
        </p:sp>
        <p:sp>
          <p:nvSpPr>
            <p:cNvPr name="TextBox 42" id="42"/>
            <p:cNvSpPr txBox="true"/>
            <p:nvPr/>
          </p:nvSpPr>
          <p:spPr>
            <a:xfrm>
              <a:off x="101600" y="-38100"/>
              <a:ext cx="1976145" cy="436531"/>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7405430" y="3572591"/>
            <a:ext cx="727234" cy="448310"/>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02</a:t>
            </a:r>
          </a:p>
        </p:txBody>
      </p:sp>
      <p:sp>
        <p:nvSpPr>
          <p:cNvPr name="TextBox 44" id="44"/>
          <p:cNvSpPr txBox="true"/>
          <p:nvPr/>
        </p:nvSpPr>
        <p:spPr>
          <a:xfrm rot="0">
            <a:off x="12566925" y="3572591"/>
            <a:ext cx="727234" cy="448310"/>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03</a:t>
            </a:r>
          </a:p>
        </p:txBody>
      </p:sp>
      <p:sp>
        <p:nvSpPr>
          <p:cNvPr name="TextBox 45" id="45"/>
          <p:cNvSpPr txBox="true"/>
          <p:nvPr/>
        </p:nvSpPr>
        <p:spPr>
          <a:xfrm rot="0">
            <a:off x="7243551" y="4174207"/>
            <a:ext cx="3961731" cy="1259205"/>
          </a:xfrm>
          <a:prstGeom prst="rect">
            <a:avLst/>
          </a:prstGeom>
        </p:spPr>
        <p:txBody>
          <a:bodyPr anchor="t" rtlCol="false" tIns="0" lIns="0" bIns="0" rIns="0">
            <a:spAutoFit/>
          </a:bodyPr>
          <a:lstStyle/>
          <a:p>
            <a:pPr algn="just">
              <a:lnSpc>
                <a:spcPts val="2519"/>
              </a:lnSpc>
            </a:pPr>
            <a:r>
              <a:rPr lang="en-US" sz="1799" spc="44">
                <a:solidFill>
                  <a:srgbClr val="FFFFFF"/>
                </a:solidFill>
                <a:latin typeface="Bricolage Grotesque"/>
                <a:ea typeface="Bricolage Grotesque"/>
                <a:cs typeface="Bricolage Grotesque"/>
                <a:sym typeface="Bricolage Grotesque"/>
              </a:rPr>
              <a:t>M</a:t>
            </a:r>
            <a:r>
              <a:rPr lang="en-US" sz="1799" spc="44">
                <a:solidFill>
                  <a:srgbClr val="FFFFFF"/>
                </a:solidFill>
                <a:latin typeface="Bricolage Grotesque"/>
                <a:ea typeface="Bricolage Grotesque"/>
                <a:cs typeface="Bricolage Grotesque"/>
                <a:sym typeface="Bricolage Grotesque"/>
              </a:rPr>
              <a:t>enggunakan pohon simetris berkedalaman 8 untuk mempelajari hubungan fitur kompleks dengan struktur pembelahan konsisten.</a:t>
            </a:r>
          </a:p>
        </p:txBody>
      </p:sp>
      <p:sp>
        <p:nvSpPr>
          <p:cNvPr name="TextBox 46" id="46"/>
          <p:cNvSpPr txBox="true"/>
          <p:nvPr/>
        </p:nvSpPr>
        <p:spPr>
          <a:xfrm rot="0">
            <a:off x="12397352" y="4137484"/>
            <a:ext cx="4065969" cy="1259205"/>
          </a:xfrm>
          <a:prstGeom prst="rect">
            <a:avLst/>
          </a:prstGeom>
        </p:spPr>
        <p:txBody>
          <a:bodyPr anchor="t" rtlCol="false" tIns="0" lIns="0" bIns="0" rIns="0">
            <a:spAutoFit/>
          </a:bodyPr>
          <a:lstStyle/>
          <a:p>
            <a:pPr algn="just">
              <a:lnSpc>
                <a:spcPts val="2519"/>
              </a:lnSpc>
            </a:pPr>
            <a:r>
              <a:rPr lang="en-US" sz="1799" spc="44">
                <a:solidFill>
                  <a:srgbClr val="FFFFFF"/>
                </a:solidFill>
                <a:latin typeface="Bricolage Grotesque"/>
                <a:ea typeface="Bricolage Grotesque"/>
                <a:cs typeface="Bricolage Grotesque"/>
                <a:sym typeface="Bricolage Grotesque"/>
              </a:rPr>
              <a:t>M</a:t>
            </a:r>
            <a:r>
              <a:rPr lang="en-US" sz="1799" spc="44">
                <a:solidFill>
                  <a:srgbClr val="FFFFFF"/>
                </a:solidFill>
                <a:latin typeface="Bricolage Grotesque"/>
                <a:ea typeface="Bricolage Grotesque"/>
                <a:cs typeface="Bricolage Grotesque"/>
                <a:sym typeface="Bricolage Grotesque"/>
              </a:rPr>
              <a:t>enggunakan kedalaman 7 sebagai kompromi antara menangkap pola kompleks dan menjaga kemampuan generalisasi pada data validasi.</a:t>
            </a:r>
          </a:p>
        </p:txBody>
      </p:sp>
      <p:grpSp>
        <p:nvGrpSpPr>
          <p:cNvPr name="Group 47" id="47"/>
          <p:cNvGrpSpPr/>
          <p:nvPr/>
        </p:nvGrpSpPr>
        <p:grpSpPr>
          <a:xfrm rot="0">
            <a:off x="1146610" y="3420347"/>
            <a:ext cx="5936861" cy="2213431"/>
            <a:chOff x="0" y="0"/>
            <a:chExt cx="1068671" cy="398431"/>
          </a:xfrm>
        </p:grpSpPr>
        <p:sp>
          <p:nvSpPr>
            <p:cNvPr name="Freeform 48" id="48"/>
            <p:cNvSpPr/>
            <p:nvPr/>
          </p:nvSpPr>
          <p:spPr>
            <a:xfrm flipH="false" flipV="false" rot="0">
              <a:off x="7579" y="0"/>
              <a:ext cx="1053513" cy="398431"/>
            </a:xfrm>
            <a:custGeom>
              <a:avLst/>
              <a:gdLst/>
              <a:ahLst/>
              <a:cxnLst/>
              <a:rect r="r" b="b" t="t" l="l"/>
              <a:pathLst>
                <a:path h="398431" w="1053513">
                  <a:moveTo>
                    <a:pt x="215182" y="0"/>
                  </a:moveTo>
                  <a:lnTo>
                    <a:pt x="1041531" y="0"/>
                  </a:lnTo>
                  <a:cubicBezTo>
                    <a:pt x="1045701" y="0"/>
                    <a:pt x="1049570" y="2168"/>
                    <a:pt x="1051748" y="5723"/>
                  </a:cubicBezTo>
                  <a:cubicBezTo>
                    <a:pt x="1053926" y="9279"/>
                    <a:pt x="1054099" y="13711"/>
                    <a:pt x="1052205" y="17425"/>
                  </a:cubicBezTo>
                  <a:lnTo>
                    <a:pt x="866778" y="381005"/>
                  </a:lnTo>
                  <a:cubicBezTo>
                    <a:pt x="861325" y="391699"/>
                    <a:pt x="850335" y="398431"/>
                    <a:pt x="838331" y="398431"/>
                  </a:cubicBezTo>
                  <a:lnTo>
                    <a:pt x="11982" y="398431"/>
                  </a:lnTo>
                  <a:cubicBezTo>
                    <a:pt x="7812" y="398431"/>
                    <a:pt x="3942" y="396263"/>
                    <a:pt x="1764" y="392708"/>
                  </a:cubicBezTo>
                  <a:cubicBezTo>
                    <a:pt x="-414" y="389152"/>
                    <a:pt x="-586" y="384720"/>
                    <a:pt x="1308" y="381005"/>
                  </a:cubicBezTo>
                  <a:lnTo>
                    <a:pt x="186734" y="17425"/>
                  </a:lnTo>
                  <a:cubicBezTo>
                    <a:pt x="192188" y="6732"/>
                    <a:pt x="203178" y="0"/>
                    <a:pt x="215182" y="0"/>
                  </a:cubicBezTo>
                  <a:close/>
                </a:path>
              </a:pathLst>
            </a:custGeom>
            <a:solidFill>
              <a:srgbClr val="00B58F"/>
            </a:solidFill>
          </p:spPr>
        </p:sp>
        <p:sp>
          <p:nvSpPr>
            <p:cNvPr name="TextBox 49" id="49"/>
            <p:cNvSpPr txBox="true"/>
            <p:nvPr/>
          </p:nvSpPr>
          <p:spPr>
            <a:xfrm>
              <a:off x="101600" y="-38100"/>
              <a:ext cx="865471" cy="436531"/>
            </a:xfrm>
            <a:prstGeom prst="rect">
              <a:avLst/>
            </a:prstGeom>
          </p:spPr>
          <p:txBody>
            <a:bodyPr anchor="ctr" rtlCol="false" tIns="50800" lIns="50800" bIns="50800" rIns="50800"/>
            <a:lstStyle/>
            <a:p>
              <a:pPr algn="ctr">
                <a:lnSpc>
                  <a:spcPts val="2659"/>
                </a:lnSpc>
              </a:pPr>
            </a:p>
          </p:txBody>
        </p:sp>
      </p:grpSp>
      <p:grpSp>
        <p:nvGrpSpPr>
          <p:cNvPr name="Group 50" id="50"/>
          <p:cNvGrpSpPr/>
          <p:nvPr/>
        </p:nvGrpSpPr>
        <p:grpSpPr>
          <a:xfrm rot="0">
            <a:off x="2944234" y="3295364"/>
            <a:ext cx="4264688" cy="779676"/>
            <a:chOff x="0" y="0"/>
            <a:chExt cx="2179345" cy="398431"/>
          </a:xfrm>
        </p:grpSpPr>
        <p:sp>
          <p:nvSpPr>
            <p:cNvPr name="Freeform 51" id="51"/>
            <p:cNvSpPr/>
            <p:nvPr/>
          </p:nvSpPr>
          <p:spPr>
            <a:xfrm flipH="false" flipV="false" rot="0">
              <a:off x="10551" y="0"/>
              <a:ext cx="2158244" cy="398431"/>
            </a:xfrm>
            <a:custGeom>
              <a:avLst/>
              <a:gdLst/>
              <a:ahLst/>
              <a:cxnLst/>
              <a:rect r="r" b="b" t="t" l="l"/>
              <a:pathLst>
                <a:path h="398431" w="2158244">
                  <a:moveTo>
                    <a:pt x="219879" y="0"/>
                  </a:moveTo>
                  <a:lnTo>
                    <a:pt x="2141564" y="0"/>
                  </a:lnTo>
                  <a:cubicBezTo>
                    <a:pt x="2147368" y="0"/>
                    <a:pt x="2152755" y="3018"/>
                    <a:pt x="2155787" y="7967"/>
                  </a:cubicBezTo>
                  <a:cubicBezTo>
                    <a:pt x="2158819" y="12917"/>
                    <a:pt x="2159060" y="19087"/>
                    <a:pt x="2156422" y="24258"/>
                  </a:cubicBezTo>
                  <a:lnTo>
                    <a:pt x="1977965" y="374173"/>
                  </a:lnTo>
                  <a:cubicBezTo>
                    <a:pt x="1970373" y="389059"/>
                    <a:pt x="1955074" y="398431"/>
                    <a:pt x="1938364" y="398431"/>
                  </a:cubicBezTo>
                  <a:lnTo>
                    <a:pt x="16679" y="398431"/>
                  </a:lnTo>
                  <a:cubicBezTo>
                    <a:pt x="10875" y="398431"/>
                    <a:pt x="5488" y="395413"/>
                    <a:pt x="2456" y="390464"/>
                  </a:cubicBezTo>
                  <a:cubicBezTo>
                    <a:pt x="-576" y="385514"/>
                    <a:pt x="-817" y="379344"/>
                    <a:pt x="1820" y="374173"/>
                  </a:cubicBezTo>
                  <a:lnTo>
                    <a:pt x="180278" y="24258"/>
                  </a:lnTo>
                  <a:cubicBezTo>
                    <a:pt x="187870" y="9371"/>
                    <a:pt x="203169" y="0"/>
                    <a:pt x="219879" y="0"/>
                  </a:cubicBezTo>
                  <a:close/>
                </a:path>
              </a:pathLst>
            </a:custGeom>
            <a:solidFill>
              <a:srgbClr val="EDF6F9"/>
            </a:solidFill>
          </p:spPr>
        </p:sp>
        <p:sp>
          <p:nvSpPr>
            <p:cNvPr name="TextBox 52" id="52"/>
            <p:cNvSpPr txBox="true"/>
            <p:nvPr/>
          </p:nvSpPr>
          <p:spPr>
            <a:xfrm>
              <a:off x="101600" y="-38100"/>
              <a:ext cx="1976145" cy="436531"/>
            </a:xfrm>
            <a:prstGeom prst="rect">
              <a:avLst/>
            </a:prstGeom>
          </p:spPr>
          <p:txBody>
            <a:bodyPr anchor="ctr" rtlCol="false" tIns="50800" lIns="50800" bIns="50800" rIns="50800"/>
            <a:lstStyle/>
            <a:p>
              <a:pPr algn="ctr">
                <a:lnSpc>
                  <a:spcPts val="2659"/>
                </a:lnSpc>
              </a:pPr>
            </a:p>
          </p:txBody>
        </p:sp>
      </p:grpSp>
      <p:sp>
        <p:nvSpPr>
          <p:cNvPr name="TextBox 53" id="53"/>
          <p:cNvSpPr txBox="true"/>
          <p:nvPr/>
        </p:nvSpPr>
        <p:spPr>
          <a:xfrm rot="0">
            <a:off x="2217000" y="3572591"/>
            <a:ext cx="727234" cy="448310"/>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01</a:t>
            </a:r>
          </a:p>
        </p:txBody>
      </p:sp>
      <p:sp>
        <p:nvSpPr>
          <p:cNvPr name="TextBox 54" id="54"/>
          <p:cNvSpPr txBox="true"/>
          <p:nvPr/>
        </p:nvSpPr>
        <p:spPr>
          <a:xfrm rot="0">
            <a:off x="1977818" y="4137484"/>
            <a:ext cx="3926392" cy="1259205"/>
          </a:xfrm>
          <a:prstGeom prst="rect">
            <a:avLst/>
          </a:prstGeom>
        </p:spPr>
        <p:txBody>
          <a:bodyPr anchor="t" rtlCol="false" tIns="0" lIns="0" bIns="0" rIns="0">
            <a:spAutoFit/>
          </a:bodyPr>
          <a:lstStyle/>
          <a:p>
            <a:pPr algn="just">
              <a:lnSpc>
                <a:spcPts val="2519"/>
              </a:lnSpc>
            </a:pPr>
            <a:r>
              <a:rPr lang="en-US" sz="1799" spc="44">
                <a:solidFill>
                  <a:srgbClr val="FFFFFF"/>
                </a:solidFill>
                <a:latin typeface="Bricolage Grotesque"/>
                <a:ea typeface="Bricolage Grotesque"/>
                <a:cs typeface="Bricolage Grotesque"/>
                <a:sym typeface="Bricolage Grotesque"/>
              </a:rPr>
              <a:t>M</a:t>
            </a:r>
            <a:r>
              <a:rPr lang="en-US" sz="1799" spc="44">
                <a:solidFill>
                  <a:srgbClr val="FFFFFF"/>
                </a:solidFill>
                <a:latin typeface="Bricolage Grotesque"/>
                <a:ea typeface="Bricolage Grotesque"/>
                <a:cs typeface="Bricolage Grotesque"/>
                <a:sym typeface="Bricolage Grotesque"/>
              </a:rPr>
              <a:t>enangkap interaksi nonlinier kompleks menggunakan pertumbuhan leaf-wise, kedalaman maksimum 10, dan hingga 95 daun.</a:t>
            </a:r>
          </a:p>
        </p:txBody>
      </p:sp>
      <p:sp>
        <p:nvSpPr>
          <p:cNvPr name="TextBox 55" id="55"/>
          <p:cNvSpPr txBox="true"/>
          <p:nvPr/>
        </p:nvSpPr>
        <p:spPr>
          <a:xfrm rot="0">
            <a:off x="3339461" y="3553541"/>
            <a:ext cx="3774716"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LightGBM Deep</a:t>
            </a:r>
          </a:p>
        </p:txBody>
      </p:sp>
      <p:sp>
        <p:nvSpPr>
          <p:cNvPr name="TextBox 56" id="56"/>
          <p:cNvSpPr txBox="true"/>
          <p:nvPr/>
        </p:nvSpPr>
        <p:spPr>
          <a:xfrm rot="0">
            <a:off x="8529874" y="3553541"/>
            <a:ext cx="3867478"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CatBoost Deep</a:t>
            </a:r>
          </a:p>
        </p:txBody>
      </p:sp>
      <p:sp>
        <p:nvSpPr>
          <p:cNvPr name="TextBox 57" id="57"/>
          <p:cNvSpPr txBox="true"/>
          <p:nvPr/>
        </p:nvSpPr>
        <p:spPr>
          <a:xfrm rot="0">
            <a:off x="13691369" y="3553541"/>
            <a:ext cx="3867478" cy="460375"/>
          </a:xfrm>
          <a:prstGeom prst="rect">
            <a:avLst/>
          </a:prstGeom>
        </p:spPr>
        <p:txBody>
          <a:bodyPr anchor="t" rtlCol="false" tIns="0" lIns="0" bIns="0" rIns="0">
            <a:spAutoFit/>
          </a:bodyPr>
          <a:lstStyle/>
          <a:p>
            <a:pPr algn="l">
              <a:lnSpc>
                <a:spcPts val="3499"/>
              </a:lnSpc>
            </a:pPr>
            <a:r>
              <a:rPr lang="en-US" sz="3499">
                <a:solidFill>
                  <a:srgbClr val="0B132B"/>
                </a:solidFill>
                <a:latin typeface="Rubik One"/>
                <a:ea typeface="Rubik One"/>
                <a:cs typeface="Rubik One"/>
                <a:sym typeface="Rubik One"/>
              </a:rPr>
              <a:t>CatBoost Bal</a:t>
            </a:r>
          </a:p>
        </p:txBody>
      </p:sp>
      <p:sp>
        <p:nvSpPr>
          <p:cNvPr name="TextBox 58" id="58"/>
          <p:cNvSpPr txBox="true"/>
          <p:nvPr/>
        </p:nvSpPr>
        <p:spPr>
          <a:xfrm rot="0">
            <a:off x="8238621" y="6716785"/>
            <a:ext cx="3637001"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CatBoost Reg</a:t>
            </a:r>
          </a:p>
        </p:txBody>
      </p:sp>
      <p:grpSp>
        <p:nvGrpSpPr>
          <p:cNvPr name="Group 59" id="59"/>
          <p:cNvGrpSpPr/>
          <p:nvPr/>
        </p:nvGrpSpPr>
        <p:grpSpPr>
          <a:xfrm rot="0">
            <a:off x="11205282" y="6529524"/>
            <a:ext cx="5936861" cy="2213431"/>
            <a:chOff x="0" y="0"/>
            <a:chExt cx="1068671" cy="398431"/>
          </a:xfrm>
        </p:grpSpPr>
        <p:sp>
          <p:nvSpPr>
            <p:cNvPr name="Freeform 60" id="60"/>
            <p:cNvSpPr/>
            <p:nvPr/>
          </p:nvSpPr>
          <p:spPr>
            <a:xfrm flipH="false" flipV="false" rot="0">
              <a:off x="7579" y="0"/>
              <a:ext cx="1053513" cy="398431"/>
            </a:xfrm>
            <a:custGeom>
              <a:avLst/>
              <a:gdLst/>
              <a:ahLst/>
              <a:cxnLst/>
              <a:rect r="r" b="b" t="t" l="l"/>
              <a:pathLst>
                <a:path h="398431" w="1053513">
                  <a:moveTo>
                    <a:pt x="215182" y="0"/>
                  </a:moveTo>
                  <a:lnTo>
                    <a:pt x="1041531" y="0"/>
                  </a:lnTo>
                  <a:cubicBezTo>
                    <a:pt x="1045701" y="0"/>
                    <a:pt x="1049570" y="2168"/>
                    <a:pt x="1051748" y="5723"/>
                  </a:cubicBezTo>
                  <a:cubicBezTo>
                    <a:pt x="1053926" y="9279"/>
                    <a:pt x="1054099" y="13711"/>
                    <a:pt x="1052205" y="17425"/>
                  </a:cubicBezTo>
                  <a:lnTo>
                    <a:pt x="866778" y="381005"/>
                  </a:lnTo>
                  <a:cubicBezTo>
                    <a:pt x="861325" y="391699"/>
                    <a:pt x="850335" y="398431"/>
                    <a:pt x="838331" y="398431"/>
                  </a:cubicBezTo>
                  <a:lnTo>
                    <a:pt x="11982" y="398431"/>
                  </a:lnTo>
                  <a:cubicBezTo>
                    <a:pt x="7812" y="398431"/>
                    <a:pt x="3942" y="396263"/>
                    <a:pt x="1764" y="392708"/>
                  </a:cubicBezTo>
                  <a:cubicBezTo>
                    <a:pt x="-414" y="389152"/>
                    <a:pt x="-586" y="384720"/>
                    <a:pt x="1308" y="381005"/>
                  </a:cubicBezTo>
                  <a:lnTo>
                    <a:pt x="186734" y="17425"/>
                  </a:lnTo>
                  <a:cubicBezTo>
                    <a:pt x="192188" y="6732"/>
                    <a:pt x="203178" y="0"/>
                    <a:pt x="215182" y="0"/>
                  </a:cubicBezTo>
                  <a:close/>
                </a:path>
              </a:pathLst>
            </a:custGeom>
            <a:solidFill>
              <a:srgbClr val="00B58F"/>
            </a:solidFill>
          </p:spPr>
        </p:sp>
        <p:sp>
          <p:nvSpPr>
            <p:cNvPr name="TextBox 61" id="61"/>
            <p:cNvSpPr txBox="true"/>
            <p:nvPr/>
          </p:nvSpPr>
          <p:spPr>
            <a:xfrm>
              <a:off x="101600" y="-38100"/>
              <a:ext cx="865471" cy="436531"/>
            </a:xfrm>
            <a:prstGeom prst="rect">
              <a:avLst/>
            </a:prstGeom>
          </p:spPr>
          <p:txBody>
            <a:bodyPr anchor="ctr" rtlCol="false" tIns="50800" lIns="50800" bIns="50800" rIns="50800"/>
            <a:lstStyle/>
            <a:p>
              <a:pPr algn="ctr">
                <a:lnSpc>
                  <a:spcPts val="2659"/>
                </a:lnSpc>
              </a:pPr>
            </a:p>
          </p:txBody>
        </p:sp>
      </p:grpSp>
      <p:grpSp>
        <p:nvGrpSpPr>
          <p:cNvPr name="Group 62" id="62"/>
          <p:cNvGrpSpPr/>
          <p:nvPr/>
        </p:nvGrpSpPr>
        <p:grpSpPr>
          <a:xfrm rot="0">
            <a:off x="13002907" y="6404541"/>
            <a:ext cx="4264688" cy="779676"/>
            <a:chOff x="0" y="0"/>
            <a:chExt cx="2179345" cy="398431"/>
          </a:xfrm>
        </p:grpSpPr>
        <p:sp>
          <p:nvSpPr>
            <p:cNvPr name="Freeform 63" id="63"/>
            <p:cNvSpPr/>
            <p:nvPr/>
          </p:nvSpPr>
          <p:spPr>
            <a:xfrm flipH="false" flipV="false" rot="0">
              <a:off x="10551" y="0"/>
              <a:ext cx="2158244" cy="398431"/>
            </a:xfrm>
            <a:custGeom>
              <a:avLst/>
              <a:gdLst/>
              <a:ahLst/>
              <a:cxnLst/>
              <a:rect r="r" b="b" t="t" l="l"/>
              <a:pathLst>
                <a:path h="398431" w="2158244">
                  <a:moveTo>
                    <a:pt x="219879" y="0"/>
                  </a:moveTo>
                  <a:lnTo>
                    <a:pt x="2141564" y="0"/>
                  </a:lnTo>
                  <a:cubicBezTo>
                    <a:pt x="2147368" y="0"/>
                    <a:pt x="2152755" y="3018"/>
                    <a:pt x="2155787" y="7967"/>
                  </a:cubicBezTo>
                  <a:cubicBezTo>
                    <a:pt x="2158819" y="12917"/>
                    <a:pt x="2159060" y="19087"/>
                    <a:pt x="2156422" y="24258"/>
                  </a:cubicBezTo>
                  <a:lnTo>
                    <a:pt x="1977965" y="374173"/>
                  </a:lnTo>
                  <a:cubicBezTo>
                    <a:pt x="1970373" y="389059"/>
                    <a:pt x="1955074" y="398431"/>
                    <a:pt x="1938364" y="398431"/>
                  </a:cubicBezTo>
                  <a:lnTo>
                    <a:pt x="16679" y="398431"/>
                  </a:lnTo>
                  <a:cubicBezTo>
                    <a:pt x="10875" y="398431"/>
                    <a:pt x="5488" y="395413"/>
                    <a:pt x="2456" y="390464"/>
                  </a:cubicBezTo>
                  <a:cubicBezTo>
                    <a:pt x="-576" y="385514"/>
                    <a:pt x="-817" y="379344"/>
                    <a:pt x="1820" y="374173"/>
                  </a:cubicBezTo>
                  <a:lnTo>
                    <a:pt x="180278" y="24258"/>
                  </a:lnTo>
                  <a:cubicBezTo>
                    <a:pt x="187870" y="9371"/>
                    <a:pt x="203169" y="0"/>
                    <a:pt x="219879" y="0"/>
                  </a:cubicBezTo>
                  <a:close/>
                </a:path>
              </a:pathLst>
            </a:custGeom>
            <a:solidFill>
              <a:srgbClr val="EDF6F9"/>
            </a:solidFill>
          </p:spPr>
        </p:sp>
        <p:sp>
          <p:nvSpPr>
            <p:cNvPr name="TextBox 64" id="64"/>
            <p:cNvSpPr txBox="true"/>
            <p:nvPr/>
          </p:nvSpPr>
          <p:spPr>
            <a:xfrm>
              <a:off x="101600" y="-38100"/>
              <a:ext cx="1976145" cy="436531"/>
            </a:xfrm>
            <a:prstGeom prst="rect">
              <a:avLst/>
            </a:prstGeom>
          </p:spPr>
          <p:txBody>
            <a:bodyPr anchor="ctr" rtlCol="false" tIns="50800" lIns="50800" bIns="50800" rIns="50800"/>
            <a:lstStyle/>
            <a:p>
              <a:pPr algn="ctr">
                <a:lnSpc>
                  <a:spcPts val="2659"/>
                </a:lnSpc>
              </a:pPr>
            </a:p>
          </p:txBody>
        </p:sp>
      </p:grpSp>
      <p:sp>
        <p:nvSpPr>
          <p:cNvPr name="TextBox 65" id="65"/>
          <p:cNvSpPr txBox="true"/>
          <p:nvPr/>
        </p:nvSpPr>
        <p:spPr>
          <a:xfrm rot="0">
            <a:off x="12275672" y="6735835"/>
            <a:ext cx="727234" cy="448310"/>
          </a:xfrm>
          <a:prstGeom prst="rect">
            <a:avLst/>
          </a:prstGeom>
        </p:spPr>
        <p:txBody>
          <a:bodyPr anchor="t" rtlCol="false" tIns="0" lIns="0" bIns="0" rIns="0">
            <a:spAutoFit/>
          </a:bodyPr>
          <a:lstStyle/>
          <a:p>
            <a:pPr algn="ctr">
              <a:lnSpc>
                <a:spcPts val="3399"/>
              </a:lnSpc>
            </a:pPr>
            <a:r>
              <a:rPr lang="en-US" sz="3399">
                <a:solidFill>
                  <a:srgbClr val="FFFFFF"/>
                </a:solidFill>
                <a:latin typeface="Rubik One"/>
                <a:ea typeface="Rubik One"/>
                <a:cs typeface="Rubik One"/>
                <a:sym typeface="Rubik One"/>
              </a:rPr>
              <a:t>06</a:t>
            </a:r>
          </a:p>
        </p:txBody>
      </p:sp>
      <p:sp>
        <p:nvSpPr>
          <p:cNvPr name="TextBox 66" id="66"/>
          <p:cNvSpPr txBox="true"/>
          <p:nvPr/>
        </p:nvSpPr>
        <p:spPr>
          <a:xfrm rot="0">
            <a:off x="12123523" y="7246446"/>
            <a:ext cx="4065969" cy="1259205"/>
          </a:xfrm>
          <a:prstGeom prst="rect">
            <a:avLst/>
          </a:prstGeom>
        </p:spPr>
        <p:txBody>
          <a:bodyPr anchor="t" rtlCol="false" tIns="0" lIns="0" bIns="0" rIns="0">
            <a:spAutoFit/>
          </a:bodyPr>
          <a:lstStyle/>
          <a:p>
            <a:pPr algn="just">
              <a:lnSpc>
                <a:spcPts val="2519"/>
              </a:lnSpc>
            </a:pPr>
            <a:r>
              <a:rPr lang="en-US" sz="1799" spc="44">
                <a:solidFill>
                  <a:srgbClr val="FFFFFF"/>
                </a:solidFill>
                <a:latin typeface="Bricolage Grotesque"/>
                <a:ea typeface="Bricolage Grotesque"/>
                <a:cs typeface="Bricolage Grotesque"/>
                <a:sym typeface="Bricolage Grotesque"/>
              </a:rPr>
              <a:t>M</a:t>
            </a:r>
            <a:r>
              <a:rPr lang="en-US" sz="1799" spc="44">
                <a:solidFill>
                  <a:srgbClr val="FFFFFF"/>
                </a:solidFill>
                <a:latin typeface="Bricolage Grotesque"/>
                <a:ea typeface="Bricolage Grotesque"/>
                <a:cs typeface="Bricolage Grotesque"/>
                <a:sym typeface="Bricolage Grotesque"/>
              </a:rPr>
              <a:t>enggunakan pohon berkedalaman 6 dan mengambil 80% fitur pada setiap pembagian untuk keragaman serta mengurangi overfitting.</a:t>
            </a:r>
          </a:p>
        </p:txBody>
      </p:sp>
      <p:sp>
        <p:nvSpPr>
          <p:cNvPr name="TextBox 67" id="67"/>
          <p:cNvSpPr txBox="true"/>
          <p:nvPr/>
        </p:nvSpPr>
        <p:spPr>
          <a:xfrm rot="0">
            <a:off x="13400116" y="6716785"/>
            <a:ext cx="316993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XGBoost Reg</a:t>
            </a:r>
          </a:p>
        </p:txBody>
      </p:sp>
      <p:sp>
        <p:nvSpPr>
          <p:cNvPr name="TextBox 68" id="68"/>
          <p:cNvSpPr txBox="true"/>
          <p:nvPr/>
        </p:nvSpPr>
        <p:spPr>
          <a:xfrm rot="0">
            <a:off x="1028700" y="2074499"/>
            <a:ext cx="14286163" cy="316230"/>
          </a:xfrm>
          <a:prstGeom prst="rect">
            <a:avLst/>
          </a:prstGeom>
        </p:spPr>
        <p:txBody>
          <a:bodyPr anchor="t" rtlCol="false" tIns="0" lIns="0" bIns="0" rIns="0">
            <a:spAutoFit/>
          </a:bodyPr>
          <a:lstStyle/>
          <a:p>
            <a:pPr algn="just">
              <a:lnSpc>
                <a:spcPts val="2519"/>
              </a:lnSpc>
            </a:pPr>
            <a:r>
              <a:rPr lang="en-US" sz="1799" spc="44">
                <a:solidFill>
                  <a:srgbClr val="0B132B"/>
                </a:solidFill>
                <a:latin typeface="Bricolage Grotesque"/>
                <a:ea typeface="Bricolage Grotesque"/>
                <a:cs typeface="Bricolage Grotesque"/>
                <a:sym typeface="Bricolage Grotesque"/>
              </a:rPr>
              <a:t>Pengimplementasian </a:t>
            </a:r>
            <a:r>
              <a:rPr lang="en-US" b="true" sz="1799" spc="44">
                <a:solidFill>
                  <a:srgbClr val="0B132B"/>
                </a:solidFill>
                <a:latin typeface="Bricolage Grotesque Bold"/>
                <a:ea typeface="Bricolage Grotesque Bold"/>
                <a:cs typeface="Bricolage Grotesque Bold"/>
                <a:sym typeface="Bricolage Grotesque Bold"/>
              </a:rPr>
              <a:t>3 model</a:t>
            </a:r>
            <a:r>
              <a:rPr lang="en-US" sz="1799" spc="44">
                <a:solidFill>
                  <a:srgbClr val="0B132B"/>
                </a:solidFill>
                <a:latin typeface="Bricolage Grotesque"/>
                <a:ea typeface="Bricolage Grotesque"/>
                <a:cs typeface="Bricolage Grotesque"/>
                <a:sym typeface="Bricolage Grotesque"/>
              </a:rPr>
              <a:t> dengan </a:t>
            </a:r>
            <a:r>
              <a:rPr lang="en-US" b="true" sz="1799" spc="44">
                <a:solidFill>
                  <a:srgbClr val="0B132B"/>
                </a:solidFill>
                <a:latin typeface="Bricolage Grotesque Bold"/>
                <a:ea typeface="Bricolage Grotesque Bold"/>
                <a:cs typeface="Bricolage Grotesque Bold"/>
                <a:sym typeface="Bricolage Grotesque Bold"/>
              </a:rPr>
              <a:t>6 konfigurasi</a:t>
            </a:r>
            <a:r>
              <a:rPr lang="en-US" sz="1799" spc="44">
                <a:solidFill>
                  <a:srgbClr val="0B132B"/>
                </a:solidFill>
                <a:latin typeface="Bricolage Grotesque"/>
                <a:ea typeface="Bricolage Grotesque"/>
                <a:cs typeface="Bricolage Grotesque"/>
                <a:sym typeface="Bricolage Grotesque"/>
              </a:rPr>
              <a:t> berbeda, lalu </a:t>
            </a:r>
            <a:r>
              <a:rPr lang="en-US" b="true" sz="1799" spc="44">
                <a:solidFill>
                  <a:srgbClr val="0B132B"/>
                </a:solidFill>
                <a:latin typeface="Bricolage Grotesque Bold"/>
                <a:ea typeface="Bricolage Grotesque Bold"/>
                <a:cs typeface="Bricolage Grotesque Bold"/>
                <a:sym typeface="Bricolage Grotesque Bold"/>
              </a:rPr>
              <a:t>Ensemble </a:t>
            </a:r>
            <a:r>
              <a:rPr lang="en-US" sz="1799" spc="44">
                <a:solidFill>
                  <a:srgbClr val="0B132B"/>
                </a:solidFill>
                <a:latin typeface="Bricolage Grotesque"/>
                <a:ea typeface="Bricolage Grotesque"/>
                <a:cs typeface="Bricolage Grotesque"/>
                <a:sym typeface="Bricolage Grotesque"/>
              </a:rPr>
              <a:t>menggunakan </a:t>
            </a:r>
            <a:r>
              <a:rPr lang="en-US" b="true" sz="1799" spc="44">
                <a:solidFill>
                  <a:srgbClr val="0B132B"/>
                </a:solidFill>
                <a:latin typeface="Bricolage Grotesque Bold"/>
                <a:ea typeface="Bricolage Grotesque Bold"/>
                <a:cs typeface="Bricolage Grotesque Bold"/>
                <a:sym typeface="Bricolage Grotesque Bold"/>
              </a:rPr>
              <a:t>Ridge Regression Meta Learner</a:t>
            </a:r>
          </a:p>
        </p:txBody>
      </p:sp>
      <p:grpSp>
        <p:nvGrpSpPr>
          <p:cNvPr name="Group 69" id="69"/>
          <p:cNvGrpSpPr/>
          <p:nvPr/>
        </p:nvGrpSpPr>
        <p:grpSpPr>
          <a:xfrm rot="0">
            <a:off x="1028700" y="2762641"/>
            <a:ext cx="8322337" cy="694562"/>
            <a:chOff x="0" y="0"/>
            <a:chExt cx="11096450" cy="926083"/>
          </a:xfrm>
        </p:grpSpPr>
        <p:grpSp>
          <p:nvGrpSpPr>
            <p:cNvPr name="Group 70" id="70"/>
            <p:cNvGrpSpPr/>
            <p:nvPr/>
          </p:nvGrpSpPr>
          <p:grpSpPr>
            <a:xfrm rot="0">
              <a:off x="0" y="0"/>
              <a:ext cx="6684460" cy="926083"/>
              <a:chOff x="0" y="0"/>
              <a:chExt cx="1376939" cy="190765"/>
            </a:xfrm>
          </p:grpSpPr>
          <p:sp>
            <p:nvSpPr>
              <p:cNvPr name="Freeform 71" id="71"/>
              <p:cNvSpPr/>
              <p:nvPr/>
            </p:nvSpPr>
            <p:spPr>
              <a:xfrm flipH="false" flipV="false" rot="0">
                <a:off x="0" y="0"/>
                <a:ext cx="1376939" cy="190765"/>
              </a:xfrm>
              <a:custGeom>
                <a:avLst/>
                <a:gdLst/>
                <a:ahLst/>
                <a:cxnLst/>
                <a:rect r="r" b="b" t="t" l="l"/>
                <a:pathLst>
                  <a:path h="190765" w="1376939">
                    <a:moveTo>
                      <a:pt x="15443" y="0"/>
                    </a:moveTo>
                    <a:lnTo>
                      <a:pt x="1361497" y="0"/>
                    </a:lnTo>
                    <a:cubicBezTo>
                      <a:pt x="1365592" y="0"/>
                      <a:pt x="1369520" y="1627"/>
                      <a:pt x="1372416" y="4523"/>
                    </a:cubicBezTo>
                    <a:cubicBezTo>
                      <a:pt x="1375312" y="7419"/>
                      <a:pt x="1376939" y="11347"/>
                      <a:pt x="1376939" y="15443"/>
                    </a:cubicBezTo>
                    <a:lnTo>
                      <a:pt x="1376939" y="175322"/>
                    </a:lnTo>
                    <a:cubicBezTo>
                      <a:pt x="1376939" y="183851"/>
                      <a:pt x="1370025" y="190765"/>
                      <a:pt x="1361497" y="190765"/>
                    </a:cubicBezTo>
                    <a:lnTo>
                      <a:pt x="15443" y="190765"/>
                    </a:lnTo>
                    <a:cubicBezTo>
                      <a:pt x="6914" y="190765"/>
                      <a:pt x="0" y="183851"/>
                      <a:pt x="0" y="175322"/>
                    </a:cubicBezTo>
                    <a:lnTo>
                      <a:pt x="0" y="15443"/>
                    </a:lnTo>
                    <a:cubicBezTo>
                      <a:pt x="0" y="6914"/>
                      <a:pt x="6914" y="0"/>
                      <a:pt x="15443" y="0"/>
                    </a:cubicBezTo>
                    <a:close/>
                  </a:path>
                </a:pathLst>
              </a:custGeom>
              <a:solidFill>
                <a:srgbClr val="EDF6F9"/>
              </a:solidFill>
              <a:ln cap="sq">
                <a:noFill/>
                <a:prstDash val="solid"/>
                <a:miter/>
              </a:ln>
            </p:spPr>
          </p:sp>
          <p:sp>
            <p:nvSpPr>
              <p:cNvPr name="TextBox 72" id="72"/>
              <p:cNvSpPr txBox="true"/>
              <p:nvPr/>
            </p:nvSpPr>
            <p:spPr>
              <a:xfrm>
                <a:off x="0" y="-38100"/>
                <a:ext cx="1376939" cy="228865"/>
              </a:xfrm>
              <a:prstGeom prst="rect">
                <a:avLst/>
              </a:prstGeom>
            </p:spPr>
            <p:txBody>
              <a:bodyPr anchor="ctr" rtlCol="false" tIns="47774" lIns="47774" bIns="47774" rIns="47774"/>
              <a:lstStyle/>
              <a:p>
                <a:pPr algn="ctr">
                  <a:lnSpc>
                    <a:spcPts val="2659"/>
                  </a:lnSpc>
                  <a:spcBef>
                    <a:spcPct val="0"/>
                  </a:spcBef>
                </a:pPr>
              </a:p>
            </p:txBody>
          </p:sp>
        </p:grpSp>
        <p:grpSp>
          <p:nvGrpSpPr>
            <p:cNvPr name="Group 73" id="73"/>
            <p:cNvGrpSpPr/>
            <p:nvPr/>
          </p:nvGrpSpPr>
          <p:grpSpPr>
            <a:xfrm rot="-10800000">
              <a:off x="224145" y="174257"/>
              <a:ext cx="669025" cy="585397"/>
              <a:chOff x="0" y="0"/>
              <a:chExt cx="812800" cy="711200"/>
            </a:xfrm>
          </p:grpSpPr>
          <p:sp>
            <p:nvSpPr>
              <p:cNvPr name="Freeform 74" id="74"/>
              <p:cNvSpPr/>
              <p:nvPr/>
            </p:nvSpPr>
            <p:spPr>
              <a:xfrm flipH="false" flipV="false" rot="0">
                <a:off x="64753" y="89539"/>
                <a:ext cx="683294" cy="621661"/>
              </a:xfrm>
              <a:custGeom>
                <a:avLst/>
                <a:gdLst/>
                <a:ahLst/>
                <a:cxnLst/>
                <a:rect r="r" b="b" t="t" l="l"/>
                <a:pathLst>
                  <a:path h="621661" w="683294">
                    <a:moveTo>
                      <a:pt x="418198" y="44424"/>
                    </a:moveTo>
                    <a:lnTo>
                      <a:pt x="671496" y="487698"/>
                    </a:lnTo>
                    <a:cubicBezTo>
                      <a:pt x="687332" y="515410"/>
                      <a:pt x="687219" y="549457"/>
                      <a:pt x="671198" y="577064"/>
                    </a:cubicBezTo>
                    <a:cubicBezTo>
                      <a:pt x="655177" y="604670"/>
                      <a:pt x="625673" y="621661"/>
                      <a:pt x="593754" y="621661"/>
                    </a:cubicBezTo>
                    <a:lnTo>
                      <a:pt x="89540" y="621661"/>
                    </a:lnTo>
                    <a:cubicBezTo>
                      <a:pt x="57621" y="621661"/>
                      <a:pt x="28117" y="604670"/>
                      <a:pt x="12096" y="577064"/>
                    </a:cubicBezTo>
                    <a:cubicBezTo>
                      <a:pt x="-3925" y="549457"/>
                      <a:pt x="-4038" y="515410"/>
                      <a:pt x="11798" y="487698"/>
                    </a:cubicBezTo>
                    <a:lnTo>
                      <a:pt x="265096" y="44424"/>
                    </a:lnTo>
                    <a:cubicBezTo>
                      <a:pt x="280794" y="16954"/>
                      <a:pt x="310008" y="0"/>
                      <a:pt x="341647" y="0"/>
                    </a:cubicBezTo>
                    <a:cubicBezTo>
                      <a:pt x="373286" y="0"/>
                      <a:pt x="402500" y="16954"/>
                      <a:pt x="418198" y="44424"/>
                    </a:cubicBezTo>
                    <a:close/>
                  </a:path>
                </a:pathLst>
              </a:custGeom>
              <a:solidFill>
                <a:srgbClr val="0B1E36"/>
              </a:solidFill>
              <a:ln cap="sq">
                <a:noFill/>
                <a:prstDash val="solid"/>
                <a:miter/>
              </a:ln>
            </p:spPr>
          </p:sp>
          <p:sp>
            <p:nvSpPr>
              <p:cNvPr name="TextBox 75" id="75"/>
              <p:cNvSpPr txBox="true"/>
              <p:nvPr/>
            </p:nvSpPr>
            <p:spPr>
              <a:xfrm>
                <a:off x="127000" y="292100"/>
                <a:ext cx="558800" cy="368300"/>
              </a:xfrm>
              <a:prstGeom prst="rect">
                <a:avLst/>
              </a:prstGeom>
            </p:spPr>
            <p:txBody>
              <a:bodyPr anchor="ctr" rtlCol="false" tIns="47774" lIns="47774" bIns="47774" rIns="47774"/>
              <a:lstStyle/>
              <a:p>
                <a:pPr algn="ctr">
                  <a:lnSpc>
                    <a:spcPts val="2659"/>
                  </a:lnSpc>
                </a:pPr>
              </a:p>
            </p:txBody>
          </p:sp>
        </p:grpSp>
        <p:sp>
          <p:nvSpPr>
            <p:cNvPr name="TextBox 76" id="76"/>
            <p:cNvSpPr txBox="true"/>
            <p:nvPr/>
          </p:nvSpPr>
          <p:spPr>
            <a:xfrm rot="0">
              <a:off x="893170" y="126632"/>
              <a:ext cx="10203279" cy="535913"/>
            </a:xfrm>
            <a:prstGeom prst="rect">
              <a:avLst/>
            </a:prstGeom>
          </p:spPr>
          <p:txBody>
            <a:bodyPr anchor="t" rtlCol="false" tIns="0" lIns="0" bIns="0" rIns="0">
              <a:spAutoFit/>
            </a:bodyPr>
            <a:lstStyle/>
            <a:p>
              <a:pPr algn="just">
                <a:lnSpc>
                  <a:spcPts val="3439"/>
                </a:lnSpc>
              </a:pPr>
              <a:r>
                <a:rPr lang="en-US" sz="2457" spc="61">
                  <a:solidFill>
                    <a:srgbClr val="0B132B"/>
                  </a:solidFill>
                  <a:latin typeface="Rubik One"/>
                  <a:ea typeface="Rubik One"/>
                  <a:cs typeface="Rubik One"/>
                  <a:sym typeface="Rubik One"/>
                </a:rPr>
                <a:t>STREAM A </a:t>
              </a:r>
              <a:r>
                <a:rPr lang="en-US" sz="2457" spc="61">
                  <a:solidFill>
                    <a:srgbClr val="00B58F"/>
                  </a:solidFill>
                  <a:latin typeface="Rubik One"/>
                  <a:ea typeface="Rubik One"/>
                  <a:cs typeface="Rubik One"/>
                  <a:sym typeface="Rubik One"/>
                </a:rPr>
                <a:t>(</a:t>
              </a:r>
              <a:r>
                <a:rPr lang="en-US" sz="2457" i="true" spc="61">
                  <a:solidFill>
                    <a:srgbClr val="00B58F"/>
                  </a:solidFill>
                  <a:latin typeface="Rubik One"/>
                  <a:ea typeface="Rubik One"/>
                  <a:cs typeface="Rubik One"/>
                  <a:sym typeface="Rubik One"/>
                </a:rPr>
                <a:t>Deep Non-Linear Patterning)</a:t>
              </a:r>
            </a:p>
          </p:txBody>
        </p:sp>
      </p:grpSp>
      <p:grpSp>
        <p:nvGrpSpPr>
          <p:cNvPr name="Group 77" id="77"/>
          <p:cNvGrpSpPr/>
          <p:nvPr/>
        </p:nvGrpSpPr>
        <p:grpSpPr>
          <a:xfrm rot="0">
            <a:off x="689880" y="5814753"/>
            <a:ext cx="8955386" cy="694562"/>
            <a:chOff x="0" y="0"/>
            <a:chExt cx="11940515" cy="926083"/>
          </a:xfrm>
        </p:grpSpPr>
        <p:grpSp>
          <p:nvGrpSpPr>
            <p:cNvPr name="Group 78" id="78"/>
            <p:cNvGrpSpPr/>
            <p:nvPr/>
          </p:nvGrpSpPr>
          <p:grpSpPr>
            <a:xfrm rot="0">
              <a:off x="0" y="0"/>
              <a:ext cx="6684460" cy="926083"/>
              <a:chOff x="0" y="0"/>
              <a:chExt cx="1376939" cy="190765"/>
            </a:xfrm>
          </p:grpSpPr>
          <p:sp>
            <p:nvSpPr>
              <p:cNvPr name="Freeform 79" id="79"/>
              <p:cNvSpPr/>
              <p:nvPr/>
            </p:nvSpPr>
            <p:spPr>
              <a:xfrm flipH="false" flipV="false" rot="0">
                <a:off x="0" y="0"/>
                <a:ext cx="1376939" cy="190765"/>
              </a:xfrm>
              <a:custGeom>
                <a:avLst/>
                <a:gdLst/>
                <a:ahLst/>
                <a:cxnLst/>
                <a:rect r="r" b="b" t="t" l="l"/>
                <a:pathLst>
                  <a:path h="190765" w="1376939">
                    <a:moveTo>
                      <a:pt x="15443" y="0"/>
                    </a:moveTo>
                    <a:lnTo>
                      <a:pt x="1361497" y="0"/>
                    </a:lnTo>
                    <a:cubicBezTo>
                      <a:pt x="1365592" y="0"/>
                      <a:pt x="1369520" y="1627"/>
                      <a:pt x="1372416" y="4523"/>
                    </a:cubicBezTo>
                    <a:cubicBezTo>
                      <a:pt x="1375312" y="7419"/>
                      <a:pt x="1376939" y="11347"/>
                      <a:pt x="1376939" y="15443"/>
                    </a:cubicBezTo>
                    <a:lnTo>
                      <a:pt x="1376939" y="175322"/>
                    </a:lnTo>
                    <a:cubicBezTo>
                      <a:pt x="1376939" y="183851"/>
                      <a:pt x="1370025" y="190765"/>
                      <a:pt x="1361497" y="190765"/>
                    </a:cubicBezTo>
                    <a:lnTo>
                      <a:pt x="15443" y="190765"/>
                    </a:lnTo>
                    <a:cubicBezTo>
                      <a:pt x="6914" y="190765"/>
                      <a:pt x="0" y="183851"/>
                      <a:pt x="0" y="175322"/>
                    </a:cubicBezTo>
                    <a:lnTo>
                      <a:pt x="0" y="15443"/>
                    </a:lnTo>
                    <a:cubicBezTo>
                      <a:pt x="0" y="6914"/>
                      <a:pt x="6914" y="0"/>
                      <a:pt x="15443" y="0"/>
                    </a:cubicBezTo>
                    <a:close/>
                  </a:path>
                </a:pathLst>
              </a:custGeom>
              <a:solidFill>
                <a:srgbClr val="EDF6F9"/>
              </a:solidFill>
              <a:ln cap="sq">
                <a:noFill/>
                <a:prstDash val="solid"/>
                <a:miter/>
              </a:ln>
            </p:spPr>
          </p:sp>
          <p:sp>
            <p:nvSpPr>
              <p:cNvPr name="TextBox 80" id="80"/>
              <p:cNvSpPr txBox="true"/>
              <p:nvPr/>
            </p:nvSpPr>
            <p:spPr>
              <a:xfrm>
                <a:off x="0" y="-38100"/>
                <a:ext cx="1376939" cy="228865"/>
              </a:xfrm>
              <a:prstGeom prst="rect">
                <a:avLst/>
              </a:prstGeom>
            </p:spPr>
            <p:txBody>
              <a:bodyPr anchor="ctr" rtlCol="false" tIns="47774" lIns="47774" bIns="47774" rIns="47774"/>
              <a:lstStyle/>
              <a:p>
                <a:pPr algn="ctr">
                  <a:lnSpc>
                    <a:spcPts val="2659"/>
                  </a:lnSpc>
                  <a:spcBef>
                    <a:spcPct val="0"/>
                  </a:spcBef>
                </a:pPr>
              </a:p>
            </p:txBody>
          </p:sp>
        </p:grpSp>
        <p:grpSp>
          <p:nvGrpSpPr>
            <p:cNvPr name="Group 81" id="81"/>
            <p:cNvGrpSpPr/>
            <p:nvPr/>
          </p:nvGrpSpPr>
          <p:grpSpPr>
            <a:xfrm rot="-10800000">
              <a:off x="224145" y="174257"/>
              <a:ext cx="669025" cy="585397"/>
              <a:chOff x="0" y="0"/>
              <a:chExt cx="812800" cy="711200"/>
            </a:xfrm>
          </p:grpSpPr>
          <p:sp>
            <p:nvSpPr>
              <p:cNvPr name="Freeform 82" id="82"/>
              <p:cNvSpPr/>
              <p:nvPr/>
            </p:nvSpPr>
            <p:spPr>
              <a:xfrm flipH="false" flipV="false" rot="0">
                <a:off x="64753" y="89539"/>
                <a:ext cx="683294" cy="621661"/>
              </a:xfrm>
              <a:custGeom>
                <a:avLst/>
                <a:gdLst/>
                <a:ahLst/>
                <a:cxnLst/>
                <a:rect r="r" b="b" t="t" l="l"/>
                <a:pathLst>
                  <a:path h="621661" w="683294">
                    <a:moveTo>
                      <a:pt x="418198" y="44424"/>
                    </a:moveTo>
                    <a:lnTo>
                      <a:pt x="671496" y="487698"/>
                    </a:lnTo>
                    <a:cubicBezTo>
                      <a:pt x="687332" y="515410"/>
                      <a:pt x="687219" y="549457"/>
                      <a:pt x="671198" y="577064"/>
                    </a:cubicBezTo>
                    <a:cubicBezTo>
                      <a:pt x="655177" y="604670"/>
                      <a:pt x="625673" y="621661"/>
                      <a:pt x="593754" y="621661"/>
                    </a:cubicBezTo>
                    <a:lnTo>
                      <a:pt x="89540" y="621661"/>
                    </a:lnTo>
                    <a:cubicBezTo>
                      <a:pt x="57621" y="621661"/>
                      <a:pt x="28117" y="604670"/>
                      <a:pt x="12096" y="577064"/>
                    </a:cubicBezTo>
                    <a:cubicBezTo>
                      <a:pt x="-3925" y="549457"/>
                      <a:pt x="-4038" y="515410"/>
                      <a:pt x="11798" y="487698"/>
                    </a:cubicBezTo>
                    <a:lnTo>
                      <a:pt x="265096" y="44424"/>
                    </a:lnTo>
                    <a:cubicBezTo>
                      <a:pt x="280794" y="16954"/>
                      <a:pt x="310008" y="0"/>
                      <a:pt x="341647" y="0"/>
                    </a:cubicBezTo>
                    <a:cubicBezTo>
                      <a:pt x="373286" y="0"/>
                      <a:pt x="402500" y="16954"/>
                      <a:pt x="418198" y="44424"/>
                    </a:cubicBezTo>
                    <a:close/>
                  </a:path>
                </a:pathLst>
              </a:custGeom>
              <a:solidFill>
                <a:srgbClr val="0B1E36"/>
              </a:solidFill>
              <a:ln cap="sq">
                <a:noFill/>
                <a:prstDash val="solid"/>
                <a:miter/>
              </a:ln>
            </p:spPr>
          </p:sp>
          <p:sp>
            <p:nvSpPr>
              <p:cNvPr name="TextBox 83" id="83"/>
              <p:cNvSpPr txBox="true"/>
              <p:nvPr/>
            </p:nvSpPr>
            <p:spPr>
              <a:xfrm>
                <a:off x="127000" y="292100"/>
                <a:ext cx="558800" cy="368300"/>
              </a:xfrm>
              <a:prstGeom prst="rect">
                <a:avLst/>
              </a:prstGeom>
            </p:spPr>
            <p:txBody>
              <a:bodyPr anchor="ctr" rtlCol="false" tIns="47774" lIns="47774" bIns="47774" rIns="47774"/>
              <a:lstStyle/>
              <a:p>
                <a:pPr algn="ctr">
                  <a:lnSpc>
                    <a:spcPts val="2659"/>
                  </a:lnSpc>
                </a:pPr>
              </a:p>
            </p:txBody>
          </p:sp>
        </p:grpSp>
        <p:sp>
          <p:nvSpPr>
            <p:cNvPr name="TextBox 84" id="84"/>
            <p:cNvSpPr txBox="true"/>
            <p:nvPr/>
          </p:nvSpPr>
          <p:spPr>
            <a:xfrm rot="0">
              <a:off x="893170" y="126632"/>
              <a:ext cx="11047345" cy="535913"/>
            </a:xfrm>
            <a:prstGeom prst="rect">
              <a:avLst/>
            </a:prstGeom>
          </p:spPr>
          <p:txBody>
            <a:bodyPr anchor="t" rtlCol="false" tIns="0" lIns="0" bIns="0" rIns="0">
              <a:spAutoFit/>
            </a:bodyPr>
            <a:lstStyle/>
            <a:p>
              <a:pPr algn="just">
                <a:lnSpc>
                  <a:spcPts val="3439"/>
                </a:lnSpc>
              </a:pPr>
              <a:r>
                <a:rPr lang="en-US" sz="2457" spc="61">
                  <a:solidFill>
                    <a:srgbClr val="0B132B"/>
                  </a:solidFill>
                  <a:latin typeface="Rubik One"/>
                  <a:ea typeface="Rubik One"/>
                  <a:cs typeface="Rubik One"/>
                  <a:sym typeface="Rubik One"/>
                </a:rPr>
                <a:t>STREAM B </a:t>
              </a:r>
              <a:r>
                <a:rPr lang="en-US" sz="2457" spc="61">
                  <a:solidFill>
                    <a:srgbClr val="00B58F"/>
                  </a:solidFill>
                  <a:latin typeface="Rubik One"/>
                  <a:ea typeface="Rubik One"/>
                  <a:cs typeface="Rubik One"/>
                  <a:sym typeface="Rubik One"/>
                </a:rPr>
                <a:t>(R</a:t>
              </a:r>
              <a:r>
                <a:rPr lang="en-US" sz="2457" spc="61">
                  <a:solidFill>
                    <a:srgbClr val="00B58F"/>
                  </a:solidFill>
                  <a:latin typeface="Rubik One"/>
                  <a:ea typeface="Rubik One"/>
                  <a:cs typeface="Rubik One"/>
                  <a:sym typeface="Rubik One"/>
                </a:rPr>
                <a:t>e</a:t>
              </a:r>
              <a:r>
                <a:rPr lang="en-US" sz="2457" spc="61">
                  <a:solidFill>
                    <a:srgbClr val="00B58F"/>
                  </a:solidFill>
                  <a:latin typeface="Rubik One"/>
                  <a:ea typeface="Rubik One"/>
                  <a:cs typeface="Rubik One"/>
                  <a:sym typeface="Rubik One"/>
                </a:rPr>
                <a:t>gulariz</a:t>
              </a:r>
              <a:r>
                <a:rPr lang="en-US" sz="2457" spc="61">
                  <a:solidFill>
                    <a:srgbClr val="00B58F"/>
                  </a:solidFill>
                  <a:latin typeface="Rubik One"/>
                  <a:ea typeface="Rubik One"/>
                  <a:cs typeface="Rubik One"/>
                  <a:sym typeface="Rubik One"/>
                </a:rPr>
                <a:t>e</a:t>
              </a:r>
              <a:r>
                <a:rPr lang="en-US" sz="2457" spc="61">
                  <a:solidFill>
                    <a:srgbClr val="00B58F"/>
                  </a:solidFill>
                  <a:latin typeface="Rubik One"/>
                  <a:ea typeface="Rubik One"/>
                  <a:cs typeface="Rubik One"/>
                  <a:sym typeface="Rubik One"/>
                </a:rPr>
                <a:t>d</a:t>
              </a:r>
              <a:r>
                <a:rPr lang="en-US" sz="2457" spc="61">
                  <a:solidFill>
                    <a:srgbClr val="00B58F"/>
                  </a:solidFill>
                  <a:latin typeface="Rubik One"/>
                  <a:ea typeface="Rubik One"/>
                  <a:cs typeface="Rubik One"/>
                  <a:sym typeface="Rubik One"/>
                </a:rPr>
                <a:t> </a:t>
              </a:r>
              <a:r>
                <a:rPr lang="en-US" sz="2457" spc="61">
                  <a:solidFill>
                    <a:srgbClr val="00B58F"/>
                  </a:solidFill>
                  <a:latin typeface="Rubik One"/>
                  <a:ea typeface="Rubik One"/>
                  <a:cs typeface="Rubik One"/>
                  <a:sym typeface="Rubik One"/>
                </a:rPr>
                <a:t>R</a:t>
              </a:r>
              <a:r>
                <a:rPr lang="en-US" sz="2457" spc="61">
                  <a:solidFill>
                    <a:srgbClr val="00B58F"/>
                  </a:solidFill>
                  <a:latin typeface="Rubik One"/>
                  <a:ea typeface="Rubik One"/>
                  <a:cs typeface="Rubik One"/>
                  <a:sym typeface="Rubik One"/>
                </a:rPr>
                <a:t>o</a:t>
              </a:r>
              <a:r>
                <a:rPr lang="en-US" sz="2457" spc="61">
                  <a:solidFill>
                    <a:srgbClr val="00B58F"/>
                  </a:solidFill>
                  <a:latin typeface="Rubik One"/>
                  <a:ea typeface="Rubik One"/>
                  <a:cs typeface="Rubik One"/>
                  <a:sym typeface="Rubik One"/>
                </a:rPr>
                <a:t>bust</a:t>
              </a:r>
              <a:r>
                <a:rPr lang="en-US" sz="2457" spc="61">
                  <a:solidFill>
                    <a:srgbClr val="00B58F"/>
                  </a:solidFill>
                  <a:latin typeface="Rubik One"/>
                  <a:ea typeface="Rubik One"/>
                  <a:cs typeface="Rubik One"/>
                  <a:sym typeface="Rubik One"/>
                </a:rPr>
                <a:t>ne</a:t>
              </a:r>
              <a:r>
                <a:rPr lang="en-US" sz="2457" spc="61">
                  <a:solidFill>
                    <a:srgbClr val="00B58F"/>
                  </a:solidFill>
                  <a:latin typeface="Rubik One"/>
                  <a:ea typeface="Rubik One"/>
                  <a:cs typeface="Rubik One"/>
                  <a:sym typeface="Rubik One"/>
                </a:rPr>
                <a:t>ss</a:t>
              </a:r>
              <a:r>
                <a:rPr lang="en-US" sz="2457" spc="61">
                  <a:solidFill>
                    <a:srgbClr val="00B58F"/>
                  </a:solidFill>
                  <a:latin typeface="Rubik One"/>
                  <a:ea typeface="Rubik One"/>
                  <a:cs typeface="Rubik One"/>
                  <a:sym typeface="Rubik One"/>
                </a:rPr>
                <a:t> </a:t>
              </a:r>
              <a:r>
                <a:rPr lang="en-US" sz="2457" spc="61">
                  <a:solidFill>
                    <a:srgbClr val="00B58F"/>
                  </a:solidFill>
                  <a:latin typeface="Rubik One"/>
                  <a:ea typeface="Rubik One"/>
                  <a:cs typeface="Rubik One"/>
                  <a:sym typeface="Rubik One"/>
                </a:rPr>
                <a:t>Div</a:t>
              </a:r>
              <a:r>
                <a:rPr lang="en-US" sz="2457" spc="61">
                  <a:solidFill>
                    <a:srgbClr val="00B58F"/>
                  </a:solidFill>
                  <a:latin typeface="Rubik One"/>
                  <a:ea typeface="Rubik One"/>
                  <a:cs typeface="Rubik One"/>
                  <a:sym typeface="Rubik One"/>
                </a:rPr>
                <a:t>er</a:t>
              </a:r>
              <a:r>
                <a:rPr lang="en-US" sz="2457" spc="61">
                  <a:solidFill>
                    <a:srgbClr val="00B58F"/>
                  </a:solidFill>
                  <a:latin typeface="Rubik One"/>
                  <a:ea typeface="Rubik One"/>
                  <a:cs typeface="Rubik One"/>
                  <a:sym typeface="Rubik One"/>
                </a:rPr>
                <a:t>s</a:t>
              </a:r>
              <a:r>
                <a:rPr lang="en-US" sz="2457" spc="61">
                  <a:solidFill>
                    <a:srgbClr val="00B58F"/>
                  </a:solidFill>
                  <a:latin typeface="Rubik One"/>
                  <a:ea typeface="Rubik One"/>
                  <a:cs typeface="Rubik One"/>
                  <a:sym typeface="Rubik One"/>
                </a:rPr>
                <a:t>i</a:t>
              </a:r>
              <a:r>
                <a:rPr lang="en-US" sz="2457" spc="61">
                  <a:solidFill>
                    <a:srgbClr val="00B58F"/>
                  </a:solidFill>
                  <a:latin typeface="Rubik One"/>
                  <a:ea typeface="Rubik One"/>
                  <a:cs typeface="Rubik One"/>
                  <a:sym typeface="Rubik One"/>
                </a:rPr>
                <a:t>ty</a:t>
              </a:r>
              <a:r>
                <a:rPr lang="en-US" sz="2457" i="true" spc="61">
                  <a:solidFill>
                    <a:srgbClr val="00B58F"/>
                  </a:solidFill>
                  <a:latin typeface="Rubik One"/>
                  <a:ea typeface="Rubik One"/>
                  <a:cs typeface="Rubik One"/>
                  <a:sym typeface="Rubik One"/>
                </a:rPr>
                <a:t>)</a:t>
              </a:r>
            </a:p>
          </p:txBody>
        </p:sp>
      </p:grpSp>
      <p:grpSp>
        <p:nvGrpSpPr>
          <p:cNvPr name="Group 85" id="85"/>
          <p:cNvGrpSpPr/>
          <p:nvPr/>
        </p:nvGrpSpPr>
        <p:grpSpPr>
          <a:xfrm rot="0">
            <a:off x="855357" y="8942980"/>
            <a:ext cx="8056178" cy="686658"/>
            <a:chOff x="0" y="0"/>
            <a:chExt cx="10741570" cy="915544"/>
          </a:xfrm>
        </p:grpSpPr>
        <p:grpSp>
          <p:nvGrpSpPr>
            <p:cNvPr name="Group 86" id="86"/>
            <p:cNvGrpSpPr/>
            <p:nvPr/>
          </p:nvGrpSpPr>
          <p:grpSpPr>
            <a:xfrm rot="0">
              <a:off x="41559" y="0"/>
              <a:ext cx="10700011" cy="915544"/>
              <a:chOff x="0" y="0"/>
              <a:chExt cx="2229478" cy="190765"/>
            </a:xfrm>
          </p:grpSpPr>
          <p:sp>
            <p:nvSpPr>
              <p:cNvPr name="Freeform 87" id="87"/>
              <p:cNvSpPr/>
              <p:nvPr/>
            </p:nvSpPr>
            <p:spPr>
              <a:xfrm flipH="false" flipV="false" rot="0">
                <a:off x="0" y="0"/>
                <a:ext cx="2229478" cy="190765"/>
              </a:xfrm>
              <a:custGeom>
                <a:avLst/>
                <a:gdLst/>
                <a:ahLst/>
                <a:cxnLst/>
                <a:rect r="r" b="b" t="t" l="l"/>
                <a:pathLst>
                  <a:path h="190765" w="2229478">
                    <a:moveTo>
                      <a:pt x="73549" y="0"/>
                    </a:moveTo>
                    <a:lnTo>
                      <a:pt x="2155929" y="0"/>
                    </a:lnTo>
                    <a:cubicBezTo>
                      <a:pt x="2175435" y="0"/>
                      <a:pt x="2194143" y="7749"/>
                      <a:pt x="2207936" y="21542"/>
                    </a:cubicBezTo>
                    <a:cubicBezTo>
                      <a:pt x="2221729" y="35335"/>
                      <a:pt x="2229478" y="54043"/>
                      <a:pt x="2229478" y="73549"/>
                    </a:cubicBezTo>
                    <a:lnTo>
                      <a:pt x="2229478" y="117216"/>
                    </a:lnTo>
                    <a:cubicBezTo>
                      <a:pt x="2229478" y="157836"/>
                      <a:pt x="2196549" y="190765"/>
                      <a:pt x="2155929" y="190765"/>
                    </a:cubicBezTo>
                    <a:lnTo>
                      <a:pt x="73549" y="190765"/>
                    </a:lnTo>
                    <a:cubicBezTo>
                      <a:pt x="32929" y="190765"/>
                      <a:pt x="0" y="157836"/>
                      <a:pt x="0" y="117216"/>
                    </a:cubicBezTo>
                    <a:lnTo>
                      <a:pt x="0" y="73549"/>
                    </a:lnTo>
                    <a:cubicBezTo>
                      <a:pt x="0" y="32929"/>
                      <a:pt x="32929" y="0"/>
                      <a:pt x="73549" y="0"/>
                    </a:cubicBezTo>
                    <a:close/>
                  </a:path>
                </a:pathLst>
              </a:custGeom>
              <a:solidFill>
                <a:srgbClr val="0B1E36"/>
              </a:solidFill>
              <a:ln cap="rnd">
                <a:noFill/>
                <a:prstDash val="solid"/>
                <a:round/>
              </a:ln>
            </p:spPr>
          </p:sp>
          <p:sp>
            <p:nvSpPr>
              <p:cNvPr name="TextBox 88" id="88"/>
              <p:cNvSpPr txBox="true"/>
              <p:nvPr/>
            </p:nvSpPr>
            <p:spPr>
              <a:xfrm>
                <a:off x="0" y="-28575"/>
                <a:ext cx="2229478" cy="219340"/>
              </a:xfrm>
              <a:prstGeom prst="rect">
                <a:avLst/>
              </a:prstGeom>
            </p:spPr>
            <p:txBody>
              <a:bodyPr anchor="ctr" rtlCol="false" tIns="50800" lIns="50800" bIns="50800" rIns="50800"/>
              <a:lstStyle/>
              <a:p>
                <a:pPr algn="r">
                  <a:lnSpc>
                    <a:spcPts val="1960"/>
                  </a:lnSpc>
                  <a:spcBef>
                    <a:spcPct val="0"/>
                  </a:spcBef>
                </a:pPr>
              </a:p>
            </p:txBody>
          </p:sp>
        </p:grpSp>
        <p:sp>
          <p:nvSpPr>
            <p:cNvPr name="TextBox 89" id="89"/>
            <p:cNvSpPr txBox="true"/>
            <p:nvPr/>
          </p:nvSpPr>
          <p:spPr>
            <a:xfrm rot="0">
              <a:off x="0" y="293933"/>
              <a:ext cx="10741570" cy="507334"/>
            </a:xfrm>
            <a:prstGeom prst="rect">
              <a:avLst/>
            </a:prstGeom>
          </p:spPr>
          <p:txBody>
            <a:bodyPr anchor="t" rtlCol="false" tIns="0" lIns="0" bIns="0" rIns="0">
              <a:spAutoFit/>
            </a:bodyPr>
            <a:lstStyle/>
            <a:p>
              <a:pPr algn="ctr">
                <a:lnSpc>
                  <a:spcPts val="2789"/>
                </a:lnSpc>
              </a:pPr>
              <a:r>
                <a:rPr lang="en-US" sz="2789">
                  <a:solidFill>
                    <a:srgbClr val="FFFFFF"/>
                  </a:solidFill>
                  <a:latin typeface="Rubik One"/>
                  <a:ea typeface="Rubik One"/>
                  <a:cs typeface="Rubik One"/>
                  <a:sym typeface="Rubik One"/>
                </a:rPr>
                <a:t>RIDGE REGRESSION META-LEARNER</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028700" y="793061"/>
            <a:ext cx="4463067" cy="235560"/>
            <a:chOff x="0" y="0"/>
            <a:chExt cx="5950756" cy="314080"/>
          </a:xfrm>
        </p:grpSpPr>
        <p:sp>
          <p:nvSpPr>
            <p:cNvPr name="Freeform 3" id="3"/>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5" id="5"/>
          <p:cNvSpPr txBox="true"/>
          <p:nvPr/>
        </p:nvSpPr>
        <p:spPr>
          <a:xfrm rot="0">
            <a:off x="1028700" y="1324218"/>
            <a:ext cx="15752699" cy="809625"/>
          </a:xfrm>
          <a:prstGeom prst="rect">
            <a:avLst/>
          </a:prstGeom>
        </p:spPr>
        <p:txBody>
          <a:bodyPr anchor="t" rtlCol="false" tIns="0" lIns="0" bIns="0" rIns="0">
            <a:spAutoFit/>
          </a:bodyPr>
          <a:lstStyle/>
          <a:p>
            <a:pPr algn="l">
              <a:lnSpc>
                <a:spcPts val="6000"/>
              </a:lnSpc>
            </a:pPr>
            <a:r>
              <a:rPr lang="en-US" sz="6000">
                <a:solidFill>
                  <a:srgbClr val="0B132B"/>
                </a:solidFill>
                <a:latin typeface="Rubik One"/>
                <a:ea typeface="Rubik One"/>
                <a:cs typeface="Rubik One"/>
                <a:sym typeface="Rubik One"/>
              </a:rPr>
              <a:t>MODEL DIVERSION &amp; EVALUATION</a:t>
            </a:r>
          </a:p>
        </p:txBody>
      </p:sp>
      <p:grpSp>
        <p:nvGrpSpPr>
          <p:cNvPr name="Group 6" id="6"/>
          <p:cNvGrpSpPr/>
          <p:nvPr/>
        </p:nvGrpSpPr>
        <p:grpSpPr>
          <a:xfrm rot="0">
            <a:off x="848872" y="8724471"/>
            <a:ext cx="4077013" cy="686658"/>
            <a:chOff x="0" y="0"/>
            <a:chExt cx="5436018" cy="915544"/>
          </a:xfrm>
        </p:grpSpPr>
        <p:grpSp>
          <p:nvGrpSpPr>
            <p:cNvPr name="Group 7" id="7"/>
            <p:cNvGrpSpPr/>
            <p:nvPr/>
          </p:nvGrpSpPr>
          <p:grpSpPr>
            <a:xfrm rot="0">
              <a:off x="21032" y="0"/>
              <a:ext cx="5414986" cy="915544"/>
              <a:chOff x="0" y="0"/>
              <a:chExt cx="1128278" cy="190765"/>
            </a:xfrm>
          </p:grpSpPr>
          <p:sp>
            <p:nvSpPr>
              <p:cNvPr name="Freeform 8" id="8"/>
              <p:cNvSpPr/>
              <p:nvPr/>
            </p:nvSpPr>
            <p:spPr>
              <a:xfrm flipH="false" flipV="false" rot="0">
                <a:off x="0" y="0"/>
                <a:ext cx="1128278" cy="190765"/>
              </a:xfrm>
              <a:custGeom>
                <a:avLst/>
                <a:gdLst/>
                <a:ahLst/>
                <a:cxnLst/>
                <a:rect r="r" b="b" t="t" l="l"/>
                <a:pathLst>
                  <a:path h="190765" w="1128278">
                    <a:moveTo>
                      <a:pt x="95382" y="0"/>
                    </a:moveTo>
                    <a:lnTo>
                      <a:pt x="1032896" y="0"/>
                    </a:lnTo>
                    <a:cubicBezTo>
                      <a:pt x="1085574" y="0"/>
                      <a:pt x="1128278" y="42704"/>
                      <a:pt x="1128278" y="95382"/>
                    </a:cubicBezTo>
                    <a:lnTo>
                      <a:pt x="1128278" y="95382"/>
                    </a:lnTo>
                    <a:cubicBezTo>
                      <a:pt x="1128278" y="120679"/>
                      <a:pt x="1118229" y="144940"/>
                      <a:pt x="1100342" y="162828"/>
                    </a:cubicBezTo>
                    <a:cubicBezTo>
                      <a:pt x="1082454" y="180716"/>
                      <a:pt x="1058193" y="190765"/>
                      <a:pt x="1032896" y="190765"/>
                    </a:cubicBezTo>
                    <a:lnTo>
                      <a:pt x="95382" y="190765"/>
                    </a:lnTo>
                    <a:cubicBezTo>
                      <a:pt x="42704" y="190765"/>
                      <a:pt x="0" y="148061"/>
                      <a:pt x="0" y="95382"/>
                    </a:cubicBezTo>
                    <a:lnTo>
                      <a:pt x="0" y="95382"/>
                    </a:lnTo>
                    <a:cubicBezTo>
                      <a:pt x="0" y="42704"/>
                      <a:pt x="42704" y="0"/>
                      <a:pt x="95382" y="0"/>
                    </a:cubicBezTo>
                    <a:close/>
                  </a:path>
                </a:pathLst>
              </a:custGeom>
              <a:solidFill>
                <a:srgbClr val="00B58F"/>
              </a:solidFill>
              <a:ln cap="rnd">
                <a:noFill/>
                <a:prstDash val="solid"/>
                <a:round/>
              </a:ln>
            </p:spPr>
          </p:sp>
          <p:sp>
            <p:nvSpPr>
              <p:cNvPr name="TextBox 9" id="9"/>
              <p:cNvSpPr txBox="true"/>
              <p:nvPr/>
            </p:nvSpPr>
            <p:spPr>
              <a:xfrm>
                <a:off x="0" y="-28575"/>
                <a:ext cx="1128278" cy="219340"/>
              </a:xfrm>
              <a:prstGeom prst="rect">
                <a:avLst/>
              </a:prstGeom>
            </p:spPr>
            <p:txBody>
              <a:bodyPr anchor="ctr" rtlCol="false" tIns="50800" lIns="50800" bIns="50800" rIns="50800"/>
              <a:lstStyle/>
              <a:p>
                <a:pPr algn="r">
                  <a:lnSpc>
                    <a:spcPts val="1960"/>
                  </a:lnSpc>
                  <a:spcBef>
                    <a:spcPct val="0"/>
                  </a:spcBef>
                </a:pPr>
              </a:p>
            </p:txBody>
          </p:sp>
        </p:grpSp>
        <p:sp>
          <p:nvSpPr>
            <p:cNvPr name="TextBox 10" id="10"/>
            <p:cNvSpPr txBox="true"/>
            <p:nvPr/>
          </p:nvSpPr>
          <p:spPr>
            <a:xfrm rot="0">
              <a:off x="0" y="293933"/>
              <a:ext cx="5436018" cy="507334"/>
            </a:xfrm>
            <a:prstGeom prst="rect">
              <a:avLst/>
            </a:prstGeom>
          </p:spPr>
          <p:txBody>
            <a:bodyPr anchor="t" rtlCol="false" tIns="0" lIns="0" bIns="0" rIns="0">
              <a:spAutoFit/>
            </a:bodyPr>
            <a:lstStyle/>
            <a:p>
              <a:pPr algn="ctr">
                <a:lnSpc>
                  <a:spcPts val="2789"/>
                </a:lnSpc>
              </a:pPr>
              <a:r>
                <a:rPr lang="en-US" sz="2789">
                  <a:solidFill>
                    <a:srgbClr val="FFFFFF"/>
                  </a:solidFill>
                  <a:latin typeface="Rubik One"/>
                  <a:ea typeface="Rubik One"/>
                  <a:cs typeface="Rubik One"/>
                  <a:sym typeface="Rubik One"/>
                </a:rPr>
                <a:t>SHIFT = 0.0007</a:t>
              </a:r>
            </a:p>
          </p:txBody>
        </p:sp>
      </p:grpSp>
      <p:grpSp>
        <p:nvGrpSpPr>
          <p:cNvPr name="Group 11" id="11"/>
          <p:cNvGrpSpPr/>
          <p:nvPr/>
        </p:nvGrpSpPr>
        <p:grpSpPr>
          <a:xfrm rot="0">
            <a:off x="6810344" y="2696415"/>
            <a:ext cx="10607186" cy="5904438"/>
            <a:chOff x="0" y="0"/>
            <a:chExt cx="2793662" cy="1555078"/>
          </a:xfrm>
        </p:grpSpPr>
        <p:sp>
          <p:nvSpPr>
            <p:cNvPr name="Freeform 12" id="12"/>
            <p:cNvSpPr/>
            <p:nvPr/>
          </p:nvSpPr>
          <p:spPr>
            <a:xfrm flipH="false" flipV="false" rot="0">
              <a:off x="0" y="0"/>
              <a:ext cx="2793662" cy="1555078"/>
            </a:xfrm>
            <a:custGeom>
              <a:avLst/>
              <a:gdLst/>
              <a:ahLst/>
              <a:cxnLst/>
              <a:rect r="r" b="b" t="t" l="l"/>
              <a:pathLst>
                <a:path h="1555078" w="2793662">
                  <a:moveTo>
                    <a:pt x="21896" y="0"/>
                  </a:moveTo>
                  <a:lnTo>
                    <a:pt x="2771766" y="0"/>
                  </a:lnTo>
                  <a:cubicBezTo>
                    <a:pt x="2783859" y="0"/>
                    <a:pt x="2793662" y="9803"/>
                    <a:pt x="2793662" y="21896"/>
                  </a:cubicBezTo>
                  <a:lnTo>
                    <a:pt x="2793662" y="1533182"/>
                  </a:lnTo>
                  <a:cubicBezTo>
                    <a:pt x="2793662" y="1538989"/>
                    <a:pt x="2791355" y="1544559"/>
                    <a:pt x="2787249" y="1548665"/>
                  </a:cubicBezTo>
                  <a:cubicBezTo>
                    <a:pt x="2783143" y="1552771"/>
                    <a:pt x="2777573" y="1555078"/>
                    <a:pt x="2771766" y="1555078"/>
                  </a:cubicBezTo>
                  <a:lnTo>
                    <a:pt x="21896" y="1555078"/>
                  </a:lnTo>
                  <a:cubicBezTo>
                    <a:pt x="9803" y="1555078"/>
                    <a:pt x="0" y="1545275"/>
                    <a:pt x="0" y="1533182"/>
                  </a:cubicBezTo>
                  <a:lnTo>
                    <a:pt x="0" y="21896"/>
                  </a:lnTo>
                  <a:cubicBezTo>
                    <a:pt x="0" y="9803"/>
                    <a:pt x="9803" y="0"/>
                    <a:pt x="21896" y="0"/>
                  </a:cubicBezTo>
                  <a:close/>
                </a:path>
              </a:pathLst>
            </a:custGeom>
            <a:solidFill>
              <a:srgbClr val="00B58F"/>
            </a:solidFill>
          </p:spPr>
        </p:sp>
        <p:sp>
          <p:nvSpPr>
            <p:cNvPr name="TextBox 13" id="13"/>
            <p:cNvSpPr txBox="true"/>
            <p:nvPr/>
          </p:nvSpPr>
          <p:spPr>
            <a:xfrm>
              <a:off x="0" y="-38100"/>
              <a:ext cx="2793662" cy="1593178"/>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6948120" y="3665115"/>
            <a:ext cx="2982624" cy="581427"/>
            <a:chOff x="0" y="0"/>
            <a:chExt cx="770400" cy="150180"/>
          </a:xfrm>
        </p:grpSpPr>
        <p:sp>
          <p:nvSpPr>
            <p:cNvPr name="Freeform 15" id="15"/>
            <p:cNvSpPr/>
            <p:nvPr/>
          </p:nvSpPr>
          <p:spPr>
            <a:xfrm flipH="false" flipV="false" rot="0">
              <a:off x="0" y="0"/>
              <a:ext cx="770400" cy="150180"/>
            </a:xfrm>
            <a:custGeom>
              <a:avLst/>
              <a:gdLst/>
              <a:ahLst/>
              <a:cxnLst/>
              <a:rect r="r" b="b" t="t" l="l"/>
              <a:pathLst>
                <a:path h="150180" w="770400">
                  <a:moveTo>
                    <a:pt x="25957" y="0"/>
                  </a:moveTo>
                  <a:lnTo>
                    <a:pt x="744443" y="0"/>
                  </a:lnTo>
                  <a:cubicBezTo>
                    <a:pt x="751327" y="0"/>
                    <a:pt x="757929" y="2735"/>
                    <a:pt x="762797" y="7603"/>
                  </a:cubicBezTo>
                  <a:cubicBezTo>
                    <a:pt x="767665" y="12470"/>
                    <a:pt x="770400" y="19073"/>
                    <a:pt x="770400" y="25957"/>
                  </a:cubicBezTo>
                  <a:lnTo>
                    <a:pt x="770400" y="124224"/>
                  </a:lnTo>
                  <a:cubicBezTo>
                    <a:pt x="770400" y="138559"/>
                    <a:pt x="758778" y="150180"/>
                    <a:pt x="744443" y="150180"/>
                  </a:cubicBezTo>
                  <a:lnTo>
                    <a:pt x="25957" y="150180"/>
                  </a:lnTo>
                  <a:cubicBezTo>
                    <a:pt x="19073" y="150180"/>
                    <a:pt x="12470" y="147446"/>
                    <a:pt x="7603" y="142578"/>
                  </a:cubicBezTo>
                  <a:cubicBezTo>
                    <a:pt x="2735" y="137710"/>
                    <a:pt x="0" y="131108"/>
                    <a:pt x="0" y="124224"/>
                  </a:cubicBezTo>
                  <a:lnTo>
                    <a:pt x="0" y="25957"/>
                  </a:lnTo>
                  <a:cubicBezTo>
                    <a:pt x="0" y="19073"/>
                    <a:pt x="2735" y="12470"/>
                    <a:pt x="7603" y="7603"/>
                  </a:cubicBezTo>
                  <a:cubicBezTo>
                    <a:pt x="12470" y="2735"/>
                    <a:pt x="19073" y="0"/>
                    <a:pt x="25957" y="0"/>
                  </a:cubicBezTo>
                  <a:close/>
                </a:path>
              </a:pathLst>
            </a:custGeom>
            <a:solidFill>
              <a:srgbClr val="112752"/>
            </a:solidFill>
            <a:ln cap="sq">
              <a:noFill/>
              <a:prstDash val="solid"/>
              <a:miter/>
            </a:ln>
          </p:spPr>
        </p:sp>
        <p:sp>
          <p:nvSpPr>
            <p:cNvPr name="TextBox 16" id="16"/>
            <p:cNvSpPr txBox="true"/>
            <p:nvPr/>
          </p:nvSpPr>
          <p:spPr>
            <a:xfrm>
              <a:off x="0" y="-47625"/>
              <a:ext cx="770400" cy="197805"/>
            </a:xfrm>
            <a:prstGeom prst="rect">
              <a:avLst/>
            </a:prstGeom>
          </p:spPr>
          <p:txBody>
            <a:bodyPr anchor="ctr" rtlCol="false" tIns="50800" lIns="50800" bIns="50800" rIns="50800"/>
            <a:lstStyle/>
            <a:p>
              <a:pPr algn="ctr">
                <a:lnSpc>
                  <a:spcPts val="3219"/>
                </a:lnSpc>
                <a:spcBef>
                  <a:spcPct val="0"/>
                </a:spcBef>
              </a:pPr>
              <a:r>
                <a:rPr lang="en-US" b="true" sz="2299">
                  <a:solidFill>
                    <a:srgbClr val="FFFFFF"/>
                  </a:solidFill>
                  <a:latin typeface="Bricolage Grotesque Bold"/>
                  <a:ea typeface="Bricolage Grotesque Bold"/>
                  <a:cs typeface="Bricolage Grotesque Bold"/>
                  <a:sym typeface="Bricolage Grotesque Bold"/>
                </a:rPr>
                <a:t>CV RMSE: 0.06776</a:t>
              </a:r>
            </a:p>
          </p:txBody>
        </p:sp>
      </p:grpSp>
      <p:sp>
        <p:nvSpPr>
          <p:cNvPr name="Freeform 17" id="17"/>
          <p:cNvSpPr/>
          <p:nvPr/>
        </p:nvSpPr>
        <p:spPr>
          <a:xfrm flipH="false" flipV="false" rot="0">
            <a:off x="6948120" y="4508611"/>
            <a:ext cx="10331635" cy="3635444"/>
          </a:xfrm>
          <a:custGeom>
            <a:avLst/>
            <a:gdLst/>
            <a:ahLst/>
            <a:cxnLst/>
            <a:rect r="r" b="b" t="t" l="l"/>
            <a:pathLst>
              <a:path h="3635444" w="10331635">
                <a:moveTo>
                  <a:pt x="0" y="0"/>
                </a:moveTo>
                <a:lnTo>
                  <a:pt x="10331635" y="0"/>
                </a:lnTo>
                <a:lnTo>
                  <a:pt x="10331635" y="3635444"/>
                </a:lnTo>
                <a:lnTo>
                  <a:pt x="0" y="3635444"/>
                </a:lnTo>
                <a:lnTo>
                  <a:pt x="0" y="0"/>
                </a:lnTo>
                <a:close/>
              </a:path>
            </a:pathLst>
          </a:custGeom>
          <a:blipFill>
            <a:blip r:embed="rId4"/>
            <a:stretch>
              <a:fillRect l="0" t="0" r="0" b="0"/>
            </a:stretch>
          </a:blipFill>
        </p:spPr>
      </p:sp>
      <p:sp>
        <p:nvSpPr>
          <p:cNvPr name="TextBox 18" id="18"/>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- 20</a:t>
            </a:r>
          </a:p>
        </p:txBody>
      </p:sp>
      <p:grpSp>
        <p:nvGrpSpPr>
          <p:cNvPr name="Group 19" id="19"/>
          <p:cNvGrpSpPr/>
          <p:nvPr/>
        </p:nvGrpSpPr>
        <p:grpSpPr>
          <a:xfrm rot="0">
            <a:off x="10141520" y="3665115"/>
            <a:ext cx="3404570" cy="581405"/>
            <a:chOff x="0" y="0"/>
            <a:chExt cx="879387" cy="150175"/>
          </a:xfrm>
        </p:grpSpPr>
        <p:sp>
          <p:nvSpPr>
            <p:cNvPr name="Freeform 20" id="20"/>
            <p:cNvSpPr/>
            <p:nvPr/>
          </p:nvSpPr>
          <p:spPr>
            <a:xfrm flipH="false" flipV="false" rot="0">
              <a:off x="0" y="0"/>
              <a:ext cx="879387" cy="150175"/>
            </a:xfrm>
            <a:custGeom>
              <a:avLst/>
              <a:gdLst/>
              <a:ahLst/>
              <a:cxnLst/>
              <a:rect r="r" b="b" t="t" l="l"/>
              <a:pathLst>
                <a:path h="150175" w="879387">
                  <a:moveTo>
                    <a:pt x="22740" y="0"/>
                  </a:moveTo>
                  <a:lnTo>
                    <a:pt x="856647" y="0"/>
                  </a:lnTo>
                  <a:cubicBezTo>
                    <a:pt x="869206" y="0"/>
                    <a:pt x="879387" y="10181"/>
                    <a:pt x="879387" y="22740"/>
                  </a:cubicBezTo>
                  <a:lnTo>
                    <a:pt x="879387" y="127435"/>
                  </a:lnTo>
                  <a:cubicBezTo>
                    <a:pt x="879387" y="133466"/>
                    <a:pt x="876991" y="139250"/>
                    <a:pt x="872726" y="143514"/>
                  </a:cubicBezTo>
                  <a:cubicBezTo>
                    <a:pt x="868462" y="147779"/>
                    <a:pt x="862678" y="150175"/>
                    <a:pt x="856647" y="150175"/>
                  </a:cubicBezTo>
                  <a:lnTo>
                    <a:pt x="22740" y="150175"/>
                  </a:lnTo>
                  <a:cubicBezTo>
                    <a:pt x="16709" y="150175"/>
                    <a:pt x="10925" y="147779"/>
                    <a:pt x="6660" y="143514"/>
                  </a:cubicBezTo>
                  <a:cubicBezTo>
                    <a:pt x="2396" y="139250"/>
                    <a:pt x="0" y="133466"/>
                    <a:pt x="0" y="127435"/>
                  </a:cubicBezTo>
                  <a:lnTo>
                    <a:pt x="0" y="22740"/>
                  </a:lnTo>
                  <a:cubicBezTo>
                    <a:pt x="0" y="16709"/>
                    <a:pt x="2396" y="10925"/>
                    <a:pt x="6660" y="6660"/>
                  </a:cubicBezTo>
                  <a:cubicBezTo>
                    <a:pt x="10925" y="2396"/>
                    <a:pt x="16709" y="0"/>
                    <a:pt x="22740" y="0"/>
                  </a:cubicBezTo>
                  <a:close/>
                </a:path>
              </a:pathLst>
            </a:custGeom>
            <a:solidFill>
              <a:srgbClr val="112752"/>
            </a:solidFill>
            <a:ln cap="sq">
              <a:noFill/>
              <a:prstDash val="solid"/>
              <a:miter/>
            </a:ln>
          </p:spPr>
        </p:sp>
        <p:sp>
          <p:nvSpPr>
            <p:cNvPr name="TextBox 21" id="21"/>
            <p:cNvSpPr txBox="true"/>
            <p:nvPr/>
          </p:nvSpPr>
          <p:spPr>
            <a:xfrm>
              <a:off x="0" y="-47625"/>
              <a:ext cx="879387" cy="197800"/>
            </a:xfrm>
            <a:prstGeom prst="rect">
              <a:avLst/>
            </a:prstGeom>
          </p:spPr>
          <p:txBody>
            <a:bodyPr anchor="ctr" rtlCol="false" tIns="50800" lIns="50800" bIns="50800" rIns="50800"/>
            <a:lstStyle/>
            <a:p>
              <a:pPr algn="ctr">
                <a:lnSpc>
                  <a:spcPts val="3219"/>
                </a:lnSpc>
                <a:spcBef>
                  <a:spcPct val="0"/>
                </a:spcBef>
              </a:pPr>
              <a:r>
                <a:rPr lang="en-US" b="true" sz="2299">
                  <a:solidFill>
                    <a:srgbClr val="FFFFFF"/>
                  </a:solidFill>
                  <a:latin typeface="Bricolage Grotesque Bold"/>
                  <a:ea typeface="Bricolage Grotesque Bold"/>
                  <a:cs typeface="Bricolage Grotesque Bold"/>
                  <a:sym typeface="Bricolage Grotesque Bold"/>
                </a:rPr>
                <a:t>KAGGLE LB: 0.06780</a:t>
              </a:r>
            </a:p>
          </p:txBody>
        </p:sp>
      </p:grpSp>
      <p:grpSp>
        <p:nvGrpSpPr>
          <p:cNvPr name="Group 22" id="22"/>
          <p:cNvGrpSpPr/>
          <p:nvPr/>
        </p:nvGrpSpPr>
        <p:grpSpPr>
          <a:xfrm rot="0">
            <a:off x="13756866" y="3665115"/>
            <a:ext cx="3502434" cy="581427"/>
            <a:chOff x="0" y="0"/>
            <a:chExt cx="904664" cy="150180"/>
          </a:xfrm>
        </p:grpSpPr>
        <p:sp>
          <p:nvSpPr>
            <p:cNvPr name="Freeform 23" id="23"/>
            <p:cNvSpPr/>
            <p:nvPr/>
          </p:nvSpPr>
          <p:spPr>
            <a:xfrm flipH="false" flipV="false" rot="0">
              <a:off x="0" y="0"/>
              <a:ext cx="904664" cy="150180"/>
            </a:xfrm>
            <a:custGeom>
              <a:avLst/>
              <a:gdLst/>
              <a:ahLst/>
              <a:cxnLst/>
              <a:rect r="r" b="b" t="t" l="l"/>
              <a:pathLst>
                <a:path h="150180" w="904664">
                  <a:moveTo>
                    <a:pt x="22104" y="0"/>
                  </a:moveTo>
                  <a:lnTo>
                    <a:pt x="882560" y="0"/>
                  </a:lnTo>
                  <a:cubicBezTo>
                    <a:pt x="888423" y="0"/>
                    <a:pt x="894045" y="2329"/>
                    <a:pt x="898190" y="6474"/>
                  </a:cubicBezTo>
                  <a:cubicBezTo>
                    <a:pt x="902336" y="10620"/>
                    <a:pt x="904664" y="16242"/>
                    <a:pt x="904664" y="22104"/>
                  </a:cubicBezTo>
                  <a:lnTo>
                    <a:pt x="904664" y="128076"/>
                  </a:lnTo>
                  <a:cubicBezTo>
                    <a:pt x="904664" y="140284"/>
                    <a:pt x="894768" y="150180"/>
                    <a:pt x="882560" y="150180"/>
                  </a:cubicBezTo>
                  <a:lnTo>
                    <a:pt x="22104" y="150180"/>
                  </a:lnTo>
                  <a:cubicBezTo>
                    <a:pt x="16242" y="150180"/>
                    <a:pt x="10620" y="147852"/>
                    <a:pt x="6474" y="143706"/>
                  </a:cubicBezTo>
                  <a:cubicBezTo>
                    <a:pt x="2329" y="139561"/>
                    <a:pt x="0" y="133938"/>
                    <a:pt x="0" y="128076"/>
                  </a:cubicBezTo>
                  <a:lnTo>
                    <a:pt x="0" y="22104"/>
                  </a:lnTo>
                  <a:cubicBezTo>
                    <a:pt x="0" y="9896"/>
                    <a:pt x="9896" y="0"/>
                    <a:pt x="22104" y="0"/>
                  </a:cubicBezTo>
                  <a:close/>
                </a:path>
              </a:pathLst>
            </a:custGeom>
            <a:solidFill>
              <a:srgbClr val="112752"/>
            </a:solidFill>
            <a:ln cap="sq">
              <a:noFill/>
              <a:prstDash val="solid"/>
              <a:miter/>
            </a:ln>
          </p:spPr>
        </p:sp>
        <p:sp>
          <p:nvSpPr>
            <p:cNvPr name="TextBox 24" id="24"/>
            <p:cNvSpPr txBox="true"/>
            <p:nvPr/>
          </p:nvSpPr>
          <p:spPr>
            <a:xfrm>
              <a:off x="0" y="-47625"/>
              <a:ext cx="904664" cy="197805"/>
            </a:xfrm>
            <a:prstGeom prst="rect">
              <a:avLst/>
            </a:prstGeom>
          </p:spPr>
          <p:txBody>
            <a:bodyPr anchor="ctr" rtlCol="false" tIns="50800" lIns="50800" bIns="50800" rIns="50800"/>
            <a:lstStyle/>
            <a:p>
              <a:pPr algn="ctr">
                <a:lnSpc>
                  <a:spcPts val="3219"/>
                </a:lnSpc>
                <a:spcBef>
                  <a:spcPct val="0"/>
                </a:spcBef>
              </a:pPr>
              <a:r>
                <a:rPr lang="en-US" b="true" sz="2299">
                  <a:solidFill>
                    <a:srgbClr val="FFFFFF"/>
                  </a:solidFill>
                  <a:latin typeface="Bricolage Grotesque Bold"/>
                  <a:ea typeface="Bricolage Grotesque Bold"/>
                  <a:cs typeface="Bricolage Grotesque Bold"/>
                  <a:sym typeface="Bricolage Grotesque Bold"/>
                </a:rPr>
                <a:t>OVERFIT DIFF: &lt; 0.0004</a:t>
              </a:r>
            </a:p>
          </p:txBody>
        </p:sp>
      </p:grpSp>
      <p:sp>
        <p:nvSpPr>
          <p:cNvPr name="TextBox 25" id="25"/>
          <p:cNvSpPr txBox="true"/>
          <p:nvPr/>
        </p:nvSpPr>
        <p:spPr>
          <a:xfrm rot="0">
            <a:off x="8555298" y="2874539"/>
            <a:ext cx="7117279" cy="712471"/>
          </a:xfrm>
          <a:prstGeom prst="rect">
            <a:avLst/>
          </a:prstGeom>
        </p:spPr>
        <p:txBody>
          <a:bodyPr anchor="t" rtlCol="false" tIns="0" lIns="0" bIns="0" rIns="0">
            <a:spAutoFit/>
          </a:bodyPr>
          <a:lstStyle/>
          <a:p>
            <a:pPr algn="ctr">
              <a:lnSpc>
                <a:spcPts val="5879"/>
              </a:lnSpc>
            </a:pPr>
            <a:r>
              <a:rPr lang="en-US" b="true" sz="4199" spc="104">
                <a:solidFill>
                  <a:srgbClr val="112752"/>
                </a:solidFill>
                <a:latin typeface="Bricolage Grotesque Bold"/>
                <a:ea typeface="Bricolage Grotesque Bold"/>
                <a:cs typeface="Bricolage Grotesque Bold"/>
                <a:sym typeface="Bricolage Grotesque Bold"/>
              </a:rPr>
              <a:t>DIAGNOSTIK</a:t>
            </a:r>
            <a:r>
              <a:rPr lang="en-US" b="true" sz="4199" spc="104">
                <a:solidFill>
                  <a:srgbClr val="112752"/>
                </a:solidFill>
                <a:latin typeface="Bricolage Grotesque Bold"/>
                <a:ea typeface="Bricolage Grotesque Bold"/>
                <a:cs typeface="Bricolage Grotesque Bold"/>
                <a:sym typeface="Bricolage Grotesque Bold"/>
              </a:rPr>
              <a:t> RESIDUAL</a:t>
            </a:r>
          </a:p>
        </p:txBody>
      </p:sp>
      <p:grpSp>
        <p:nvGrpSpPr>
          <p:cNvPr name="Group 26" id="26"/>
          <p:cNvGrpSpPr/>
          <p:nvPr/>
        </p:nvGrpSpPr>
        <p:grpSpPr>
          <a:xfrm rot="0">
            <a:off x="1028700" y="2696415"/>
            <a:ext cx="5572094" cy="5904438"/>
            <a:chOff x="0" y="0"/>
            <a:chExt cx="1467547" cy="1555078"/>
          </a:xfrm>
        </p:grpSpPr>
        <p:sp>
          <p:nvSpPr>
            <p:cNvPr name="Freeform 27" id="27"/>
            <p:cNvSpPr/>
            <p:nvPr/>
          </p:nvSpPr>
          <p:spPr>
            <a:xfrm flipH="false" flipV="false" rot="0">
              <a:off x="0" y="0"/>
              <a:ext cx="1467547" cy="1555078"/>
            </a:xfrm>
            <a:custGeom>
              <a:avLst/>
              <a:gdLst/>
              <a:ahLst/>
              <a:cxnLst/>
              <a:rect r="r" b="b" t="t" l="l"/>
              <a:pathLst>
                <a:path h="1555078" w="1467547">
                  <a:moveTo>
                    <a:pt x="41682" y="0"/>
                  </a:moveTo>
                  <a:lnTo>
                    <a:pt x="1425865" y="0"/>
                  </a:lnTo>
                  <a:cubicBezTo>
                    <a:pt x="1436920" y="0"/>
                    <a:pt x="1447522" y="4392"/>
                    <a:pt x="1455339" y="12208"/>
                  </a:cubicBezTo>
                  <a:cubicBezTo>
                    <a:pt x="1463156" y="20025"/>
                    <a:pt x="1467547" y="30627"/>
                    <a:pt x="1467547" y="41682"/>
                  </a:cubicBezTo>
                  <a:lnTo>
                    <a:pt x="1467547" y="1513396"/>
                  </a:lnTo>
                  <a:cubicBezTo>
                    <a:pt x="1467547" y="1524451"/>
                    <a:pt x="1463156" y="1535053"/>
                    <a:pt x="1455339" y="1542870"/>
                  </a:cubicBezTo>
                  <a:cubicBezTo>
                    <a:pt x="1447522" y="1550687"/>
                    <a:pt x="1436920" y="1555078"/>
                    <a:pt x="1425865" y="1555078"/>
                  </a:cubicBezTo>
                  <a:lnTo>
                    <a:pt x="41682" y="1555078"/>
                  </a:lnTo>
                  <a:cubicBezTo>
                    <a:pt x="30627" y="1555078"/>
                    <a:pt x="20025" y="1550687"/>
                    <a:pt x="12208" y="1542870"/>
                  </a:cubicBezTo>
                  <a:cubicBezTo>
                    <a:pt x="4392" y="1535053"/>
                    <a:pt x="0" y="1524451"/>
                    <a:pt x="0" y="1513396"/>
                  </a:cubicBezTo>
                  <a:lnTo>
                    <a:pt x="0" y="41682"/>
                  </a:lnTo>
                  <a:cubicBezTo>
                    <a:pt x="0" y="30627"/>
                    <a:pt x="4392" y="20025"/>
                    <a:pt x="12208" y="12208"/>
                  </a:cubicBezTo>
                  <a:cubicBezTo>
                    <a:pt x="20025" y="4392"/>
                    <a:pt x="30627" y="0"/>
                    <a:pt x="41682" y="0"/>
                  </a:cubicBezTo>
                  <a:close/>
                </a:path>
              </a:pathLst>
            </a:custGeom>
            <a:solidFill>
              <a:srgbClr val="0B1E36"/>
            </a:solidFill>
          </p:spPr>
        </p:sp>
        <p:sp>
          <p:nvSpPr>
            <p:cNvPr name="TextBox 28" id="28"/>
            <p:cNvSpPr txBox="true"/>
            <p:nvPr/>
          </p:nvSpPr>
          <p:spPr>
            <a:xfrm>
              <a:off x="0" y="-38100"/>
              <a:ext cx="1467547" cy="1593178"/>
            </a:xfrm>
            <a:prstGeom prst="rect">
              <a:avLst/>
            </a:prstGeom>
          </p:spPr>
          <p:txBody>
            <a:bodyPr anchor="ctr" rtlCol="false" tIns="50800" lIns="50800" bIns="50800" rIns="50800"/>
            <a:lstStyle/>
            <a:p>
              <a:pPr algn="ctr">
                <a:lnSpc>
                  <a:spcPts val="2659"/>
                </a:lnSpc>
              </a:pPr>
            </a:p>
          </p:txBody>
        </p:sp>
      </p:grpSp>
      <p:sp>
        <p:nvSpPr>
          <p:cNvPr name="AutoShape 29" id="29"/>
          <p:cNvSpPr/>
          <p:nvPr/>
        </p:nvSpPr>
        <p:spPr>
          <a:xfrm>
            <a:off x="1830051" y="8277807"/>
            <a:ext cx="4231337" cy="0"/>
          </a:xfrm>
          <a:prstGeom prst="line">
            <a:avLst/>
          </a:prstGeom>
          <a:ln cap="flat" w="38100">
            <a:solidFill>
              <a:srgbClr val="FFFFFF"/>
            </a:solidFill>
            <a:prstDash val="sysDash"/>
            <a:headEnd type="none" len="sm" w="sm"/>
            <a:tailEnd type="none" len="sm" w="sm"/>
          </a:ln>
        </p:spPr>
      </p:sp>
      <p:sp>
        <p:nvSpPr>
          <p:cNvPr name="AutoShape 30" id="30"/>
          <p:cNvSpPr/>
          <p:nvPr/>
        </p:nvSpPr>
        <p:spPr>
          <a:xfrm>
            <a:off x="1830051" y="6797947"/>
            <a:ext cx="4231337" cy="0"/>
          </a:xfrm>
          <a:prstGeom prst="line">
            <a:avLst/>
          </a:prstGeom>
          <a:ln cap="flat" w="38100">
            <a:solidFill>
              <a:srgbClr val="FFFFFF"/>
            </a:solidFill>
            <a:prstDash val="sysDash"/>
            <a:headEnd type="none" len="sm" w="sm"/>
            <a:tailEnd type="none" len="sm" w="sm"/>
          </a:ln>
        </p:spPr>
      </p:sp>
      <p:sp>
        <p:nvSpPr>
          <p:cNvPr name="TextBox 31" id="31"/>
          <p:cNvSpPr txBox="true"/>
          <p:nvPr/>
        </p:nvSpPr>
        <p:spPr>
          <a:xfrm rot="0">
            <a:off x="1028700" y="2893589"/>
            <a:ext cx="5640467" cy="1028700"/>
          </a:xfrm>
          <a:prstGeom prst="rect">
            <a:avLst/>
          </a:prstGeom>
        </p:spPr>
        <p:txBody>
          <a:bodyPr anchor="t" rtlCol="false" tIns="0" lIns="0" bIns="0" rIns="0">
            <a:spAutoFit/>
          </a:bodyPr>
          <a:lstStyle/>
          <a:p>
            <a:pPr algn="ctr">
              <a:lnSpc>
                <a:spcPts val="4199"/>
              </a:lnSpc>
            </a:pPr>
            <a:r>
              <a:rPr lang="en-US" b="true" sz="2999" spc="74">
                <a:solidFill>
                  <a:srgbClr val="FFFFFF"/>
                </a:solidFill>
                <a:latin typeface="Bricolage Grotesque Bold"/>
                <a:ea typeface="Bricolage Grotesque Bold"/>
                <a:cs typeface="Bricolage Grotesque Bold"/>
                <a:sym typeface="Bricolage Grotesque Bold"/>
              </a:rPr>
              <a:t>DIVERSIFIKA</a:t>
            </a:r>
            <a:r>
              <a:rPr lang="en-US" b="true" sz="2999" spc="74">
                <a:solidFill>
                  <a:srgbClr val="FFFFFF"/>
                </a:solidFill>
                <a:latin typeface="Bricolage Grotesque Bold"/>
                <a:ea typeface="Bricolage Grotesque Bold"/>
                <a:cs typeface="Bricolage Grotesque Bold"/>
                <a:sym typeface="Bricolage Grotesque Bold"/>
              </a:rPr>
              <a:t>SI 30</a:t>
            </a:r>
            <a:r>
              <a:rPr lang="en-US" b="true" sz="2999" spc="74">
                <a:solidFill>
                  <a:srgbClr val="FFFFFF"/>
                </a:solidFill>
                <a:latin typeface="Bricolage Grotesque Bold"/>
                <a:ea typeface="Bricolage Grotesque Bold"/>
                <a:cs typeface="Bricolage Grotesque Bold"/>
                <a:sym typeface="Bricolage Grotesque Bold"/>
              </a:rPr>
              <a:t> VARIAN GBDT</a:t>
            </a:r>
          </a:p>
        </p:txBody>
      </p:sp>
      <p:sp>
        <p:nvSpPr>
          <p:cNvPr name="AutoShape 32" id="32"/>
          <p:cNvSpPr/>
          <p:nvPr/>
        </p:nvSpPr>
        <p:spPr>
          <a:xfrm>
            <a:off x="1830051" y="5308562"/>
            <a:ext cx="4231337" cy="0"/>
          </a:xfrm>
          <a:prstGeom prst="line">
            <a:avLst/>
          </a:prstGeom>
          <a:ln cap="flat" w="38100">
            <a:solidFill>
              <a:srgbClr val="FFFFFF"/>
            </a:solidFill>
            <a:prstDash val="sysDash"/>
            <a:headEnd type="none" len="sm" w="sm"/>
            <a:tailEnd type="none" len="sm" w="sm"/>
          </a:ln>
        </p:spPr>
      </p:sp>
      <p:pic>
        <p:nvPicPr>
          <p:cNvPr name="Picture 33" id="33"/>
          <p:cNvPicPr>
            <a:picLocks noChangeAspect="true"/>
          </p:cNvPicPr>
          <p:nvPr/>
        </p:nvPicPr>
        <p:blipFill>
          <a:blip r:embed="rId5"/>
          <a:stretch>
            <a:fillRect/>
          </a:stretch>
        </p:blipFill>
        <p:spPr>
          <a:xfrm rot="0">
            <a:off x="1313812" y="4097477"/>
            <a:ext cx="1331574" cy="1331574"/>
          </a:xfrm>
          <a:prstGeom prst="rect">
            <a:avLst/>
          </a:prstGeom>
        </p:spPr>
      </p:pic>
      <p:pic>
        <p:nvPicPr>
          <p:cNvPr name="Picture 34" id="34"/>
          <p:cNvPicPr>
            <a:picLocks noChangeAspect="true"/>
          </p:cNvPicPr>
          <p:nvPr/>
        </p:nvPicPr>
        <p:blipFill>
          <a:blip r:embed="rId6"/>
          <a:stretch>
            <a:fillRect/>
          </a:stretch>
        </p:blipFill>
        <p:spPr>
          <a:xfrm rot="0">
            <a:off x="1313812" y="5558288"/>
            <a:ext cx="1331574" cy="1331574"/>
          </a:xfrm>
          <a:prstGeom prst="rect">
            <a:avLst/>
          </a:prstGeom>
        </p:spPr>
      </p:pic>
      <p:pic>
        <p:nvPicPr>
          <p:cNvPr name="Picture 35" id="35"/>
          <p:cNvPicPr>
            <a:picLocks noChangeAspect="true"/>
          </p:cNvPicPr>
          <p:nvPr/>
        </p:nvPicPr>
        <p:blipFill>
          <a:blip r:embed="rId7"/>
          <a:stretch>
            <a:fillRect/>
          </a:stretch>
        </p:blipFill>
        <p:spPr>
          <a:xfrm rot="0">
            <a:off x="1313812" y="7019098"/>
            <a:ext cx="1331574" cy="1331574"/>
          </a:xfrm>
          <a:prstGeom prst="rect">
            <a:avLst/>
          </a:prstGeom>
        </p:spPr>
      </p:pic>
      <p:sp>
        <p:nvSpPr>
          <p:cNvPr name="TextBox 36" id="36"/>
          <p:cNvSpPr txBox="true"/>
          <p:nvPr/>
        </p:nvSpPr>
        <p:spPr>
          <a:xfrm rot="0">
            <a:off x="3443520" y="4575286"/>
            <a:ext cx="2617868" cy="448310"/>
          </a:xfrm>
          <a:prstGeom prst="rect">
            <a:avLst/>
          </a:prstGeom>
        </p:spPr>
        <p:txBody>
          <a:bodyPr anchor="t" rtlCol="false" tIns="0" lIns="0" bIns="0" rIns="0">
            <a:spAutoFit/>
          </a:bodyPr>
          <a:lstStyle/>
          <a:p>
            <a:pPr algn="l">
              <a:lnSpc>
                <a:spcPts val="3399"/>
              </a:lnSpc>
            </a:pPr>
            <a:r>
              <a:rPr lang="en-US" sz="3399">
                <a:solidFill>
                  <a:srgbClr val="FFFFFF"/>
                </a:solidFill>
                <a:latin typeface="Rubik One"/>
                <a:ea typeface="Rubik One"/>
                <a:cs typeface="Rubik One"/>
                <a:sym typeface="Rubik One"/>
              </a:rPr>
              <a:t>LightGBM</a:t>
            </a:r>
          </a:p>
        </p:txBody>
      </p:sp>
      <p:sp>
        <p:nvSpPr>
          <p:cNvPr name="TextBox 37" id="37"/>
          <p:cNvSpPr txBox="true"/>
          <p:nvPr/>
        </p:nvSpPr>
        <p:spPr>
          <a:xfrm rot="0">
            <a:off x="3443520" y="6033257"/>
            <a:ext cx="2617868" cy="448310"/>
          </a:xfrm>
          <a:prstGeom prst="rect">
            <a:avLst/>
          </a:prstGeom>
        </p:spPr>
        <p:txBody>
          <a:bodyPr anchor="t" rtlCol="false" tIns="0" lIns="0" bIns="0" rIns="0">
            <a:spAutoFit/>
          </a:bodyPr>
          <a:lstStyle/>
          <a:p>
            <a:pPr algn="l">
              <a:lnSpc>
                <a:spcPts val="3399"/>
              </a:lnSpc>
            </a:pPr>
            <a:r>
              <a:rPr lang="en-US" sz="3399">
                <a:solidFill>
                  <a:srgbClr val="FFFFFF"/>
                </a:solidFill>
                <a:latin typeface="Rubik One"/>
                <a:ea typeface="Rubik One"/>
                <a:cs typeface="Rubik One"/>
                <a:sym typeface="Rubik One"/>
              </a:rPr>
              <a:t>CatBoost</a:t>
            </a:r>
          </a:p>
        </p:txBody>
      </p:sp>
      <p:sp>
        <p:nvSpPr>
          <p:cNvPr name="TextBox 38" id="38"/>
          <p:cNvSpPr txBox="true"/>
          <p:nvPr/>
        </p:nvSpPr>
        <p:spPr>
          <a:xfrm rot="0">
            <a:off x="3443520" y="7491229"/>
            <a:ext cx="2617868" cy="448310"/>
          </a:xfrm>
          <a:prstGeom prst="rect">
            <a:avLst/>
          </a:prstGeom>
        </p:spPr>
        <p:txBody>
          <a:bodyPr anchor="t" rtlCol="false" tIns="0" lIns="0" bIns="0" rIns="0">
            <a:spAutoFit/>
          </a:bodyPr>
          <a:lstStyle/>
          <a:p>
            <a:pPr algn="l">
              <a:lnSpc>
                <a:spcPts val="3399"/>
              </a:lnSpc>
            </a:pPr>
            <a:r>
              <a:rPr lang="en-US" sz="3399">
                <a:solidFill>
                  <a:srgbClr val="FFFFFF"/>
                </a:solidFill>
                <a:latin typeface="Rubik One"/>
                <a:ea typeface="Rubik One"/>
                <a:cs typeface="Rubik One"/>
                <a:sym typeface="Rubik One"/>
              </a:rPr>
              <a:t>XGBoost</a:t>
            </a:r>
          </a:p>
        </p:txBody>
      </p:sp>
      <p:grpSp>
        <p:nvGrpSpPr>
          <p:cNvPr name="Group 39" id="39"/>
          <p:cNvGrpSpPr/>
          <p:nvPr/>
        </p:nvGrpSpPr>
        <p:grpSpPr>
          <a:xfrm rot="0">
            <a:off x="11502671" y="9960324"/>
            <a:ext cx="9960587" cy="1142074"/>
            <a:chOff x="0" y="0"/>
            <a:chExt cx="2572779" cy="294993"/>
          </a:xfrm>
        </p:grpSpPr>
        <p:sp>
          <p:nvSpPr>
            <p:cNvPr name="Freeform 40" id="4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1" id="4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42" id="42"/>
          <p:cNvGrpSpPr/>
          <p:nvPr/>
        </p:nvGrpSpPr>
        <p:grpSpPr>
          <a:xfrm rot="0">
            <a:off x="-5959063" y="-784283"/>
            <a:ext cx="9960587" cy="1142074"/>
            <a:chOff x="0" y="0"/>
            <a:chExt cx="2572779" cy="294993"/>
          </a:xfrm>
        </p:grpSpPr>
        <p:sp>
          <p:nvSpPr>
            <p:cNvPr name="Freeform 43" id="4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4" id="4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
        <p:nvSpPr>
          <p:cNvPr name="TextBox 45" id="45"/>
          <p:cNvSpPr txBox="true"/>
          <p:nvPr/>
        </p:nvSpPr>
        <p:spPr>
          <a:xfrm rot="0">
            <a:off x="1028700" y="2074499"/>
            <a:ext cx="14286163" cy="316230"/>
          </a:xfrm>
          <a:prstGeom prst="rect">
            <a:avLst/>
          </a:prstGeom>
        </p:spPr>
        <p:txBody>
          <a:bodyPr anchor="t" rtlCol="false" tIns="0" lIns="0" bIns="0" rIns="0">
            <a:spAutoFit/>
          </a:bodyPr>
          <a:lstStyle/>
          <a:p>
            <a:pPr algn="just">
              <a:lnSpc>
                <a:spcPts val="2519"/>
              </a:lnSpc>
            </a:pPr>
            <a:r>
              <a:rPr lang="en-US" b="true" sz="1799" spc="44">
                <a:solidFill>
                  <a:srgbClr val="0B132B"/>
                </a:solidFill>
                <a:latin typeface="Bricolage Grotesque Bold"/>
                <a:ea typeface="Bricolage Grotesque Bold"/>
                <a:cs typeface="Bricolage Grotesque Bold"/>
                <a:sym typeface="Bricolage Grotesque Bold"/>
              </a:rPr>
              <a:t>Evaluasi </a:t>
            </a:r>
            <a:r>
              <a:rPr lang="en-US" sz="1799" spc="44">
                <a:solidFill>
                  <a:srgbClr val="0B132B"/>
                </a:solidFill>
                <a:latin typeface="Bricolage Grotesque"/>
                <a:ea typeface="Bricolage Grotesque"/>
                <a:cs typeface="Bricolage Grotesque"/>
                <a:sym typeface="Bricolage Grotesque"/>
              </a:rPr>
              <a:t>dengan </a:t>
            </a:r>
            <a:r>
              <a:rPr lang="en-US" b="true" sz="1799" spc="44">
                <a:solidFill>
                  <a:srgbClr val="0B132B"/>
                </a:solidFill>
                <a:latin typeface="Bricolage Grotesque Bold"/>
                <a:ea typeface="Bricolage Grotesque Bold"/>
                <a:cs typeface="Bricolage Grotesque Bold"/>
                <a:sym typeface="Bricolage Grotesque Bold"/>
              </a:rPr>
              <a:t>RMSE</a:t>
            </a:r>
            <a:r>
              <a:rPr lang="en-US" sz="1799" spc="44">
                <a:solidFill>
                  <a:srgbClr val="0B132B"/>
                </a:solidFill>
                <a:latin typeface="Bricolage Grotesque"/>
                <a:ea typeface="Bricolage Grotesque"/>
                <a:cs typeface="Bricolage Grotesque"/>
                <a:sym typeface="Bricolage Grotesque"/>
              </a:rPr>
              <a:t> (main) dan</a:t>
            </a:r>
            <a:r>
              <a:rPr lang="en-US" b="true" sz="1799" spc="44">
                <a:solidFill>
                  <a:srgbClr val="0B132B"/>
                </a:solidFill>
                <a:latin typeface="Bricolage Grotesque Bold"/>
                <a:ea typeface="Bricolage Grotesque Bold"/>
                <a:cs typeface="Bricolage Grotesque Bold"/>
                <a:sym typeface="Bricolage Grotesque Bold"/>
              </a:rPr>
              <a:t> MAE </a:t>
            </a:r>
            <a:r>
              <a:rPr lang="en-US" sz="1799" spc="44">
                <a:solidFill>
                  <a:srgbClr val="0B132B"/>
                </a:solidFill>
                <a:latin typeface="Bricolage Grotesque"/>
                <a:ea typeface="Bricolage Grotesque"/>
                <a:cs typeface="Bricolage Grotesque"/>
                <a:sym typeface="Bricolage Grotesque"/>
              </a:rPr>
              <a:t>(sekunder)</a:t>
            </a:r>
            <a:r>
              <a:rPr lang="en-US" b="true" sz="1799" spc="44">
                <a:solidFill>
                  <a:srgbClr val="0B132B"/>
                </a:solidFill>
                <a:latin typeface="Bricolage Grotesque Bold"/>
                <a:ea typeface="Bricolage Grotesque Bold"/>
                <a:cs typeface="Bricolage Grotesque Bold"/>
                <a:sym typeface="Bricolage Grotesque Bold"/>
              </a:rPr>
              <a:t>, </a:t>
            </a:r>
            <a:r>
              <a:rPr lang="en-US" sz="1799" spc="44">
                <a:solidFill>
                  <a:srgbClr val="0B132B"/>
                </a:solidFill>
                <a:latin typeface="Bricolage Grotesque"/>
                <a:ea typeface="Bricolage Grotesque"/>
                <a:cs typeface="Bricolage Grotesque"/>
                <a:sym typeface="Bricolage Grotesque"/>
              </a:rPr>
              <a:t>dilanjut </a:t>
            </a:r>
            <a:r>
              <a:rPr lang="en-US" b="true" sz="1799" spc="44">
                <a:solidFill>
                  <a:srgbClr val="0B132B"/>
                </a:solidFill>
                <a:latin typeface="Bricolage Grotesque Bold"/>
                <a:ea typeface="Bricolage Grotesque Bold"/>
                <a:cs typeface="Bricolage Grotesque Bold"/>
                <a:sym typeface="Bricolage Grotesque Bold"/>
              </a:rPr>
              <a:t>post-processing</a:t>
            </a:r>
            <a:r>
              <a:rPr lang="en-US" sz="1799" spc="44">
                <a:solidFill>
                  <a:srgbClr val="0B132B"/>
                </a:solidFill>
                <a:latin typeface="Bricolage Grotesque"/>
                <a:ea typeface="Bricolage Grotesque"/>
                <a:cs typeface="Bricolage Grotesque"/>
                <a:sym typeface="Bricolage Grotesque"/>
              </a:rPr>
              <a:t> </a:t>
            </a:r>
            <a:r>
              <a:rPr lang="en-US" b="true" sz="1799" spc="44">
                <a:solidFill>
                  <a:srgbClr val="0B132B"/>
                </a:solidFill>
                <a:latin typeface="Bricolage Grotesque Bold"/>
                <a:ea typeface="Bricolage Grotesque Bold"/>
                <a:cs typeface="Bricolage Grotesque Bold"/>
                <a:sym typeface="Bricolage Grotesque Bold"/>
              </a:rPr>
              <a:t>Shift = 0.0007</a:t>
            </a:r>
            <a:r>
              <a:rPr lang="en-US" sz="1799" spc="44">
                <a:solidFill>
                  <a:srgbClr val="0B132B"/>
                </a:solidFill>
                <a:latin typeface="Bricolage Grotesque"/>
                <a:ea typeface="Bricolage Grotesque"/>
                <a:cs typeface="Bricolage Grotesque"/>
                <a:sym typeface="Bricolage Grotesque"/>
              </a:rPr>
              <a:t> dan </a:t>
            </a:r>
            <a:r>
              <a:rPr lang="en-US" b="true" sz="1799" spc="44">
                <a:solidFill>
                  <a:srgbClr val="0B132B"/>
                </a:solidFill>
                <a:latin typeface="Bricolage Grotesque Bold"/>
                <a:ea typeface="Bricolage Grotesque Bold"/>
                <a:cs typeface="Bricolage Grotesque Bold"/>
                <a:sym typeface="Bricolage Grotesque Bold"/>
              </a:rPr>
              <a:t>Shrinkage = 1.0028</a:t>
            </a:r>
          </a:p>
        </p:txBody>
      </p:sp>
      <p:grpSp>
        <p:nvGrpSpPr>
          <p:cNvPr name="Group 46" id="46"/>
          <p:cNvGrpSpPr/>
          <p:nvPr/>
        </p:nvGrpSpPr>
        <p:grpSpPr>
          <a:xfrm rot="0">
            <a:off x="5066987" y="8715154"/>
            <a:ext cx="5433547" cy="686658"/>
            <a:chOff x="0" y="0"/>
            <a:chExt cx="7244729" cy="915544"/>
          </a:xfrm>
        </p:grpSpPr>
        <p:grpSp>
          <p:nvGrpSpPr>
            <p:cNvPr name="Group 47" id="47"/>
            <p:cNvGrpSpPr/>
            <p:nvPr/>
          </p:nvGrpSpPr>
          <p:grpSpPr>
            <a:xfrm rot="0">
              <a:off x="28030" y="0"/>
              <a:ext cx="7216699" cy="915544"/>
              <a:chOff x="0" y="0"/>
              <a:chExt cx="1503687" cy="190765"/>
            </a:xfrm>
          </p:grpSpPr>
          <p:sp>
            <p:nvSpPr>
              <p:cNvPr name="Freeform 48" id="48"/>
              <p:cNvSpPr/>
              <p:nvPr/>
            </p:nvSpPr>
            <p:spPr>
              <a:xfrm flipH="false" flipV="false" rot="0">
                <a:off x="0" y="0"/>
                <a:ext cx="1503687" cy="190765"/>
              </a:xfrm>
              <a:custGeom>
                <a:avLst/>
                <a:gdLst/>
                <a:ahLst/>
                <a:cxnLst/>
                <a:rect r="r" b="b" t="t" l="l"/>
                <a:pathLst>
                  <a:path h="190765" w="1503687">
                    <a:moveTo>
                      <a:pt x="95382" y="0"/>
                    </a:moveTo>
                    <a:lnTo>
                      <a:pt x="1408305" y="0"/>
                    </a:lnTo>
                    <a:cubicBezTo>
                      <a:pt x="1460983" y="0"/>
                      <a:pt x="1503687" y="42704"/>
                      <a:pt x="1503687" y="95382"/>
                    </a:cubicBezTo>
                    <a:lnTo>
                      <a:pt x="1503687" y="95382"/>
                    </a:lnTo>
                    <a:cubicBezTo>
                      <a:pt x="1503687" y="120679"/>
                      <a:pt x="1493638" y="144940"/>
                      <a:pt x="1475750" y="162828"/>
                    </a:cubicBezTo>
                    <a:cubicBezTo>
                      <a:pt x="1457863" y="180716"/>
                      <a:pt x="1433602" y="190765"/>
                      <a:pt x="1408305" y="190765"/>
                    </a:cubicBezTo>
                    <a:lnTo>
                      <a:pt x="95382" y="190765"/>
                    </a:lnTo>
                    <a:cubicBezTo>
                      <a:pt x="42704" y="190765"/>
                      <a:pt x="0" y="148061"/>
                      <a:pt x="0" y="95382"/>
                    </a:cubicBezTo>
                    <a:lnTo>
                      <a:pt x="0" y="95382"/>
                    </a:lnTo>
                    <a:cubicBezTo>
                      <a:pt x="0" y="42704"/>
                      <a:pt x="42704" y="0"/>
                      <a:pt x="95382" y="0"/>
                    </a:cubicBezTo>
                    <a:close/>
                  </a:path>
                </a:pathLst>
              </a:custGeom>
              <a:solidFill>
                <a:srgbClr val="0B1E36"/>
              </a:solidFill>
              <a:ln cap="rnd">
                <a:noFill/>
                <a:prstDash val="solid"/>
                <a:round/>
              </a:ln>
            </p:spPr>
          </p:sp>
          <p:sp>
            <p:nvSpPr>
              <p:cNvPr name="TextBox 49" id="49"/>
              <p:cNvSpPr txBox="true"/>
              <p:nvPr/>
            </p:nvSpPr>
            <p:spPr>
              <a:xfrm>
                <a:off x="0" y="-28575"/>
                <a:ext cx="1503687" cy="219340"/>
              </a:xfrm>
              <a:prstGeom prst="rect">
                <a:avLst/>
              </a:prstGeom>
            </p:spPr>
            <p:txBody>
              <a:bodyPr anchor="ctr" rtlCol="false" tIns="50800" lIns="50800" bIns="50800" rIns="50800"/>
              <a:lstStyle/>
              <a:p>
                <a:pPr algn="r">
                  <a:lnSpc>
                    <a:spcPts val="1960"/>
                  </a:lnSpc>
                  <a:spcBef>
                    <a:spcPct val="0"/>
                  </a:spcBef>
                </a:pPr>
              </a:p>
            </p:txBody>
          </p:sp>
        </p:grpSp>
        <p:sp>
          <p:nvSpPr>
            <p:cNvPr name="TextBox 50" id="50"/>
            <p:cNvSpPr txBox="true"/>
            <p:nvPr/>
          </p:nvSpPr>
          <p:spPr>
            <a:xfrm rot="0">
              <a:off x="0" y="293933"/>
              <a:ext cx="7244729" cy="507334"/>
            </a:xfrm>
            <a:prstGeom prst="rect">
              <a:avLst/>
            </a:prstGeom>
          </p:spPr>
          <p:txBody>
            <a:bodyPr anchor="t" rtlCol="false" tIns="0" lIns="0" bIns="0" rIns="0">
              <a:spAutoFit/>
            </a:bodyPr>
            <a:lstStyle/>
            <a:p>
              <a:pPr algn="ctr">
                <a:lnSpc>
                  <a:spcPts val="2789"/>
                </a:lnSpc>
              </a:pPr>
              <a:r>
                <a:rPr lang="en-US" sz="2789">
                  <a:solidFill>
                    <a:srgbClr val="FFFFFF"/>
                  </a:solidFill>
                  <a:latin typeface="Rubik One"/>
                  <a:ea typeface="Rubik One"/>
                  <a:cs typeface="Rubik One"/>
                  <a:sym typeface="Rubik One"/>
                </a:rPr>
                <a:t>SHRINKAGE = 1.0028</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5952812" y="8474412"/>
            <a:ext cx="4559724" cy="447540"/>
            <a:chOff x="0" y="0"/>
            <a:chExt cx="4059375" cy="398431"/>
          </a:xfrm>
        </p:grpSpPr>
        <p:sp>
          <p:nvSpPr>
            <p:cNvPr name="Freeform 3" id="3"/>
            <p:cNvSpPr/>
            <p:nvPr/>
          </p:nvSpPr>
          <p:spPr>
            <a:xfrm flipH="false" flipV="false" rot="0">
              <a:off x="9868" y="0"/>
              <a:ext cx="4039639" cy="398431"/>
            </a:xfrm>
            <a:custGeom>
              <a:avLst/>
              <a:gdLst/>
              <a:ahLst/>
              <a:cxnLst/>
              <a:rect r="r" b="b" t="t" l="l"/>
              <a:pathLst>
                <a:path h="398431" w="4039639">
                  <a:moveTo>
                    <a:pt x="218800" y="0"/>
                  </a:moveTo>
                  <a:lnTo>
                    <a:pt x="4024039" y="0"/>
                  </a:lnTo>
                  <a:cubicBezTo>
                    <a:pt x="4029468" y="0"/>
                    <a:pt x="4034506" y="2822"/>
                    <a:pt x="4037342" y="7452"/>
                  </a:cubicBezTo>
                  <a:cubicBezTo>
                    <a:pt x="4040177" y="12081"/>
                    <a:pt x="4040403" y="17852"/>
                    <a:pt x="4037936" y="22688"/>
                  </a:cubicBezTo>
                  <a:lnTo>
                    <a:pt x="3857878" y="375743"/>
                  </a:lnTo>
                  <a:cubicBezTo>
                    <a:pt x="3850777" y="389666"/>
                    <a:pt x="3836468" y="398431"/>
                    <a:pt x="3820839" y="398431"/>
                  </a:cubicBezTo>
                  <a:lnTo>
                    <a:pt x="15600" y="398431"/>
                  </a:lnTo>
                  <a:cubicBezTo>
                    <a:pt x="10171" y="398431"/>
                    <a:pt x="5133" y="395608"/>
                    <a:pt x="2297" y="390979"/>
                  </a:cubicBezTo>
                  <a:cubicBezTo>
                    <a:pt x="-538" y="386350"/>
                    <a:pt x="-764" y="380579"/>
                    <a:pt x="1703" y="375743"/>
                  </a:cubicBezTo>
                  <a:lnTo>
                    <a:pt x="181761" y="22688"/>
                  </a:lnTo>
                  <a:cubicBezTo>
                    <a:pt x="188862" y="8765"/>
                    <a:pt x="203171" y="0"/>
                    <a:pt x="218800" y="0"/>
                  </a:cubicBezTo>
                  <a:close/>
                </a:path>
              </a:pathLst>
            </a:custGeom>
            <a:solidFill>
              <a:srgbClr val="EDF6F9"/>
            </a:solidFill>
          </p:spPr>
        </p:sp>
        <p:sp>
          <p:nvSpPr>
            <p:cNvPr name="TextBox 4" id="4"/>
            <p:cNvSpPr txBox="true"/>
            <p:nvPr/>
          </p:nvSpPr>
          <p:spPr>
            <a:xfrm>
              <a:off x="101600" y="-38100"/>
              <a:ext cx="385617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56527" y="8473564"/>
            <a:ext cx="2473138" cy="447540"/>
            <a:chOff x="0" y="0"/>
            <a:chExt cx="2201755" cy="398431"/>
          </a:xfrm>
        </p:grpSpPr>
        <p:sp>
          <p:nvSpPr>
            <p:cNvPr name="Freeform 6" id="6"/>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7" id="7"/>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- 21</a:t>
            </a:r>
          </a:p>
        </p:txBody>
      </p:sp>
      <p:grpSp>
        <p:nvGrpSpPr>
          <p:cNvPr name="Group 9" id="9"/>
          <p:cNvGrpSpPr/>
          <p:nvPr/>
        </p:nvGrpSpPr>
        <p:grpSpPr>
          <a:xfrm rot="0">
            <a:off x="-3150242" y="9960324"/>
            <a:ext cx="9960587" cy="1142074"/>
            <a:chOff x="0" y="0"/>
            <a:chExt cx="2572779" cy="294993"/>
          </a:xfrm>
        </p:grpSpPr>
        <p:sp>
          <p:nvSpPr>
            <p:cNvPr name="Freeform 10" id="1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1" id="1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4338615" y="-784283"/>
            <a:ext cx="12457569" cy="1142074"/>
            <a:chOff x="0" y="0"/>
            <a:chExt cx="3217739" cy="294993"/>
          </a:xfrm>
        </p:grpSpPr>
        <p:sp>
          <p:nvSpPr>
            <p:cNvPr name="Freeform 13" id="13"/>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14" id="14"/>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2616363" y="4056909"/>
            <a:ext cx="13055274" cy="2344632"/>
          </a:xfrm>
          <a:prstGeom prst="rect">
            <a:avLst/>
          </a:prstGeom>
        </p:spPr>
        <p:txBody>
          <a:bodyPr anchor="t" rtlCol="false" tIns="0" lIns="0" bIns="0" rIns="0">
            <a:spAutoFit/>
          </a:bodyPr>
          <a:lstStyle/>
          <a:p>
            <a:pPr algn="ctr">
              <a:lnSpc>
                <a:spcPts val="9058"/>
              </a:lnSpc>
            </a:pPr>
            <a:r>
              <a:rPr lang="en-US" sz="9058">
                <a:solidFill>
                  <a:srgbClr val="0B132B"/>
                </a:solidFill>
                <a:latin typeface="Rubik One"/>
                <a:ea typeface="Rubik One"/>
                <a:cs typeface="Rubik One"/>
                <a:sym typeface="Rubik One"/>
              </a:rPr>
              <a:t>“WHAT-IF?” </a:t>
            </a:r>
            <a:r>
              <a:rPr lang="en-US" sz="9058">
                <a:solidFill>
                  <a:srgbClr val="00B58F"/>
                </a:solidFill>
                <a:latin typeface="Rubik One"/>
                <a:ea typeface="Rubik One"/>
                <a:cs typeface="Rubik One"/>
                <a:sym typeface="Rubik One"/>
              </a:rPr>
              <a:t>SIMULATION</a:t>
            </a:r>
          </a:p>
        </p:txBody>
      </p:sp>
      <p:grpSp>
        <p:nvGrpSpPr>
          <p:cNvPr name="Group 16" id="16"/>
          <p:cNvGrpSpPr/>
          <p:nvPr/>
        </p:nvGrpSpPr>
        <p:grpSpPr>
          <a:xfrm rot="0">
            <a:off x="7270483" y="3272198"/>
            <a:ext cx="3747034" cy="613261"/>
            <a:chOff x="0" y="0"/>
            <a:chExt cx="4996045" cy="817681"/>
          </a:xfrm>
        </p:grpSpPr>
        <p:grpSp>
          <p:nvGrpSpPr>
            <p:cNvPr name="Group 17" id="17"/>
            <p:cNvGrpSpPr/>
            <p:nvPr/>
          </p:nvGrpSpPr>
          <p:grpSpPr>
            <a:xfrm rot="0">
              <a:off x="802794" y="0"/>
              <a:ext cx="1140217" cy="813012"/>
              <a:chOff x="0" y="0"/>
              <a:chExt cx="407622" cy="290648"/>
            </a:xfrm>
          </p:grpSpPr>
          <p:sp>
            <p:nvSpPr>
              <p:cNvPr name="Freeform 18" id="1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9" id="19"/>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0" id="20"/>
            <p:cNvGrpSpPr/>
            <p:nvPr/>
          </p:nvGrpSpPr>
          <p:grpSpPr>
            <a:xfrm rot="0">
              <a:off x="1586425" y="4669"/>
              <a:ext cx="1140217" cy="813012"/>
              <a:chOff x="0" y="0"/>
              <a:chExt cx="407622" cy="290648"/>
            </a:xfrm>
          </p:grpSpPr>
          <p:sp>
            <p:nvSpPr>
              <p:cNvPr name="Freeform 21" id="2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22" id="22"/>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3" id="23"/>
            <p:cNvGrpSpPr/>
            <p:nvPr/>
          </p:nvGrpSpPr>
          <p:grpSpPr>
            <a:xfrm rot="0">
              <a:off x="2355240" y="4669"/>
              <a:ext cx="1140217" cy="813012"/>
              <a:chOff x="0" y="0"/>
              <a:chExt cx="407622" cy="290648"/>
            </a:xfrm>
          </p:grpSpPr>
          <p:sp>
            <p:nvSpPr>
              <p:cNvPr name="Freeform 24" id="2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25" id="25"/>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6" id="26"/>
            <p:cNvGrpSpPr/>
            <p:nvPr/>
          </p:nvGrpSpPr>
          <p:grpSpPr>
            <a:xfrm rot="0">
              <a:off x="3087013" y="4669"/>
              <a:ext cx="1140217" cy="813012"/>
              <a:chOff x="0" y="0"/>
              <a:chExt cx="407622" cy="290648"/>
            </a:xfrm>
          </p:grpSpPr>
          <p:sp>
            <p:nvSpPr>
              <p:cNvPr name="Freeform 27" id="2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28" id="28"/>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9" id="29"/>
            <p:cNvGrpSpPr/>
            <p:nvPr/>
          </p:nvGrpSpPr>
          <p:grpSpPr>
            <a:xfrm rot="0">
              <a:off x="3855828" y="4669"/>
              <a:ext cx="1140217" cy="813012"/>
              <a:chOff x="0" y="0"/>
              <a:chExt cx="407622" cy="290648"/>
            </a:xfrm>
          </p:grpSpPr>
          <p:sp>
            <p:nvSpPr>
              <p:cNvPr name="Freeform 30" id="30"/>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C7CED0"/>
              </a:solidFill>
            </p:spPr>
          </p:sp>
          <p:sp>
            <p:nvSpPr>
              <p:cNvPr name="TextBox 31" id="31"/>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32" id="32"/>
            <p:cNvGrpSpPr/>
            <p:nvPr/>
          </p:nvGrpSpPr>
          <p:grpSpPr>
            <a:xfrm rot="0">
              <a:off x="0" y="0"/>
              <a:ext cx="1140217" cy="813012"/>
              <a:chOff x="0" y="0"/>
              <a:chExt cx="407622" cy="290648"/>
            </a:xfrm>
          </p:grpSpPr>
          <p:sp>
            <p:nvSpPr>
              <p:cNvPr name="Freeform 33" id="33"/>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34" id="34"/>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grpSp>
        <p:nvGrpSpPr>
          <p:cNvPr name="Group 35" id="35"/>
          <p:cNvGrpSpPr/>
          <p:nvPr/>
        </p:nvGrpSpPr>
        <p:grpSpPr>
          <a:xfrm rot="0">
            <a:off x="1028700" y="793061"/>
            <a:ext cx="4463067" cy="235560"/>
            <a:chOff x="0" y="0"/>
            <a:chExt cx="5950756" cy="314080"/>
          </a:xfrm>
        </p:grpSpPr>
        <p:sp>
          <p:nvSpPr>
            <p:cNvPr name="Freeform 36" id="36"/>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7" id="37"/>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6651701" y="2557067"/>
            <a:ext cx="2584266" cy="3007146"/>
            <a:chOff x="0" y="0"/>
            <a:chExt cx="698500" cy="812800"/>
          </a:xfrm>
        </p:grpSpPr>
        <p:sp>
          <p:nvSpPr>
            <p:cNvPr name="Freeform 3" id="3"/>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4" id="4"/>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604727" y="2538017"/>
            <a:ext cx="2584266" cy="3007146"/>
            <a:chOff x="0" y="0"/>
            <a:chExt cx="698500" cy="812800"/>
          </a:xfrm>
        </p:grpSpPr>
        <p:sp>
          <p:nvSpPr>
            <p:cNvPr name="Freeform 6" id="6"/>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7" id="7"/>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037881" y="5764822"/>
            <a:ext cx="2584266" cy="3007146"/>
            <a:chOff x="0" y="0"/>
            <a:chExt cx="698500" cy="812800"/>
          </a:xfrm>
        </p:grpSpPr>
        <p:sp>
          <p:nvSpPr>
            <p:cNvPr name="Freeform 9" id="9"/>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10" id="10"/>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5056182" y="5764822"/>
            <a:ext cx="2584266" cy="3007146"/>
            <a:chOff x="0" y="0"/>
            <a:chExt cx="698500" cy="812800"/>
          </a:xfrm>
        </p:grpSpPr>
        <p:sp>
          <p:nvSpPr>
            <p:cNvPr name="Freeform 12" id="12"/>
            <p:cNvSpPr/>
            <p:nvPr/>
          </p:nvSpPr>
          <p:spPr>
            <a:xfrm flipH="false" flipV="false" rot="0">
              <a:off x="0" y="13889"/>
              <a:ext cx="698500" cy="785022"/>
            </a:xfrm>
            <a:custGeom>
              <a:avLst/>
              <a:gdLst/>
              <a:ahLst/>
              <a:cxnLst/>
              <a:rect r="r" b="b" t="t" l="l"/>
              <a:pathLst>
                <a:path h="785022" w="698500">
                  <a:moveTo>
                    <a:pt x="393755" y="12005"/>
                  </a:moveTo>
                  <a:lnTo>
                    <a:pt x="653995" y="163417"/>
                  </a:lnTo>
                  <a:cubicBezTo>
                    <a:pt x="681549" y="179449"/>
                    <a:pt x="698500" y="208922"/>
                    <a:pt x="698500" y="240801"/>
                  </a:cubicBezTo>
                  <a:lnTo>
                    <a:pt x="698500" y="544221"/>
                  </a:lnTo>
                  <a:cubicBezTo>
                    <a:pt x="698500" y="576100"/>
                    <a:pt x="681549" y="605573"/>
                    <a:pt x="653995" y="621605"/>
                  </a:cubicBezTo>
                  <a:lnTo>
                    <a:pt x="393755" y="773017"/>
                  </a:lnTo>
                  <a:cubicBezTo>
                    <a:pt x="366244" y="789024"/>
                    <a:pt x="332256" y="789024"/>
                    <a:pt x="304745" y="773017"/>
                  </a:cubicBezTo>
                  <a:lnTo>
                    <a:pt x="44505" y="621605"/>
                  </a:lnTo>
                  <a:cubicBezTo>
                    <a:pt x="16951" y="605573"/>
                    <a:pt x="0" y="576100"/>
                    <a:pt x="0" y="544221"/>
                  </a:cubicBezTo>
                  <a:lnTo>
                    <a:pt x="0" y="240801"/>
                  </a:lnTo>
                  <a:cubicBezTo>
                    <a:pt x="0" y="208922"/>
                    <a:pt x="16951" y="179449"/>
                    <a:pt x="44505" y="163417"/>
                  </a:cubicBezTo>
                  <a:lnTo>
                    <a:pt x="304745" y="12005"/>
                  </a:lnTo>
                  <a:cubicBezTo>
                    <a:pt x="332256" y="-4002"/>
                    <a:pt x="366244" y="-4002"/>
                    <a:pt x="393755" y="12005"/>
                  </a:cubicBezTo>
                  <a:close/>
                </a:path>
              </a:pathLst>
            </a:custGeom>
            <a:ln w="19050" cap="sq">
              <a:solidFill>
                <a:srgbClr val="00B58F"/>
              </a:solidFill>
              <a:prstDash val="solid"/>
              <a:miter/>
            </a:ln>
          </p:spPr>
        </p:sp>
        <p:sp>
          <p:nvSpPr>
            <p:cNvPr name="TextBox 13" id="13"/>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6872046" y="2576117"/>
            <a:ext cx="2943763" cy="3425469"/>
            <a:chOff x="0" y="0"/>
            <a:chExt cx="698500" cy="812800"/>
          </a:xfrm>
        </p:grpSpPr>
        <p:sp>
          <p:nvSpPr>
            <p:cNvPr name="Freeform 15" id="15"/>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sp>
        <p:sp>
          <p:nvSpPr>
            <p:cNvPr name="TextBox 16" id="16"/>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042425" y="2557067"/>
            <a:ext cx="2943763" cy="3425469"/>
            <a:chOff x="0" y="0"/>
            <a:chExt cx="698500" cy="812800"/>
          </a:xfrm>
        </p:grpSpPr>
        <p:sp>
          <p:nvSpPr>
            <p:cNvPr name="Freeform 18" id="18"/>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sp>
        <p:sp>
          <p:nvSpPr>
            <p:cNvPr name="TextBox 19" id="19"/>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5275103" y="5327448"/>
            <a:ext cx="2943763" cy="3425469"/>
            <a:chOff x="0" y="0"/>
            <a:chExt cx="698500" cy="812800"/>
          </a:xfrm>
        </p:grpSpPr>
        <p:sp>
          <p:nvSpPr>
            <p:cNvPr name="Freeform 21" id="21"/>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sp>
        <p:sp>
          <p:nvSpPr>
            <p:cNvPr name="TextBox 22" id="22"/>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8468988" y="5327448"/>
            <a:ext cx="2943763" cy="3425469"/>
            <a:chOff x="0" y="0"/>
            <a:chExt cx="698500" cy="812800"/>
          </a:xfrm>
        </p:grpSpPr>
        <p:sp>
          <p:nvSpPr>
            <p:cNvPr name="Freeform 24" id="24"/>
            <p:cNvSpPr/>
            <p:nvPr/>
          </p:nvSpPr>
          <p:spPr>
            <a:xfrm flipH="false" flipV="false" rot="0">
              <a:off x="0" y="12193"/>
              <a:ext cx="698500" cy="788414"/>
            </a:xfrm>
            <a:custGeom>
              <a:avLst/>
              <a:gdLst/>
              <a:ahLst/>
              <a:cxnLst/>
              <a:rect r="r" b="b" t="t" l="l"/>
              <a:pathLst>
                <a:path h="788414" w="698500">
                  <a:moveTo>
                    <a:pt x="388320" y="10539"/>
                  </a:moveTo>
                  <a:lnTo>
                    <a:pt x="659430" y="168275"/>
                  </a:lnTo>
                  <a:cubicBezTo>
                    <a:pt x="683619" y="182349"/>
                    <a:pt x="698500" y="208223"/>
                    <a:pt x="698500" y="236209"/>
                  </a:cubicBezTo>
                  <a:lnTo>
                    <a:pt x="698500" y="552205"/>
                  </a:lnTo>
                  <a:cubicBezTo>
                    <a:pt x="698500" y="580191"/>
                    <a:pt x="683619" y="606065"/>
                    <a:pt x="659430" y="620139"/>
                  </a:cubicBezTo>
                  <a:lnTo>
                    <a:pt x="388320" y="777875"/>
                  </a:lnTo>
                  <a:cubicBezTo>
                    <a:pt x="364169" y="791927"/>
                    <a:pt x="334331" y="791927"/>
                    <a:pt x="310180" y="777875"/>
                  </a:cubicBezTo>
                  <a:lnTo>
                    <a:pt x="39070" y="620139"/>
                  </a:lnTo>
                  <a:cubicBezTo>
                    <a:pt x="14881" y="606065"/>
                    <a:pt x="0" y="580191"/>
                    <a:pt x="0" y="552205"/>
                  </a:cubicBezTo>
                  <a:lnTo>
                    <a:pt x="0" y="236209"/>
                  </a:lnTo>
                  <a:cubicBezTo>
                    <a:pt x="0" y="208223"/>
                    <a:pt x="14881" y="182349"/>
                    <a:pt x="39070" y="168275"/>
                  </a:cubicBezTo>
                  <a:lnTo>
                    <a:pt x="310180" y="10539"/>
                  </a:lnTo>
                  <a:cubicBezTo>
                    <a:pt x="334331" y="-3513"/>
                    <a:pt x="364169" y="-3513"/>
                    <a:pt x="388320" y="10539"/>
                  </a:cubicBezTo>
                  <a:close/>
                </a:path>
              </a:pathLst>
            </a:custGeom>
            <a:solidFill>
              <a:srgbClr val="00B58F"/>
            </a:solidFill>
          </p:spPr>
        </p:sp>
        <p:sp>
          <p:nvSpPr>
            <p:cNvPr name="TextBox 25" id="25"/>
            <p:cNvSpPr txBox="true"/>
            <p:nvPr/>
          </p:nvSpPr>
          <p:spPr>
            <a:xfrm>
              <a:off x="0" y="101600"/>
              <a:ext cx="698500" cy="571500"/>
            </a:xfrm>
            <a:prstGeom prst="rect">
              <a:avLst/>
            </a:prstGeom>
          </p:spPr>
          <p:txBody>
            <a:bodyPr anchor="ctr" rtlCol="false" tIns="50800" lIns="50800" bIns="50800" rIns="50800"/>
            <a:lstStyle/>
            <a:p>
              <a:pPr algn="ctr">
                <a:lnSpc>
                  <a:spcPts val="2659"/>
                </a:lnSpc>
              </a:pPr>
            </a:p>
          </p:txBody>
        </p:sp>
      </p:grpSp>
      <p:sp>
        <p:nvSpPr>
          <p:cNvPr name="Freeform 26" id="26"/>
          <p:cNvSpPr/>
          <p:nvPr/>
        </p:nvSpPr>
        <p:spPr>
          <a:xfrm flipH="false" flipV="false" rot="0">
            <a:off x="7659498" y="3604423"/>
            <a:ext cx="1368857" cy="1368857"/>
          </a:xfrm>
          <a:custGeom>
            <a:avLst/>
            <a:gdLst/>
            <a:ahLst/>
            <a:cxnLst/>
            <a:rect r="r" b="b" t="t" l="l"/>
            <a:pathLst>
              <a:path h="1368857" w="1368857">
                <a:moveTo>
                  <a:pt x="0" y="0"/>
                </a:moveTo>
                <a:lnTo>
                  <a:pt x="1368858" y="0"/>
                </a:lnTo>
                <a:lnTo>
                  <a:pt x="1368858" y="1368857"/>
                </a:lnTo>
                <a:lnTo>
                  <a:pt x="0" y="13688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7" id="27"/>
          <p:cNvGrpSpPr/>
          <p:nvPr/>
        </p:nvGrpSpPr>
        <p:grpSpPr>
          <a:xfrm rot="0">
            <a:off x="11502671" y="9960324"/>
            <a:ext cx="9960587" cy="1142074"/>
            <a:chOff x="0" y="0"/>
            <a:chExt cx="2572779" cy="294993"/>
          </a:xfrm>
        </p:grpSpPr>
        <p:sp>
          <p:nvSpPr>
            <p:cNvPr name="Freeform 28" id="28"/>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9" id="29"/>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0" id="30"/>
          <p:cNvGrpSpPr/>
          <p:nvPr/>
        </p:nvGrpSpPr>
        <p:grpSpPr>
          <a:xfrm rot="0">
            <a:off x="-5959063" y="-784283"/>
            <a:ext cx="9000306" cy="1142074"/>
            <a:chOff x="0" y="0"/>
            <a:chExt cx="2324742" cy="294993"/>
          </a:xfrm>
        </p:grpSpPr>
        <p:sp>
          <p:nvSpPr>
            <p:cNvPr name="Freeform 31" id="31"/>
            <p:cNvSpPr/>
            <p:nvPr/>
          </p:nvSpPr>
          <p:spPr>
            <a:xfrm flipH="false" flipV="false" rot="0">
              <a:off x="0" y="0"/>
              <a:ext cx="2324742" cy="294993"/>
            </a:xfrm>
            <a:custGeom>
              <a:avLst/>
              <a:gdLst/>
              <a:ahLst/>
              <a:cxnLst/>
              <a:rect r="r" b="b" t="t" l="l"/>
              <a:pathLst>
                <a:path h="294993" w="2324742">
                  <a:moveTo>
                    <a:pt x="51611" y="0"/>
                  </a:moveTo>
                  <a:lnTo>
                    <a:pt x="2273131" y="0"/>
                  </a:lnTo>
                  <a:cubicBezTo>
                    <a:pt x="2286820" y="0"/>
                    <a:pt x="2299947" y="5438"/>
                    <a:pt x="2309626" y="15117"/>
                  </a:cubicBezTo>
                  <a:cubicBezTo>
                    <a:pt x="2319305" y="24795"/>
                    <a:pt x="2324742" y="37923"/>
                    <a:pt x="2324742" y="51611"/>
                  </a:cubicBezTo>
                  <a:lnTo>
                    <a:pt x="2324742" y="243382"/>
                  </a:lnTo>
                  <a:cubicBezTo>
                    <a:pt x="2324742" y="257070"/>
                    <a:pt x="2319305" y="270198"/>
                    <a:pt x="2309626" y="279876"/>
                  </a:cubicBezTo>
                  <a:cubicBezTo>
                    <a:pt x="2299947" y="289555"/>
                    <a:pt x="2286820" y="294993"/>
                    <a:pt x="2273131" y="294993"/>
                  </a:cubicBezTo>
                  <a:lnTo>
                    <a:pt x="51611" y="294993"/>
                  </a:lnTo>
                  <a:cubicBezTo>
                    <a:pt x="37923" y="294993"/>
                    <a:pt x="24795" y="289555"/>
                    <a:pt x="15117" y="279876"/>
                  </a:cubicBezTo>
                  <a:cubicBezTo>
                    <a:pt x="5438" y="270198"/>
                    <a:pt x="0" y="257070"/>
                    <a:pt x="0" y="243382"/>
                  </a:cubicBezTo>
                  <a:lnTo>
                    <a:pt x="0" y="51611"/>
                  </a:lnTo>
                  <a:cubicBezTo>
                    <a:pt x="0" y="37923"/>
                    <a:pt x="5438" y="24795"/>
                    <a:pt x="15117" y="15117"/>
                  </a:cubicBezTo>
                  <a:cubicBezTo>
                    <a:pt x="24795" y="5438"/>
                    <a:pt x="37923" y="0"/>
                    <a:pt x="51611" y="0"/>
                  </a:cubicBezTo>
                  <a:close/>
                </a:path>
              </a:pathLst>
            </a:custGeom>
            <a:ln w="19050" cap="rnd">
              <a:solidFill>
                <a:srgbClr val="00B58F"/>
              </a:solidFill>
              <a:prstDash val="solid"/>
              <a:round/>
            </a:ln>
          </p:spPr>
        </p:sp>
        <p:sp>
          <p:nvSpPr>
            <p:cNvPr name="TextBox 32" id="32"/>
            <p:cNvSpPr txBox="true"/>
            <p:nvPr/>
          </p:nvSpPr>
          <p:spPr>
            <a:xfrm>
              <a:off x="0" y="-38100"/>
              <a:ext cx="2324742"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33" id="33"/>
          <p:cNvSpPr/>
          <p:nvPr/>
        </p:nvSpPr>
        <p:spPr>
          <a:xfrm flipH="false" flipV="false" rot="0">
            <a:off x="5782289" y="6068261"/>
            <a:ext cx="1858159" cy="1858159"/>
          </a:xfrm>
          <a:custGeom>
            <a:avLst/>
            <a:gdLst/>
            <a:ahLst/>
            <a:cxnLst/>
            <a:rect r="r" b="b" t="t" l="l"/>
            <a:pathLst>
              <a:path h="1858159" w="1858159">
                <a:moveTo>
                  <a:pt x="0" y="0"/>
                </a:moveTo>
                <a:lnTo>
                  <a:pt x="1858159" y="0"/>
                </a:lnTo>
                <a:lnTo>
                  <a:pt x="1858159" y="1858159"/>
                </a:lnTo>
                <a:lnTo>
                  <a:pt x="0" y="18581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false" flipV="false" rot="1114354">
            <a:off x="10195802" y="3162677"/>
            <a:ext cx="2613738" cy="2182471"/>
          </a:xfrm>
          <a:custGeom>
            <a:avLst/>
            <a:gdLst/>
            <a:ahLst/>
            <a:cxnLst/>
            <a:rect r="r" b="b" t="t" l="l"/>
            <a:pathLst>
              <a:path h="2182471" w="2613738">
                <a:moveTo>
                  <a:pt x="0" y="0"/>
                </a:moveTo>
                <a:lnTo>
                  <a:pt x="2613738" y="0"/>
                </a:lnTo>
                <a:lnTo>
                  <a:pt x="2613738" y="2182472"/>
                </a:lnTo>
                <a:lnTo>
                  <a:pt x="0" y="21824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5" id="35"/>
          <p:cNvSpPr/>
          <p:nvPr/>
        </p:nvSpPr>
        <p:spPr>
          <a:xfrm flipH="false" flipV="false" rot="0">
            <a:off x="9062031" y="6217413"/>
            <a:ext cx="1708534" cy="1537680"/>
          </a:xfrm>
          <a:custGeom>
            <a:avLst/>
            <a:gdLst/>
            <a:ahLst/>
            <a:cxnLst/>
            <a:rect r="r" b="b" t="t" l="l"/>
            <a:pathLst>
              <a:path h="1537680" w="1708534">
                <a:moveTo>
                  <a:pt x="0" y="0"/>
                </a:moveTo>
                <a:lnTo>
                  <a:pt x="1708534" y="0"/>
                </a:lnTo>
                <a:lnTo>
                  <a:pt x="1708534" y="1537680"/>
                </a:lnTo>
                <a:lnTo>
                  <a:pt x="0" y="153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6" id="36"/>
          <p:cNvSpPr txBox="true"/>
          <p:nvPr/>
        </p:nvSpPr>
        <p:spPr>
          <a:xfrm rot="0">
            <a:off x="13586573" y="3513707"/>
            <a:ext cx="4192549"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Holiday Surge</a:t>
            </a:r>
          </a:p>
        </p:txBody>
      </p:sp>
      <p:sp>
        <p:nvSpPr>
          <p:cNvPr name="TextBox 37" id="37"/>
          <p:cNvSpPr txBox="true"/>
          <p:nvPr/>
        </p:nvSpPr>
        <p:spPr>
          <a:xfrm rot="0">
            <a:off x="1143393" y="3532757"/>
            <a:ext cx="5108258" cy="448310"/>
          </a:xfrm>
          <a:prstGeom prst="rect">
            <a:avLst/>
          </a:prstGeom>
        </p:spPr>
        <p:txBody>
          <a:bodyPr anchor="t" rtlCol="false" tIns="0" lIns="0" bIns="0" rIns="0">
            <a:spAutoFit/>
          </a:bodyPr>
          <a:lstStyle/>
          <a:p>
            <a:pPr algn="r">
              <a:lnSpc>
                <a:spcPts val="3399"/>
              </a:lnSpc>
            </a:pPr>
            <a:r>
              <a:rPr lang="en-US" sz="3399">
                <a:solidFill>
                  <a:srgbClr val="0B132B"/>
                </a:solidFill>
                <a:latin typeface="Rubik One"/>
                <a:ea typeface="Rubik One"/>
                <a:cs typeface="Rubik One"/>
                <a:sym typeface="Rubik One"/>
              </a:rPr>
              <a:t>Baseline Operational</a:t>
            </a:r>
          </a:p>
        </p:txBody>
      </p:sp>
      <p:sp>
        <p:nvSpPr>
          <p:cNvPr name="TextBox 38" id="38"/>
          <p:cNvSpPr txBox="true"/>
          <p:nvPr/>
        </p:nvSpPr>
        <p:spPr>
          <a:xfrm rot="0">
            <a:off x="12014328" y="6284088"/>
            <a:ext cx="6019218" cy="448310"/>
          </a:xfrm>
          <a:prstGeom prst="rect">
            <a:avLst/>
          </a:prstGeom>
        </p:spPr>
        <p:txBody>
          <a:bodyPr anchor="t" rtlCol="false" tIns="0" lIns="0" bIns="0" rIns="0">
            <a:spAutoFit/>
          </a:bodyPr>
          <a:lstStyle/>
          <a:p>
            <a:pPr algn="l">
              <a:lnSpc>
                <a:spcPts val="3399"/>
              </a:lnSpc>
            </a:pPr>
            <a:r>
              <a:rPr lang="en-US" sz="3399">
                <a:solidFill>
                  <a:srgbClr val="0B132B"/>
                </a:solidFill>
                <a:latin typeface="Rubik One"/>
                <a:ea typeface="Rubik One"/>
                <a:cs typeface="Rubik One"/>
                <a:sym typeface="Rubik One"/>
              </a:rPr>
              <a:t>Combined: Winter Holiday</a:t>
            </a:r>
          </a:p>
        </p:txBody>
      </p:sp>
      <p:sp>
        <p:nvSpPr>
          <p:cNvPr name="TextBox 39" id="39"/>
          <p:cNvSpPr txBox="true"/>
          <p:nvPr/>
        </p:nvSpPr>
        <p:spPr>
          <a:xfrm rot="0">
            <a:off x="467808" y="6284088"/>
            <a:ext cx="4192549" cy="448310"/>
          </a:xfrm>
          <a:prstGeom prst="rect">
            <a:avLst/>
          </a:prstGeom>
        </p:spPr>
        <p:txBody>
          <a:bodyPr anchor="t" rtlCol="false" tIns="0" lIns="0" bIns="0" rIns="0">
            <a:spAutoFit/>
          </a:bodyPr>
          <a:lstStyle/>
          <a:p>
            <a:pPr algn="r">
              <a:lnSpc>
                <a:spcPts val="3399"/>
              </a:lnSpc>
            </a:pPr>
            <a:r>
              <a:rPr lang="en-US" sz="3399">
                <a:solidFill>
                  <a:srgbClr val="0B132B"/>
                </a:solidFill>
                <a:latin typeface="Rubik One"/>
                <a:ea typeface="Rubik One"/>
                <a:cs typeface="Rubik One"/>
                <a:sym typeface="Rubik One"/>
              </a:rPr>
              <a:t>Freeze Shock</a:t>
            </a:r>
          </a:p>
        </p:txBody>
      </p:sp>
      <p:sp>
        <p:nvSpPr>
          <p:cNvPr name="TextBox 40" id="40"/>
          <p:cNvSpPr txBox="true"/>
          <p:nvPr/>
        </p:nvSpPr>
        <p:spPr>
          <a:xfrm rot="0">
            <a:off x="13586573" y="3989997"/>
            <a:ext cx="4446973" cy="1102360"/>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M</a:t>
            </a:r>
            <a:r>
              <a:rPr lang="en-US" sz="1599" spc="39">
                <a:solidFill>
                  <a:srgbClr val="0B132B"/>
                </a:solidFill>
                <a:latin typeface="Bricolage Grotesque"/>
                <a:ea typeface="Bricolage Grotesque"/>
                <a:cs typeface="Bricolage Grotesque"/>
                <a:sym typeface="Bricolage Grotesque"/>
              </a:rPr>
              <a:t>ensimulasikan lonjakan </a:t>
            </a:r>
            <a:r>
              <a:rPr lang="en-US" b="true" sz="1599" spc="39">
                <a:solidFill>
                  <a:srgbClr val="0B132B"/>
                </a:solidFill>
                <a:latin typeface="Bricolage Grotesque Bold"/>
                <a:ea typeface="Bricolage Grotesque Bold"/>
                <a:cs typeface="Bricolage Grotesque Bold"/>
                <a:sym typeface="Bricolage Grotesque Bold"/>
              </a:rPr>
              <a:t>mobilitas </a:t>
            </a:r>
            <a:r>
              <a:rPr lang="en-US" sz="1599" spc="39">
                <a:solidFill>
                  <a:srgbClr val="0B132B"/>
                </a:solidFill>
                <a:latin typeface="Bricolage Grotesque"/>
                <a:ea typeface="Bricolage Grotesque"/>
                <a:cs typeface="Bricolage Grotesque"/>
                <a:sym typeface="Bricolage Grotesque"/>
              </a:rPr>
              <a:t>antarkota saat musim </a:t>
            </a:r>
            <a:r>
              <a:rPr lang="en-US" b="true" sz="1599" spc="39">
                <a:solidFill>
                  <a:srgbClr val="0B132B"/>
                </a:solidFill>
                <a:latin typeface="Bricolage Grotesque Bold"/>
                <a:ea typeface="Bricolage Grotesque Bold"/>
                <a:cs typeface="Bricolage Grotesque Bold"/>
                <a:sym typeface="Bricolage Grotesque Bold"/>
              </a:rPr>
              <a:t>libur panjang</a:t>
            </a:r>
            <a:r>
              <a:rPr lang="en-US" sz="1599" spc="39">
                <a:solidFill>
                  <a:srgbClr val="0B132B"/>
                </a:solidFill>
                <a:latin typeface="Bricolage Grotesque"/>
                <a:ea typeface="Bricolage Grotesque"/>
                <a:cs typeface="Bricolage Grotesque"/>
                <a:sym typeface="Bricolage Grotesque"/>
              </a:rPr>
              <a:t>, di mana </a:t>
            </a:r>
            <a:r>
              <a:rPr lang="en-US" b="true" sz="1599" spc="39">
                <a:solidFill>
                  <a:srgbClr val="0B132B"/>
                </a:solidFill>
                <a:latin typeface="Bricolage Grotesque Bold"/>
                <a:ea typeface="Bricolage Grotesque Bold"/>
                <a:cs typeface="Bricolage Grotesque Bold"/>
                <a:sym typeface="Bricolage Grotesque Bold"/>
              </a:rPr>
              <a:t>volume kendaraan</a:t>
            </a:r>
            <a:r>
              <a:rPr lang="en-US" sz="1599" spc="39">
                <a:solidFill>
                  <a:srgbClr val="0B132B"/>
                </a:solidFill>
                <a:latin typeface="Bricolage Grotesque"/>
                <a:ea typeface="Bricolage Grotesque"/>
                <a:cs typeface="Bricolage Grotesque"/>
                <a:sym typeface="Bricolage Grotesque"/>
              </a:rPr>
              <a:t> yang melintasi koridor jalan tol melonjak </a:t>
            </a:r>
            <a:r>
              <a:rPr lang="en-US" b="true" sz="1599" spc="39">
                <a:solidFill>
                  <a:srgbClr val="0B132B"/>
                </a:solidFill>
                <a:latin typeface="Bricolage Grotesque Bold"/>
                <a:ea typeface="Bricolage Grotesque Bold"/>
                <a:cs typeface="Bricolage Grotesque Bold"/>
                <a:sym typeface="Bricolage Grotesque Bold"/>
              </a:rPr>
              <a:t>25% hingga 30%</a:t>
            </a:r>
            <a:r>
              <a:rPr lang="en-US" sz="1599" spc="39">
                <a:solidFill>
                  <a:srgbClr val="0B132B"/>
                </a:solidFill>
                <a:latin typeface="Bricolage Grotesque"/>
                <a:ea typeface="Bricolage Grotesque"/>
                <a:cs typeface="Bricolage Grotesque"/>
                <a:sym typeface="Bricolage Grotesque"/>
              </a:rPr>
              <a:t>.</a:t>
            </a:r>
          </a:p>
        </p:txBody>
      </p:sp>
      <p:sp>
        <p:nvSpPr>
          <p:cNvPr name="TextBox 41" id="41"/>
          <p:cNvSpPr txBox="true"/>
          <p:nvPr/>
        </p:nvSpPr>
        <p:spPr>
          <a:xfrm rot="0">
            <a:off x="2059102" y="4009047"/>
            <a:ext cx="4192549" cy="826135"/>
          </a:xfrm>
          <a:prstGeom prst="rect">
            <a:avLst/>
          </a:prstGeom>
        </p:spPr>
        <p:txBody>
          <a:bodyPr anchor="t" rtlCol="false" tIns="0" lIns="0" bIns="0" rIns="0">
            <a:spAutoFit/>
          </a:bodyPr>
          <a:lstStyle/>
          <a:p>
            <a:pPr algn="r">
              <a:lnSpc>
                <a:spcPts val="2239"/>
              </a:lnSpc>
            </a:pPr>
            <a:r>
              <a:rPr lang="en-US" sz="1599" spc="39">
                <a:solidFill>
                  <a:srgbClr val="0B132B"/>
                </a:solidFill>
                <a:latin typeface="Bricolage Grotesque"/>
                <a:ea typeface="Bricolage Grotesque"/>
                <a:cs typeface="Bricolage Grotesque"/>
                <a:sym typeface="Bricolage Grotesque"/>
              </a:rPr>
              <a:t>Me</a:t>
            </a:r>
            <a:r>
              <a:rPr lang="en-US" sz="1599" spc="39">
                <a:solidFill>
                  <a:srgbClr val="0B132B"/>
                </a:solidFill>
                <a:latin typeface="Bricolage Grotesque"/>
                <a:ea typeface="Bricolage Grotesque"/>
                <a:cs typeface="Bricolage Grotesque"/>
                <a:sym typeface="Bricolage Grotesque"/>
              </a:rPr>
              <a:t>refleksikan dinamika </a:t>
            </a:r>
            <a:r>
              <a:rPr lang="en-US" b="true" sz="1599" spc="39">
                <a:solidFill>
                  <a:srgbClr val="0B132B"/>
                </a:solidFill>
                <a:latin typeface="Bricolage Grotesque Bold"/>
                <a:ea typeface="Bricolage Grotesque Bold"/>
                <a:cs typeface="Bricolage Grotesque Bold"/>
                <a:sym typeface="Bricolage Grotesque Bold"/>
              </a:rPr>
              <a:t>operasional </a:t>
            </a:r>
            <a:r>
              <a:rPr lang="en-US" sz="1599" spc="39">
                <a:solidFill>
                  <a:srgbClr val="0B132B"/>
                </a:solidFill>
                <a:latin typeface="Bricolage Grotesque"/>
                <a:ea typeface="Bricolage Grotesque"/>
                <a:cs typeface="Bricolage Grotesque"/>
                <a:sym typeface="Bricolage Grotesque"/>
              </a:rPr>
              <a:t>harian </a:t>
            </a:r>
            <a:r>
              <a:rPr lang="en-US" b="true" sz="1599" spc="39">
                <a:solidFill>
                  <a:srgbClr val="0B132B"/>
                </a:solidFill>
                <a:latin typeface="Bricolage Grotesque Bold"/>
                <a:ea typeface="Bricolage Grotesque Bold"/>
                <a:cs typeface="Bricolage Grotesque Bold"/>
                <a:sym typeface="Bricolage Grotesque Bold"/>
              </a:rPr>
              <a:t>tipikal </a:t>
            </a:r>
            <a:r>
              <a:rPr lang="en-US" sz="1599" spc="39">
                <a:solidFill>
                  <a:srgbClr val="0B132B"/>
                </a:solidFill>
                <a:latin typeface="Bricolage Grotesque"/>
                <a:ea typeface="Bricolage Grotesque"/>
                <a:cs typeface="Bricolage Grotesque"/>
                <a:sym typeface="Bricolage Grotesque"/>
              </a:rPr>
              <a:t>tanpa gangguan anomali cuaca maupun lonjakan mobilitas massal.</a:t>
            </a:r>
          </a:p>
        </p:txBody>
      </p:sp>
      <p:sp>
        <p:nvSpPr>
          <p:cNvPr name="TextBox 42" id="42"/>
          <p:cNvSpPr txBox="true"/>
          <p:nvPr/>
        </p:nvSpPr>
        <p:spPr>
          <a:xfrm rot="0">
            <a:off x="12014328" y="6760378"/>
            <a:ext cx="5244972" cy="1102360"/>
          </a:xfrm>
          <a:prstGeom prst="rect">
            <a:avLst/>
          </a:prstGeom>
        </p:spPr>
        <p:txBody>
          <a:bodyPr anchor="t" rtlCol="false" tIns="0" lIns="0" bIns="0" rIns="0">
            <a:spAutoFit/>
          </a:bodyPr>
          <a:lstStyle/>
          <a:p>
            <a:pPr algn="l">
              <a:lnSpc>
                <a:spcPts val="2239"/>
              </a:lnSpc>
            </a:pPr>
            <a:r>
              <a:rPr lang="en-US" sz="1599" spc="39">
                <a:solidFill>
                  <a:srgbClr val="0B132B"/>
                </a:solidFill>
                <a:latin typeface="Bricolage Grotesque"/>
                <a:ea typeface="Bricolage Grotesque"/>
                <a:cs typeface="Bricolage Grotesque"/>
                <a:sym typeface="Bricolage Grotesque"/>
              </a:rPr>
              <a:t>M</a:t>
            </a:r>
            <a:r>
              <a:rPr lang="en-US" sz="1599" spc="39">
                <a:solidFill>
                  <a:srgbClr val="0B132B"/>
                </a:solidFill>
                <a:latin typeface="Bricolage Grotesque"/>
                <a:ea typeface="Bricolage Grotesque"/>
                <a:cs typeface="Bricolage Grotesque"/>
                <a:sym typeface="Bricolage Grotesque"/>
              </a:rPr>
              <a:t>ensimulasikan skenario </a:t>
            </a:r>
            <a:r>
              <a:rPr lang="en-US" b="true" sz="1599" spc="39">
                <a:solidFill>
                  <a:srgbClr val="0B132B"/>
                </a:solidFill>
                <a:latin typeface="Bricolage Grotesque Bold"/>
                <a:ea typeface="Bricolage Grotesque Bold"/>
                <a:cs typeface="Bricolage Grotesque Bold"/>
                <a:sym typeface="Bricolage Grotesque Bold"/>
              </a:rPr>
              <a:t>terburuk </a:t>
            </a:r>
            <a:r>
              <a:rPr lang="en-US" sz="1599" spc="39">
                <a:solidFill>
                  <a:srgbClr val="0B132B"/>
                </a:solidFill>
                <a:latin typeface="Bricolage Grotesque"/>
                <a:ea typeface="Bricolage Grotesque"/>
                <a:cs typeface="Bricolage Grotesque"/>
                <a:sym typeface="Bricolage Grotesque"/>
              </a:rPr>
              <a:t>(worst-case scenario), yakni bertemunya puncak arus </a:t>
            </a:r>
            <a:r>
              <a:rPr lang="en-US" b="true" sz="1599" spc="39">
                <a:solidFill>
                  <a:srgbClr val="0B132B"/>
                </a:solidFill>
                <a:latin typeface="Bricolage Grotesque Bold"/>
                <a:ea typeface="Bricolage Grotesque Bold"/>
                <a:cs typeface="Bricolage Grotesque Bold"/>
                <a:sym typeface="Bricolage Grotesque Bold"/>
              </a:rPr>
              <a:t>mudik liburan akhir tahun</a:t>
            </a:r>
            <a:r>
              <a:rPr lang="en-US" sz="1599" spc="39">
                <a:solidFill>
                  <a:srgbClr val="0B132B"/>
                </a:solidFill>
                <a:latin typeface="Bricolage Grotesque"/>
                <a:ea typeface="Bricolage Grotesque"/>
                <a:cs typeface="Bricolage Grotesque"/>
                <a:sym typeface="Bricolage Grotesque"/>
              </a:rPr>
              <a:t> (Thanksgiving dan Natal) secara bersamaan dengan </a:t>
            </a:r>
            <a:r>
              <a:rPr lang="en-US" b="true" sz="1599" spc="39">
                <a:solidFill>
                  <a:srgbClr val="0B132B"/>
                </a:solidFill>
                <a:latin typeface="Bricolage Grotesque Bold"/>
                <a:ea typeface="Bricolage Grotesque Bold"/>
                <a:cs typeface="Bricolage Grotesque Bold"/>
                <a:sym typeface="Bricolage Grotesque Bold"/>
              </a:rPr>
              <a:t>badai salju bek</a:t>
            </a:r>
            <a:r>
              <a:rPr lang="en-US" sz="1599" spc="39">
                <a:solidFill>
                  <a:srgbClr val="0B132B"/>
                </a:solidFill>
                <a:latin typeface="Bricolage Grotesque"/>
                <a:ea typeface="Bricolage Grotesque"/>
                <a:cs typeface="Bricolage Grotesque"/>
                <a:sym typeface="Bricolage Grotesque"/>
              </a:rPr>
              <a:t>u ekstrem.</a:t>
            </a:r>
          </a:p>
        </p:txBody>
      </p:sp>
      <p:sp>
        <p:nvSpPr>
          <p:cNvPr name="TextBox 43" id="43"/>
          <p:cNvSpPr txBox="true"/>
          <p:nvPr/>
        </p:nvSpPr>
        <p:spPr>
          <a:xfrm rot="0">
            <a:off x="467808" y="6760378"/>
            <a:ext cx="4192549" cy="1102360"/>
          </a:xfrm>
          <a:prstGeom prst="rect">
            <a:avLst/>
          </a:prstGeom>
        </p:spPr>
        <p:txBody>
          <a:bodyPr anchor="t" rtlCol="false" tIns="0" lIns="0" bIns="0" rIns="0">
            <a:spAutoFit/>
          </a:bodyPr>
          <a:lstStyle/>
          <a:p>
            <a:pPr algn="r">
              <a:lnSpc>
                <a:spcPts val="2239"/>
              </a:lnSpc>
            </a:pPr>
            <a:r>
              <a:rPr lang="en-US" sz="1599" spc="39">
                <a:solidFill>
                  <a:srgbClr val="0B132B"/>
                </a:solidFill>
                <a:latin typeface="Bricolage Grotesque"/>
                <a:ea typeface="Bricolage Grotesque"/>
                <a:cs typeface="Bricolage Grotesque"/>
                <a:sym typeface="Bricolage Grotesque"/>
              </a:rPr>
              <a:t>M</a:t>
            </a:r>
            <a:r>
              <a:rPr lang="en-US" sz="1599" spc="39">
                <a:solidFill>
                  <a:srgbClr val="0B132B"/>
                </a:solidFill>
                <a:latin typeface="Bricolage Grotesque"/>
                <a:ea typeface="Bricolage Grotesque"/>
                <a:cs typeface="Bricolage Grotesque"/>
                <a:sym typeface="Bricolage Grotesque"/>
              </a:rPr>
              <a:t>ensimulasikan serbuan </a:t>
            </a:r>
            <a:r>
              <a:rPr lang="en-US" b="true" sz="1599" spc="39">
                <a:solidFill>
                  <a:srgbClr val="0B132B"/>
                </a:solidFill>
                <a:latin typeface="Bricolage Grotesque Bold"/>
                <a:ea typeface="Bricolage Grotesque Bold"/>
                <a:cs typeface="Bricolage Grotesque Bold"/>
                <a:sym typeface="Bricolage Grotesque Bold"/>
              </a:rPr>
              <a:t>gelombang dingin</a:t>
            </a:r>
            <a:r>
              <a:rPr lang="en-US" sz="1599" spc="39">
                <a:solidFill>
                  <a:srgbClr val="0B132B"/>
                </a:solidFill>
                <a:latin typeface="Bricolage Grotesque"/>
                <a:ea typeface="Bricolage Grotesque"/>
                <a:cs typeface="Bricolage Grotesque"/>
                <a:sym typeface="Bricolage Grotesque"/>
              </a:rPr>
              <a:t> ekstrem di mana </a:t>
            </a:r>
            <a:r>
              <a:rPr lang="en-US" b="true" sz="1599" spc="39">
                <a:solidFill>
                  <a:srgbClr val="0B132B"/>
                </a:solidFill>
                <a:latin typeface="Bricolage Grotesque Bold"/>
                <a:ea typeface="Bricolage Grotesque Bold"/>
                <a:cs typeface="Bricolage Grotesque Bold"/>
                <a:sym typeface="Bricolage Grotesque Bold"/>
              </a:rPr>
              <a:t>temperatur </a:t>
            </a:r>
            <a:r>
              <a:rPr lang="en-US" sz="1599" spc="39">
                <a:solidFill>
                  <a:srgbClr val="0B132B"/>
                </a:solidFill>
                <a:latin typeface="Bricolage Grotesque"/>
                <a:ea typeface="Bricolage Grotesque"/>
                <a:cs typeface="Bricolage Grotesque"/>
                <a:sym typeface="Bricolage Grotesque"/>
              </a:rPr>
              <a:t>anjlok di bawah</a:t>
            </a:r>
            <a:r>
              <a:rPr lang="en-US" b="true" sz="1599" spc="39">
                <a:solidFill>
                  <a:srgbClr val="0B132B"/>
                </a:solidFill>
                <a:latin typeface="Bricolage Grotesque Bold"/>
                <a:ea typeface="Bricolage Grotesque Bold"/>
                <a:cs typeface="Bricolage Grotesque Bold"/>
                <a:sym typeface="Bricolage Grotesque Bold"/>
              </a:rPr>
              <a:t> 25°F (-4°C</a:t>
            </a:r>
            <a:r>
              <a:rPr lang="en-US" sz="1599" spc="39">
                <a:solidFill>
                  <a:srgbClr val="0B132B"/>
                </a:solidFill>
                <a:latin typeface="Bricolage Grotesque"/>
                <a:ea typeface="Bricolage Grotesque"/>
                <a:cs typeface="Bricolage Grotesque"/>
                <a:sym typeface="Bricolage Grotesque"/>
              </a:rPr>
              <a:t>) pada kota-kota kawasan </a:t>
            </a:r>
            <a:r>
              <a:rPr lang="en-US" b="true" sz="1599" spc="39">
                <a:solidFill>
                  <a:srgbClr val="0B132B"/>
                </a:solidFill>
                <a:latin typeface="Bricolage Grotesque Bold"/>
                <a:ea typeface="Bricolage Grotesque Bold"/>
                <a:cs typeface="Bricolage Grotesque Bold"/>
                <a:sym typeface="Bricolage Grotesque Bold"/>
              </a:rPr>
              <a:t>utara </a:t>
            </a:r>
            <a:r>
              <a:rPr lang="en-US" sz="1599" spc="39">
                <a:solidFill>
                  <a:srgbClr val="0B132B"/>
                </a:solidFill>
                <a:latin typeface="Bricolage Grotesque"/>
                <a:ea typeface="Bricolage Grotesque"/>
                <a:cs typeface="Bricolage Grotesque"/>
                <a:sym typeface="Bricolage Grotesque"/>
              </a:rPr>
              <a:t>(Chicago, Detroit, etc)</a:t>
            </a:r>
          </a:p>
        </p:txBody>
      </p:sp>
      <p:sp>
        <p:nvSpPr>
          <p:cNvPr name="TextBox 44" id="44"/>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- 22</a:t>
            </a:r>
          </a:p>
        </p:txBody>
      </p:sp>
      <p:grpSp>
        <p:nvGrpSpPr>
          <p:cNvPr name="Group 45" id="45"/>
          <p:cNvGrpSpPr/>
          <p:nvPr/>
        </p:nvGrpSpPr>
        <p:grpSpPr>
          <a:xfrm rot="0">
            <a:off x="1028700" y="793061"/>
            <a:ext cx="4463067" cy="235560"/>
            <a:chOff x="0" y="0"/>
            <a:chExt cx="5950756" cy="314080"/>
          </a:xfrm>
        </p:grpSpPr>
        <p:sp>
          <p:nvSpPr>
            <p:cNvPr name="Freeform 46" id="46"/>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7" id="47"/>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48" id="48"/>
          <p:cNvSpPr txBox="true"/>
          <p:nvPr/>
        </p:nvSpPr>
        <p:spPr>
          <a:xfrm rot="0">
            <a:off x="1028700" y="1324218"/>
            <a:ext cx="8588564" cy="809625"/>
          </a:xfrm>
          <a:prstGeom prst="rect">
            <a:avLst/>
          </a:prstGeom>
        </p:spPr>
        <p:txBody>
          <a:bodyPr anchor="t" rtlCol="false" tIns="0" lIns="0" bIns="0" rIns="0">
            <a:spAutoFit/>
          </a:bodyPr>
          <a:lstStyle/>
          <a:p>
            <a:pPr algn="l">
              <a:lnSpc>
                <a:spcPts val="6000"/>
              </a:lnSpc>
            </a:pPr>
            <a:r>
              <a:rPr lang="en-US" sz="6000">
                <a:solidFill>
                  <a:srgbClr val="0B132B"/>
                </a:solidFill>
                <a:latin typeface="Rubik One"/>
                <a:ea typeface="Rubik One"/>
                <a:cs typeface="Rubik One"/>
                <a:sym typeface="Rubik One"/>
              </a:rPr>
              <a:t>EMPAT SKENARIO</a:t>
            </a:r>
          </a:p>
        </p:txBody>
      </p:sp>
      <p:sp>
        <p:nvSpPr>
          <p:cNvPr name="TextBox 49" id="49"/>
          <p:cNvSpPr txBox="true"/>
          <p:nvPr/>
        </p:nvSpPr>
        <p:spPr>
          <a:xfrm rot="0">
            <a:off x="1028700" y="2074499"/>
            <a:ext cx="10420043" cy="316230"/>
          </a:xfrm>
          <a:prstGeom prst="rect">
            <a:avLst/>
          </a:prstGeom>
        </p:spPr>
        <p:txBody>
          <a:bodyPr anchor="t" rtlCol="false" tIns="0" lIns="0" bIns="0" rIns="0">
            <a:spAutoFit/>
          </a:bodyPr>
          <a:lstStyle/>
          <a:p>
            <a:pPr algn="just">
              <a:lnSpc>
                <a:spcPts val="2519"/>
              </a:lnSpc>
            </a:pPr>
            <a:r>
              <a:rPr lang="en-US" sz="1799" spc="44">
                <a:solidFill>
                  <a:srgbClr val="0B132B"/>
                </a:solidFill>
                <a:latin typeface="Bricolage Grotesque"/>
                <a:ea typeface="Bricolage Grotesque"/>
                <a:cs typeface="Bricolage Grotesque"/>
                <a:sym typeface="Bricolage Grotesque"/>
              </a:rPr>
              <a:t>Pemilihan </a:t>
            </a:r>
            <a:r>
              <a:rPr lang="en-US" b="true" sz="1799" spc="44">
                <a:solidFill>
                  <a:srgbClr val="0B132B"/>
                </a:solidFill>
                <a:latin typeface="Bricolage Grotesque Bold"/>
                <a:ea typeface="Bricolage Grotesque Bold"/>
                <a:cs typeface="Bricolage Grotesque Bold"/>
                <a:sym typeface="Bricolage Grotesque Bold"/>
              </a:rPr>
              <a:t>skenario </a:t>
            </a:r>
            <a:r>
              <a:rPr lang="en-US" sz="1799" spc="44">
                <a:solidFill>
                  <a:srgbClr val="0B132B"/>
                </a:solidFill>
                <a:latin typeface="Bricolage Grotesque"/>
                <a:ea typeface="Bricolage Grotesque"/>
                <a:cs typeface="Bricolage Grotesque"/>
                <a:sym typeface="Bricolage Grotesque"/>
              </a:rPr>
              <a:t>yang paling </a:t>
            </a:r>
            <a:r>
              <a:rPr lang="en-US" b="true" sz="1799" spc="44">
                <a:solidFill>
                  <a:srgbClr val="0B132B"/>
                </a:solidFill>
                <a:latin typeface="Bricolage Grotesque Bold"/>
                <a:ea typeface="Bricolage Grotesque Bold"/>
                <a:cs typeface="Bricolage Grotesque Bold"/>
                <a:sym typeface="Bricolage Grotesque Bold"/>
              </a:rPr>
              <a:t>mungkin </a:t>
            </a:r>
            <a:r>
              <a:rPr lang="en-US" sz="1799" spc="44">
                <a:solidFill>
                  <a:srgbClr val="0B132B"/>
                </a:solidFill>
                <a:latin typeface="Bricolage Grotesque"/>
                <a:ea typeface="Bricolage Grotesque"/>
                <a:cs typeface="Bricolage Grotesque"/>
                <a:sym typeface="Bricolage Grotesque"/>
              </a:rPr>
              <a:t>terjadi dan </a:t>
            </a:r>
            <a:r>
              <a:rPr lang="en-US" b="true" sz="1799" spc="44">
                <a:solidFill>
                  <a:srgbClr val="0B132B"/>
                </a:solidFill>
                <a:latin typeface="Bricolage Grotesque Bold"/>
                <a:ea typeface="Bricolage Grotesque Bold"/>
                <a:cs typeface="Bricolage Grotesque Bold"/>
                <a:sym typeface="Bricolage Grotesque Bold"/>
              </a:rPr>
              <a:t>relevan </a:t>
            </a:r>
            <a:r>
              <a:rPr lang="en-US" sz="1799" spc="44">
                <a:solidFill>
                  <a:srgbClr val="0B132B"/>
                </a:solidFill>
                <a:latin typeface="Bricolage Grotesque"/>
                <a:ea typeface="Bricolage Grotesque"/>
                <a:cs typeface="Bricolage Grotesque"/>
                <a:sym typeface="Bricolage Grotesque"/>
              </a:rPr>
              <a:t>dengan kasus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1956527" y="8473564"/>
            <a:ext cx="2473138" cy="447540"/>
            <a:chOff x="0" y="0"/>
            <a:chExt cx="2201755" cy="398431"/>
          </a:xfrm>
        </p:grpSpPr>
        <p:sp>
          <p:nvSpPr>
            <p:cNvPr name="Freeform 3" id="3"/>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4" id="4"/>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150242" y="9960324"/>
            <a:ext cx="9960587" cy="1142074"/>
            <a:chOff x="0" y="0"/>
            <a:chExt cx="2572779" cy="294993"/>
          </a:xfrm>
        </p:grpSpPr>
        <p:sp>
          <p:nvSpPr>
            <p:cNvPr name="Freeform 6" id="6"/>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7" id="7"/>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338615" y="-784283"/>
            <a:ext cx="12457569" cy="1142074"/>
            <a:chOff x="0" y="0"/>
            <a:chExt cx="3217739" cy="294993"/>
          </a:xfrm>
        </p:grpSpPr>
        <p:sp>
          <p:nvSpPr>
            <p:cNvPr name="Freeform 9" id="9"/>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10" id="10"/>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022076" y="3069390"/>
            <a:ext cx="10616534" cy="3711363"/>
          </a:xfrm>
          <a:custGeom>
            <a:avLst/>
            <a:gdLst/>
            <a:ahLst/>
            <a:cxnLst/>
            <a:rect r="r" b="b" t="t" l="l"/>
            <a:pathLst>
              <a:path h="3711363" w="10616534">
                <a:moveTo>
                  <a:pt x="0" y="0"/>
                </a:moveTo>
                <a:lnTo>
                  <a:pt x="10616534" y="0"/>
                </a:lnTo>
                <a:lnTo>
                  <a:pt x="10616534" y="3711363"/>
                </a:lnTo>
                <a:lnTo>
                  <a:pt x="0" y="3711363"/>
                </a:lnTo>
                <a:lnTo>
                  <a:pt x="0" y="0"/>
                </a:lnTo>
                <a:close/>
              </a:path>
            </a:pathLst>
          </a:custGeom>
          <a:blipFill>
            <a:blip r:embed="rId2"/>
            <a:stretch>
              <a:fillRect l="0" t="0" r="0" b="0"/>
            </a:stretch>
          </a:blipFill>
          <a:ln w="38100" cap="sq">
            <a:solidFill>
              <a:srgbClr val="99ACFF"/>
            </a:solidFill>
            <a:prstDash val="sysDot"/>
            <a:miter/>
          </a:ln>
        </p:spPr>
      </p:sp>
      <p:grpSp>
        <p:nvGrpSpPr>
          <p:cNvPr name="Group 12" id="12"/>
          <p:cNvGrpSpPr/>
          <p:nvPr/>
        </p:nvGrpSpPr>
        <p:grpSpPr>
          <a:xfrm rot="0">
            <a:off x="13314373" y="9320234"/>
            <a:ext cx="4242387" cy="242927"/>
            <a:chOff x="0" y="0"/>
            <a:chExt cx="6958053" cy="398431"/>
          </a:xfrm>
        </p:grpSpPr>
        <p:sp>
          <p:nvSpPr>
            <p:cNvPr name="Freeform 13" id="13"/>
            <p:cNvSpPr/>
            <p:nvPr/>
          </p:nvSpPr>
          <p:spPr>
            <a:xfrm flipH="false" flipV="false" rot="0">
              <a:off x="10606" y="0"/>
              <a:ext cx="6936841" cy="398431"/>
            </a:xfrm>
            <a:custGeom>
              <a:avLst/>
              <a:gdLst/>
              <a:ahLst/>
              <a:cxnLst/>
              <a:rect r="r" b="b" t="t" l="l"/>
              <a:pathLst>
                <a:path h="398431" w="6936841">
                  <a:moveTo>
                    <a:pt x="219967" y="0"/>
                  </a:moveTo>
                  <a:lnTo>
                    <a:pt x="6920073" y="0"/>
                  </a:lnTo>
                  <a:cubicBezTo>
                    <a:pt x="6925909" y="0"/>
                    <a:pt x="6931324" y="3033"/>
                    <a:pt x="6934372" y="8009"/>
                  </a:cubicBezTo>
                  <a:cubicBezTo>
                    <a:pt x="6937420" y="12985"/>
                    <a:pt x="6937661" y="19187"/>
                    <a:pt x="6935010" y="24385"/>
                  </a:cubicBezTo>
                  <a:lnTo>
                    <a:pt x="6756683" y="374046"/>
                  </a:lnTo>
                  <a:cubicBezTo>
                    <a:pt x="6749051" y="389010"/>
                    <a:pt x="6733671" y="398431"/>
                    <a:pt x="6716873" y="398431"/>
                  </a:cubicBezTo>
                  <a:lnTo>
                    <a:pt x="16767" y="398431"/>
                  </a:lnTo>
                  <a:cubicBezTo>
                    <a:pt x="10932" y="398431"/>
                    <a:pt x="5517" y="395397"/>
                    <a:pt x="2469" y="390422"/>
                  </a:cubicBezTo>
                  <a:cubicBezTo>
                    <a:pt x="-579" y="385446"/>
                    <a:pt x="-820" y="379244"/>
                    <a:pt x="1830" y="374046"/>
                  </a:cubicBezTo>
                  <a:lnTo>
                    <a:pt x="180158" y="24385"/>
                  </a:lnTo>
                  <a:cubicBezTo>
                    <a:pt x="187790" y="9421"/>
                    <a:pt x="203169" y="0"/>
                    <a:pt x="219967" y="0"/>
                  </a:cubicBezTo>
                  <a:close/>
                </a:path>
              </a:pathLst>
            </a:custGeom>
            <a:solidFill>
              <a:srgbClr val="EDF6F9"/>
            </a:solidFill>
          </p:spPr>
        </p:sp>
        <p:sp>
          <p:nvSpPr>
            <p:cNvPr name="TextBox 14" id="14"/>
            <p:cNvSpPr txBox="true"/>
            <p:nvPr/>
          </p:nvSpPr>
          <p:spPr>
            <a:xfrm>
              <a:off x="101600" y="-38100"/>
              <a:ext cx="6754853" cy="436531"/>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- 23</a:t>
            </a:r>
          </a:p>
        </p:txBody>
      </p:sp>
      <p:graphicFrame>
        <p:nvGraphicFramePr>
          <p:cNvPr name="Table 16" id="16"/>
          <p:cNvGraphicFramePr>
            <a:graphicFrameLocks noGrp="true"/>
          </p:cNvGraphicFramePr>
          <p:nvPr/>
        </p:nvGraphicFramePr>
        <p:xfrm>
          <a:off x="11964427" y="3069390"/>
          <a:ext cx="5592333" cy="3711363"/>
        </p:xfrm>
        <a:graphic>
          <a:graphicData uri="http://schemas.openxmlformats.org/drawingml/2006/table">
            <a:tbl>
              <a:tblPr/>
              <a:tblGrid>
                <a:gridCol w="1416811"/>
                <a:gridCol w="1739461"/>
                <a:gridCol w="1291330"/>
                <a:gridCol w="1144731"/>
              </a:tblGrid>
              <a:tr h="918799">
                <a:tc>
                  <a:txBody>
                    <a:bodyPr anchor="t" rtlCol="false"/>
                    <a:lstStyle/>
                    <a:p>
                      <a:pPr algn="ctr">
                        <a:lnSpc>
                          <a:spcPts val="2520"/>
                        </a:lnSpc>
                        <a:defRPr/>
                      </a:pPr>
                      <a:r>
                        <a:rPr lang="en-US" sz="1800" b="true">
                          <a:solidFill>
                            <a:srgbClr val="000000"/>
                          </a:solidFill>
                          <a:latin typeface="Bricolage Grotesque Bold"/>
                          <a:ea typeface="Bricolage Grotesque Bold"/>
                          <a:cs typeface="Bricolage Grotesque Bold"/>
                          <a:sym typeface="Bricolage Grotesque Bold"/>
                        </a:rPr>
                        <a:t>Skenario</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solidFill>
                      <a:srgbClr val="67FF9F"/>
                    </a:solidFill>
                  </a:tcPr>
                </a:tc>
                <a:tc>
                  <a:txBody>
                    <a:bodyPr anchor="t" rtlCol="false"/>
                    <a:lstStyle/>
                    <a:p>
                      <a:pPr algn="ctr">
                        <a:lnSpc>
                          <a:spcPts val="2520"/>
                        </a:lnSpc>
                        <a:defRPr/>
                      </a:pPr>
                      <a:r>
                        <a:rPr lang="en-US" sz="1800" b="true">
                          <a:solidFill>
                            <a:srgbClr val="000000"/>
                          </a:solidFill>
                          <a:latin typeface="Bricolage Grotesque Bold"/>
                          <a:ea typeface="Bricolage Grotesque Bold"/>
                          <a:cs typeface="Bricolage Grotesque Bold"/>
                          <a:sym typeface="Bricolage Grotesque Bold"/>
                        </a:rPr>
                        <a:t>Karakteristik</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solidFill>
                      <a:srgbClr val="67FF9F"/>
                    </a:solidFill>
                  </a:tcPr>
                </a:tc>
                <a:tc>
                  <a:txBody>
                    <a:bodyPr anchor="t" rtlCol="false"/>
                    <a:lstStyle/>
                    <a:p>
                      <a:pPr algn="ctr">
                        <a:lnSpc>
                          <a:spcPts val="2520"/>
                        </a:lnSpc>
                        <a:defRPr/>
                      </a:pPr>
                      <a:r>
                        <a:rPr lang="en-US" sz="1800" b="true">
                          <a:solidFill>
                            <a:srgbClr val="000000"/>
                          </a:solidFill>
                          <a:latin typeface="Bricolage Grotesque Bold"/>
                          <a:ea typeface="Bricolage Grotesque Bold"/>
                          <a:cs typeface="Bricolage Grotesque Bold"/>
                          <a:sym typeface="Bricolage Grotesque Bold"/>
                        </a:rPr>
                        <a:t>Beban</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solidFill>
                      <a:srgbClr val="67FF9F"/>
                    </a:solidFill>
                  </a:tcPr>
                </a:tc>
                <a:tc>
                  <a:txBody>
                    <a:bodyPr anchor="t" rtlCol="false"/>
                    <a:lstStyle/>
                    <a:p>
                      <a:pPr algn="ctr">
                        <a:lnSpc>
                          <a:spcPts val="2520"/>
                        </a:lnSpc>
                        <a:defRPr/>
                      </a:pPr>
                      <a:r>
                        <a:rPr lang="en-US" sz="1800" b="true">
                          <a:solidFill>
                            <a:srgbClr val="000000"/>
                          </a:solidFill>
                          <a:latin typeface="Bricolage Grotesque Bold"/>
                          <a:ea typeface="Bricolage Grotesque Bold"/>
                          <a:cs typeface="Bricolage Grotesque Bold"/>
                          <a:sym typeface="Bricolage Grotesque Bold"/>
                        </a:rPr>
                        <a:t>Kritis</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solidFill>
                      <a:srgbClr val="67FF9F"/>
                    </a:solidFill>
                  </a:tcPr>
                </a:tc>
              </a:tr>
              <a:tr h="727243">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Base</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Normal Harian</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69.1%</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17.7%</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r>
              <a:tr h="713090">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Surge</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Tol (+30%)</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70.8%</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20.9%</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r>
              <a:tr h="676380">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Freeze</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Suhu &lt; 25F</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71.5%</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20.5%</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r>
              <a:tr h="675851">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Comb</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Puncak Ganda</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72.6%</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Bricolage Grotesque"/>
                          <a:ea typeface="Bricolage Grotesque"/>
                          <a:cs typeface="Bricolage Grotesque"/>
                          <a:sym typeface="Bricolage Grotesque"/>
                        </a:rPr>
                        <a:t>22.9%</a:t>
                      </a:r>
                      <a:endParaRPr lang="en-US" sz="1100"/>
                    </a:p>
                  </a:txBody>
                  <a:tcPr marL="88855" marR="88855" marT="88855" marB="88855" anchor="ctr">
                    <a:lnL cmpd="sng" algn="ctr" cap="flat" w="17771">
                      <a:solidFill>
                        <a:srgbClr val="99ACFF"/>
                      </a:solidFill>
                      <a:prstDash val="solid"/>
                      <a:round/>
                      <a:headEnd type="none" w="med" len="med"/>
                      <a:tailEnd type="none" w="med" len="med"/>
                    </a:lnL>
                    <a:lnR cmpd="sng" algn="ctr" cap="flat" w="17771">
                      <a:solidFill>
                        <a:srgbClr val="99ACFF"/>
                      </a:solidFill>
                      <a:prstDash val="solid"/>
                      <a:round/>
                      <a:headEnd type="none" w="med" len="med"/>
                      <a:tailEnd type="none" w="med" len="med"/>
                    </a:lnR>
                    <a:lnT cmpd="sng" algn="ctr" cap="flat" w="17771">
                      <a:solidFill>
                        <a:srgbClr val="99ACFF"/>
                      </a:solidFill>
                      <a:prstDash val="solid"/>
                      <a:round/>
                      <a:headEnd type="none" w="med" len="med"/>
                      <a:tailEnd type="none" w="med" len="med"/>
                    </a:lnT>
                    <a:lnB cmpd="sng" algn="ctr" cap="flat" w="17771">
                      <a:solidFill>
                        <a:srgbClr val="99ACFF"/>
                      </a:solidFill>
                      <a:prstDash val="solid"/>
                      <a:round/>
                      <a:headEnd type="none" w="med" len="med"/>
                      <a:tailEnd type="none" w="med" len="med"/>
                    </a:lnB>
                  </a:tcPr>
                </a:tc>
              </a:tr>
            </a:tbl>
          </a:graphicData>
        </a:graphic>
      </p:graphicFrame>
      <p:grpSp>
        <p:nvGrpSpPr>
          <p:cNvPr name="Group 17" id="17"/>
          <p:cNvGrpSpPr/>
          <p:nvPr/>
        </p:nvGrpSpPr>
        <p:grpSpPr>
          <a:xfrm rot="0">
            <a:off x="1028700" y="7300480"/>
            <a:ext cx="1368561" cy="1032092"/>
            <a:chOff x="0" y="0"/>
            <a:chExt cx="528322" cy="398431"/>
          </a:xfrm>
        </p:grpSpPr>
        <p:sp>
          <p:nvSpPr>
            <p:cNvPr name="Freeform 18" id="18"/>
            <p:cNvSpPr/>
            <p:nvPr/>
          </p:nvSpPr>
          <p:spPr>
            <a:xfrm flipH="false" flipV="false" rot="0">
              <a:off x="32878" y="0"/>
              <a:ext cx="462567" cy="398431"/>
            </a:xfrm>
            <a:custGeom>
              <a:avLst/>
              <a:gdLst/>
              <a:ahLst/>
              <a:cxnLst/>
              <a:rect r="r" b="b" t="t" l="l"/>
              <a:pathLst>
                <a:path h="398431" w="462567">
                  <a:moveTo>
                    <a:pt x="255177" y="0"/>
                  </a:moveTo>
                  <a:lnTo>
                    <a:pt x="410589" y="0"/>
                  </a:lnTo>
                  <a:cubicBezTo>
                    <a:pt x="428677" y="0"/>
                    <a:pt x="445464" y="9403"/>
                    <a:pt x="454912" y="24827"/>
                  </a:cubicBezTo>
                  <a:cubicBezTo>
                    <a:pt x="464360" y="40252"/>
                    <a:pt x="465110" y="59478"/>
                    <a:pt x="456892" y="75592"/>
                  </a:cubicBezTo>
                  <a:lnTo>
                    <a:pt x="330796" y="322839"/>
                  </a:lnTo>
                  <a:cubicBezTo>
                    <a:pt x="307137" y="369228"/>
                    <a:pt x="259463" y="398431"/>
                    <a:pt x="207389" y="398431"/>
                  </a:cubicBezTo>
                  <a:lnTo>
                    <a:pt x="51977" y="398431"/>
                  </a:lnTo>
                  <a:cubicBezTo>
                    <a:pt x="33889" y="398431"/>
                    <a:pt x="17102" y="389027"/>
                    <a:pt x="7654" y="373603"/>
                  </a:cubicBezTo>
                  <a:cubicBezTo>
                    <a:pt x="-1794" y="358179"/>
                    <a:pt x="-2544" y="338952"/>
                    <a:pt x="5674" y="322839"/>
                  </a:cubicBezTo>
                  <a:lnTo>
                    <a:pt x="131770" y="75592"/>
                  </a:lnTo>
                  <a:cubicBezTo>
                    <a:pt x="155429" y="29203"/>
                    <a:pt x="203103" y="0"/>
                    <a:pt x="255177" y="0"/>
                  </a:cubicBezTo>
                  <a:close/>
                </a:path>
              </a:pathLst>
            </a:custGeom>
            <a:solidFill>
              <a:srgbClr val="00B58F"/>
            </a:solidFill>
          </p:spPr>
        </p:sp>
        <p:sp>
          <p:nvSpPr>
            <p:cNvPr name="TextBox 19" id="19"/>
            <p:cNvSpPr txBox="true"/>
            <p:nvPr/>
          </p:nvSpPr>
          <p:spPr>
            <a:xfrm>
              <a:off x="101600" y="-38100"/>
              <a:ext cx="325122" cy="436531"/>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1065670" y="6976265"/>
            <a:ext cx="964027" cy="1036588"/>
          </a:xfrm>
          <a:custGeom>
            <a:avLst/>
            <a:gdLst/>
            <a:ahLst/>
            <a:cxnLst/>
            <a:rect r="r" b="b" t="t" l="l"/>
            <a:pathLst>
              <a:path h="1036588" w="964027">
                <a:moveTo>
                  <a:pt x="0" y="0"/>
                </a:moveTo>
                <a:lnTo>
                  <a:pt x="964027" y="0"/>
                </a:lnTo>
                <a:lnTo>
                  <a:pt x="964027" y="1036588"/>
                </a:lnTo>
                <a:lnTo>
                  <a:pt x="0" y="10365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2541284" y="7357630"/>
            <a:ext cx="3160045" cy="423232"/>
          </a:xfrm>
          <a:prstGeom prst="rect">
            <a:avLst/>
          </a:prstGeom>
        </p:spPr>
        <p:txBody>
          <a:bodyPr anchor="t" rtlCol="false" tIns="0" lIns="0" bIns="0" rIns="0">
            <a:spAutoFit/>
          </a:bodyPr>
          <a:lstStyle/>
          <a:p>
            <a:pPr algn="l">
              <a:lnSpc>
                <a:spcPts val="3162"/>
              </a:lnSpc>
            </a:pPr>
            <a:r>
              <a:rPr lang="en-US" sz="3162">
                <a:solidFill>
                  <a:srgbClr val="0B132B"/>
                </a:solidFill>
                <a:latin typeface="Rubik One"/>
                <a:ea typeface="Rubik One"/>
                <a:cs typeface="Rubik One"/>
                <a:sym typeface="Rubik One"/>
              </a:rPr>
              <a:t>TAKEAWAY</a:t>
            </a:r>
          </a:p>
        </p:txBody>
      </p:sp>
      <p:sp>
        <p:nvSpPr>
          <p:cNvPr name="TextBox 22" id="22"/>
          <p:cNvSpPr txBox="true"/>
          <p:nvPr/>
        </p:nvSpPr>
        <p:spPr>
          <a:xfrm rot="0">
            <a:off x="2412922" y="7778426"/>
            <a:ext cx="6576814" cy="1767281"/>
          </a:xfrm>
          <a:prstGeom prst="rect">
            <a:avLst/>
          </a:prstGeom>
        </p:spPr>
        <p:txBody>
          <a:bodyPr anchor="t" rtlCol="false" tIns="0" lIns="0" bIns="0" rIns="0">
            <a:spAutoFit/>
          </a:bodyPr>
          <a:lstStyle/>
          <a:p>
            <a:pPr algn="just" marL="360984" indent="-180492" lvl="1">
              <a:lnSpc>
                <a:spcPts val="2340"/>
              </a:lnSpc>
              <a:buFont typeface="Arial"/>
              <a:buChar char="•"/>
            </a:pPr>
            <a:r>
              <a:rPr lang="en-US" sz="1671" spc="41">
                <a:solidFill>
                  <a:srgbClr val="0B132B"/>
                </a:solidFill>
                <a:latin typeface="Bricolage Grotesque"/>
                <a:ea typeface="Bricolage Grotesque"/>
                <a:cs typeface="Bricolage Grotesque"/>
                <a:sym typeface="Bricolage Grotesque"/>
              </a:rPr>
              <a:t>Terj</a:t>
            </a:r>
            <a:r>
              <a:rPr lang="en-US" sz="1671" spc="41">
                <a:solidFill>
                  <a:srgbClr val="0B132B"/>
                </a:solidFill>
                <a:latin typeface="Bricolage Grotesque"/>
                <a:ea typeface="Bricolage Grotesque"/>
                <a:cs typeface="Bricolage Grotesque"/>
                <a:sym typeface="Bricolage Grotesque"/>
              </a:rPr>
              <a:t>adi Kenaikan beban jam sibuk hingga 72.6%</a:t>
            </a:r>
          </a:p>
          <a:p>
            <a:pPr algn="just" marL="360984" indent="-180492" lvl="1">
              <a:lnSpc>
                <a:spcPts val="2340"/>
              </a:lnSpc>
              <a:buFont typeface="Arial"/>
              <a:buChar char="•"/>
            </a:pPr>
            <a:r>
              <a:rPr lang="en-US" sz="1671" spc="41">
                <a:solidFill>
                  <a:srgbClr val="0B132B"/>
                </a:solidFill>
                <a:latin typeface="Bricolage Grotesque"/>
                <a:ea typeface="Bricolage Grotesque"/>
                <a:cs typeface="Bricolage Grotesque"/>
                <a:sym typeface="Bricolage Grotesque"/>
              </a:rPr>
              <a:t>Titik rawan terpusat pada stasiun DC Fast Ch</a:t>
            </a:r>
            <a:r>
              <a:rPr lang="en-US" sz="1671" spc="41">
                <a:solidFill>
                  <a:srgbClr val="0B132B"/>
                </a:solidFill>
                <a:latin typeface="Bricolage Grotesque"/>
                <a:ea typeface="Bricolage Grotesque"/>
                <a:cs typeface="Bricolage Grotesque"/>
                <a:sym typeface="Bricolage Grotesque"/>
              </a:rPr>
              <a:t>arger di koridor jalan tol antarkota</a:t>
            </a:r>
          </a:p>
          <a:p>
            <a:pPr algn="just" marL="360984" indent="-180492" lvl="1">
              <a:lnSpc>
                <a:spcPts val="2340"/>
              </a:lnSpc>
              <a:buFont typeface="Arial"/>
              <a:buChar char="•"/>
            </a:pPr>
            <a:r>
              <a:rPr lang="en-US" sz="1671" spc="41">
                <a:solidFill>
                  <a:srgbClr val="0B132B"/>
                </a:solidFill>
                <a:latin typeface="Bricolage Grotesque"/>
                <a:ea typeface="Bricolage Grotesque"/>
                <a:cs typeface="Bricolage Grotesque"/>
                <a:sym typeface="Bricolage Grotesque"/>
              </a:rPr>
              <a:t>Eskalasi waktu kritis sebesar +5.2% poin</a:t>
            </a:r>
          </a:p>
          <a:p>
            <a:pPr algn="just" marL="360984" indent="-180492" lvl="1">
              <a:lnSpc>
                <a:spcPts val="2340"/>
              </a:lnSpc>
              <a:buFont typeface="Arial"/>
              <a:buChar char="•"/>
            </a:pPr>
            <a:r>
              <a:rPr lang="en-US" sz="1671" spc="41">
                <a:solidFill>
                  <a:srgbClr val="0B132B"/>
                </a:solidFill>
                <a:latin typeface="Bricolage Grotesque"/>
                <a:ea typeface="Bricolage Grotesque"/>
                <a:cs typeface="Bricolage Grotesque"/>
                <a:sym typeface="Bricolage Grotesque"/>
              </a:rPr>
              <a:t>Tingkat saturasi parah, dimana hampir 1 dari 4 jam operasional SPKLU lumpuh akibat antrean</a:t>
            </a:r>
          </a:p>
        </p:txBody>
      </p:sp>
      <p:grpSp>
        <p:nvGrpSpPr>
          <p:cNvPr name="Group 23" id="23"/>
          <p:cNvGrpSpPr/>
          <p:nvPr/>
        </p:nvGrpSpPr>
        <p:grpSpPr>
          <a:xfrm rot="0">
            <a:off x="11897230" y="7117686"/>
            <a:ext cx="4242387" cy="242927"/>
            <a:chOff x="0" y="0"/>
            <a:chExt cx="6958053" cy="398431"/>
          </a:xfrm>
        </p:grpSpPr>
        <p:sp>
          <p:nvSpPr>
            <p:cNvPr name="Freeform 24" id="24"/>
            <p:cNvSpPr/>
            <p:nvPr/>
          </p:nvSpPr>
          <p:spPr>
            <a:xfrm flipH="false" flipV="false" rot="0">
              <a:off x="10606" y="0"/>
              <a:ext cx="6936841" cy="398431"/>
            </a:xfrm>
            <a:custGeom>
              <a:avLst/>
              <a:gdLst/>
              <a:ahLst/>
              <a:cxnLst/>
              <a:rect r="r" b="b" t="t" l="l"/>
              <a:pathLst>
                <a:path h="398431" w="6936841">
                  <a:moveTo>
                    <a:pt x="219967" y="0"/>
                  </a:moveTo>
                  <a:lnTo>
                    <a:pt x="6920073" y="0"/>
                  </a:lnTo>
                  <a:cubicBezTo>
                    <a:pt x="6925909" y="0"/>
                    <a:pt x="6931324" y="3033"/>
                    <a:pt x="6934372" y="8009"/>
                  </a:cubicBezTo>
                  <a:cubicBezTo>
                    <a:pt x="6937420" y="12985"/>
                    <a:pt x="6937661" y="19187"/>
                    <a:pt x="6935010" y="24385"/>
                  </a:cubicBezTo>
                  <a:lnTo>
                    <a:pt x="6756683" y="374046"/>
                  </a:lnTo>
                  <a:cubicBezTo>
                    <a:pt x="6749051" y="389010"/>
                    <a:pt x="6733671" y="398431"/>
                    <a:pt x="6716873" y="398431"/>
                  </a:cubicBezTo>
                  <a:lnTo>
                    <a:pt x="16767" y="398431"/>
                  </a:lnTo>
                  <a:cubicBezTo>
                    <a:pt x="10932" y="398431"/>
                    <a:pt x="5517" y="395397"/>
                    <a:pt x="2469" y="390422"/>
                  </a:cubicBezTo>
                  <a:cubicBezTo>
                    <a:pt x="-579" y="385446"/>
                    <a:pt x="-820" y="379244"/>
                    <a:pt x="1830" y="374046"/>
                  </a:cubicBezTo>
                  <a:lnTo>
                    <a:pt x="180158" y="24385"/>
                  </a:lnTo>
                  <a:cubicBezTo>
                    <a:pt x="187790" y="9421"/>
                    <a:pt x="203169" y="0"/>
                    <a:pt x="219967" y="0"/>
                  </a:cubicBezTo>
                  <a:close/>
                </a:path>
              </a:pathLst>
            </a:custGeom>
            <a:solidFill>
              <a:srgbClr val="EDF6F9"/>
            </a:solidFill>
          </p:spPr>
        </p:sp>
        <p:sp>
          <p:nvSpPr>
            <p:cNvPr name="TextBox 25" id="25"/>
            <p:cNvSpPr txBox="true"/>
            <p:nvPr/>
          </p:nvSpPr>
          <p:spPr>
            <a:xfrm>
              <a:off x="101600" y="-38100"/>
              <a:ext cx="6754853" cy="436531"/>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0160825" y="7731815"/>
            <a:ext cx="7715196" cy="1607324"/>
          </a:xfrm>
          <a:prstGeom prst="rect">
            <a:avLst/>
          </a:prstGeom>
        </p:spPr>
        <p:txBody>
          <a:bodyPr anchor="t" rtlCol="false" tIns="0" lIns="0" bIns="0" rIns="0">
            <a:spAutoFit/>
          </a:bodyPr>
          <a:lstStyle/>
          <a:p>
            <a:pPr algn="l">
              <a:lnSpc>
                <a:spcPts val="6277"/>
              </a:lnSpc>
            </a:pPr>
            <a:r>
              <a:rPr lang="en-US" sz="6277">
                <a:solidFill>
                  <a:srgbClr val="0B132B"/>
                </a:solidFill>
                <a:latin typeface="Rubik One"/>
                <a:ea typeface="Rubik One"/>
                <a:cs typeface="Rubik One"/>
                <a:sym typeface="Rubik One"/>
              </a:rPr>
              <a:t>BAGAIMANA MITIGASINYA?</a:t>
            </a:r>
          </a:p>
        </p:txBody>
      </p:sp>
      <p:grpSp>
        <p:nvGrpSpPr>
          <p:cNvPr name="Group 27" id="27"/>
          <p:cNvGrpSpPr/>
          <p:nvPr/>
        </p:nvGrpSpPr>
        <p:grpSpPr>
          <a:xfrm rot="0">
            <a:off x="1028700" y="793061"/>
            <a:ext cx="4463067" cy="235560"/>
            <a:chOff x="0" y="0"/>
            <a:chExt cx="5950756" cy="314080"/>
          </a:xfrm>
        </p:grpSpPr>
        <p:sp>
          <p:nvSpPr>
            <p:cNvPr name="Freeform 28" id="28"/>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9" id="29"/>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30" id="30"/>
          <p:cNvSpPr txBox="true"/>
          <p:nvPr/>
        </p:nvSpPr>
        <p:spPr>
          <a:xfrm rot="0">
            <a:off x="1028700" y="1324218"/>
            <a:ext cx="16985319" cy="788035"/>
          </a:xfrm>
          <a:prstGeom prst="rect">
            <a:avLst/>
          </a:prstGeom>
        </p:spPr>
        <p:txBody>
          <a:bodyPr anchor="t" rtlCol="false" tIns="0" lIns="0" bIns="0" rIns="0">
            <a:spAutoFit/>
          </a:bodyPr>
          <a:lstStyle/>
          <a:p>
            <a:pPr algn="l">
              <a:lnSpc>
                <a:spcPts val="5900"/>
              </a:lnSpc>
            </a:pPr>
            <a:r>
              <a:rPr lang="en-US" sz="5900">
                <a:solidFill>
                  <a:srgbClr val="0B132B"/>
                </a:solidFill>
                <a:latin typeface="Rubik One"/>
                <a:ea typeface="Rubik One"/>
                <a:cs typeface="Rubik One"/>
                <a:sym typeface="Rubik One"/>
              </a:rPr>
              <a:t>SIMULASI KETAHANAN JARINGAN SPKLU </a:t>
            </a:r>
          </a:p>
        </p:txBody>
      </p:sp>
      <p:sp>
        <p:nvSpPr>
          <p:cNvPr name="TextBox 31" id="31"/>
          <p:cNvSpPr txBox="true"/>
          <p:nvPr/>
        </p:nvSpPr>
        <p:spPr>
          <a:xfrm rot="0">
            <a:off x="1028700" y="2074499"/>
            <a:ext cx="10420043" cy="316230"/>
          </a:xfrm>
          <a:prstGeom prst="rect">
            <a:avLst/>
          </a:prstGeom>
        </p:spPr>
        <p:txBody>
          <a:bodyPr anchor="t" rtlCol="false" tIns="0" lIns="0" bIns="0" rIns="0">
            <a:spAutoFit/>
          </a:bodyPr>
          <a:lstStyle/>
          <a:p>
            <a:pPr algn="just">
              <a:lnSpc>
                <a:spcPts val="2519"/>
              </a:lnSpc>
            </a:pPr>
            <a:r>
              <a:rPr lang="en-US" sz="1799" spc="44">
                <a:solidFill>
                  <a:srgbClr val="0B132B"/>
                </a:solidFill>
                <a:latin typeface="Bricolage Grotesque"/>
                <a:ea typeface="Bricolage Grotesque"/>
                <a:cs typeface="Bricolage Grotesque"/>
                <a:sym typeface="Bricolage Grotesque"/>
              </a:rPr>
              <a:t>Meng</a:t>
            </a:r>
            <a:r>
              <a:rPr lang="en-US" sz="1799" spc="44">
                <a:solidFill>
                  <a:srgbClr val="0B132B"/>
                </a:solidFill>
                <a:latin typeface="Bricolage Grotesque"/>
                <a:ea typeface="Bricolage Grotesque"/>
                <a:cs typeface="Bricolage Grotesque"/>
                <a:sym typeface="Bricolage Grotesque"/>
              </a:rPr>
              <a:t>ukur</a:t>
            </a:r>
            <a:r>
              <a:rPr lang="en-US" sz="1799" spc="44">
                <a:solidFill>
                  <a:srgbClr val="0B132B"/>
                </a:solidFill>
                <a:latin typeface="Bricolage Grotesque"/>
                <a:ea typeface="Bricolage Grotesque"/>
                <a:cs typeface="Bricolage Grotesque"/>
                <a:sym typeface="Bricolage Grotesque"/>
              </a:rPr>
              <a:t> </a:t>
            </a:r>
            <a:r>
              <a:rPr lang="en-US" b="true" sz="1799" spc="44">
                <a:solidFill>
                  <a:srgbClr val="0B132B"/>
                </a:solidFill>
                <a:latin typeface="Bricolage Grotesque Bold"/>
                <a:ea typeface="Bricolage Grotesque Bold"/>
                <a:cs typeface="Bricolage Grotesque Bold"/>
                <a:sym typeface="Bricolage Grotesque Bold"/>
              </a:rPr>
              <a:t>Respon </a:t>
            </a:r>
            <a:r>
              <a:rPr lang="en-US" sz="1799" spc="44">
                <a:solidFill>
                  <a:srgbClr val="0B132B"/>
                </a:solidFill>
                <a:latin typeface="Bricolage Grotesque"/>
                <a:ea typeface="Bricolage Grotesque"/>
                <a:cs typeface="Bricolage Grotesque"/>
                <a:sym typeface="Bricolage Grotesque"/>
              </a:rPr>
              <a:t>Sistem terhadap Guncangan </a:t>
            </a:r>
            <a:r>
              <a:rPr lang="en-US" b="true" sz="1799" spc="44">
                <a:solidFill>
                  <a:srgbClr val="0B132B"/>
                </a:solidFill>
                <a:latin typeface="Bricolage Grotesque Bold"/>
                <a:ea typeface="Bricolage Grotesque Bold"/>
                <a:cs typeface="Bricolage Grotesque Bold"/>
                <a:sym typeface="Bricolage Grotesque Bold"/>
              </a:rPr>
              <a:t>Mobilitas </a:t>
            </a:r>
            <a:r>
              <a:rPr lang="en-US" sz="1799" spc="44">
                <a:solidFill>
                  <a:srgbClr val="0B132B"/>
                </a:solidFill>
                <a:latin typeface="Bricolage Grotesque"/>
                <a:ea typeface="Bricolage Grotesque"/>
                <a:cs typeface="Bricolage Grotesque"/>
                <a:sym typeface="Bricolage Grotesque"/>
              </a:rPr>
              <a:t>&amp;</a:t>
            </a:r>
            <a:r>
              <a:rPr lang="en-US" sz="1799" spc="44">
                <a:solidFill>
                  <a:srgbClr val="0B132B"/>
                </a:solidFill>
                <a:latin typeface="Bricolage Grotesque"/>
                <a:ea typeface="Bricolage Grotesque"/>
                <a:cs typeface="Bricolage Grotesque"/>
                <a:sym typeface="Bricolage Grotesque"/>
              </a:rPr>
              <a:t> </a:t>
            </a:r>
            <a:r>
              <a:rPr lang="en-US" b="true" sz="1799" spc="44">
                <a:solidFill>
                  <a:srgbClr val="0B132B"/>
                </a:solidFill>
                <a:latin typeface="Bricolage Grotesque Bold"/>
                <a:ea typeface="Bricolage Grotesque Bold"/>
                <a:cs typeface="Bricolage Grotesque Bold"/>
                <a:sym typeface="Bricolage Grotesque Bold"/>
              </a:rPr>
              <a:t>Cuaca </a:t>
            </a:r>
            <a:r>
              <a:rPr lang="en-US" sz="1799" spc="44">
                <a:solidFill>
                  <a:srgbClr val="0B132B"/>
                </a:solidFill>
                <a:latin typeface="Bricolage Grotesque"/>
                <a:ea typeface="Bricolage Grotesque"/>
                <a:cs typeface="Bricolage Grotesque"/>
                <a:sym typeface="Bricolage Grotesque"/>
              </a:rPr>
              <a:t>Ek</a:t>
            </a:r>
            <a:r>
              <a:rPr lang="en-US" sz="1799" spc="44">
                <a:solidFill>
                  <a:srgbClr val="0B132B"/>
                </a:solidFill>
                <a:latin typeface="Bricolage Grotesque"/>
                <a:ea typeface="Bricolage Grotesque"/>
                <a:cs typeface="Bricolage Grotesque"/>
                <a:sym typeface="Bricolage Grotesque"/>
              </a:rPr>
              <a:t>s</a:t>
            </a:r>
            <a:r>
              <a:rPr lang="en-US" sz="1799" spc="44">
                <a:solidFill>
                  <a:srgbClr val="0B132B"/>
                </a:solidFill>
                <a:latin typeface="Bricolage Grotesque"/>
                <a:ea typeface="Bricolage Grotesque"/>
                <a:cs typeface="Bricolage Grotesque"/>
                <a:sym typeface="Bricolage Grotesque"/>
              </a:rPr>
              <a:t>trem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283665" y="2655303"/>
            <a:ext cx="6132443" cy="6741257"/>
            <a:chOff x="0" y="0"/>
            <a:chExt cx="8176591" cy="8988342"/>
          </a:xfrm>
        </p:grpSpPr>
        <p:sp>
          <p:nvSpPr>
            <p:cNvPr name="TextBox 3" id="3"/>
            <p:cNvSpPr txBox="true"/>
            <p:nvPr/>
          </p:nvSpPr>
          <p:spPr>
            <a:xfrm rot="0">
              <a:off x="1726939" y="3141693"/>
              <a:ext cx="5277832" cy="359866"/>
            </a:xfrm>
            <a:prstGeom prst="rect">
              <a:avLst/>
            </a:prstGeom>
          </p:spPr>
          <p:txBody>
            <a:bodyPr anchor="t" rtlCol="false" tIns="0" lIns="0" bIns="0" rIns="0">
              <a:spAutoFit/>
            </a:bodyPr>
            <a:lstStyle/>
            <a:p>
              <a:pPr algn="l">
                <a:lnSpc>
                  <a:spcPts val="2000"/>
                </a:lnSpc>
              </a:pPr>
              <a:r>
                <a:rPr lang="en-US" sz="2000">
                  <a:solidFill>
                    <a:srgbClr val="0B132B"/>
                  </a:solidFill>
                  <a:latin typeface="Rubik One"/>
                  <a:ea typeface="Rubik One"/>
                  <a:cs typeface="Rubik One"/>
                  <a:sym typeface="Rubik One"/>
                </a:rPr>
                <a:t>[ PILAR 1: EVALUASI BIAYA ]</a:t>
              </a:r>
            </a:p>
          </p:txBody>
        </p:sp>
        <p:sp>
          <p:nvSpPr>
            <p:cNvPr name="TextBox 4" id="4"/>
            <p:cNvSpPr txBox="true"/>
            <p:nvPr/>
          </p:nvSpPr>
          <p:spPr>
            <a:xfrm rot="0">
              <a:off x="1779905" y="3566197"/>
              <a:ext cx="5224867" cy="405699"/>
            </a:xfrm>
            <a:prstGeom prst="rect">
              <a:avLst/>
            </a:prstGeom>
          </p:spPr>
          <p:txBody>
            <a:bodyPr anchor="t" rtlCol="false" tIns="0" lIns="0" bIns="0" rIns="0">
              <a:spAutoFit/>
            </a:bodyPr>
            <a:lstStyle/>
            <a:p>
              <a:pPr algn="ctr">
                <a:lnSpc>
                  <a:spcPts val="2519"/>
                </a:lnSpc>
              </a:pPr>
              <a:r>
                <a:rPr lang="en-US" sz="1799" spc="44">
                  <a:solidFill>
                    <a:srgbClr val="0B132B"/>
                  </a:solidFill>
                  <a:latin typeface="Bricolage Grotesque"/>
                  <a:ea typeface="Bricolage Grotesque"/>
                  <a:cs typeface="Bricolage Grotesque"/>
                  <a:sym typeface="Bricolage Grotesque"/>
                </a:rPr>
                <a:t>PARADOKS CAPEX FISIK</a:t>
              </a:r>
            </a:p>
          </p:txBody>
        </p:sp>
        <p:grpSp>
          <p:nvGrpSpPr>
            <p:cNvPr name="Group 5" id="5"/>
            <p:cNvGrpSpPr/>
            <p:nvPr/>
          </p:nvGrpSpPr>
          <p:grpSpPr>
            <a:xfrm rot="0">
              <a:off x="1726939" y="4111596"/>
              <a:ext cx="5277832" cy="762000"/>
              <a:chOff x="0" y="0"/>
              <a:chExt cx="1022432" cy="147616"/>
            </a:xfrm>
          </p:grpSpPr>
          <p:sp>
            <p:nvSpPr>
              <p:cNvPr name="Freeform 6" id="6"/>
              <p:cNvSpPr/>
              <p:nvPr/>
            </p:nvSpPr>
            <p:spPr>
              <a:xfrm flipH="false" flipV="false" rot="0">
                <a:off x="0" y="0"/>
                <a:ext cx="1022432" cy="147616"/>
              </a:xfrm>
              <a:custGeom>
                <a:avLst/>
                <a:gdLst/>
                <a:ahLst/>
                <a:cxnLst/>
                <a:rect r="r" b="b" t="t" l="l"/>
                <a:pathLst>
                  <a:path h="147616" w="1022432">
                    <a:moveTo>
                      <a:pt x="19558" y="0"/>
                    </a:moveTo>
                    <a:lnTo>
                      <a:pt x="1002874" y="0"/>
                    </a:lnTo>
                    <a:cubicBezTo>
                      <a:pt x="1013675" y="0"/>
                      <a:pt x="1022432" y="8757"/>
                      <a:pt x="1022432" y="19558"/>
                    </a:cubicBezTo>
                    <a:lnTo>
                      <a:pt x="1022432" y="128058"/>
                    </a:lnTo>
                    <a:cubicBezTo>
                      <a:pt x="1022432" y="138860"/>
                      <a:pt x="1013675" y="147616"/>
                      <a:pt x="1002874" y="147616"/>
                    </a:cubicBezTo>
                    <a:lnTo>
                      <a:pt x="19558" y="147616"/>
                    </a:lnTo>
                    <a:cubicBezTo>
                      <a:pt x="8757" y="147616"/>
                      <a:pt x="0" y="138860"/>
                      <a:pt x="0" y="128058"/>
                    </a:cubicBezTo>
                    <a:lnTo>
                      <a:pt x="0" y="19558"/>
                    </a:lnTo>
                    <a:cubicBezTo>
                      <a:pt x="0" y="8757"/>
                      <a:pt x="8757" y="0"/>
                      <a:pt x="19558" y="0"/>
                    </a:cubicBezTo>
                    <a:close/>
                  </a:path>
                </a:pathLst>
              </a:custGeom>
              <a:solidFill>
                <a:srgbClr val="00B58F"/>
              </a:solidFill>
              <a:ln cap="sq">
                <a:noFill/>
                <a:prstDash val="solid"/>
                <a:miter/>
              </a:ln>
            </p:spPr>
          </p:sp>
          <p:sp>
            <p:nvSpPr>
              <p:cNvPr name="TextBox 7" id="7"/>
              <p:cNvSpPr txBox="true"/>
              <p:nvPr/>
            </p:nvSpPr>
            <p:spPr>
              <a:xfrm>
                <a:off x="0" y="-38100"/>
                <a:ext cx="1022432" cy="185716"/>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726939" y="4254471"/>
              <a:ext cx="5224867" cy="405699"/>
            </a:xfrm>
            <a:prstGeom prst="rect">
              <a:avLst/>
            </a:prstGeom>
          </p:spPr>
          <p:txBody>
            <a:bodyPr anchor="t" rtlCol="false" tIns="0" lIns="0" bIns="0" rIns="0">
              <a:spAutoFit/>
            </a:bodyPr>
            <a:lstStyle/>
            <a:p>
              <a:pPr algn="ctr">
                <a:lnSpc>
                  <a:spcPts val="2519"/>
                </a:lnSpc>
              </a:pPr>
              <a:r>
                <a:rPr lang="en-US" b="true" sz="1799" spc="44">
                  <a:solidFill>
                    <a:srgbClr val="0B132B"/>
                  </a:solidFill>
                  <a:latin typeface="Bricolage Grotesque Bold"/>
                  <a:ea typeface="Bricolage Grotesque Bold"/>
                  <a:cs typeface="Bricolage Grotesque Bold"/>
                  <a:sym typeface="Bricolage Grotesque Bold"/>
                </a:rPr>
                <a:t>Problem Solusi Tradisional</a:t>
              </a:r>
            </a:p>
          </p:txBody>
        </p:sp>
        <p:sp>
          <p:nvSpPr>
            <p:cNvPr name="TextBox 9" id="9"/>
            <p:cNvSpPr txBox="true"/>
            <p:nvPr/>
          </p:nvSpPr>
          <p:spPr>
            <a:xfrm rot="0">
              <a:off x="1779905" y="5156171"/>
              <a:ext cx="5224867" cy="2919902"/>
            </a:xfrm>
            <a:prstGeom prst="rect">
              <a:avLst/>
            </a:prstGeom>
          </p:spPr>
          <p:txBody>
            <a:bodyPr anchor="t" rtlCol="false" tIns="0" lIns="0" bIns="0" rIns="0">
              <a:spAutoFit/>
            </a:bodyPr>
            <a:lstStyle/>
            <a:p>
              <a:pPr algn="l" marL="388618" indent="-194309" lvl="1">
                <a:lnSpc>
                  <a:spcPts val="2519"/>
                </a:lnSpc>
                <a:buFont typeface="Arial"/>
                <a:buChar char="•"/>
              </a:pPr>
              <a:r>
                <a:rPr lang="en-US" sz="1799" spc="44">
                  <a:solidFill>
                    <a:srgbClr val="0B132B"/>
                  </a:solidFill>
                  <a:latin typeface="Bricolage Grotesque"/>
                  <a:ea typeface="Bricolage Grotesque"/>
                  <a:cs typeface="Bricolage Grotesque"/>
                  <a:sym typeface="Bricolage Grotesque"/>
                </a:rPr>
                <a:t>Kritik : Menambah Charger fisik menelan CAPEX sangat mahal</a:t>
              </a:r>
            </a:p>
            <a:p>
              <a:pPr algn="l" marL="388618" indent="-194309" lvl="1">
                <a:lnSpc>
                  <a:spcPts val="2519"/>
                </a:lnSpc>
                <a:buFont typeface="Arial"/>
                <a:buChar char="•"/>
              </a:pPr>
              <a:r>
                <a:rPr lang="en-US" sz="1799" spc="44">
                  <a:solidFill>
                    <a:srgbClr val="0B132B"/>
                  </a:solidFill>
                  <a:latin typeface="Bricolage Grotesque"/>
                  <a:ea typeface="Bricolage Grotesque"/>
                  <a:cs typeface="Bricolage Grotesque"/>
                  <a:sym typeface="Bricolage Grotesque"/>
                </a:rPr>
                <a:t>Stranded Assets Risk : Alat baru akan mengganggur dan utilisasi anjlok</a:t>
              </a:r>
            </a:p>
            <a:p>
              <a:pPr algn="l" marL="388618" indent="-194309" lvl="1">
                <a:lnSpc>
                  <a:spcPts val="2519"/>
                </a:lnSpc>
                <a:buFont typeface="Arial"/>
                <a:buChar char="•"/>
              </a:pPr>
              <a:r>
                <a:rPr lang="en-US" sz="1799" spc="44">
                  <a:solidFill>
                    <a:srgbClr val="0B132B"/>
                  </a:solidFill>
                  <a:latin typeface="Bricolage Grotesque"/>
                  <a:ea typeface="Bricolage Grotesque"/>
                  <a:cs typeface="Bricolage Grotesque"/>
                  <a:sym typeface="Bricolage Grotesque"/>
                </a:rPr>
                <a:t>Kesimpulan : Tidak Rasional Secara Finansial</a:t>
              </a:r>
            </a:p>
          </p:txBody>
        </p:sp>
        <p:grpSp>
          <p:nvGrpSpPr>
            <p:cNvPr name="Group 10" id="10"/>
            <p:cNvGrpSpPr/>
            <p:nvPr/>
          </p:nvGrpSpPr>
          <p:grpSpPr>
            <a:xfrm rot="0">
              <a:off x="697110" y="1644808"/>
              <a:ext cx="5754427" cy="1098517"/>
              <a:chOff x="0" y="0"/>
              <a:chExt cx="3842235" cy="733480"/>
            </a:xfrm>
          </p:grpSpPr>
          <p:sp>
            <p:nvSpPr>
              <p:cNvPr name="Freeform 11" id="11"/>
              <p:cNvSpPr/>
              <p:nvPr/>
            </p:nvSpPr>
            <p:spPr>
              <a:xfrm flipH="false" flipV="false" rot="0">
                <a:off x="6441" y="0"/>
                <a:ext cx="3829354" cy="733480"/>
              </a:xfrm>
              <a:custGeom>
                <a:avLst/>
                <a:gdLst/>
                <a:ahLst/>
                <a:cxnLst/>
                <a:rect r="r" b="b" t="t" l="l"/>
                <a:pathLst>
                  <a:path h="733480" w="3829354">
                    <a:moveTo>
                      <a:pt x="223667" y="0"/>
                    </a:moveTo>
                    <a:lnTo>
                      <a:pt x="3808887" y="0"/>
                    </a:lnTo>
                    <a:cubicBezTo>
                      <a:pt x="3815280" y="0"/>
                      <a:pt x="3821306" y="2988"/>
                      <a:pt x="3825177" y="8076"/>
                    </a:cubicBezTo>
                    <a:cubicBezTo>
                      <a:pt x="3829047" y="13165"/>
                      <a:pt x="3830317" y="19770"/>
                      <a:pt x="3828611" y="25931"/>
                    </a:cubicBezTo>
                    <a:lnTo>
                      <a:pt x="3639778" y="707549"/>
                    </a:lnTo>
                    <a:cubicBezTo>
                      <a:pt x="3635533" y="722872"/>
                      <a:pt x="3621586" y="733480"/>
                      <a:pt x="3605687" y="733480"/>
                    </a:cubicBezTo>
                    <a:lnTo>
                      <a:pt x="20467" y="733480"/>
                    </a:lnTo>
                    <a:cubicBezTo>
                      <a:pt x="14073" y="733480"/>
                      <a:pt x="8047" y="730493"/>
                      <a:pt x="4177" y="725404"/>
                    </a:cubicBezTo>
                    <a:cubicBezTo>
                      <a:pt x="306" y="720316"/>
                      <a:pt x="-964" y="713711"/>
                      <a:pt x="743" y="707549"/>
                    </a:cubicBezTo>
                    <a:lnTo>
                      <a:pt x="189575" y="25931"/>
                    </a:lnTo>
                    <a:cubicBezTo>
                      <a:pt x="193820" y="10608"/>
                      <a:pt x="207767" y="0"/>
                      <a:pt x="223667" y="0"/>
                    </a:cubicBezTo>
                    <a:close/>
                  </a:path>
                </a:pathLst>
              </a:custGeom>
              <a:solidFill>
                <a:srgbClr val="EDF6F9"/>
              </a:solidFill>
            </p:spPr>
          </p:sp>
          <p:sp>
            <p:nvSpPr>
              <p:cNvPr name="TextBox 12" id="12"/>
              <p:cNvSpPr txBox="true"/>
              <p:nvPr/>
            </p:nvSpPr>
            <p:spPr>
              <a:xfrm>
                <a:off x="101600" y="-38100"/>
                <a:ext cx="3639035" cy="77158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00204" y="368156"/>
              <a:ext cx="6677364" cy="8207321"/>
              <a:chOff x="0" y="0"/>
              <a:chExt cx="1293552" cy="1589938"/>
            </a:xfrm>
          </p:grpSpPr>
          <p:sp>
            <p:nvSpPr>
              <p:cNvPr name="Freeform 14" id="14"/>
              <p:cNvSpPr/>
              <p:nvPr/>
            </p:nvSpPr>
            <p:spPr>
              <a:xfrm flipH="false" flipV="false" rot="0">
                <a:off x="0" y="0"/>
                <a:ext cx="1293552" cy="1589938"/>
              </a:xfrm>
              <a:custGeom>
                <a:avLst/>
                <a:gdLst/>
                <a:ahLst/>
                <a:cxnLst/>
                <a:rect r="r" b="b" t="t" l="l"/>
                <a:pathLst>
                  <a:path h="1589938" w="1293552">
                    <a:moveTo>
                      <a:pt x="30918" y="0"/>
                    </a:moveTo>
                    <a:lnTo>
                      <a:pt x="1262634" y="0"/>
                    </a:lnTo>
                    <a:cubicBezTo>
                      <a:pt x="1270834" y="0"/>
                      <a:pt x="1278698" y="3257"/>
                      <a:pt x="1284496" y="9056"/>
                    </a:cubicBezTo>
                    <a:cubicBezTo>
                      <a:pt x="1290294" y="14854"/>
                      <a:pt x="1293552" y="22718"/>
                      <a:pt x="1293552" y="30918"/>
                    </a:cubicBezTo>
                    <a:lnTo>
                      <a:pt x="1293552" y="1559020"/>
                    </a:lnTo>
                    <a:cubicBezTo>
                      <a:pt x="1293552" y="1576096"/>
                      <a:pt x="1279709" y="1589938"/>
                      <a:pt x="1262634" y="1589938"/>
                    </a:cubicBezTo>
                    <a:lnTo>
                      <a:pt x="30918" y="1589938"/>
                    </a:lnTo>
                    <a:cubicBezTo>
                      <a:pt x="22718" y="1589938"/>
                      <a:pt x="14854" y="1586681"/>
                      <a:pt x="9056" y="1580882"/>
                    </a:cubicBezTo>
                    <a:cubicBezTo>
                      <a:pt x="3257" y="1575084"/>
                      <a:pt x="0" y="1567220"/>
                      <a:pt x="0" y="1559020"/>
                    </a:cubicBezTo>
                    <a:lnTo>
                      <a:pt x="0" y="30918"/>
                    </a:lnTo>
                    <a:cubicBezTo>
                      <a:pt x="0" y="22718"/>
                      <a:pt x="3257" y="14854"/>
                      <a:pt x="9056" y="9056"/>
                    </a:cubicBezTo>
                    <a:cubicBezTo>
                      <a:pt x="14854" y="3257"/>
                      <a:pt x="22718" y="0"/>
                      <a:pt x="30918" y="0"/>
                    </a:cubicBezTo>
                    <a:close/>
                  </a:path>
                </a:pathLst>
              </a:custGeom>
              <a:solidFill>
                <a:srgbClr val="00B58F"/>
              </a:solidFill>
              <a:ln cap="sq">
                <a:noFill/>
                <a:prstDash val="solid"/>
                <a:miter/>
              </a:ln>
            </p:spPr>
          </p:sp>
          <p:sp>
            <p:nvSpPr>
              <p:cNvPr name="TextBox 15" id="15"/>
              <p:cNvSpPr txBox="true"/>
              <p:nvPr/>
            </p:nvSpPr>
            <p:spPr>
              <a:xfrm>
                <a:off x="0" y="-38100"/>
                <a:ext cx="1293552" cy="1628038"/>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0" y="0"/>
              <a:ext cx="5754427" cy="1726433"/>
              <a:chOff x="0" y="0"/>
              <a:chExt cx="3842235" cy="1152740"/>
            </a:xfrm>
          </p:grpSpPr>
          <p:sp>
            <p:nvSpPr>
              <p:cNvPr name="Freeform 17" id="17"/>
              <p:cNvSpPr/>
              <p:nvPr/>
            </p:nvSpPr>
            <p:spPr>
              <a:xfrm flipH="false" flipV="false" rot="0">
                <a:off x="4328" y="0"/>
                <a:ext cx="3833579" cy="1152740"/>
              </a:xfrm>
              <a:custGeom>
                <a:avLst/>
                <a:gdLst/>
                <a:ahLst/>
                <a:cxnLst/>
                <a:rect r="r" b="b" t="t" l="l"/>
                <a:pathLst>
                  <a:path h="1152740" w="3833579">
                    <a:moveTo>
                      <a:pt x="225780" y="0"/>
                    </a:moveTo>
                    <a:lnTo>
                      <a:pt x="3811000" y="0"/>
                    </a:lnTo>
                    <a:cubicBezTo>
                      <a:pt x="3817674" y="0"/>
                      <a:pt x="3824006" y="2953"/>
                      <a:pt x="3828296" y="8065"/>
                    </a:cubicBezTo>
                    <a:cubicBezTo>
                      <a:pt x="3832586" y="13178"/>
                      <a:pt x="3834395" y="19926"/>
                      <a:pt x="3833236" y="26499"/>
                    </a:cubicBezTo>
                    <a:lnTo>
                      <a:pt x="3639378" y="1126241"/>
                    </a:lnTo>
                    <a:cubicBezTo>
                      <a:pt x="3636677" y="1141567"/>
                      <a:pt x="3623361" y="1152740"/>
                      <a:pt x="3607800" y="1152740"/>
                    </a:cubicBezTo>
                    <a:lnTo>
                      <a:pt x="22580" y="1152740"/>
                    </a:lnTo>
                    <a:cubicBezTo>
                      <a:pt x="15906" y="1152740"/>
                      <a:pt x="9573" y="1149788"/>
                      <a:pt x="5283" y="1144675"/>
                    </a:cubicBezTo>
                    <a:cubicBezTo>
                      <a:pt x="993" y="1139563"/>
                      <a:pt x="-815" y="1132814"/>
                      <a:pt x="343" y="1126241"/>
                    </a:cubicBezTo>
                    <a:lnTo>
                      <a:pt x="194201" y="26499"/>
                    </a:lnTo>
                    <a:cubicBezTo>
                      <a:pt x="196902" y="11174"/>
                      <a:pt x="210218" y="0"/>
                      <a:pt x="225780" y="0"/>
                    </a:cubicBezTo>
                    <a:close/>
                  </a:path>
                </a:pathLst>
              </a:custGeom>
              <a:solidFill>
                <a:srgbClr val="EDF6F9"/>
              </a:solidFill>
            </p:spPr>
          </p:sp>
          <p:sp>
            <p:nvSpPr>
              <p:cNvPr name="TextBox 18" id="18"/>
              <p:cNvSpPr txBox="true"/>
              <p:nvPr/>
            </p:nvSpPr>
            <p:spPr>
              <a:xfrm>
                <a:off x="101600" y="-38100"/>
                <a:ext cx="3639035" cy="119084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4365856" y="8145859"/>
              <a:ext cx="3810735" cy="842483"/>
              <a:chOff x="0" y="0"/>
              <a:chExt cx="3842235" cy="849447"/>
            </a:xfrm>
          </p:grpSpPr>
          <p:sp>
            <p:nvSpPr>
              <p:cNvPr name="Freeform 20" id="20"/>
              <p:cNvSpPr/>
              <p:nvPr/>
            </p:nvSpPr>
            <p:spPr>
              <a:xfrm flipH="false" flipV="false" rot="0">
                <a:off x="8573" y="0"/>
                <a:ext cx="3825089" cy="849447"/>
              </a:xfrm>
              <a:custGeom>
                <a:avLst/>
                <a:gdLst/>
                <a:ahLst/>
                <a:cxnLst/>
                <a:rect r="r" b="b" t="t" l="l"/>
                <a:pathLst>
                  <a:path h="849447" w="3825089">
                    <a:moveTo>
                      <a:pt x="235259" y="0"/>
                    </a:moveTo>
                    <a:lnTo>
                      <a:pt x="3793030" y="0"/>
                    </a:lnTo>
                    <a:cubicBezTo>
                      <a:pt x="3802845" y="0"/>
                      <a:pt x="3812119" y="4496"/>
                      <a:pt x="3818198" y="12201"/>
                    </a:cubicBezTo>
                    <a:cubicBezTo>
                      <a:pt x="3824278" y="19906"/>
                      <a:pt x="3826493" y="29972"/>
                      <a:pt x="3824209" y="39517"/>
                    </a:cubicBezTo>
                    <a:lnTo>
                      <a:pt x="3639915" y="809930"/>
                    </a:lnTo>
                    <a:cubicBezTo>
                      <a:pt x="3634372" y="833103"/>
                      <a:pt x="3613657" y="849447"/>
                      <a:pt x="3589830" y="849447"/>
                    </a:cubicBezTo>
                    <a:lnTo>
                      <a:pt x="32059" y="849447"/>
                    </a:lnTo>
                    <a:cubicBezTo>
                      <a:pt x="22244" y="849447"/>
                      <a:pt x="12970" y="844951"/>
                      <a:pt x="6891" y="837246"/>
                    </a:cubicBezTo>
                    <a:cubicBezTo>
                      <a:pt x="812" y="829541"/>
                      <a:pt x="-1403" y="819475"/>
                      <a:pt x="880" y="809930"/>
                    </a:cubicBezTo>
                    <a:lnTo>
                      <a:pt x="185174" y="39517"/>
                    </a:lnTo>
                    <a:cubicBezTo>
                      <a:pt x="190717" y="16345"/>
                      <a:pt x="211433" y="0"/>
                      <a:pt x="235259" y="0"/>
                    </a:cubicBezTo>
                    <a:close/>
                  </a:path>
                </a:pathLst>
              </a:custGeom>
              <a:solidFill>
                <a:srgbClr val="EDF6F9"/>
              </a:solidFill>
            </p:spPr>
          </p:sp>
          <p:sp>
            <p:nvSpPr>
              <p:cNvPr name="TextBox 21" id="21"/>
              <p:cNvSpPr txBox="true"/>
              <p:nvPr/>
            </p:nvSpPr>
            <p:spPr>
              <a:xfrm>
                <a:off x="101600" y="-38100"/>
                <a:ext cx="3639035" cy="887547"/>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954401" y="2945633"/>
              <a:ext cx="6219896" cy="4704927"/>
            </a:xfrm>
            <a:prstGeom prst="rect">
              <a:avLst/>
            </a:prstGeom>
          </p:spPr>
          <p:txBody>
            <a:bodyPr anchor="t" rtlCol="false" tIns="0" lIns="0" bIns="0" rIns="0">
              <a:spAutoFit/>
            </a:bodyPr>
            <a:lstStyle/>
            <a:p>
              <a:pPr algn="just" marL="367029" indent="-183514" lvl="1">
                <a:lnSpc>
                  <a:spcPts val="2379"/>
                </a:lnSpc>
                <a:buFont typeface="Arial"/>
                <a:buChar char="•"/>
              </a:pPr>
              <a:r>
                <a:rPr lang="en-US" b="true" sz="1699" spc="42">
                  <a:solidFill>
                    <a:srgbClr val="FFFFFF"/>
                  </a:solidFill>
                  <a:latin typeface="Bricolage Grotesque Semi-Bold"/>
                  <a:ea typeface="Bricolage Grotesque Semi-Bold"/>
                  <a:cs typeface="Bricolage Grotesque Semi-Bold"/>
                  <a:sym typeface="Bricolage Grotesque Semi-Bold"/>
                </a:rPr>
                <a:t>Penambahan charger membutuhkan investasi besar untuk perangkat, instalasi, dan kesiapan infrastruktur listrik.</a:t>
              </a:r>
            </a:p>
            <a:p>
              <a:pPr algn="just" marL="367029" indent="-183514" lvl="1">
                <a:lnSpc>
                  <a:spcPts val="2379"/>
                </a:lnSpc>
                <a:buFont typeface="Arial"/>
                <a:buChar char="•"/>
              </a:pPr>
              <a:r>
                <a:rPr lang="en-US" b="true" sz="1699" spc="42">
                  <a:solidFill>
                    <a:srgbClr val="FFFFFF"/>
                  </a:solidFill>
                  <a:latin typeface="Bricolage Grotesque Semi-Bold"/>
                  <a:ea typeface="Bricolage Grotesque Semi-Bold"/>
                  <a:cs typeface="Bricolage Grotesque Semi-Bold"/>
                  <a:sym typeface="Bricolage Grotesque Semi-Bold"/>
                </a:rPr>
                <a:t>Jika lonjakan permintaan hanya terjadi pada jam sibuk atau musim liburan, kapasitas tambahan berpotensi kurang terpakai di waktu normal.</a:t>
              </a:r>
            </a:p>
            <a:p>
              <a:pPr algn="just" marL="367029" indent="-183514" lvl="1">
                <a:lnSpc>
                  <a:spcPts val="2379"/>
                </a:lnSpc>
                <a:buFont typeface="Arial"/>
                <a:buChar char="•"/>
              </a:pPr>
              <a:r>
                <a:rPr lang="en-US" b="true" sz="1699" spc="42">
                  <a:solidFill>
                    <a:srgbClr val="FFFFFF"/>
                  </a:solidFill>
                  <a:latin typeface="Bricolage Grotesque Semi-Bold"/>
                  <a:ea typeface="Bricolage Grotesque Semi-Bold"/>
                  <a:cs typeface="Bricolage Grotesque Semi-Bold"/>
                  <a:sym typeface="Bricolage Grotesque Semi-Bold"/>
                </a:rPr>
                <a:t>Tanpa bukti bahwa permintaan tinggi berlangsung konsisten, ekspansi fisik berisiko memberi pengembalian investasi yang rendah.</a:t>
              </a:r>
            </a:p>
          </p:txBody>
        </p:sp>
        <p:sp>
          <p:nvSpPr>
            <p:cNvPr name="TextBox 23" id="23"/>
            <p:cNvSpPr txBox="true"/>
            <p:nvPr/>
          </p:nvSpPr>
          <p:spPr>
            <a:xfrm rot="0">
              <a:off x="954401" y="501613"/>
              <a:ext cx="4224591" cy="1118023"/>
            </a:xfrm>
            <a:prstGeom prst="rect">
              <a:avLst/>
            </a:prstGeom>
          </p:spPr>
          <p:txBody>
            <a:bodyPr anchor="t" rtlCol="false" tIns="0" lIns="0" bIns="0" rIns="0">
              <a:spAutoFit/>
            </a:bodyPr>
            <a:lstStyle/>
            <a:p>
              <a:pPr algn="r">
                <a:lnSpc>
                  <a:spcPts val="3199"/>
                </a:lnSpc>
              </a:pPr>
              <a:r>
                <a:rPr lang="en-US" sz="3199">
                  <a:solidFill>
                    <a:srgbClr val="112752"/>
                  </a:solidFill>
                  <a:latin typeface="Rubik One"/>
                  <a:ea typeface="Rubik One"/>
                  <a:cs typeface="Rubik One"/>
                  <a:sym typeface="Rubik One"/>
                </a:rPr>
                <a:t>SOLUSI</a:t>
              </a:r>
              <a:r>
                <a:rPr lang="en-US" sz="3199">
                  <a:solidFill>
                    <a:srgbClr val="FFFFFF"/>
                  </a:solidFill>
                  <a:latin typeface="Rubik One"/>
                  <a:ea typeface="Rubik One"/>
                  <a:cs typeface="Rubik One"/>
                  <a:sym typeface="Rubik One"/>
                </a:rPr>
                <a:t> </a:t>
              </a:r>
            </a:p>
            <a:p>
              <a:pPr algn="r">
                <a:lnSpc>
                  <a:spcPts val="3199"/>
                </a:lnSpc>
              </a:pPr>
              <a:r>
                <a:rPr lang="en-US" sz="3199">
                  <a:solidFill>
                    <a:srgbClr val="00B58F"/>
                  </a:solidFill>
                  <a:latin typeface="Rubik One"/>
                  <a:ea typeface="Rubik One"/>
                  <a:cs typeface="Rubik One"/>
                  <a:sym typeface="Rubik One"/>
                </a:rPr>
                <a:t>TRADISIONAL</a:t>
              </a:r>
            </a:p>
          </p:txBody>
        </p:sp>
        <p:grpSp>
          <p:nvGrpSpPr>
            <p:cNvPr name="Group 24" id="24"/>
            <p:cNvGrpSpPr/>
            <p:nvPr/>
          </p:nvGrpSpPr>
          <p:grpSpPr>
            <a:xfrm rot="0">
              <a:off x="1974238" y="1979770"/>
              <a:ext cx="4783235" cy="699163"/>
              <a:chOff x="0" y="0"/>
              <a:chExt cx="926618" cy="135443"/>
            </a:xfrm>
          </p:grpSpPr>
          <p:sp>
            <p:nvSpPr>
              <p:cNvPr name="Freeform 25" id="25"/>
              <p:cNvSpPr/>
              <p:nvPr/>
            </p:nvSpPr>
            <p:spPr>
              <a:xfrm flipH="false" flipV="false" rot="0">
                <a:off x="0" y="0"/>
                <a:ext cx="926618" cy="135443"/>
              </a:xfrm>
              <a:custGeom>
                <a:avLst/>
                <a:gdLst/>
                <a:ahLst/>
                <a:cxnLst/>
                <a:rect r="r" b="b" t="t" l="l"/>
                <a:pathLst>
                  <a:path h="135443" w="926618">
                    <a:moveTo>
                      <a:pt x="67722" y="0"/>
                    </a:moveTo>
                    <a:lnTo>
                      <a:pt x="858896" y="0"/>
                    </a:lnTo>
                    <a:cubicBezTo>
                      <a:pt x="896298" y="0"/>
                      <a:pt x="926618" y="30320"/>
                      <a:pt x="926618" y="67722"/>
                    </a:cubicBezTo>
                    <a:lnTo>
                      <a:pt x="926618" y="67722"/>
                    </a:lnTo>
                    <a:cubicBezTo>
                      <a:pt x="926618" y="85682"/>
                      <a:pt x="919483" y="102908"/>
                      <a:pt x="906782" y="115608"/>
                    </a:cubicBezTo>
                    <a:cubicBezTo>
                      <a:pt x="894082" y="128308"/>
                      <a:pt x="876857" y="135443"/>
                      <a:pt x="858896" y="135443"/>
                    </a:cubicBezTo>
                    <a:lnTo>
                      <a:pt x="67722" y="135443"/>
                    </a:lnTo>
                    <a:cubicBezTo>
                      <a:pt x="49761" y="135443"/>
                      <a:pt x="32535" y="128308"/>
                      <a:pt x="19835" y="115608"/>
                    </a:cubicBezTo>
                    <a:cubicBezTo>
                      <a:pt x="7135" y="102908"/>
                      <a:pt x="0" y="85682"/>
                      <a:pt x="0" y="67722"/>
                    </a:cubicBezTo>
                    <a:lnTo>
                      <a:pt x="0" y="67722"/>
                    </a:lnTo>
                    <a:cubicBezTo>
                      <a:pt x="0" y="49761"/>
                      <a:pt x="7135" y="32535"/>
                      <a:pt x="19835" y="19835"/>
                    </a:cubicBezTo>
                    <a:cubicBezTo>
                      <a:pt x="32535" y="7135"/>
                      <a:pt x="49761" y="0"/>
                      <a:pt x="67722" y="0"/>
                    </a:cubicBezTo>
                    <a:close/>
                  </a:path>
                </a:pathLst>
              </a:custGeom>
              <a:solidFill>
                <a:srgbClr val="EDF6F9"/>
              </a:solidFill>
              <a:ln cap="rnd">
                <a:noFill/>
                <a:prstDash val="solid"/>
                <a:round/>
              </a:ln>
            </p:spPr>
          </p:sp>
          <p:sp>
            <p:nvSpPr>
              <p:cNvPr name="TextBox 26" id="26"/>
              <p:cNvSpPr txBox="true"/>
              <p:nvPr/>
            </p:nvSpPr>
            <p:spPr>
              <a:xfrm>
                <a:off x="0" y="-38100"/>
                <a:ext cx="926618" cy="173543"/>
              </a:xfrm>
              <a:prstGeom prst="rect">
                <a:avLst/>
              </a:prstGeom>
            </p:spPr>
            <p:txBody>
              <a:bodyPr anchor="ctr" rtlCol="false" tIns="50800" lIns="50800" bIns="50800" rIns="50800"/>
              <a:lstStyle/>
              <a:p>
                <a:pPr algn="ctr">
                  <a:lnSpc>
                    <a:spcPts val="2659"/>
                  </a:lnSpc>
                  <a:spcBef>
                    <a:spcPct val="0"/>
                  </a:spcBef>
                </a:pPr>
              </a:p>
            </p:txBody>
          </p:sp>
        </p:grpSp>
        <p:sp>
          <p:nvSpPr>
            <p:cNvPr name="TextBox 27" id="27"/>
            <p:cNvSpPr txBox="true"/>
            <p:nvPr/>
          </p:nvSpPr>
          <p:spPr>
            <a:xfrm rot="0">
              <a:off x="2218599" y="2175802"/>
              <a:ext cx="4373516" cy="353272"/>
            </a:xfrm>
            <a:prstGeom prst="rect">
              <a:avLst/>
            </a:prstGeom>
          </p:spPr>
          <p:txBody>
            <a:bodyPr anchor="t" rtlCol="false" tIns="0" lIns="0" bIns="0" rIns="0">
              <a:spAutoFit/>
            </a:bodyPr>
            <a:lstStyle/>
            <a:p>
              <a:pPr algn="just">
                <a:lnSpc>
                  <a:spcPts val="1900"/>
                </a:lnSpc>
              </a:pPr>
              <a:r>
                <a:rPr lang="en-US" sz="1900">
                  <a:solidFill>
                    <a:srgbClr val="112752"/>
                  </a:solidFill>
                  <a:latin typeface="Rubik One"/>
                  <a:ea typeface="Rubik One"/>
                  <a:cs typeface="Rubik One"/>
                  <a:sym typeface="Rubik One"/>
                </a:rPr>
                <a:t>PENAMBAHAN CHARGER</a:t>
              </a:r>
            </a:p>
          </p:txBody>
        </p:sp>
      </p:grpSp>
      <p:grpSp>
        <p:nvGrpSpPr>
          <p:cNvPr name="Group 28" id="28"/>
          <p:cNvGrpSpPr/>
          <p:nvPr/>
        </p:nvGrpSpPr>
        <p:grpSpPr>
          <a:xfrm rot="0">
            <a:off x="6416107" y="2655303"/>
            <a:ext cx="5806806" cy="6750782"/>
            <a:chOff x="0" y="0"/>
            <a:chExt cx="7742408" cy="9001042"/>
          </a:xfrm>
        </p:grpSpPr>
        <p:sp>
          <p:nvSpPr>
            <p:cNvPr name="TextBox 29" id="29"/>
            <p:cNvSpPr txBox="true"/>
            <p:nvPr/>
          </p:nvSpPr>
          <p:spPr>
            <a:xfrm rot="0">
              <a:off x="1292757" y="3141693"/>
              <a:ext cx="5277832" cy="359866"/>
            </a:xfrm>
            <a:prstGeom prst="rect">
              <a:avLst/>
            </a:prstGeom>
          </p:spPr>
          <p:txBody>
            <a:bodyPr anchor="t" rtlCol="false" tIns="0" lIns="0" bIns="0" rIns="0">
              <a:spAutoFit/>
            </a:bodyPr>
            <a:lstStyle/>
            <a:p>
              <a:pPr algn="l">
                <a:lnSpc>
                  <a:spcPts val="2000"/>
                </a:lnSpc>
              </a:pPr>
              <a:r>
                <a:rPr lang="en-US" sz="2000">
                  <a:solidFill>
                    <a:srgbClr val="0B132B"/>
                  </a:solidFill>
                  <a:latin typeface="Rubik One"/>
                  <a:ea typeface="Rubik One"/>
                  <a:cs typeface="Rubik One"/>
                  <a:sym typeface="Rubik One"/>
                </a:rPr>
                <a:t>[ PILAR 1: EVALUASI BIAYA ]</a:t>
              </a:r>
            </a:p>
          </p:txBody>
        </p:sp>
        <p:sp>
          <p:nvSpPr>
            <p:cNvPr name="TextBox 30" id="30"/>
            <p:cNvSpPr txBox="true"/>
            <p:nvPr/>
          </p:nvSpPr>
          <p:spPr>
            <a:xfrm rot="0">
              <a:off x="1345723" y="3566197"/>
              <a:ext cx="5224867" cy="405699"/>
            </a:xfrm>
            <a:prstGeom prst="rect">
              <a:avLst/>
            </a:prstGeom>
          </p:spPr>
          <p:txBody>
            <a:bodyPr anchor="t" rtlCol="false" tIns="0" lIns="0" bIns="0" rIns="0">
              <a:spAutoFit/>
            </a:bodyPr>
            <a:lstStyle/>
            <a:p>
              <a:pPr algn="ctr">
                <a:lnSpc>
                  <a:spcPts val="2519"/>
                </a:lnSpc>
              </a:pPr>
              <a:r>
                <a:rPr lang="en-US" sz="1799" spc="44">
                  <a:solidFill>
                    <a:srgbClr val="0B132B"/>
                  </a:solidFill>
                  <a:latin typeface="Bricolage Grotesque"/>
                  <a:ea typeface="Bricolage Grotesque"/>
                  <a:cs typeface="Bricolage Grotesque"/>
                  <a:sym typeface="Bricolage Grotesque"/>
                </a:rPr>
                <a:t>PARADOKS CAPEX FISIK</a:t>
              </a:r>
            </a:p>
          </p:txBody>
        </p:sp>
        <p:grpSp>
          <p:nvGrpSpPr>
            <p:cNvPr name="Group 31" id="31"/>
            <p:cNvGrpSpPr/>
            <p:nvPr/>
          </p:nvGrpSpPr>
          <p:grpSpPr>
            <a:xfrm rot="0">
              <a:off x="1292757" y="4111596"/>
              <a:ext cx="5277832" cy="762000"/>
              <a:chOff x="0" y="0"/>
              <a:chExt cx="1022432" cy="147616"/>
            </a:xfrm>
          </p:grpSpPr>
          <p:sp>
            <p:nvSpPr>
              <p:cNvPr name="Freeform 32" id="32"/>
              <p:cNvSpPr/>
              <p:nvPr/>
            </p:nvSpPr>
            <p:spPr>
              <a:xfrm flipH="false" flipV="false" rot="0">
                <a:off x="0" y="0"/>
                <a:ext cx="1022432" cy="147616"/>
              </a:xfrm>
              <a:custGeom>
                <a:avLst/>
                <a:gdLst/>
                <a:ahLst/>
                <a:cxnLst/>
                <a:rect r="r" b="b" t="t" l="l"/>
                <a:pathLst>
                  <a:path h="147616" w="1022432">
                    <a:moveTo>
                      <a:pt x="19558" y="0"/>
                    </a:moveTo>
                    <a:lnTo>
                      <a:pt x="1002874" y="0"/>
                    </a:lnTo>
                    <a:cubicBezTo>
                      <a:pt x="1013675" y="0"/>
                      <a:pt x="1022432" y="8757"/>
                      <a:pt x="1022432" y="19558"/>
                    </a:cubicBezTo>
                    <a:lnTo>
                      <a:pt x="1022432" y="128058"/>
                    </a:lnTo>
                    <a:cubicBezTo>
                      <a:pt x="1022432" y="138860"/>
                      <a:pt x="1013675" y="147616"/>
                      <a:pt x="1002874" y="147616"/>
                    </a:cubicBezTo>
                    <a:lnTo>
                      <a:pt x="19558" y="147616"/>
                    </a:lnTo>
                    <a:cubicBezTo>
                      <a:pt x="8757" y="147616"/>
                      <a:pt x="0" y="138860"/>
                      <a:pt x="0" y="128058"/>
                    </a:cubicBezTo>
                    <a:lnTo>
                      <a:pt x="0" y="19558"/>
                    </a:lnTo>
                    <a:cubicBezTo>
                      <a:pt x="0" y="8757"/>
                      <a:pt x="8757" y="0"/>
                      <a:pt x="19558" y="0"/>
                    </a:cubicBezTo>
                    <a:close/>
                  </a:path>
                </a:pathLst>
              </a:custGeom>
              <a:solidFill>
                <a:srgbClr val="00B58F"/>
              </a:solidFill>
              <a:ln cap="sq">
                <a:noFill/>
                <a:prstDash val="solid"/>
                <a:miter/>
              </a:ln>
            </p:spPr>
          </p:sp>
          <p:sp>
            <p:nvSpPr>
              <p:cNvPr name="TextBox 33" id="33"/>
              <p:cNvSpPr txBox="true"/>
              <p:nvPr/>
            </p:nvSpPr>
            <p:spPr>
              <a:xfrm>
                <a:off x="0" y="-38100"/>
                <a:ext cx="1022432" cy="185716"/>
              </a:xfrm>
              <a:prstGeom prst="rect">
                <a:avLst/>
              </a:prstGeom>
            </p:spPr>
            <p:txBody>
              <a:bodyPr anchor="ctr" rtlCol="false" tIns="50800" lIns="50800" bIns="50800" rIns="50800"/>
              <a:lstStyle/>
              <a:p>
                <a:pPr algn="ctr">
                  <a:lnSpc>
                    <a:spcPts val="2659"/>
                  </a:lnSpc>
                  <a:spcBef>
                    <a:spcPct val="0"/>
                  </a:spcBef>
                </a:pPr>
              </a:p>
            </p:txBody>
          </p:sp>
        </p:grpSp>
        <p:sp>
          <p:nvSpPr>
            <p:cNvPr name="TextBox 34" id="34"/>
            <p:cNvSpPr txBox="true"/>
            <p:nvPr/>
          </p:nvSpPr>
          <p:spPr>
            <a:xfrm rot="0">
              <a:off x="1292757" y="4254471"/>
              <a:ext cx="5224867" cy="405699"/>
            </a:xfrm>
            <a:prstGeom prst="rect">
              <a:avLst/>
            </a:prstGeom>
          </p:spPr>
          <p:txBody>
            <a:bodyPr anchor="t" rtlCol="false" tIns="0" lIns="0" bIns="0" rIns="0">
              <a:spAutoFit/>
            </a:bodyPr>
            <a:lstStyle/>
            <a:p>
              <a:pPr algn="ctr">
                <a:lnSpc>
                  <a:spcPts val="2519"/>
                </a:lnSpc>
              </a:pPr>
              <a:r>
                <a:rPr lang="en-US" b="true" sz="1799" spc="44">
                  <a:solidFill>
                    <a:srgbClr val="0B132B"/>
                  </a:solidFill>
                  <a:latin typeface="Bricolage Grotesque Bold"/>
                  <a:ea typeface="Bricolage Grotesque Bold"/>
                  <a:cs typeface="Bricolage Grotesque Bold"/>
                  <a:sym typeface="Bricolage Grotesque Bold"/>
                </a:rPr>
                <a:t>Problem Solusi Tradisional</a:t>
              </a:r>
            </a:p>
          </p:txBody>
        </p:sp>
        <p:sp>
          <p:nvSpPr>
            <p:cNvPr name="TextBox 35" id="35"/>
            <p:cNvSpPr txBox="true"/>
            <p:nvPr/>
          </p:nvSpPr>
          <p:spPr>
            <a:xfrm rot="0">
              <a:off x="1345723" y="5156171"/>
              <a:ext cx="5224867" cy="2919902"/>
            </a:xfrm>
            <a:prstGeom prst="rect">
              <a:avLst/>
            </a:prstGeom>
          </p:spPr>
          <p:txBody>
            <a:bodyPr anchor="t" rtlCol="false" tIns="0" lIns="0" bIns="0" rIns="0">
              <a:spAutoFit/>
            </a:bodyPr>
            <a:lstStyle/>
            <a:p>
              <a:pPr algn="l" marL="388618" indent="-194309" lvl="1">
                <a:lnSpc>
                  <a:spcPts val="2519"/>
                </a:lnSpc>
                <a:buFont typeface="Arial"/>
                <a:buChar char="•"/>
              </a:pPr>
              <a:r>
                <a:rPr lang="en-US" sz="1799" spc="44">
                  <a:solidFill>
                    <a:srgbClr val="0B132B"/>
                  </a:solidFill>
                  <a:latin typeface="Bricolage Grotesque"/>
                  <a:ea typeface="Bricolage Grotesque"/>
                  <a:cs typeface="Bricolage Grotesque"/>
                  <a:sym typeface="Bricolage Grotesque"/>
                </a:rPr>
                <a:t>Kritik : Menambah Charger fisik menelan CAPEX sangat mahal</a:t>
              </a:r>
            </a:p>
            <a:p>
              <a:pPr algn="l" marL="388618" indent="-194309" lvl="1">
                <a:lnSpc>
                  <a:spcPts val="2519"/>
                </a:lnSpc>
                <a:buFont typeface="Arial"/>
                <a:buChar char="•"/>
              </a:pPr>
              <a:r>
                <a:rPr lang="en-US" sz="1799" spc="44">
                  <a:solidFill>
                    <a:srgbClr val="0B132B"/>
                  </a:solidFill>
                  <a:latin typeface="Bricolage Grotesque"/>
                  <a:ea typeface="Bricolage Grotesque"/>
                  <a:cs typeface="Bricolage Grotesque"/>
                  <a:sym typeface="Bricolage Grotesque"/>
                </a:rPr>
                <a:t>Stranded Assets Risk : Alat baru akan mengganggur dan utilisasi anjlok</a:t>
              </a:r>
            </a:p>
            <a:p>
              <a:pPr algn="l" marL="388618" indent="-194309" lvl="1">
                <a:lnSpc>
                  <a:spcPts val="2519"/>
                </a:lnSpc>
                <a:buFont typeface="Arial"/>
                <a:buChar char="•"/>
              </a:pPr>
              <a:r>
                <a:rPr lang="en-US" sz="1799" spc="44">
                  <a:solidFill>
                    <a:srgbClr val="0B132B"/>
                  </a:solidFill>
                  <a:latin typeface="Bricolage Grotesque"/>
                  <a:ea typeface="Bricolage Grotesque"/>
                  <a:cs typeface="Bricolage Grotesque"/>
                  <a:sym typeface="Bricolage Grotesque"/>
                </a:rPr>
                <a:t>Kesimpulan : Tidak Rasional Secara Finansial</a:t>
              </a:r>
            </a:p>
          </p:txBody>
        </p:sp>
        <p:grpSp>
          <p:nvGrpSpPr>
            <p:cNvPr name="Group 36" id="36"/>
            <p:cNvGrpSpPr/>
            <p:nvPr/>
          </p:nvGrpSpPr>
          <p:grpSpPr>
            <a:xfrm rot="0">
              <a:off x="262928" y="1644808"/>
              <a:ext cx="5754427" cy="1098517"/>
              <a:chOff x="0" y="0"/>
              <a:chExt cx="3842235" cy="733480"/>
            </a:xfrm>
          </p:grpSpPr>
          <p:sp>
            <p:nvSpPr>
              <p:cNvPr name="Freeform 37" id="37"/>
              <p:cNvSpPr/>
              <p:nvPr/>
            </p:nvSpPr>
            <p:spPr>
              <a:xfrm flipH="false" flipV="false" rot="0">
                <a:off x="6441" y="0"/>
                <a:ext cx="3829354" cy="733480"/>
              </a:xfrm>
              <a:custGeom>
                <a:avLst/>
                <a:gdLst/>
                <a:ahLst/>
                <a:cxnLst/>
                <a:rect r="r" b="b" t="t" l="l"/>
                <a:pathLst>
                  <a:path h="733480" w="3829354">
                    <a:moveTo>
                      <a:pt x="223667" y="0"/>
                    </a:moveTo>
                    <a:lnTo>
                      <a:pt x="3808887" y="0"/>
                    </a:lnTo>
                    <a:cubicBezTo>
                      <a:pt x="3815280" y="0"/>
                      <a:pt x="3821306" y="2988"/>
                      <a:pt x="3825177" y="8076"/>
                    </a:cubicBezTo>
                    <a:cubicBezTo>
                      <a:pt x="3829047" y="13165"/>
                      <a:pt x="3830317" y="19770"/>
                      <a:pt x="3828611" y="25931"/>
                    </a:cubicBezTo>
                    <a:lnTo>
                      <a:pt x="3639778" y="707549"/>
                    </a:lnTo>
                    <a:cubicBezTo>
                      <a:pt x="3635533" y="722872"/>
                      <a:pt x="3621586" y="733480"/>
                      <a:pt x="3605687" y="733480"/>
                    </a:cubicBezTo>
                    <a:lnTo>
                      <a:pt x="20467" y="733480"/>
                    </a:lnTo>
                    <a:cubicBezTo>
                      <a:pt x="14073" y="733480"/>
                      <a:pt x="8047" y="730493"/>
                      <a:pt x="4177" y="725404"/>
                    </a:cubicBezTo>
                    <a:cubicBezTo>
                      <a:pt x="306" y="720316"/>
                      <a:pt x="-964" y="713711"/>
                      <a:pt x="743" y="707549"/>
                    </a:cubicBezTo>
                    <a:lnTo>
                      <a:pt x="189575" y="25931"/>
                    </a:lnTo>
                    <a:cubicBezTo>
                      <a:pt x="193820" y="10608"/>
                      <a:pt x="207767" y="0"/>
                      <a:pt x="223667" y="0"/>
                    </a:cubicBezTo>
                    <a:close/>
                  </a:path>
                </a:pathLst>
              </a:custGeom>
              <a:solidFill>
                <a:srgbClr val="EDF6F9"/>
              </a:solidFill>
            </p:spPr>
          </p:sp>
          <p:sp>
            <p:nvSpPr>
              <p:cNvPr name="TextBox 38" id="38"/>
              <p:cNvSpPr txBox="true"/>
              <p:nvPr/>
            </p:nvSpPr>
            <p:spPr>
              <a:xfrm>
                <a:off x="101600" y="-38100"/>
                <a:ext cx="3639035" cy="77158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466021" y="368156"/>
              <a:ext cx="6677364" cy="8207321"/>
              <a:chOff x="0" y="0"/>
              <a:chExt cx="1293552" cy="1589938"/>
            </a:xfrm>
          </p:grpSpPr>
          <p:sp>
            <p:nvSpPr>
              <p:cNvPr name="Freeform 40" id="40"/>
              <p:cNvSpPr/>
              <p:nvPr/>
            </p:nvSpPr>
            <p:spPr>
              <a:xfrm flipH="false" flipV="false" rot="0">
                <a:off x="0" y="0"/>
                <a:ext cx="1293552" cy="1589938"/>
              </a:xfrm>
              <a:custGeom>
                <a:avLst/>
                <a:gdLst/>
                <a:ahLst/>
                <a:cxnLst/>
                <a:rect r="r" b="b" t="t" l="l"/>
                <a:pathLst>
                  <a:path h="1589938" w="1293552">
                    <a:moveTo>
                      <a:pt x="30918" y="0"/>
                    </a:moveTo>
                    <a:lnTo>
                      <a:pt x="1262634" y="0"/>
                    </a:lnTo>
                    <a:cubicBezTo>
                      <a:pt x="1270834" y="0"/>
                      <a:pt x="1278698" y="3257"/>
                      <a:pt x="1284496" y="9056"/>
                    </a:cubicBezTo>
                    <a:cubicBezTo>
                      <a:pt x="1290294" y="14854"/>
                      <a:pt x="1293552" y="22718"/>
                      <a:pt x="1293552" y="30918"/>
                    </a:cubicBezTo>
                    <a:lnTo>
                      <a:pt x="1293552" y="1559020"/>
                    </a:lnTo>
                    <a:cubicBezTo>
                      <a:pt x="1293552" y="1576096"/>
                      <a:pt x="1279709" y="1589938"/>
                      <a:pt x="1262634" y="1589938"/>
                    </a:cubicBezTo>
                    <a:lnTo>
                      <a:pt x="30918" y="1589938"/>
                    </a:lnTo>
                    <a:cubicBezTo>
                      <a:pt x="22718" y="1589938"/>
                      <a:pt x="14854" y="1586681"/>
                      <a:pt x="9056" y="1580882"/>
                    </a:cubicBezTo>
                    <a:cubicBezTo>
                      <a:pt x="3257" y="1575084"/>
                      <a:pt x="0" y="1567220"/>
                      <a:pt x="0" y="1559020"/>
                    </a:cubicBezTo>
                    <a:lnTo>
                      <a:pt x="0" y="30918"/>
                    </a:lnTo>
                    <a:cubicBezTo>
                      <a:pt x="0" y="22718"/>
                      <a:pt x="3257" y="14854"/>
                      <a:pt x="9056" y="9056"/>
                    </a:cubicBezTo>
                    <a:cubicBezTo>
                      <a:pt x="14854" y="3257"/>
                      <a:pt x="22718" y="0"/>
                      <a:pt x="30918" y="0"/>
                    </a:cubicBezTo>
                    <a:close/>
                  </a:path>
                </a:pathLst>
              </a:custGeom>
              <a:solidFill>
                <a:srgbClr val="00B58F"/>
              </a:solidFill>
              <a:ln cap="sq">
                <a:noFill/>
                <a:prstDash val="solid"/>
                <a:miter/>
              </a:ln>
            </p:spPr>
          </p:sp>
          <p:sp>
            <p:nvSpPr>
              <p:cNvPr name="TextBox 41" id="41"/>
              <p:cNvSpPr txBox="true"/>
              <p:nvPr/>
            </p:nvSpPr>
            <p:spPr>
              <a:xfrm>
                <a:off x="0" y="-38100"/>
                <a:ext cx="1293552" cy="1628038"/>
              </a:xfrm>
              <a:prstGeom prst="rect">
                <a:avLst/>
              </a:prstGeom>
            </p:spPr>
            <p:txBody>
              <a:bodyPr anchor="ctr" rtlCol="false" tIns="50800" lIns="50800" bIns="50800" rIns="50800"/>
              <a:lstStyle/>
              <a:p>
                <a:pPr algn="ctr">
                  <a:lnSpc>
                    <a:spcPts val="2659"/>
                  </a:lnSpc>
                  <a:spcBef>
                    <a:spcPct val="0"/>
                  </a:spcBef>
                </a:pPr>
              </a:p>
            </p:txBody>
          </p:sp>
        </p:grpSp>
        <p:grpSp>
          <p:nvGrpSpPr>
            <p:cNvPr name="Group 42" id="42"/>
            <p:cNvGrpSpPr/>
            <p:nvPr/>
          </p:nvGrpSpPr>
          <p:grpSpPr>
            <a:xfrm rot="0">
              <a:off x="0" y="0"/>
              <a:ext cx="5320244" cy="1726433"/>
              <a:chOff x="0" y="0"/>
              <a:chExt cx="3552331" cy="1152740"/>
            </a:xfrm>
          </p:grpSpPr>
          <p:sp>
            <p:nvSpPr>
              <p:cNvPr name="Freeform 43" id="43"/>
              <p:cNvSpPr/>
              <p:nvPr/>
            </p:nvSpPr>
            <p:spPr>
              <a:xfrm flipH="false" flipV="false" rot="0">
                <a:off x="4681" y="0"/>
                <a:ext cx="3542968" cy="1152740"/>
              </a:xfrm>
              <a:custGeom>
                <a:avLst/>
                <a:gdLst/>
                <a:ahLst/>
                <a:cxnLst/>
                <a:rect r="r" b="b" t="t" l="l"/>
                <a:pathLst>
                  <a:path h="1152740" w="3542968">
                    <a:moveTo>
                      <a:pt x="227623" y="0"/>
                    </a:moveTo>
                    <a:lnTo>
                      <a:pt x="3518547" y="0"/>
                    </a:lnTo>
                    <a:cubicBezTo>
                      <a:pt x="3525766" y="0"/>
                      <a:pt x="3532614" y="3194"/>
                      <a:pt x="3537255" y="8723"/>
                    </a:cubicBezTo>
                    <a:cubicBezTo>
                      <a:pt x="3541895" y="14253"/>
                      <a:pt x="3543851" y="21553"/>
                      <a:pt x="3542598" y="28662"/>
                    </a:cubicBezTo>
                    <a:lnTo>
                      <a:pt x="3349503" y="1124079"/>
                    </a:lnTo>
                    <a:cubicBezTo>
                      <a:pt x="3346581" y="1140655"/>
                      <a:pt x="3332179" y="1152740"/>
                      <a:pt x="3315347" y="1152740"/>
                    </a:cubicBezTo>
                    <a:lnTo>
                      <a:pt x="24423" y="1152740"/>
                    </a:lnTo>
                    <a:cubicBezTo>
                      <a:pt x="17204" y="1152740"/>
                      <a:pt x="10355" y="1149547"/>
                      <a:pt x="5715" y="1144017"/>
                    </a:cubicBezTo>
                    <a:cubicBezTo>
                      <a:pt x="1074" y="1138487"/>
                      <a:pt x="-882" y="1131188"/>
                      <a:pt x="371" y="1124079"/>
                    </a:cubicBezTo>
                    <a:lnTo>
                      <a:pt x="193467" y="28662"/>
                    </a:lnTo>
                    <a:cubicBezTo>
                      <a:pt x="196389" y="12085"/>
                      <a:pt x="210791" y="0"/>
                      <a:pt x="227623" y="0"/>
                    </a:cubicBezTo>
                    <a:close/>
                  </a:path>
                </a:pathLst>
              </a:custGeom>
              <a:solidFill>
                <a:srgbClr val="EDF6F9"/>
              </a:solidFill>
            </p:spPr>
          </p:sp>
          <p:sp>
            <p:nvSpPr>
              <p:cNvPr name="TextBox 44" id="44"/>
              <p:cNvSpPr txBox="true"/>
              <p:nvPr/>
            </p:nvSpPr>
            <p:spPr>
              <a:xfrm>
                <a:off x="101600" y="-38100"/>
                <a:ext cx="3349131" cy="1190840"/>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3931673" y="8158559"/>
              <a:ext cx="3810735" cy="842483"/>
              <a:chOff x="0" y="0"/>
              <a:chExt cx="3842235" cy="849447"/>
            </a:xfrm>
          </p:grpSpPr>
          <p:sp>
            <p:nvSpPr>
              <p:cNvPr name="Freeform 46" id="46"/>
              <p:cNvSpPr/>
              <p:nvPr/>
            </p:nvSpPr>
            <p:spPr>
              <a:xfrm flipH="false" flipV="false" rot="0">
                <a:off x="8573" y="0"/>
                <a:ext cx="3825089" cy="849447"/>
              </a:xfrm>
              <a:custGeom>
                <a:avLst/>
                <a:gdLst/>
                <a:ahLst/>
                <a:cxnLst/>
                <a:rect r="r" b="b" t="t" l="l"/>
                <a:pathLst>
                  <a:path h="849447" w="3825089">
                    <a:moveTo>
                      <a:pt x="235259" y="0"/>
                    </a:moveTo>
                    <a:lnTo>
                      <a:pt x="3793030" y="0"/>
                    </a:lnTo>
                    <a:cubicBezTo>
                      <a:pt x="3802845" y="0"/>
                      <a:pt x="3812119" y="4496"/>
                      <a:pt x="3818198" y="12201"/>
                    </a:cubicBezTo>
                    <a:cubicBezTo>
                      <a:pt x="3824278" y="19906"/>
                      <a:pt x="3826493" y="29972"/>
                      <a:pt x="3824209" y="39517"/>
                    </a:cubicBezTo>
                    <a:lnTo>
                      <a:pt x="3639915" y="809930"/>
                    </a:lnTo>
                    <a:cubicBezTo>
                      <a:pt x="3634372" y="833103"/>
                      <a:pt x="3613657" y="849447"/>
                      <a:pt x="3589830" y="849447"/>
                    </a:cubicBezTo>
                    <a:lnTo>
                      <a:pt x="32059" y="849447"/>
                    </a:lnTo>
                    <a:cubicBezTo>
                      <a:pt x="22244" y="849447"/>
                      <a:pt x="12970" y="844951"/>
                      <a:pt x="6891" y="837246"/>
                    </a:cubicBezTo>
                    <a:cubicBezTo>
                      <a:pt x="812" y="829541"/>
                      <a:pt x="-1403" y="819475"/>
                      <a:pt x="880" y="809930"/>
                    </a:cubicBezTo>
                    <a:lnTo>
                      <a:pt x="185174" y="39517"/>
                    </a:lnTo>
                    <a:cubicBezTo>
                      <a:pt x="190717" y="16345"/>
                      <a:pt x="211433" y="0"/>
                      <a:pt x="235259" y="0"/>
                    </a:cubicBezTo>
                    <a:close/>
                  </a:path>
                </a:pathLst>
              </a:custGeom>
              <a:solidFill>
                <a:srgbClr val="EDF6F9"/>
              </a:solidFill>
            </p:spPr>
          </p:sp>
          <p:sp>
            <p:nvSpPr>
              <p:cNvPr name="TextBox 47" id="47"/>
              <p:cNvSpPr txBox="true"/>
              <p:nvPr/>
            </p:nvSpPr>
            <p:spPr>
              <a:xfrm>
                <a:off x="101600" y="-38100"/>
                <a:ext cx="3639035" cy="887547"/>
              </a:xfrm>
              <a:prstGeom prst="rect">
                <a:avLst/>
              </a:prstGeom>
            </p:spPr>
            <p:txBody>
              <a:bodyPr anchor="ctr" rtlCol="false" tIns="50800" lIns="50800" bIns="50800" rIns="50800"/>
              <a:lstStyle/>
              <a:p>
                <a:pPr algn="ctr">
                  <a:lnSpc>
                    <a:spcPts val="2659"/>
                  </a:lnSpc>
                </a:pPr>
              </a:p>
            </p:txBody>
          </p:sp>
        </p:grpSp>
        <p:sp>
          <p:nvSpPr>
            <p:cNvPr name="TextBox 48" id="48"/>
            <p:cNvSpPr txBox="true"/>
            <p:nvPr/>
          </p:nvSpPr>
          <p:spPr>
            <a:xfrm rot="0">
              <a:off x="520218" y="2945633"/>
              <a:ext cx="6406076" cy="5098627"/>
            </a:xfrm>
            <a:prstGeom prst="rect">
              <a:avLst/>
            </a:prstGeom>
          </p:spPr>
          <p:txBody>
            <a:bodyPr anchor="t" rtlCol="false" tIns="0" lIns="0" bIns="0" rIns="0">
              <a:spAutoFit/>
            </a:bodyPr>
            <a:lstStyle/>
            <a:p>
              <a:pPr algn="just" marL="367029" indent="-183514" lvl="1">
                <a:lnSpc>
                  <a:spcPts val="2379"/>
                </a:lnSpc>
                <a:buFont typeface="Arial"/>
                <a:buChar char="•"/>
              </a:pPr>
              <a:r>
                <a:rPr lang="en-US" b="true" sz="1699" spc="42">
                  <a:solidFill>
                    <a:srgbClr val="FFFFFF"/>
                  </a:solidFill>
                  <a:latin typeface="Bricolage Grotesque Semi-Bold"/>
                  <a:ea typeface="Bricolage Grotesque Semi-Bold"/>
                  <a:cs typeface="Bricolage Grotesque Semi-Bold"/>
                  <a:sym typeface="Bricolage Grotesque Semi-Bold"/>
                </a:rPr>
                <a:t>ChargeIQ memantau prediksi utilisasi dan memberi sinyal ketika lonjakan beban terjadi, agar operator menyiapkan penyesuaian tarif.</a:t>
              </a:r>
            </a:p>
            <a:p>
              <a:pPr algn="just" marL="367029" indent="-183514" lvl="1">
                <a:lnSpc>
                  <a:spcPts val="2379"/>
                </a:lnSpc>
                <a:buFont typeface="Arial"/>
                <a:buChar char="•"/>
              </a:pPr>
              <a:r>
                <a:rPr lang="en-US" b="true" sz="1699" spc="42">
                  <a:solidFill>
                    <a:srgbClr val="FFFFFF"/>
                  </a:solidFill>
                  <a:latin typeface="Bricolage Grotesque Semi-Bold"/>
                  <a:ea typeface="Bricolage Grotesque Semi-Bold"/>
                  <a:cs typeface="Bricolage Grotesque Semi-Bold"/>
                  <a:sym typeface="Bricolage Grotesque Semi-Bold"/>
                </a:rPr>
                <a:t>Saat jam puncak, tarif dapat dinaikkan hingga 30% dan dikenakan idle fee USD 0,50 per menit; saat lengang, diskon hingga 20% mendorong pengguna mengisi daya di luar periode sibuk.</a:t>
              </a:r>
            </a:p>
            <a:p>
              <a:pPr algn="just" marL="367029" indent="-183514" lvl="1">
                <a:lnSpc>
                  <a:spcPts val="2379"/>
                </a:lnSpc>
                <a:buFont typeface="Arial"/>
                <a:buChar char="•"/>
              </a:pPr>
              <a:r>
                <a:rPr lang="en-US" b="true" sz="1699" spc="42">
                  <a:solidFill>
                    <a:srgbClr val="FFFFFF"/>
                  </a:solidFill>
                  <a:latin typeface="Bricolage Grotesque Semi-Bold"/>
                  <a:ea typeface="Bricolage Grotesque Semi-Bold"/>
                  <a:cs typeface="Bricolage Grotesque Semi-Bold"/>
                  <a:sym typeface="Bricolage Grotesque Semi-Bold"/>
                </a:rPr>
                <a:t>Skema ini ditujukan untuk mengalihkan sekitar 12–15% beban puncak ke jam yang lebih sepi, tanpa menambah charger fisik. </a:t>
              </a:r>
            </a:p>
          </p:txBody>
        </p:sp>
        <p:sp>
          <p:nvSpPr>
            <p:cNvPr name="TextBox 49" id="49"/>
            <p:cNvSpPr txBox="true"/>
            <p:nvPr/>
          </p:nvSpPr>
          <p:spPr>
            <a:xfrm rot="0">
              <a:off x="520218" y="501613"/>
              <a:ext cx="4224591" cy="1118023"/>
            </a:xfrm>
            <a:prstGeom prst="rect">
              <a:avLst/>
            </a:prstGeom>
          </p:spPr>
          <p:txBody>
            <a:bodyPr anchor="t" rtlCol="false" tIns="0" lIns="0" bIns="0" rIns="0">
              <a:spAutoFit/>
            </a:bodyPr>
            <a:lstStyle/>
            <a:p>
              <a:pPr algn="r">
                <a:lnSpc>
                  <a:spcPts val="3199"/>
                </a:lnSpc>
              </a:pPr>
              <a:r>
                <a:rPr lang="en-US" sz="3199">
                  <a:solidFill>
                    <a:srgbClr val="112752"/>
                  </a:solidFill>
                  <a:latin typeface="Rubik One"/>
                  <a:ea typeface="Rubik One"/>
                  <a:cs typeface="Rubik One"/>
                  <a:sym typeface="Rubik One"/>
                </a:rPr>
                <a:t>SOLUSI</a:t>
              </a:r>
              <a:r>
                <a:rPr lang="en-US" sz="3199">
                  <a:solidFill>
                    <a:srgbClr val="FFFFFF"/>
                  </a:solidFill>
                  <a:latin typeface="Rubik One"/>
                  <a:ea typeface="Rubik One"/>
                  <a:cs typeface="Rubik One"/>
                  <a:sym typeface="Rubik One"/>
                </a:rPr>
                <a:t> </a:t>
              </a:r>
            </a:p>
            <a:p>
              <a:pPr algn="r">
                <a:lnSpc>
                  <a:spcPts val="3199"/>
                </a:lnSpc>
              </a:pPr>
              <a:r>
                <a:rPr lang="en-US" sz="3199">
                  <a:solidFill>
                    <a:srgbClr val="00B58F"/>
                  </a:solidFill>
                  <a:latin typeface="Rubik One"/>
                  <a:ea typeface="Rubik One"/>
                  <a:cs typeface="Rubik One"/>
                  <a:sym typeface="Rubik One"/>
                </a:rPr>
                <a:t>SOFTWARE</a:t>
              </a:r>
            </a:p>
          </p:txBody>
        </p:sp>
        <p:grpSp>
          <p:nvGrpSpPr>
            <p:cNvPr name="Group 50" id="50"/>
            <p:cNvGrpSpPr/>
            <p:nvPr/>
          </p:nvGrpSpPr>
          <p:grpSpPr>
            <a:xfrm rot="0">
              <a:off x="1540055" y="1979770"/>
              <a:ext cx="4783235" cy="699163"/>
              <a:chOff x="0" y="0"/>
              <a:chExt cx="926618" cy="135443"/>
            </a:xfrm>
          </p:grpSpPr>
          <p:sp>
            <p:nvSpPr>
              <p:cNvPr name="Freeform 51" id="51"/>
              <p:cNvSpPr/>
              <p:nvPr/>
            </p:nvSpPr>
            <p:spPr>
              <a:xfrm flipH="false" flipV="false" rot="0">
                <a:off x="0" y="0"/>
                <a:ext cx="926618" cy="135443"/>
              </a:xfrm>
              <a:custGeom>
                <a:avLst/>
                <a:gdLst/>
                <a:ahLst/>
                <a:cxnLst/>
                <a:rect r="r" b="b" t="t" l="l"/>
                <a:pathLst>
                  <a:path h="135443" w="926618">
                    <a:moveTo>
                      <a:pt x="67722" y="0"/>
                    </a:moveTo>
                    <a:lnTo>
                      <a:pt x="858896" y="0"/>
                    </a:lnTo>
                    <a:cubicBezTo>
                      <a:pt x="896298" y="0"/>
                      <a:pt x="926618" y="30320"/>
                      <a:pt x="926618" y="67722"/>
                    </a:cubicBezTo>
                    <a:lnTo>
                      <a:pt x="926618" y="67722"/>
                    </a:lnTo>
                    <a:cubicBezTo>
                      <a:pt x="926618" y="85682"/>
                      <a:pt x="919483" y="102908"/>
                      <a:pt x="906782" y="115608"/>
                    </a:cubicBezTo>
                    <a:cubicBezTo>
                      <a:pt x="894082" y="128308"/>
                      <a:pt x="876857" y="135443"/>
                      <a:pt x="858896" y="135443"/>
                    </a:cubicBezTo>
                    <a:lnTo>
                      <a:pt x="67722" y="135443"/>
                    </a:lnTo>
                    <a:cubicBezTo>
                      <a:pt x="49761" y="135443"/>
                      <a:pt x="32535" y="128308"/>
                      <a:pt x="19835" y="115608"/>
                    </a:cubicBezTo>
                    <a:cubicBezTo>
                      <a:pt x="7135" y="102908"/>
                      <a:pt x="0" y="85682"/>
                      <a:pt x="0" y="67722"/>
                    </a:cubicBezTo>
                    <a:lnTo>
                      <a:pt x="0" y="67722"/>
                    </a:lnTo>
                    <a:cubicBezTo>
                      <a:pt x="0" y="49761"/>
                      <a:pt x="7135" y="32535"/>
                      <a:pt x="19835" y="19835"/>
                    </a:cubicBezTo>
                    <a:cubicBezTo>
                      <a:pt x="32535" y="7135"/>
                      <a:pt x="49761" y="0"/>
                      <a:pt x="67722" y="0"/>
                    </a:cubicBezTo>
                    <a:close/>
                  </a:path>
                </a:pathLst>
              </a:custGeom>
              <a:solidFill>
                <a:srgbClr val="EDF6F9"/>
              </a:solidFill>
              <a:ln cap="rnd">
                <a:noFill/>
                <a:prstDash val="solid"/>
                <a:round/>
              </a:ln>
            </p:spPr>
          </p:sp>
          <p:sp>
            <p:nvSpPr>
              <p:cNvPr name="TextBox 52" id="52"/>
              <p:cNvSpPr txBox="true"/>
              <p:nvPr/>
            </p:nvSpPr>
            <p:spPr>
              <a:xfrm>
                <a:off x="0" y="-38100"/>
                <a:ext cx="926618" cy="173543"/>
              </a:xfrm>
              <a:prstGeom prst="rect">
                <a:avLst/>
              </a:prstGeom>
            </p:spPr>
            <p:txBody>
              <a:bodyPr anchor="ctr" rtlCol="false" tIns="50800" lIns="50800" bIns="50800" rIns="50800"/>
              <a:lstStyle/>
              <a:p>
                <a:pPr algn="ctr">
                  <a:lnSpc>
                    <a:spcPts val="2659"/>
                  </a:lnSpc>
                  <a:spcBef>
                    <a:spcPct val="0"/>
                  </a:spcBef>
                </a:pPr>
              </a:p>
            </p:txBody>
          </p:sp>
        </p:grpSp>
        <p:sp>
          <p:nvSpPr>
            <p:cNvPr name="TextBox 53" id="53"/>
            <p:cNvSpPr txBox="true"/>
            <p:nvPr/>
          </p:nvSpPr>
          <p:spPr>
            <a:xfrm rot="0">
              <a:off x="1784417" y="2175802"/>
              <a:ext cx="4373516" cy="353272"/>
            </a:xfrm>
            <a:prstGeom prst="rect">
              <a:avLst/>
            </a:prstGeom>
          </p:spPr>
          <p:txBody>
            <a:bodyPr anchor="t" rtlCol="false" tIns="0" lIns="0" bIns="0" rIns="0">
              <a:spAutoFit/>
            </a:bodyPr>
            <a:lstStyle/>
            <a:p>
              <a:pPr algn="just">
                <a:lnSpc>
                  <a:spcPts val="1900"/>
                </a:lnSpc>
              </a:pPr>
              <a:r>
                <a:rPr lang="en-US" sz="1900">
                  <a:solidFill>
                    <a:srgbClr val="112752"/>
                  </a:solidFill>
                  <a:latin typeface="Rubik One"/>
                  <a:ea typeface="Rubik One"/>
                  <a:cs typeface="Rubik One"/>
                  <a:sym typeface="Rubik One"/>
                </a:rPr>
                <a:t>DYNAMIC P-ToU PRICING</a:t>
              </a:r>
            </a:p>
          </p:txBody>
        </p:sp>
      </p:grpSp>
      <p:grpSp>
        <p:nvGrpSpPr>
          <p:cNvPr name="Group 54" id="54"/>
          <p:cNvGrpSpPr/>
          <p:nvPr/>
        </p:nvGrpSpPr>
        <p:grpSpPr>
          <a:xfrm rot="0">
            <a:off x="12197529" y="2655303"/>
            <a:ext cx="5825856" cy="6750782"/>
            <a:chOff x="0" y="0"/>
            <a:chExt cx="7767808" cy="9001042"/>
          </a:xfrm>
        </p:grpSpPr>
        <p:sp>
          <p:nvSpPr>
            <p:cNvPr name="TextBox 55" id="55"/>
            <p:cNvSpPr txBox="true"/>
            <p:nvPr/>
          </p:nvSpPr>
          <p:spPr>
            <a:xfrm rot="0">
              <a:off x="1292757" y="3141693"/>
              <a:ext cx="5277832" cy="359866"/>
            </a:xfrm>
            <a:prstGeom prst="rect">
              <a:avLst/>
            </a:prstGeom>
          </p:spPr>
          <p:txBody>
            <a:bodyPr anchor="t" rtlCol="false" tIns="0" lIns="0" bIns="0" rIns="0">
              <a:spAutoFit/>
            </a:bodyPr>
            <a:lstStyle/>
            <a:p>
              <a:pPr algn="l">
                <a:lnSpc>
                  <a:spcPts val="2000"/>
                </a:lnSpc>
              </a:pPr>
              <a:r>
                <a:rPr lang="en-US" sz="2000">
                  <a:solidFill>
                    <a:srgbClr val="0B132B"/>
                  </a:solidFill>
                  <a:latin typeface="Rubik One"/>
                  <a:ea typeface="Rubik One"/>
                  <a:cs typeface="Rubik One"/>
                  <a:sym typeface="Rubik One"/>
                </a:rPr>
                <a:t>[ PILAR 1: EVALUASI BIAYA ]</a:t>
              </a:r>
            </a:p>
          </p:txBody>
        </p:sp>
        <p:sp>
          <p:nvSpPr>
            <p:cNvPr name="TextBox 56" id="56"/>
            <p:cNvSpPr txBox="true"/>
            <p:nvPr/>
          </p:nvSpPr>
          <p:spPr>
            <a:xfrm rot="0">
              <a:off x="1345723" y="3566197"/>
              <a:ext cx="5224867" cy="405699"/>
            </a:xfrm>
            <a:prstGeom prst="rect">
              <a:avLst/>
            </a:prstGeom>
          </p:spPr>
          <p:txBody>
            <a:bodyPr anchor="t" rtlCol="false" tIns="0" lIns="0" bIns="0" rIns="0">
              <a:spAutoFit/>
            </a:bodyPr>
            <a:lstStyle/>
            <a:p>
              <a:pPr algn="ctr">
                <a:lnSpc>
                  <a:spcPts val="2519"/>
                </a:lnSpc>
              </a:pPr>
              <a:r>
                <a:rPr lang="en-US" sz="1799" spc="44">
                  <a:solidFill>
                    <a:srgbClr val="0B132B"/>
                  </a:solidFill>
                  <a:latin typeface="Bricolage Grotesque"/>
                  <a:ea typeface="Bricolage Grotesque"/>
                  <a:cs typeface="Bricolage Grotesque"/>
                  <a:sym typeface="Bricolage Grotesque"/>
                </a:rPr>
                <a:t>PARADOKS CAPEX FISIK</a:t>
              </a:r>
            </a:p>
          </p:txBody>
        </p:sp>
        <p:grpSp>
          <p:nvGrpSpPr>
            <p:cNvPr name="Group 57" id="57"/>
            <p:cNvGrpSpPr/>
            <p:nvPr/>
          </p:nvGrpSpPr>
          <p:grpSpPr>
            <a:xfrm rot="0">
              <a:off x="1292757" y="4111596"/>
              <a:ext cx="5277832" cy="762000"/>
              <a:chOff x="0" y="0"/>
              <a:chExt cx="1022432" cy="147616"/>
            </a:xfrm>
          </p:grpSpPr>
          <p:sp>
            <p:nvSpPr>
              <p:cNvPr name="Freeform 58" id="58"/>
              <p:cNvSpPr/>
              <p:nvPr/>
            </p:nvSpPr>
            <p:spPr>
              <a:xfrm flipH="false" flipV="false" rot="0">
                <a:off x="0" y="0"/>
                <a:ext cx="1022432" cy="147616"/>
              </a:xfrm>
              <a:custGeom>
                <a:avLst/>
                <a:gdLst/>
                <a:ahLst/>
                <a:cxnLst/>
                <a:rect r="r" b="b" t="t" l="l"/>
                <a:pathLst>
                  <a:path h="147616" w="1022432">
                    <a:moveTo>
                      <a:pt x="19558" y="0"/>
                    </a:moveTo>
                    <a:lnTo>
                      <a:pt x="1002874" y="0"/>
                    </a:lnTo>
                    <a:cubicBezTo>
                      <a:pt x="1013675" y="0"/>
                      <a:pt x="1022432" y="8757"/>
                      <a:pt x="1022432" y="19558"/>
                    </a:cubicBezTo>
                    <a:lnTo>
                      <a:pt x="1022432" y="128058"/>
                    </a:lnTo>
                    <a:cubicBezTo>
                      <a:pt x="1022432" y="138860"/>
                      <a:pt x="1013675" y="147616"/>
                      <a:pt x="1002874" y="147616"/>
                    </a:cubicBezTo>
                    <a:lnTo>
                      <a:pt x="19558" y="147616"/>
                    </a:lnTo>
                    <a:cubicBezTo>
                      <a:pt x="8757" y="147616"/>
                      <a:pt x="0" y="138860"/>
                      <a:pt x="0" y="128058"/>
                    </a:cubicBezTo>
                    <a:lnTo>
                      <a:pt x="0" y="19558"/>
                    </a:lnTo>
                    <a:cubicBezTo>
                      <a:pt x="0" y="8757"/>
                      <a:pt x="8757" y="0"/>
                      <a:pt x="19558" y="0"/>
                    </a:cubicBezTo>
                    <a:close/>
                  </a:path>
                </a:pathLst>
              </a:custGeom>
              <a:solidFill>
                <a:srgbClr val="00B58F"/>
              </a:solidFill>
              <a:ln cap="sq">
                <a:noFill/>
                <a:prstDash val="solid"/>
                <a:miter/>
              </a:ln>
            </p:spPr>
          </p:sp>
          <p:sp>
            <p:nvSpPr>
              <p:cNvPr name="TextBox 59" id="59"/>
              <p:cNvSpPr txBox="true"/>
              <p:nvPr/>
            </p:nvSpPr>
            <p:spPr>
              <a:xfrm>
                <a:off x="0" y="-38100"/>
                <a:ext cx="1022432" cy="185716"/>
              </a:xfrm>
              <a:prstGeom prst="rect">
                <a:avLst/>
              </a:prstGeom>
            </p:spPr>
            <p:txBody>
              <a:bodyPr anchor="ctr" rtlCol="false" tIns="50800" lIns="50800" bIns="50800" rIns="50800"/>
              <a:lstStyle/>
              <a:p>
                <a:pPr algn="ctr">
                  <a:lnSpc>
                    <a:spcPts val="2659"/>
                  </a:lnSpc>
                  <a:spcBef>
                    <a:spcPct val="0"/>
                  </a:spcBef>
                </a:pPr>
              </a:p>
            </p:txBody>
          </p:sp>
        </p:grpSp>
        <p:sp>
          <p:nvSpPr>
            <p:cNvPr name="TextBox 60" id="60"/>
            <p:cNvSpPr txBox="true"/>
            <p:nvPr/>
          </p:nvSpPr>
          <p:spPr>
            <a:xfrm rot="0">
              <a:off x="1292757" y="4254471"/>
              <a:ext cx="5224867" cy="405699"/>
            </a:xfrm>
            <a:prstGeom prst="rect">
              <a:avLst/>
            </a:prstGeom>
          </p:spPr>
          <p:txBody>
            <a:bodyPr anchor="t" rtlCol="false" tIns="0" lIns="0" bIns="0" rIns="0">
              <a:spAutoFit/>
            </a:bodyPr>
            <a:lstStyle/>
            <a:p>
              <a:pPr algn="ctr">
                <a:lnSpc>
                  <a:spcPts val="2519"/>
                </a:lnSpc>
              </a:pPr>
              <a:r>
                <a:rPr lang="en-US" b="true" sz="1799" spc="44">
                  <a:solidFill>
                    <a:srgbClr val="0B132B"/>
                  </a:solidFill>
                  <a:latin typeface="Bricolage Grotesque Bold"/>
                  <a:ea typeface="Bricolage Grotesque Bold"/>
                  <a:cs typeface="Bricolage Grotesque Bold"/>
                  <a:sym typeface="Bricolage Grotesque Bold"/>
                </a:rPr>
                <a:t>Problem Solusi Tradisional</a:t>
              </a:r>
            </a:p>
          </p:txBody>
        </p:sp>
        <p:sp>
          <p:nvSpPr>
            <p:cNvPr name="TextBox 61" id="61"/>
            <p:cNvSpPr txBox="true"/>
            <p:nvPr/>
          </p:nvSpPr>
          <p:spPr>
            <a:xfrm rot="0">
              <a:off x="1345723" y="5156171"/>
              <a:ext cx="5224867" cy="2919902"/>
            </a:xfrm>
            <a:prstGeom prst="rect">
              <a:avLst/>
            </a:prstGeom>
          </p:spPr>
          <p:txBody>
            <a:bodyPr anchor="t" rtlCol="false" tIns="0" lIns="0" bIns="0" rIns="0">
              <a:spAutoFit/>
            </a:bodyPr>
            <a:lstStyle/>
            <a:p>
              <a:pPr algn="l" marL="388618" indent="-194309" lvl="1">
                <a:lnSpc>
                  <a:spcPts val="2519"/>
                </a:lnSpc>
                <a:buFont typeface="Arial"/>
                <a:buChar char="•"/>
              </a:pPr>
              <a:r>
                <a:rPr lang="en-US" sz="1799" spc="44">
                  <a:solidFill>
                    <a:srgbClr val="0B132B"/>
                  </a:solidFill>
                  <a:latin typeface="Bricolage Grotesque"/>
                  <a:ea typeface="Bricolage Grotesque"/>
                  <a:cs typeface="Bricolage Grotesque"/>
                  <a:sym typeface="Bricolage Grotesque"/>
                </a:rPr>
                <a:t>Kritik : Menambah Charger fisik menelan CAPEX sangat mahal</a:t>
              </a:r>
            </a:p>
            <a:p>
              <a:pPr algn="l" marL="388618" indent="-194309" lvl="1">
                <a:lnSpc>
                  <a:spcPts val="2519"/>
                </a:lnSpc>
                <a:buFont typeface="Arial"/>
                <a:buChar char="•"/>
              </a:pPr>
              <a:r>
                <a:rPr lang="en-US" sz="1799" spc="44">
                  <a:solidFill>
                    <a:srgbClr val="0B132B"/>
                  </a:solidFill>
                  <a:latin typeface="Bricolage Grotesque"/>
                  <a:ea typeface="Bricolage Grotesque"/>
                  <a:cs typeface="Bricolage Grotesque"/>
                  <a:sym typeface="Bricolage Grotesque"/>
                </a:rPr>
                <a:t>Stranded Assets Risk : Alat baru akan mengganggur dan utilisasi anjlok</a:t>
              </a:r>
            </a:p>
            <a:p>
              <a:pPr algn="l" marL="388618" indent="-194309" lvl="1">
                <a:lnSpc>
                  <a:spcPts val="2519"/>
                </a:lnSpc>
                <a:buFont typeface="Arial"/>
                <a:buChar char="•"/>
              </a:pPr>
              <a:r>
                <a:rPr lang="en-US" sz="1799" spc="44">
                  <a:solidFill>
                    <a:srgbClr val="0B132B"/>
                  </a:solidFill>
                  <a:latin typeface="Bricolage Grotesque"/>
                  <a:ea typeface="Bricolage Grotesque"/>
                  <a:cs typeface="Bricolage Grotesque"/>
                  <a:sym typeface="Bricolage Grotesque"/>
                </a:rPr>
                <a:t>Kesimpulan : Tidak Rasional Secara Finansial</a:t>
              </a:r>
            </a:p>
          </p:txBody>
        </p:sp>
        <p:grpSp>
          <p:nvGrpSpPr>
            <p:cNvPr name="Group 62" id="62"/>
            <p:cNvGrpSpPr/>
            <p:nvPr/>
          </p:nvGrpSpPr>
          <p:grpSpPr>
            <a:xfrm rot="0">
              <a:off x="262928" y="1644808"/>
              <a:ext cx="5754427" cy="1098517"/>
              <a:chOff x="0" y="0"/>
              <a:chExt cx="3842235" cy="733480"/>
            </a:xfrm>
          </p:grpSpPr>
          <p:sp>
            <p:nvSpPr>
              <p:cNvPr name="Freeform 63" id="63"/>
              <p:cNvSpPr/>
              <p:nvPr/>
            </p:nvSpPr>
            <p:spPr>
              <a:xfrm flipH="false" flipV="false" rot="0">
                <a:off x="6441" y="0"/>
                <a:ext cx="3829354" cy="733480"/>
              </a:xfrm>
              <a:custGeom>
                <a:avLst/>
                <a:gdLst/>
                <a:ahLst/>
                <a:cxnLst/>
                <a:rect r="r" b="b" t="t" l="l"/>
                <a:pathLst>
                  <a:path h="733480" w="3829354">
                    <a:moveTo>
                      <a:pt x="223667" y="0"/>
                    </a:moveTo>
                    <a:lnTo>
                      <a:pt x="3808887" y="0"/>
                    </a:lnTo>
                    <a:cubicBezTo>
                      <a:pt x="3815280" y="0"/>
                      <a:pt x="3821306" y="2988"/>
                      <a:pt x="3825177" y="8076"/>
                    </a:cubicBezTo>
                    <a:cubicBezTo>
                      <a:pt x="3829047" y="13165"/>
                      <a:pt x="3830317" y="19770"/>
                      <a:pt x="3828611" y="25931"/>
                    </a:cubicBezTo>
                    <a:lnTo>
                      <a:pt x="3639778" y="707549"/>
                    </a:lnTo>
                    <a:cubicBezTo>
                      <a:pt x="3635533" y="722872"/>
                      <a:pt x="3621586" y="733480"/>
                      <a:pt x="3605687" y="733480"/>
                    </a:cubicBezTo>
                    <a:lnTo>
                      <a:pt x="20467" y="733480"/>
                    </a:lnTo>
                    <a:cubicBezTo>
                      <a:pt x="14073" y="733480"/>
                      <a:pt x="8047" y="730493"/>
                      <a:pt x="4177" y="725404"/>
                    </a:cubicBezTo>
                    <a:cubicBezTo>
                      <a:pt x="306" y="720316"/>
                      <a:pt x="-964" y="713711"/>
                      <a:pt x="743" y="707549"/>
                    </a:cubicBezTo>
                    <a:lnTo>
                      <a:pt x="189575" y="25931"/>
                    </a:lnTo>
                    <a:cubicBezTo>
                      <a:pt x="193820" y="10608"/>
                      <a:pt x="207767" y="0"/>
                      <a:pt x="223667" y="0"/>
                    </a:cubicBezTo>
                    <a:close/>
                  </a:path>
                </a:pathLst>
              </a:custGeom>
              <a:solidFill>
                <a:srgbClr val="EDF6F9"/>
              </a:solidFill>
            </p:spPr>
          </p:sp>
          <p:sp>
            <p:nvSpPr>
              <p:cNvPr name="TextBox 64" id="64"/>
              <p:cNvSpPr txBox="true"/>
              <p:nvPr/>
            </p:nvSpPr>
            <p:spPr>
              <a:xfrm>
                <a:off x="101600" y="-38100"/>
                <a:ext cx="3639035" cy="771580"/>
              </a:xfrm>
              <a:prstGeom prst="rect">
                <a:avLst/>
              </a:prstGeom>
            </p:spPr>
            <p:txBody>
              <a:bodyPr anchor="ctr" rtlCol="false" tIns="50800" lIns="50800" bIns="50800" rIns="50800"/>
              <a:lstStyle/>
              <a:p>
                <a:pPr algn="ctr">
                  <a:lnSpc>
                    <a:spcPts val="2659"/>
                  </a:lnSpc>
                </a:pPr>
              </a:p>
            </p:txBody>
          </p:sp>
        </p:grpSp>
        <p:grpSp>
          <p:nvGrpSpPr>
            <p:cNvPr name="Group 65" id="65"/>
            <p:cNvGrpSpPr/>
            <p:nvPr/>
          </p:nvGrpSpPr>
          <p:grpSpPr>
            <a:xfrm rot="0">
              <a:off x="466021" y="368156"/>
              <a:ext cx="6677364" cy="8207321"/>
              <a:chOff x="0" y="0"/>
              <a:chExt cx="1293552" cy="1589938"/>
            </a:xfrm>
          </p:grpSpPr>
          <p:sp>
            <p:nvSpPr>
              <p:cNvPr name="Freeform 66" id="66"/>
              <p:cNvSpPr/>
              <p:nvPr/>
            </p:nvSpPr>
            <p:spPr>
              <a:xfrm flipH="false" flipV="false" rot="0">
                <a:off x="0" y="0"/>
                <a:ext cx="1293552" cy="1589938"/>
              </a:xfrm>
              <a:custGeom>
                <a:avLst/>
                <a:gdLst/>
                <a:ahLst/>
                <a:cxnLst/>
                <a:rect r="r" b="b" t="t" l="l"/>
                <a:pathLst>
                  <a:path h="1589938" w="1293552">
                    <a:moveTo>
                      <a:pt x="30918" y="0"/>
                    </a:moveTo>
                    <a:lnTo>
                      <a:pt x="1262634" y="0"/>
                    </a:lnTo>
                    <a:cubicBezTo>
                      <a:pt x="1270834" y="0"/>
                      <a:pt x="1278698" y="3257"/>
                      <a:pt x="1284496" y="9056"/>
                    </a:cubicBezTo>
                    <a:cubicBezTo>
                      <a:pt x="1290294" y="14854"/>
                      <a:pt x="1293552" y="22718"/>
                      <a:pt x="1293552" y="30918"/>
                    </a:cubicBezTo>
                    <a:lnTo>
                      <a:pt x="1293552" y="1559020"/>
                    </a:lnTo>
                    <a:cubicBezTo>
                      <a:pt x="1293552" y="1576096"/>
                      <a:pt x="1279709" y="1589938"/>
                      <a:pt x="1262634" y="1589938"/>
                    </a:cubicBezTo>
                    <a:lnTo>
                      <a:pt x="30918" y="1589938"/>
                    </a:lnTo>
                    <a:cubicBezTo>
                      <a:pt x="22718" y="1589938"/>
                      <a:pt x="14854" y="1586681"/>
                      <a:pt x="9056" y="1580882"/>
                    </a:cubicBezTo>
                    <a:cubicBezTo>
                      <a:pt x="3257" y="1575084"/>
                      <a:pt x="0" y="1567220"/>
                      <a:pt x="0" y="1559020"/>
                    </a:cubicBezTo>
                    <a:lnTo>
                      <a:pt x="0" y="30918"/>
                    </a:lnTo>
                    <a:cubicBezTo>
                      <a:pt x="0" y="22718"/>
                      <a:pt x="3257" y="14854"/>
                      <a:pt x="9056" y="9056"/>
                    </a:cubicBezTo>
                    <a:cubicBezTo>
                      <a:pt x="14854" y="3257"/>
                      <a:pt x="22718" y="0"/>
                      <a:pt x="30918" y="0"/>
                    </a:cubicBezTo>
                    <a:close/>
                  </a:path>
                </a:pathLst>
              </a:custGeom>
              <a:solidFill>
                <a:srgbClr val="00B58F"/>
              </a:solidFill>
              <a:ln cap="sq">
                <a:noFill/>
                <a:prstDash val="solid"/>
                <a:miter/>
              </a:ln>
            </p:spPr>
          </p:sp>
          <p:sp>
            <p:nvSpPr>
              <p:cNvPr name="TextBox 67" id="67"/>
              <p:cNvSpPr txBox="true"/>
              <p:nvPr/>
            </p:nvSpPr>
            <p:spPr>
              <a:xfrm>
                <a:off x="0" y="-38100"/>
                <a:ext cx="1293552" cy="1628038"/>
              </a:xfrm>
              <a:prstGeom prst="rect">
                <a:avLst/>
              </a:prstGeom>
            </p:spPr>
            <p:txBody>
              <a:bodyPr anchor="ctr" rtlCol="false" tIns="50800" lIns="50800" bIns="50800" rIns="50800"/>
              <a:lstStyle/>
              <a:p>
                <a:pPr algn="ctr">
                  <a:lnSpc>
                    <a:spcPts val="2659"/>
                  </a:lnSpc>
                  <a:spcBef>
                    <a:spcPct val="0"/>
                  </a:spcBef>
                </a:pPr>
              </a:p>
            </p:txBody>
          </p:sp>
        </p:grpSp>
        <p:grpSp>
          <p:nvGrpSpPr>
            <p:cNvPr name="Group 68" id="68"/>
            <p:cNvGrpSpPr/>
            <p:nvPr/>
          </p:nvGrpSpPr>
          <p:grpSpPr>
            <a:xfrm rot="0">
              <a:off x="0" y="0"/>
              <a:ext cx="5320244" cy="1726433"/>
              <a:chOff x="0" y="0"/>
              <a:chExt cx="3552331" cy="1152740"/>
            </a:xfrm>
          </p:grpSpPr>
          <p:sp>
            <p:nvSpPr>
              <p:cNvPr name="Freeform 69" id="69"/>
              <p:cNvSpPr/>
              <p:nvPr/>
            </p:nvSpPr>
            <p:spPr>
              <a:xfrm flipH="false" flipV="false" rot="0">
                <a:off x="4681" y="0"/>
                <a:ext cx="3542968" cy="1152740"/>
              </a:xfrm>
              <a:custGeom>
                <a:avLst/>
                <a:gdLst/>
                <a:ahLst/>
                <a:cxnLst/>
                <a:rect r="r" b="b" t="t" l="l"/>
                <a:pathLst>
                  <a:path h="1152740" w="3542968">
                    <a:moveTo>
                      <a:pt x="227623" y="0"/>
                    </a:moveTo>
                    <a:lnTo>
                      <a:pt x="3518547" y="0"/>
                    </a:lnTo>
                    <a:cubicBezTo>
                      <a:pt x="3525766" y="0"/>
                      <a:pt x="3532614" y="3194"/>
                      <a:pt x="3537255" y="8723"/>
                    </a:cubicBezTo>
                    <a:cubicBezTo>
                      <a:pt x="3541895" y="14253"/>
                      <a:pt x="3543851" y="21553"/>
                      <a:pt x="3542598" y="28662"/>
                    </a:cubicBezTo>
                    <a:lnTo>
                      <a:pt x="3349503" y="1124079"/>
                    </a:lnTo>
                    <a:cubicBezTo>
                      <a:pt x="3346581" y="1140655"/>
                      <a:pt x="3332179" y="1152740"/>
                      <a:pt x="3315347" y="1152740"/>
                    </a:cubicBezTo>
                    <a:lnTo>
                      <a:pt x="24423" y="1152740"/>
                    </a:lnTo>
                    <a:cubicBezTo>
                      <a:pt x="17204" y="1152740"/>
                      <a:pt x="10355" y="1149547"/>
                      <a:pt x="5715" y="1144017"/>
                    </a:cubicBezTo>
                    <a:cubicBezTo>
                      <a:pt x="1074" y="1138487"/>
                      <a:pt x="-882" y="1131188"/>
                      <a:pt x="371" y="1124079"/>
                    </a:cubicBezTo>
                    <a:lnTo>
                      <a:pt x="193467" y="28662"/>
                    </a:lnTo>
                    <a:cubicBezTo>
                      <a:pt x="196389" y="12085"/>
                      <a:pt x="210791" y="0"/>
                      <a:pt x="227623" y="0"/>
                    </a:cubicBezTo>
                    <a:close/>
                  </a:path>
                </a:pathLst>
              </a:custGeom>
              <a:solidFill>
                <a:srgbClr val="EDF6F9"/>
              </a:solidFill>
            </p:spPr>
          </p:sp>
          <p:sp>
            <p:nvSpPr>
              <p:cNvPr name="TextBox 70" id="70"/>
              <p:cNvSpPr txBox="true"/>
              <p:nvPr/>
            </p:nvSpPr>
            <p:spPr>
              <a:xfrm>
                <a:off x="101600" y="-38100"/>
                <a:ext cx="3349131" cy="1190840"/>
              </a:xfrm>
              <a:prstGeom prst="rect">
                <a:avLst/>
              </a:prstGeom>
            </p:spPr>
            <p:txBody>
              <a:bodyPr anchor="ctr" rtlCol="false" tIns="50800" lIns="50800" bIns="50800" rIns="50800"/>
              <a:lstStyle/>
              <a:p>
                <a:pPr algn="ctr">
                  <a:lnSpc>
                    <a:spcPts val="2659"/>
                  </a:lnSpc>
                </a:pPr>
              </a:p>
            </p:txBody>
          </p:sp>
        </p:grpSp>
        <p:grpSp>
          <p:nvGrpSpPr>
            <p:cNvPr name="Group 71" id="71"/>
            <p:cNvGrpSpPr/>
            <p:nvPr/>
          </p:nvGrpSpPr>
          <p:grpSpPr>
            <a:xfrm rot="0">
              <a:off x="3957073" y="8158559"/>
              <a:ext cx="3810735" cy="842483"/>
              <a:chOff x="0" y="0"/>
              <a:chExt cx="3842235" cy="849447"/>
            </a:xfrm>
          </p:grpSpPr>
          <p:sp>
            <p:nvSpPr>
              <p:cNvPr name="Freeform 72" id="72"/>
              <p:cNvSpPr/>
              <p:nvPr/>
            </p:nvSpPr>
            <p:spPr>
              <a:xfrm flipH="false" flipV="false" rot="0">
                <a:off x="8573" y="0"/>
                <a:ext cx="3825089" cy="849447"/>
              </a:xfrm>
              <a:custGeom>
                <a:avLst/>
                <a:gdLst/>
                <a:ahLst/>
                <a:cxnLst/>
                <a:rect r="r" b="b" t="t" l="l"/>
                <a:pathLst>
                  <a:path h="849447" w="3825089">
                    <a:moveTo>
                      <a:pt x="235259" y="0"/>
                    </a:moveTo>
                    <a:lnTo>
                      <a:pt x="3793030" y="0"/>
                    </a:lnTo>
                    <a:cubicBezTo>
                      <a:pt x="3802845" y="0"/>
                      <a:pt x="3812119" y="4496"/>
                      <a:pt x="3818198" y="12201"/>
                    </a:cubicBezTo>
                    <a:cubicBezTo>
                      <a:pt x="3824278" y="19906"/>
                      <a:pt x="3826493" y="29972"/>
                      <a:pt x="3824209" y="39517"/>
                    </a:cubicBezTo>
                    <a:lnTo>
                      <a:pt x="3639915" y="809930"/>
                    </a:lnTo>
                    <a:cubicBezTo>
                      <a:pt x="3634372" y="833103"/>
                      <a:pt x="3613657" y="849447"/>
                      <a:pt x="3589830" y="849447"/>
                    </a:cubicBezTo>
                    <a:lnTo>
                      <a:pt x="32059" y="849447"/>
                    </a:lnTo>
                    <a:cubicBezTo>
                      <a:pt x="22244" y="849447"/>
                      <a:pt x="12970" y="844951"/>
                      <a:pt x="6891" y="837246"/>
                    </a:cubicBezTo>
                    <a:cubicBezTo>
                      <a:pt x="812" y="829541"/>
                      <a:pt x="-1403" y="819475"/>
                      <a:pt x="880" y="809930"/>
                    </a:cubicBezTo>
                    <a:lnTo>
                      <a:pt x="185174" y="39517"/>
                    </a:lnTo>
                    <a:cubicBezTo>
                      <a:pt x="190717" y="16345"/>
                      <a:pt x="211433" y="0"/>
                      <a:pt x="235259" y="0"/>
                    </a:cubicBezTo>
                    <a:close/>
                  </a:path>
                </a:pathLst>
              </a:custGeom>
              <a:solidFill>
                <a:srgbClr val="EDF6F9"/>
              </a:solidFill>
            </p:spPr>
          </p:sp>
          <p:sp>
            <p:nvSpPr>
              <p:cNvPr name="TextBox 73" id="73"/>
              <p:cNvSpPr txBox="true"/>
              <p:nvPr/>
            </p:nvSpPr>
            <p:spPr>
              <a:xfrm>
                <a:off x="101600" y="-38100"/>
                <a:ext cx="3639035" cy="887547"/>
              </a:xfrm>
              <a:prstGeom prst="rect">
                <a:avLst/>
              </a:prstGeom>
            </p:spPr>
            <p:txBody>
              <a:bodyPr anchor="ctr" rtlCol="false" tIns="50800" lIns="50800" bIns="50800" rIns="50800"/>
              <a:lstStyle/>
              <a:p>
                <a:pPr algn="ctr">
                  <a:lnSpc>
                    <a:spcPts val="2659"/>
                  </a:lnSpc>
                </a:pPr>
              </a:p>
            </p:txBody>
          </p:sp>
        </p:grpSp>
        <p:sp>
          <p:nvSpPr>
            <p:cNvPr name="TextBox 74" id="74"/>
            <p:cNvSpPr txBox="true"/>
            <p:nvPr/>
          </p:nvSpPr>
          <p:spPr>
            <a:xfrm rot="0">
              <a:off x="520218" y="2945633"/>
              <a:ext cx="6406076" cy="5098627"/>
            </a:xfrm>
            <a:prstGeom prst="rect">
              <a:avLst/>
            </a:prstGeom>
          </p:spPr>
          <p:txBody>
            <a:bodyPr anchor="t" rtlCol="false" tIns="0" lIns="0" bIns="0" rIns="0">
              <a:spAutoFit/>
            </a:bodyPr>
            <a:lstStyle/>
            <a:p>
              <a:pPr algn="just" marL="367029" indent="-183514" lvl="1">
                <a:lnSpc>
                  <a:spcPts val="2379"/>
                </a:lnSpc>
                <a:buFont typeface="Arial"/>
                <a:buChar char="•"/>
              </a:pPr>
              <a:r>
                <a:rPr lang="en-US" b="true" sz="1699" spc="42">
                  <a:solidFill>
                    <a:srgbClr val="FFFFFF"/>
                  </a:solidFill>
                  <a:latin typeface="Bricolage Grotesque Semi-Bold"/>
                  <a:ea typeface="Bricolage Grotesque Semi-Bold"/>
                  <a:cs typeface="Bricolage Grotesque Semi-Bold"/>
                  <a:sym typeface="Bricolage Grotesque Semi-Bold"/>
                </a:rPr>
                <a:t>Pasang sistem BESS pada 10 titik berisiko tinggi di koridor jalan tol antarkota, berdasarkan prediksi utilisasi dan hasil stress-testing.</a:t>
              </a:r>
            </a:p>
            <a:p>
              <a:pPr algn="just" marL="367029" indent="-183514" lvl="1">
                <a:lnSpc>
                  <a:spcPts val="2379"/>
                </a:lnSpc>
                <a:buFont typeface="Arial"/>
                <a:buChar char="•"/>
              </a:pPr>
              <a:r>
                <a:rPr lang="en-US" b="true" sz="1699" spc="42">
                  <a:solidFill>
                    <a:srgbClr val="FFFFFF"/>
                  </a:solidFill>
                  <a:latin typeface="Bricolage Grotesque Semi-Bold"/>
                  <a:ea typeface="Bricolage Grotesque Semi-Bold"/>
                  <a:cs typeface="Bricolage Grotesque Semi-Bold"/>
                  <a:sym typeface="Bricolage Grotesque Semi-Bold"/>
                </a:rPr>
                <a:t>Panel fotovoltaik memasok energi pada siang hari, lalu kelebihan daya disimpan dalam BESS untuk digunakan saat dibutuhkan.</a:t>
              </a:r>
            </a:p>
            <a:p>
              <a:pPr algn="just" marL="367029" indent="-183514" lvl="1">
                <a:lnSpc>
                  <a:spcPts val="2379"/>
                </a:lnSpc>
                <a:buFont typeface="Arial"/>
                <a:buChar char="•"/>
              </a:pPr>
              <a:r>
                <a:rPr lang="en-US" b="true" sz="1699" spc="42">
                  <a:solidFill>
                    <a:srgbClr val="FFFFFF"/>
                  </a:solidFill>
                  <a:latin typeface="Bricolage Grotesque Semi-Bold"/>
                  <a:ea typeface="Bricolage Grotesque Semi-Bold"/>
                  <a:cs typeface="Bricolage Grotesque Semi-Bold"/>
                  <a:sym typeface="Bricolage Grotesque Semi-Bold"/>
                </a:rPr>
                <a:t>Saat beban mencapai puncak, daya dari BESS membantu memasok stasiun dan mengurangi tarikan listrik dari jaringan, sehingga berpotensi menekan biaya demand charge hingga 40%</a:t>
              </a:r>
            </a:p>
          </p:txBody>
        </p:sp>
        <p:sp>
          <p:nvSpPr>
            <p:cNvPr name="TextBox 75" id="75"/>
            <p:cNvSpPr txBox="true"/>
            <p:nvPr/>
          </p:nvSpPr>
          <p:spPr>
            <a:xfrm rot="0">
              <a:off x="520218" y="501613"/>
              <a:ext cx="4224591" cy="1118023"/>
            </a:xfrm>
            <a:prstGeom prst="rect">
              <a:avLst/>
            </a:prstGeom>
          </p:spPr>
          <p:txBody>
            <a:bodyPr anchor="t" rtlCol="false" tIns="0" lIns="0" bIns="0" rIns="0">
              <a:spAutoFit/>
            </a:bodyPr>
            <a:lstStyle/>
            <a:p>
              <a:pPr algn="r">
                <a:lnSpc>
                  <a:spcPts val="3199"/>
                </a:lnSpc>
              </a:pPr>
              <a:r>
                <a:rPr lang="en-US" sz="3199">
                  <a:solidFill>
                    <a:srgbClr val="112752"/>
                  </a:solidFill>
                  <a:latin typeface="Rubik One"/>
                  <a:ea typeface="Rubik One"/>
                  <a:cs typeface="Rubik One"/>
                  <a:sym typeface="Rubik One"/>
                </a:rPr>
                <a:t>SOLUSI</a:t>
              </a:r>
              <a:r>
                <a:rPr lang="en-US" sz="3199">
                  <a:solidFill>
                    <a:srgbClr val="FFFFFF"/>
                  </a:solidFill>
                  <a:latin typeface="Rubik One"/>
                  <a:ea typeface="Rubik One"/>
                  <a:cs typeface="Rubik One"/>
                  <a:sym typeface="Rubik One"/>
                </a:rPr>
                <a:t> </a:t>
              </a:r>
            </a:p>
            <a:p>
              <a:pPr algn="r">
                <a:lnSpc>
                  <a:spcPts val="3199"/>
                </a:lnSpc>
              </a:pPr>
              <a:r>
                <a:rPr lang="en-US" sz="3199">
                  <a:solidFill>
                    <a:srgbClr val="00B58F"/>
                  </a:solidFill>
                  <a:latin typeface="Rubik One"/>
                  <a:ea typeface="Rubik One"/>
                  <a:cs typeface="Rubik One"/>
                  <a:sym typeface="Rubik One"/>
                </a:rPr>
                <a:t>HARDWARE</a:t>
              </a:r>
            </a:p>
          </p:txBody>
        </p:sp>
        <p:grpSp>
          <p:nvGrpSpPr>
            <p:cNvPr name="Group 76" id="76"/>
            <p:cNvGrpSpPr/>
            <p:nvPr/>
          </p:nvGrpSpPr>
          <p:grpSpPr>
            <a:xfrm rot="0">
              <a:off x="1540055" y="1979770"/>
              <a:ext cx="4783235" cy="699163"/>
              <a:chOff x="0" y="0"/>
              <a:chExt cx="926618" cy="135443"/>
            </a:xfrm>
          </p:grpSpPr>
          <p:sp>
            <p:nvSpPr>
              <p:cNvPr name="Freeform 77" id="77"/>
              <p:cNvSpPr/>
              <p:nvPr/>
            </p:nvSpPr>
            <p:spPr>
              <a:xfrm flipH="false" flipV="false" rot="0">
                <a:off x="0" y="0"/>
                <a:ext cx="926618" cy="135443"/>
              </a:xfrm>
              <a:custGeom>
                <a:avLst/>
                <a:gdLst/>
                <a:ahLst/>
                <a:cxnLst/>
                <a:rect r="r" b="b" t="t" l="l"/>
                <a:pathLst>
                  <a:path h="135443" w="926618">
                    <a:moveTo>
                      <a:pt x="67722" y="0"/>
                    </a:moveTo>
                    <a:lnTo>
                      <a:pt x="858896" y="0"/>
                    </a:lnTo>
                    <a:cubicBezTo>
                      <a:pt x="896298" y="0"/>
                      <a:pt x="926618" y="30320"/>
                      <a:pt x="926618" y="67722"/>
                    </a:cubicBezTo>
                    <a:lnTo>
                      <a:pt x="926618" y="67722"/>
                    </a:lnTo>
                    <a:cubicBezTo>
                      <a:pt x="926618" y="85682"/>
                      <a:pt x="919483" y="102908"/>
                      <a:pt x="906782" y="115608"/>
                    </a:cubicBezTo>
                    <a:cubicBezTo>
                      <a:pt x="894082" y="128308"/>
                      <a:pt x="876857" y="135443"/>
                      <a:pt x="858896" y="135443"/>
                    </a:cubicBezTo>
                    <a:lnTo>
                      <a:pt x="67722" y="135443"/>
                    </a:lnTo>
                    <a:cubicBezTo>
                      <a:pt x="49761" y="135443"/>
                      <a:pt x="32535" y="128308"/>
                      <a:pt x="19835" y="115608"/>
                    </a:cubicBezTo>
                    <a:cubicBezTo>
                      <a:pt x="7135" y="102908"/>
                      <a:pt x="0" y="85682"/>
                      <a:pt x="0" y="67722"/>
                    </a:cubicBezTo>
                    <a:lnTo>
                      <a:pt x="0" y="67722"/>
                    </a:lnTo>
                    <a:cubicBezTo>
                      <a:pt x="0" y="49761"/>
                      <a:pt x="7135" y="32535"/>
                      <a:pt x="19835" y="19835"/>
                    </a:cubicBezTo>
                    <a:cubicBezTo>
                      <a:pt x="32535" y="7135"/>
                      <a:pt x="49761" y="0"/>
                      <a:pt x="67722" y="0"/>
                    </a:cubicBezTo>
                    <a:close/>
                  </a:path>
                </a:pathLst>
              </a:custGeom>
              <a:solidFill>
                <a:srgbClr val="EDF6F9"/>
              </a:solidFill>
              <a:ln cap="rnd">
                <a:noFill/>
                <a:prstDash val="solid"/>
                <a:round/>
              </a:ln>
            </p:spPr>
          </p:sp>
          <p:sp>
            <p:nvSpPr>
              <p:cNvPr name="TextBox 78" id="78"/>
              <p:cNvSpPr txBox="true"/>
              <p:nvPr/>
            </p:nvSpPr>
            <p:spPr>
              <a:xfrm>
                <a:off x="0" y="-38100"/>
                <a:ext cx="926618" cy="173543"/>
              </a:xfrm>
              <a:prstGeom prst="rect">
                <a:avLst/>
              </a:prstGeom>
            </p:spPr>
            <p:txBody>
              <a:bodyPr anchor="ctr" rtlCol="false" tIns="50800" lIns="50800" bIns="50800" rIns="50800"/>
              <a:lstStyle/>
              <a:p>
                <a:pPr algn="ctr">
                  <a:lnSpc>
                    <a:spcPts val="2659"/>
                  </a:lnSpc>
                  <a:spcBef>
                    <a:spcPct val="0"/>
                  </a:spcBef>
                </a:pPr>
              </a:p>
            </p:txBody>
          </p:sp>
        </p:grpSp>
        <p:sp>
          <p:nvSpPr>
            <p:cNvPr name="TextBox 79" id="79"/>
            <p:cNvSpPr txBox="true"/>
            <p:nvPr/>
          </p:nvSpPr>
          <p:spPr>
            <a:xfrm rot="0">
              <a:off x="1784417" y="2175802"/>
              <a:ext cx="4373516" cy="353272"/>
            </a:xfrm>
            <a:prstGeom prst="rect">
              <a:avLst/>
            </a:prstGeom>
          </p:spPr>
          <p:txBody>
            <a:bodyPr anchor="t" rtlCol="false" tIns="0" lIns="0" bIns="0" rIns="0">
              <a:spAutoFit/>
            </a:bodyPr>
            <a:lstStyle/>
            <a:p>
              <a:pPr algn="just">
                <a:lnSpc>
                  <a:spcPts val="1900"/>
                </a:lnSpc>
              </a:pPr>
              <a:r>
                <a:rPr lang="en-US" sz="1900">
                  <a:solidFill>
                    <a:srgbClr val="112752"/>
                  </a:solidFill>
                  <a:latin typeface="Rubik One"/>
                  <a:ea typeface="Rubik One"/>
                  <a:cs typeface="Rubik One"/>
                  <a:sym typeface="Rubik One"/>
                </a:rPr>
                <a:t>MODULAR SOLAR-BESS</a:t>
              </a:r>
            </a:p>
          </p:txBody>
        </p:sp>
      </p:grpSp>
      <p:sp>
        <p:nvSpPr>
          <p:cNvPr name="TextBox 80" id="80"/>
          <p:cNvSpPr txBox="true"/>
          <p:nvPr/>
        </p:nvSpPr>
        <p:spPr>
          <a:xfrm rot="0">
            <a:off x="14877675" y="9322533"/>
            <a:ext cx="2381625" cy="240665"/>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- 24</a:t>
            </a:r>
          </a:p>
        </p:txBody>
      </p:sp>
      <p:grpSp>
        <p:nvGrpSpPr>
          <p:cNvPr name="Group 81" id="81"/>
          <p:cNvGrpSpPr/>
          <p:nvPr/>
        </p:nvGrpSpPr>
        <p:grpSpPr>
          <a:xfrm rot="0">
            <a:off x="1028700" y="793061"/>
            <a:ext cx="4463067" cy="235560"/>
            <a:chOff x="0" y="0"/>
            <a:chExt cx="5950756" cy="314080"/>
          </a:xfrm>
        </p:grpSpPr>
        <p:sp>
          <p:nvSpPr>
            <p:cNvPr name="Freeform 82" id="82"/>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3" id="83"/>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TextBox 84" id="84"/>
          <p:cNvSpPr txBox="true"/>
          <p:nvPr/>
        </p:nvSpPr>
        <p:spPr>
          <a:xfrm rot="0">
            <a:off x="1028700" y="1324218"/>
            <a:ext cx="15684033" cy="809625"/>
          </a:xfrm>
          <a:prstGeom prst="rect">
            <a:avLst/>
          </a:prstGeom>
        </p:spPr>
        <p:txBody>
          <a:bodyPr anchor="t" rtlCol="false" tIns="0" lIns="0" bIns="0" rIns="0">
            <a:spAutoFit/>
          </a:bodyPr>
          <a:lstStyle/>
          <a:p>
            <a:pPr algn="l">
              <a:lnSpc>
                <a:spcPts val="6000"/>
              </a:lnSpc>
            </a:pPr>
            <a:r>
              <a:rPr lang="en-US" sz="6000">
                <a:solidFill>
                  <a:srgbClr val="0B132B"/>
                </a:solidFill>
                <a:latin typeface="Rubik One"/>
                <a:ea typeface="Rubik One"/>
                <a:cs typeface="Rubik One"/>
                <a:sym typeface="Rubik One"/>
              </a:rPr>
              <a:t>PRESCRIPTIVE BUSINESS STRATEGY</a:t>
            </a:r>
          </a:p>
        </p:txBody>
      </p:sp>
      <p:sp>
        <p:nvSpPr>
          <p:cNvPr name="TextBox 85" id="85"/>
          <p:cNvSpPr txBox="true"/>
          <p:nvPr/>
        </p:nvSpPr>
        <p:spPr>
          <a:xfrm rot="0">
            <a:off x="1028700" y="2086218"/>
            <a:ext cx="12454843" cy="316230"/>
          </a:xfrm>
          <a:prstGeom prst="rect">
            <a:avLst/>
          </a:prstGeom>
        </p:spPr>
        <p:txBody>
          <a:bodyPr anchor="t" rtlCol="false" tIns="0" lIns="0" bIns="0" rIns="0">
            <a:spAutoFit/>
          </a:bodyPr>
          <a:lstStyle/>
          <a:p>
            <a:pPr algn="just">
              <a:lnSpc>
                <a:spcPts val="2519"/>
              </a:lnSpc>
            </a:pPr>
            <a:r>
              <a:rPr lang="en-US" sz="1799" spc="44">
                <a:solidFill>
                  <a:srgbClr val="0B132B"/>
                </a:solidFill>
                <a:latin typeface="Bricolage Grotesque"/>
                <a:ea typeface="Bricolage Grotesque"/>
                <a:cs typeface="Bricolage Grotesque"/>
                <a:sym typeface="Bricolage Grotesque"/>
              </a:rPr>
              <a:t>Mengapa Inte</a:t>
            </a:r>
            <a:r>
              <a:rPr lang="en-US" sz="1799" spc="44">
                <a:solidFill>
                  <a:srgbClr val="0B132B"/>
                </a:solidFill>
                <a:latin typeface="Bricolage Grotesque"/>
                <a:ea typeface="Bricolage Grotesque"/>
                <a:cs typeface="Bricolage Grotesque"/>
                <a:sym typeface="Bricolage Grotesque"/>
              </a:rPr>
              <a:t>rv</a:t>
            </a:r>
            <a:r>
              <a:rPr lang="en-US" sz="1799" spc="44">
                <a:solidFill>
                  <a:srgbClr val="0B132B"/>
                </a:solidFill>
                <a:latin typeface="Bricolage Grotesque"/>
                <a:ea typeface="Bricolage Grotesque"/>
                <a:cs typeface="Bricolage Grotesque"/>
                <a:sym typeface="Bricolage Grotesque"/>
              </a:rPr>
              <a:t>en</a:t>
            </a:r>
            <a:r>
              <a:rPr lang="en-US" sz="1799" spc="44">
                <a:solidFill>
                  <a:srgbClr val="0B132B"/>
                </a:solidFill>
                <a:latin typeface="Bricolage Grotesque"/>
                <a:ea typeface="Bricolage Grotesque"/>
                <a:cs typeface="Bricolage Grotesque"/>
                <a:sym typeface="Bricolage Grotesque"/>
              </a:rPr>
              <a:t>si </a:t>
            </a:r>
            <a:r>
              <a:rPr lang="en-US" b="true" sz="1799" spc="44">
                <a:solidFill>
                  <a:srgbClr val="0B132B"/>
                </a:solidFill>
                <a:latin typeface="Bricolage Grotesque Bold"/>
                <a:ea typeface="Bricolage Grotesque Bold"/>
                <a:cs typeface="Bricolage Grotesque Bold"/>
                <a:sym typeface="Bricolage Grotesque Bold"/>
              </a:rPr>
              <a:t>Perangkat Lunak</a:t>
            </a:r>
            <a:r>
              <a:rPr lang="en-US" sz="1799" spc="44">
                <a:solidFill>
                  <a:srgbClr val="0B132B"/>
                </a:solidFill>
                <a:latin typeface="Bricolage Grotesque"/>
                <a:ea typeface="Bricolage Grotesque"/>
                <a:cs typeface="Bricolage Grotesque"/>
                <a:sym typeface="Bricolage Grotesque"/>
              </a:rPr>
              <a:t> &amp; </a:t>
            </a:r>
            <a:r>
              <a:rPr lang="en-US" b="true" sz="1799" spc="44">
                <a:solidFill>
                  <a:srgbClr val="0B132B"/>
                </a:solidFill>
                <a:latin typeface="Bricolage Grotesque Bold"/>
                <a:ea typeface="Bricolage Grotesque Bold"/>
                <a:cs typeface="Bricolage Grotesque Bold"/>
                <a:sym typeface="Bricolage Grotesque Bold"/>
              </a:rPr>
              <a:t>BESS Terarah</a:t>
            </a:r>
            <a:r>
              <a:rPr lang="en-US" sz="1799" spc="44">
                <a:solidFill>
                  <a:srgbClr val="0B132B"/>
                </a:solidFill>
                <a:latin typeface="Bricolage Grotesque"/>
                <a:ea typeface="Bricolage Grotesque"/>
                <a:cs typeface="Bricolage Grotesque"/>
                <a:sym typeface="Bricolage Grotesque"/>
              </a:rPr>
              <a:t> Mengalahkan </a:t>
            </a:r>
            <a:r>
              <a:rPr lang="en-US" b="true" sz="1799" spc="44">
                <a:solidFill>
                  <a:srgbClr val="0B132B"/>
                </a:solidFill>
                <a:latin typeface="Bricolage Grotesque Bold"/>
                <a:ea typeface="Bricolage Grotesque Bold"/>
                <a:cs typeface="Bricolage Grotesque Bold"/>
                <a:sym typeface="Bricolage Grotesque Bold"/>
              </a:rPr>
              <a:t>Penambahan Colokan</a:t>
            </a:r>
            <a:r>
              <a:rPr lang="en-US" sz="1799" spc="44">
                <a:solidFill>
                  <a:srgbClr val="0B132B"/>
                </a:solidFill>
                <a:latin typeface="Bricolage Grotesque"/>
                <a:ea typeface="Bricolage Grotesque"/>
                <a:cs typeface="Bricolage Grotesque"/>
                <a:sym typeface="Bricolage Grotesque"/>
              </a:rPr>
              <a:t> </a:t>
            </a:r>
            <a:r>
              <a:rPr lang="en-US" sz="1799" spc="44">
                <a:solidFill>
                  <a:srgbClr val="0B132B"/>
                </a:solidFill>
                <a:latin typeface="Bricolage Grotesque"/>
                <a:ea typeface="Bricolage Grotesque"/>
                <a:cs typeface="Bricolage Grotesque"/>
                <a:sym typeface="Bricolage Grotesque"/>
              </a:rPr>
              <a:t>Fisik Permanen </a:t>
            </a:r>
          </a:p>
        </p:txBody>
      </p:sp>
      <p:grpSp>
        <p:nvGrpSpPr>
          <p:cNvPr name="Group 86" id="86"/>
          <p:cNvGrpSpPr/>
          <p:nvPr/>
        </p:nvGrpSpPr>
        <p:grpSpPr>
          <a:xfrm rot="0">
            <a:off x="11502671" y="9960324"/>
            <a:ext cx="9960587" cy="1142074"/>
            <a:chOff x="0" y="0"/>
            <a:chExt cx="2572779" cy="294993"/>
          </a:xfrm>
        </p:grpSpPr>
        <p:sp>
          <p:nvSpPr>
            <p:cNvPr name="Freeform 87" id="87"/>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88" id="88"/>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9" id="89"/>
          <p:cNvGrpSpPr/>
          <p:nvPr/>
        </p:nvGrpSpPr>
        <p:grpSpPr>
          <a:xfrm rot="0">
            <a:off x="-5959063" y="-784283"/>
            <a:ext cx="9960587" cy="1142074"/>
            <a:chOff x="0" y="0"/>
            <a:chExt cx="2572779" cy="294993"/>
          </a:xfrm>
        </p:grpSpPr>
        <p:sp>
          <p:nvSpPr>
            <p:cNvPr name="Freeform 90" id="9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91" id="9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3150242" y="9960324"/>
            <a:ext cx="9960587" cy="1142074"/>
            <a:chOff x="0" y="0"/>
            <a:chExt cx="2572779" cy="294993"/>
          </a:xfrm>
        </p:grpSpPr>
        <p:sp>
          <p:nvSpPr>
            <p:cNvPr name="Freeform 3" id="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4" id="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4338615" y="-784283"/>
            <a:ext cx="12457569" cy="1142074"/>
            <a:chOff x="0" y="0"/>
            <a:chExt cx="3217739" cy="294993"/>
          </a:xfrm>
        </p:grpSpPr>
        <p:sp>
          <p:nvSpPr>
            <p:cNvPr name="Freeform 6" id="6"/>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7" id="7"/>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8700" y="793061"/>
            <a:ext cx="4463067" cy="235560"/>
            <a:chOff x="0" y="0"/>
            <a:chExt cx="5950756" cy="314080"/>
          </a:xfrm>
        </p:grpSpPr>
        <p:sp>
          <p:nvSpPr>
            <p:cNvPr name="Freeform 9" id="9"/>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
        <p:nvSpPr>
          <p:cNvPr name="Freeform 11" id="11"/>
          <p:cNvSpPr/>
          <p:nvPr/>
        </p:nvSpPr>
        <p:spPr>
          <a:xfrm flipH="false" flipV="false" rot="0">
            <a:off x="1028700" y="3086100"/>
            <a:ext cx="1737034" cy="1728349"/>
          </a:xfrm>
          <a:custGeom>
            <a:avLst/>
            <a:gdLst/>
            <a:ahLst/>
            <a:cxnLst/>
            <a:rect r="r" b="b" t="t" l="l"/>
            <a:pathLst>
              <a:path h="1728349" w="1737034">
                <a:moveTo>
                  <a:pt x="0" y="0"/>
                </a:moveTo>
                <a:lnTo>
                  <a:pt x="1737034" y="0"/>
                </a:lnTo>
                <a:lnTo>
                  <a:pt x="1737034" y="1728349"/>
                </a:lnTo>
                <a:lnTo>
                  <a:pt x="0" y="17283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028700" y="5143500"/>
            <a:ext cx="1737034" cy="1728349"/>
          </a:xfrm>
          <a:custGeom>
            <a:avLst/>
            <a:gdLst/>
            <a:ahLst/>
            <a:cxnLst/>
            <a:rect r="r" b="b" t="t" l="l"/>
            <a:pathLst>
              <a:path h="1728349" w="1737034">
                <a:moveTo>
                  <a:pt x="0" y="0"/>
                </a:moveTo>
                <a:lnTo>
                  <a:pt x="1737034" y="0"/>
                </a:lnTo>
                <a:lnTo>
                  <a:pt x="1737034" y="1728349"/>
                </a:lnTo>
                <a:lnTo>
                  <a:pt x="0" y="17283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028700" y="7205224"/>
            <a:ext cx="1737034" cy="1728349"/>
          </a:xfrm>
          <a:custGeom>
            <a:avLst/>
            <a:gdLst/>
            <a:ahLst/>
            <a:cxnLst/>
            <a:rect r="r" b="b" t="t" l="l"/>
            <a:pathLst>
              <a:path h="1728349" w="1737034">
                <a:moveTo>
                  <a:pt x="0" y="0"/>
                </a:moveTo>
                <a:lnTo>
                  <a:pt x="1737034" y="0"/>
                </a:lnTo>
                <a:lnTo>
                  <a:pt x="1737034" y="1728349"/>
                </a:lnTo>
                <a:lnTo>
                  <a:pt x="0" y="17283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1028700" y="1324218"/>
            <a:ext cx="15226261" cy="809625"/>
          </a:xfrm>
          <a:prstGeom prst="rect">
            <a:avLst/>
          </a:prstGeom>
        </p:spPr>
        <p:txBody>
          <a:bodyPr anchor="t" rtlCol="false" tIns="0" lIns="0" bIns="0" rIns="0">
            <a:spAutoFit/>
          </a:bodyPr>
          <a:lstStyle/>
          <a:p>
            <a:pPr algn="l">
              <a:lnSpc>
                <a:spcPts val="6000"/>
              </a:lnSpc>
            </a:pPr>
            <a:r>
              <a:rPr lang="en-US" sz="6000">
                <a:solidFill>
                  <a:srgbClr val="0B132B"/>
                </a:solidFill>
                <a:latin typeface="Rubik One"/>
                <a:ea typeface="Rubik One"/>
                <a:cs typeface="Rubik One"/>
                <a:sym typeface="Rubik One"/>
              </a:rPr>
              <a:t>STRATEGY ALIGNMENT WITH SDGS</a:t>
            </a:r>
          </a:p>
        </p:txBody>
      </p:sp>
      <p:sp>
        <p:nvSpPr>
          <p:cNvPr name="TextBox 15" id="15"/>
          <p:cNvSpPr txBox="true"/>
          <p:nvPr/>
        </p:nvSpPr>
        <p:spPr>
          <a:xfrm rot="0">
            <a:off x="1028700" y="2074499"/>
            <a:ext cx="12454843" cy="316230"/>
          </a:xfrm>
          <a:prstGeom prst="rect">
            <a:avLst/>
          </a:prstGeom>
        </p:spPr>
        <p:txBody>
          <a:bodyPr anchor="t" rtlCol="false" tIns="0" lIns="0" bIns="0" rIns="0">
            <a:spAutoFit/>
          </a:bodyPr>
          <a:lstStyle/>
          <a:p>
            <a:pPr algn="just">
              <a:lnSpc>
                <a:spcPts val="2519"/>
              </a:lnSpc>
            </a:pPr>
            <a:r>
              <a:rPr lang="en-US" sz="1799" spc="44">
                <a:solidFill>
                  <a:srgbClr val="0B132B"/>
                </a:solidFill>
                <a:latin typeface="Bricolage Grotesque"/>
                <a:ea typeface="Bricolage Grotesque"/>
                <a:cs typeface="Bricolage Grotesque"/>
                <a:sym typeface="Bricolage Grotesque"/>
              </a:rPr>
              <a:t>Bagaimana </a:t>
            </a:r>
            <a:r>
              <a:rPr lang="en-US" b="true" sz="1799" spc="44">
                <a:solidFill>
                  <a:srgbClr val="0B132B"/>
                </a:solidFill>
                <a:latin typeface="Bricolage Grotesque Bold"/>
                <a:ea typeface="Bricolage Grotesque Bold"/>
                <a:cs typeface="Bricolage Grotesque Bold"/>
                <a:sym typeface="Bricolage Grotesque Bold"/>
              </a:rPr>
              <a:t>solusi </a:t>
            </a:r>
            <a:r>
              <a:rPr lang="en-US" sz="1799" spc="44">
                <a:solidFill>
                  <a:srgbClr val="0B132B"/>
                </a:solidFill>
                <a:latin typeface="Bricolage Grotesque"/>
                <a:ea typeface="Bricolage Grotesque"/>
                <a:cs typeface="Bricolage Grotesque"/>
                <a:sym typeface="Bricolage Grotesque"/>
              </a:rPr>
              <a:t>yang ditawarkan </a:t>
            </a:r>
            <a:r>
              <a:rPr lang="en-US" b="true" sz="1799" spc="44">
                <a:solidFill>
                  <a:srgbClr val="0B132B"/>
                </a:solidFill>
                <a:latin typeface="Bricolage Grotesque Bold"/>
                <a:ea typeface="Bricolage Grotesque Bold"/>
                <a:cs typeface="Bricolage Grotesque Bold"/>
                <a:sym typeface="Bricolage Grotesque Bold"/>
              </a:rPr>
              <a:t>searah </a:t>
            </a:r>
            <a:r>
              <a:rPr lang="en-US" sz="1799" spc="44">
                <a:solidFill>
                  <a:srgbClr val="0B132B"/>
                </a:solidFill>
                <a:latin typeface="Bricolage Grotesque"/>
                <a:ea typeface="Bricolage Grotesque"/>
                <a:cs typeface="Bricolage Grotesque"/>
                <a:sym typeface="Bricolage Grotesque"/>
              </a:rPr>
              <a:t>dengan </a:t>
            </a:r>
            <a:r>
              <a:rPr lang="en-US" b="true" sz="1799" spc="44">
                <a:solidFill>
                  <a:srgbClr val="0B132B"/>
                </a:solidFill>
                <a:latin typeface="Bricolage Grotesque Bold"/>
                <a:ea typeface="Bricolage Grotesque Bold"/>
                <a:cs typeface="Bricolage Grotesque Bold"/>
                <a:sym typeface="Bricolage Grotesque Bold"/>
              </a:rPr>
              <a:t>Sustainable Development Goal</a:t>
            </a:r>
          </a:p>
        </p:txBody>
      </p:sp>
      <p:grpSp>
        <p:nvGrpSpPr>
          <p:cNvPr name="Group 16" id="16"/>
          <p:cNvGrpSpPr/>
          <p:nvPr/>
        </p:nvGrpSpPr>
        <p:grpSpPr>
          <a:xfrm rot="0">
            <a:off x="2927847" y="3086100"/>
            <a:ext cx="9896206" cy="1728349"/>
            <a:chOff x="0" y="0"/>
            <a:chExt cx="6203460" cy="1083420"/>
          </a:xfrm>
        </p:grpSpPr>
        <p:sp>
          <p:nvSpPr>
            <p:cNvPr name="Freeform 17" id="17"/>
            <p:cNvSpPr/>
            <p:nvPr/>
          </p:nvSpPr>
          <p:spPr>
            <a:xfrm flipH="false" flipV="false" rot="0">
              <a:off x="0" y="0"/>
              <a:ext cx="6203460" cy="1083420"/>
            </a:xfrm>
            <a:custGeom>
              <a:avLst/>
              <a:gdLst/>
              <a:ahLst/>
              <a:cxnLst/>
              <a:rect r="r" b="b" t="t" l="l"/>
              <a:pathLst>
                <a:path h="1083420" w="6203460">
                  <a:moveTo>
                    <a:pt x="15646" y="0"/>
                  </a:moveTo>
                  <a:lnTo>
                    <a:pt x="6187814" y="0"/>
                  </a:lnTo>
                  <a:cubicBezTo>
                    <a:pt x="6196455" y="0"/>
                    <a:pt x="6203460" y="7005"/>
                    <a:pt x="6203460" y="15646"/>
                  </a:cubicBezTo>
                  <a:lnTo>
                    <a:pt x="6203460" y="1067773"/>
                  </a:lnTo>
                  <a:cubicBezTo>
                    <a:pt x="6203460" y="1076415"/>
                    <a:pt x="6196455" y="1083420"/>
                    <a:pt x="6187814" y="1083420"/>
                  </a:cubicBezTo>
                  <a:lnTo>
                    <a:pt x="15646" y="1083420"/>
                  </a:lnTo>
                  <a:cubicBezTo>
                    <a:pt x="7005" y="1083420"/>
                    <a:pt x="0" y="1076415"/>
                    <a:pt x="0" y="1067773"/>
                  </a:cubicBezTo>
                  <a:lnTo>
                    <a:pt x="0" y="15646"/>
                  </a:lnTo>
                  <a:cubicBezTo>
                    <a:pt x="0" y="7005"/>
                    <a:pt x="7005" y="0"/>
                    <a:pt x="15646" y="0"/>
                  </a:cubicBezTo>
                  <a:close/>
                </a:path>
              </a:pathLst>
            </a:custGeom>
            <a:solidFill>
              <a:srgbClr val="FCC30B"/>
            </a:solidFill>
            <a:ln cap="sq">
              <a:noFill/>
              <a:prstDash val="solid"/>
              <a:miter/>
            </a:ln>
          </p:spPr>
        </p:sp>
        <p:sp>
          <p:nvSpPr>
            <p:cNvPr name="TextBox 18" id="18"/>
            <p:cNvSpPr txBox="true"/>
            <p:nvPr/>
          </p:nvSpPr>
          <p:spPr>
            <a:xfrm>
              <a:off x="0" y="-38100"/>
              <a:ext cx="6203460" cy="1121520"/>
            </a:xfrm>
            <a:prstGeom prst="rect">
              <a:avLst/>
            </a:prstGeom>
          </p:spPr>
          <p:txBody>
            <a:bodyPr anchor="ctr" rtlCol="false" tIns="17593" lIns="17593" bIns="17593" rIns="17593"/>
            <a:lstStyle/>
            <a:p>
              <a:pPr algn="ctr">
                <a:lnSpc>
                  <a:spcPts val="2660"/>
                </a:lnSpc>
                <a:spcBef>
                  <a:spcPct val="0"/>
                </a:spcBef>
              </a:pPr>
            </a:p>
          </p:txBody>
        </p:sp>
      </p:grpSp>
      <p:grpSp>
        <p:nvGrpSpPr>
          <p:cNvPr name="Group 19" id="19"/>
          <p:cNvGrpSpPr/>
          <p:nvPr/>
        </p:nvGrpSpPr>
        <p:grpSpPr>
          <a:xfrm rot="0">
            <a:off x="2765734" y="2894620"/>
            <a:ext cx="8227158" cy="823887"/>
            <a:chOff x="0" y="0"/>
            <a:chExt cx="7324373" cy="733480"/>
          </a:xfrm>
        </p:grpSpPr>
        <p:sp>
          <p:nvSpPr>
            <p:cNvPr name="Freeform 20" id="20"/>
            <p:cNvSpPr/>
            <p:nvPr/>
          </p:nvSpPr>
          <p:spPr>
            <a:xfrm flipH="false" flipV="false" rot="0">
              <a:off x="3379" y="0"/>
              <a:ext cx="7317615" cy="733480"/>
            </a:xfrm>
            <a:custGeom>
              <a:avLst/>
              <a:gdLst/>
              <a:ahLst/>
              <a:cxnLst/>
              <a:rect r="r" b="b" t="t" l="l"/>
              <a:pathLst>
                <a:path h="733480" w="7317615">
                  <a:moveTo>
                    <a:pt x="213936" y="0"/>
                  </a:moveTo>
                  <a:lnTo>
                    <a:pt x="7306879" y="0"/>
                  </a:lnTo>
                  <a:cubicBezTo>
                    <a:pt x="7310233" y="0"/>
                    <a:pt x="7313394" y="1567"/>
                    <a:pt x="7315424" y="4237"/>
                  </a:cubicBezTo>
                  <a:cubicBezTo>
                    <a:pt x="7317455" y="6906"/>
                    <a:pt x="7318121" y="10371"/>
                    <a:pt x="7317225" y="13603"/>
                  </a:cubicBezTo>
                  <a:lnTo>
                    <a:pt x="7121563" y="719878"/>
                  </a:lnTo>
                  <a:cubicBezTo>
                    <a:pt x="7119336" y="727916"/>
                    <a:pt x="7112020" y="733480"/>
                    <a:pt x="7103679" y="733480"/>
                  </a:cubicBezTo>
                  <a:lnTo>
                    <a:pt x="10736" y="733480"/>
                  </a:lnTo>
                  <a:cubicBezTo>
                    <a:pt x="7382" y="733480"/>
                    <a:pt x="4221" y="731913"/>
                    <a:pt x="2191" y="729244"/>
                  </a:cubicBezTo>
                  <a:cubicBezTo>
                    <a:pt x="160" y="726574"/>
                    <a:pt x="-506" y="723110"/>
                    <a:pt x="389" y="719878"/>
                  </a:cubicBezTo>
                  <a:lnTo>
                    <a:pt x="196053" y="13603"/>
                  </a:lnTo>
                  <a:cubicBezTo>
                    <a:pt x="198279" y="5565"/>
                    <a:pt x="205595" y="0"/>
                    <a:pt x="213936" y="0"/>
                  </a:cubicBezTo>
                  <a:close/>
                </a:path>
              </a:pathLst>
            </a:custGeom>
            <a:solidFill>
              <a:srgbClr val="EDF6F9"/>
            </a:solidFill>
          </p:spPr>
        </p:sp>
        <p:sp>
          <p:nvSpPr>
            <p:cNvPr name="TextBox 21" id="21"/>
            <p:cNvSpPr txBox="true"/>
            <p:nvPr/>
          </p:nvSpPr>
          <p:spPr>
            <a:xfrm>
              <a:off x="101600" y="-38100"/>
              <a:ext cx="7121173" cy="77158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2927847" y="3219450"/>
            <a:ext cx="8707621" cy="409575"/>
          </a:xfrm>
          <a:prstGeom prst="rect">
            <a:avLst/>
          </a:prstGeom>
        </p:spPr>
        <p:txBody>
          <a:bodyPr anchor="t" rtlCol="false" tIns="0" lIns="0" bIns="0" rIns="0">
            <a:spAutoFit/>
          </a:bodyPr>
          <a:lstStyle/>
          <a:p>
            <a:pPr algn="just">
              <a:lnSpc>
                <a:spcPts val="3000"/>
              </a:lnSpc>
            </a:pPr>
            <a:r>
              <a:rPr lang="en-US" sz="3000">
                <a:solidFill>
                  <a:srgbClr val="FCC30B"/>
                </a:solidFill>
                <a:latin typeface="Rubik One"/>
                <a:ea typeface="Rubik One"/>
                <a:cs typeface="Rubik One"/>
                <a:sym typeface="Rubik One"/>
              </a:rPr>
              <a:t>SDG 7 (Energi Bersih dan Terjangkau)</a:t>
            </a:r>
          </a:p>
        </p:txBody>
      </p:sp>
      <p:grpSp>
        <p:nvGrpSpPr>
          <p:cNvPr name="Group 23" id="23"/>
          <p:cNvGrpSpPr/>
          <p:nvPr/>
        </p:nvGrpSpPr>
        <p:grpSpPr>
          <a:xfrm rot="0">
            <a:off x="2927847" y="5186660"/>
            <a:ext cx="9896206" cy="1646354"/>
            <a:chOff x="0" y="0"/>
            <a:chExt cx="6203460" cy="1032021"/>
          </a:xfrm>
        </p:grpSpPr>
        <p:sp>
          <p:nvSpPr>
            <p:cNvPr name="Freeform 24" id="24"/>
            <p:cNvSpPr/>
            <p:nvPr/>
          </p:nvSpPr>
          <p:spPr>
            <a:xfrm flipH="false" flipV="false" rot="0">
              <a:off x="0" y="0"/>
              <a:ext cx="6203460" cy="1032021"/>
            </a:xfrm>
            <a:custGeom>
              <a:avLst/>
              <a:gdLst/>
              <a:ahLst/>
              <a:cxnLst/>
              <a:rect r="r" b="b" t="t" l="l"/>
              <a:pathLst>
                <a:path h="1032021" w="6203460">
                  <a:moveTo>
                    <a:pt x="15646" y="0"/>
                  </a:moveTo>
                  <a:lnTo>
                    <a:pt x="6187814" y="0"/>
                  </a:lnTo>
                  <a:cubicBezTo>
                    <a:pt x="6196455" y="0"/>
                    <a:pt x="6203460" y="7005"/>
                    <a:pt x="6203460" y="15646"/>
                  </a:cubicBezTo>
                  <a:lnTo>
                    <a:pt x="6203460" y="1016374"/>
                  </a:lnTo>
                  <a:cubicBezTo>
                    <a:pt x="6203460" y="1025016"/>
                    <a:pt x="6196455" y="1032021"/>
                    <a:pt x="6187814" y="1032021"/>
                  </a:cubicBezTo>
                  <a:lnTo>
                    <a:pt x="15646" y="1032021"/>
                  </a:lnTo>
                  <a:cubicBezTo>
                    <a:pt x="7005" y="1032021"/>
                    <a:pt x="0" y="1025016"/>
                    <a:pt x="0" y="1016374"/>
                  </a:cubicBezTo>
                  <a:lnTo>
                    <a:pt x="0" y="15646"/>
                  </a:lnTo>
                  <a:cubicBezTo>
                    <a:pt x="0" y="7005"/>
                    <a:pt x="7005" y="0"/>
                    <a:pt x="15646" y="0"/>
                  </a:cubicBezTo>
                  <a:close/>
                </a:path>
              </a:pathLst>
            </a:custGeom>
            <a:solidFill>
              <a:srgbClr val="FD6925"/>
            </a:solidFill>
            <a:ln cap="sq">
              <a:noFill/>
              <a:prstDash val="solid"/>
              <a:miter/>
            </a:ln>
          </p:spPr>
        </p:sp>
        <p:sp>
          <p:nvSpPr>
            <p:cNvPr name="TextBox 25" id="25"/>
            <p:cNvSpPr txBox="true"/>
            <p:nvPr/>
          </p:nvSpPr>
          <p:spPr>
            <a:xfrm>
              <a:off x="0" y="-38100"/>
              <a:ext cx="6203460" cy="1070121"/>
            </a:xfrm>
            <a:prstGeom prst="rect">
              <a:avLst/>
            </a:prstGeom>
          </p:spPr>
          <p:txBody>
            <a:bodyPr anchor="ctr" rtlCol="false" tIns="17593" lIns="17593" bIns="17593" rIns="17593"/>
            <a:lstStyle/>
            <a:p>
              <a:pPr algn="ctr">
                <a:lnSpc>
                  <a:spcPts val="2660"/>
                </a:lnSpc>
                <a:spcBef>
                  <a:spcPct val="0"/>
                </a:spcBef>
              </a:pPr>
            </a:p>
          </p:txBody>
        </p:sp>
      </p:grpSp>
      <p:grpSp>
        <p:nvGrpSpPr>
          <p:cNvPr name="Group 26" id="26"/>
          <p:cNvGrpSpPr/>
          <p:nvPr/>
        </p:nvGrpSpPr>
        <p:grpSpPr>
          <a:xfrm rot="0">
            <a:off x="2765734" y="4995180"/>
            <a:ext cx="9493255" cy="823887"/>
            <a:chOff x="0" y="0"/>
            <a:chExt cx="8451539" cy="733480"/>
          </a:xfrm>
        </p:grpSpPr>
        <p:sp>
          <p:nvSpPr>
            <p:cNvPr name="Freeform 27" id="27"/>
            <p:cNvSpPr/>
            <p:nvPr/>
          </p:nvSpPr>
          <p:spPr>
            <a:xfrm flipH="false" flipV="false" rot="0">
              <a:off x="2928" y="0"/>
              <a:ext cx="8445683" cy="733480"/>
            </a:xfrm>
            <a:custGeom>
              <a:avLst/>
              <a:gdLst/>
              <a:ahLst/>
              <a:cxnLst/>
              <a:rect r="r" b="b" t="t" l="l"/>
              <a:pathLst>
                <a:path h="733480" w="8445683">
                  <a:moveTo>
                    <a:pt x="212505" y="0"/>
                  </a:moveTo>
                  <a:lnTo>
                    <a:pt x="8436379" y="0"/>
                  </a:lnTo>
                  <a:cubicBezTo>
                    <a:pt x="8439285" y="0"/>
                    <a:pt x="8442025" y="1358"/>
                    <a:pt x="8443784" y="3672"/>
                  </a:cubicBezTo>
                  <a:cubicBezTo>
                    <a:pt x="8445544" y="5985"/>
                    <a:pt x="8446121" y="8988"/>
                    <a:pt x="8445345" y="11789"/>
                  </a:cubicBezTo>
                  <a:lnTo>
                    <a:pt x="8248677" y="721692"/>
                  </a:lnTo>
                  <a:cubicBezTo>
                    <a:pt x="8246748" y="728658"/>
                    <a:pt x="8240407" y="733480"/>
                    <a:pt x="8233179" y="733480"/>
                  </a:cubicBezTo>
                  <a:lnTo>
                    <a:pt x="9305" y="733480"/>
                  </a:lnTo>
                  <a:cubicBezTo>
                    <a:pt x="6398" y="733480"/>
                    <a:pt x="3659" y="732122"/>
                    <a:pt x="1899" y="729809"/>
                  </a:cubicBezTo>
                  <a:cubicBezTo>
                    <a:pt x="139" y="727496"/>
                    <a:pt x="-438" y="724493"/>
                    <a:pt x="338" y="721692"/>
                  </a:cubicBezTo>
                  <a:lnTo>
                    <a:pt x="197006" y="11789"/>
                  </a:lnTo>
                  <a:cubicBezTo>
                    <a:pt x="198936" y="4823"/>
                    <a:pt x="205276" y="0"/>
                    <a:pt x="212505" y="0"/>
                  </a:cubicBezTo>
                  <a:close/>
                </a:path>
              </a:pathLst>
            </a:custGeom>
            <a:solidFill>
              <a:srgbClr val="EDF6F9"/>
            </a:solidFill>
          </p:spPr>
        </p:sp>
        <p:sp>
          <p:nvSpPr>
            <p:cNvPr name="TextBox 28" id="28"/>
            <p:cNvSpPr txBox="true"/>
            <p:nvPr/>
          </p:nvSpPr>
          <p:spPr>
            <a:xfrm>
              <a:off x="101600" y="-38100"/>
              <a:ext cx="8248339" cy="77158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2927847" y="5320010"/>
            <a:ext cx="9747630" cy="409575"/>
          </a:xfrm>
          <a:prstGeom prst="rect">
            <a:avLst/>
          </a:prstGeom>
        </p:spPr>
        <p:txBody>
          <a:bodyPr anchor="t" rtlCol="false" tIns="0" lIns="0" bIns="0" rIns="0">
            <a:spAutoFit/>
          </a:bodyPr>
          <a:lstStyle/>
          <a:p>
            <a:pPr algn="just">
              <a:lnSpc>
                <a:spcPts val="3000"/>
              </a:lnSpc>
            </a:pPr>
            <a:r>
              <a:rPr lang="en-US" sz="3000">
                <a:solidFill>
                  <a:srgbClr val="FD6925"/>
                </a:solidFill>
                <a:latin typeface="Rubik One"/>
                <a:ea typeface="Rubik One"/>
                <a:cs typeface="Rubik One"/>
                <a:sym typeface="Rubik One"/>
              </a:rPr>
              <a:t>SDG 9 (Industri, Inovasi, dan Infrastruktur)</a:t>
            </a:r>
          </a:p>
        </p:txBody>
      </p:sp>
      <p:grpSp>
        <p:nvGrpSpPr>
          <p:cNvPr name="Group 30" id="30"/>
          <p:cNvGrpSpPr/>
          <p:nvPr/>
        </p:nvGrpSpPr>
        <p:grpSpPr>
          <a:xfrm rot="0">
            <a:off x="2927847" y="7176158"/>
            <a:ext cx="9896206" cy="1757415"/>
            <a:chOff x="0" y="0"/>
            <a:chExt cx="6203460" cy="1101640"/>
          </a:xfrm>
        </p:grpSpPr>
        <p:sp>
          <p:nvSpPr>
            <p:cNvPr name="Freeform 31" id="31"/>
            <p:cNvSpPr/>
            <p:nvPr/>
          </p:nvSpPr>
          <p:spPr>
            <a:xfrm flipH="false" flipV="false" rot="0">
              <a:off x="0" y="0"/>
              <a:ext cx="6203460" cy="1101640"/>
            </a:xfrm>
            <a:custGeom>
              <a:avLst/>
              <a:gdLst/>
              <a:ahLst/>
              <a:cxnLst/>
              <a:rect r="r" b="b" t="t" l="l"/>
              <a:pathLst>
                <a:path h="1101640" w="6203460">
                  <a:moveTo>
                    <a:pt x="15646" y="0"/>
                  </a:moveTo>
                  <a:lnTo>
                    <a:pt x="6187814" y="0"/>
                  </a:lnTo>
                  <a:cubicBezTo>
                    <a:pt x="6196455" y="0"/>
                    <a:pt x="6203460" y="7005"/>
                    <a:pt x="6203460" y="15646"/>
                  </a:cubicBezTo>
                  <a:lnTo>
                    <a:pt x="6203460" y="1085994"/>
                  </a:lnTo>
                  <a:cubicBezTo>
                    <a:pt x="6203460" y="1094635"/>
                    <a:pt x="6196455" y="1101640"/>
                    <a:pt x="6187814" y="1101640"/>
                  </a:cubicBezTo>
                  <a:lnTo>
                    <a:pt x="15646" y="1101640"/>
                  </a:lnTo>
                  <a:cubicBezTo>
                    <a:pt x="7005" y="1101640"/>
                    <a:pt x="0" y="1094635"/>
                    <a:pt x="0" y="1085994"/>
                  </a:cubicBezTo>
                  <a:lnTo>
                    <a:pt x="0" y="15646"/>
                  </a:lnTo>
                  <a:cubicBezTo>
                    <a:pt x="0" y="7005"/>
                    <a:pt x="7005" y="0"/>
                    <a:pt x="15646" y="0"/>
                  </a:cubicBezTo>
                  <a:close/>
                </a:path>
              </a:pathLst>
            </a:custGeom>
            <a:solidFill>
              <a:srgbClr val="3F7E44"/>
            </a:solidFill>
            <a:ln cap="sq">
              <a:noFill/>
              <a:prstDash val="solid"/>
              <a:miter/>
            </a:ln>
          </p:spPr>
        </p:sp>
        <p:sp>
          <p:nvSpPr>
            <p:cNvPr name="TextBox 32" id="32"/>
            <p:cNvSpPr txBox="true"/>
            <p:nvPr/>
          </p:nvSpPr>
          <p:spPr>
            <a:xfrm>
              <a:off x="0" y="-38100"/>
              <a:ext cx="6203460" cy="1139740"/>
            </a:xfrm>
            <a:prstGeom prst="rect">
              <a:avLst/>
            </a:prstGeom>
          </p:spPr>
          <p:txBody>
            <a:bodyPr anchor="ctr" rtlCol="false" tIns="17593" lIns="17593" bIns="17593" rIns="17593"/>
            <a:lstStyle/>
            <a:p>
              <a:pPr algn="ctr">
                <a:lnSpc>
                  <a:spcPts val="2660"/>
                </a:lnSpc>
                <a:spcBef>
                  <a:spcPct val="0"/>
                </a:spcBef>
              </a:pPr>
            </a:p>
          </p:txBody>
        </p:sp>
      </p:grpSp>
      <p:grpSp>
        <p:nvGrpSpPr>
          <p:cNvPr name="Group 33" id="33"/>
          <p:cNvGrpSpPr/>
          <p:nvPr/>
        </p:nvGrpSpPr>
        <p:grpSpPr>
          <a:xfrm rot="0">
            <a:off x="2765734" y="6984678"/>
            <a:ext cx="8430638" cy="823887"/>
            <a:chOff x="0" y="0"/>
            <a:chExt cx="7505525" cy="733480"/>
          </a:xfrm>
        </p:grpSpPr>
        <p:sp>
          <p:nvSpPr>
            <p:cNvPr name="Freeform 34" id="34"/>
            <p:cNvSpPr/>
            <p:nvPr/>
          </p:nvSpPr>
          <p:spPr>
            <a:xfrm flipH="false" flipV="false" rot="0">
              <a:off x="3297" y="0"/>
              <a:ext cx="7498931" cy="733480"/>
            </a:xfrm>
            <a:custGeom>
              <a:avLst/>
              <a:gdLst/>
              <a:ahLst/>
              <a:cxnLst/>
              <a:rect r="r" b="b" t="t" l="l"/>
              <a:pathLst>
                <a:path h="733480" w="7498931">
                  <a:moveTo>
                    <a:pt x="213678" y="0"/>
                  </a:moveTo>
                  <a:lnTo>
                    <a:pt x="7488453" y="0"/>
                  </a:lnTo>
                  <a:cubicBezTo>
                    <a:pt x="7491726" y="0"/>
                    <a:pt x="7494811" y="1529"/>
                    <a:pt x="7496792" y="4134"/>
                  </a:cubicBezTo>
                  <a:cubicBezTo>
                    <a:pt x="7498774" y="6739"/>
                    <a:pt x="7499424" y="10121"/>
                    <a:pt x="7498551" y="13275"/>
                  </a:cubicBezTo>
                  <a:lnTo>
                    <a:pt x="7302705" y="720206"/>
                  </a:lnTo>
                  <a:cubicBezTo>
                    <a:pt x="7300532" y="728050"/>
                    <a:pt x="7293393" y="733480"/>
                    <a:pt x="7285253" y="733480"/>
                  </a:cubicBezTo>
                  <a:lnTo>
                    <a:pt x="10478" y="733480"/>
                  </a:lnTo>
                  <a:cubicBezTo>
                    <a:pt x="7205" y="733480"/>
                    <a:pt x="4120" y="731951"/>
                    <a:pt x="2138" y="729346"/>
                  </a:cubicBezTo>
                  <a:cubicBezTo>
                    <a:pt x="157" y="726741"/>
                    <a:pt x="-493" y="723360"/>
                    <a:pt x="381" y="720206"/>
                  </a:cubicBezTo>
                  <a:lnTo>
                    <a:pt x="196225" y="13275"/>
                  </a:lnTo>
                  <a:cubicBezTo>
                    <a:pt x="198399" y="5431"/>
                    <a:pt x="205538" y="0"/>
                    <a:pt x="213678" y="0"/>
                  </a:cubicBezTo>
                  <a:close/>
                </a:path>
              </a:pathLst>
            </a:custGeom>
            <a:solidFill>
              <a:srgbClr val="EDF6F9"/>
            </a:solidFill>
          </p:spPr>
        </p:sp>
        <p:sp>
          <p:nvSpPr>
            <p:cNvPr name="TextBox 35" id="35"/>
            <p:cNvSpPr txBox="true"/>
            <p:nvPr/>
          </p:nvSpPr>
          <p:spPr>
            <a:xfrm>
              <a:off x="101600" y="-38100"/>
              <a:ext cx="7302325" cy="771580"/>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2927847" y="7309508"/>
            <a:ext cx="8065045" cy="409575"/>
          </a:xfrm>
          <a:prstGeom prst="rect">
            <a:avLst/>
          </a:prstGeom>
        </p:spPr>
        <p:txBody>
          <a:bodyPr anchor="t" rtlCol="false" tIns="0" lIns="0" bIns="0" rIns="0">
            <a:spAutoFit/>
          </a:bodyPr>
          <a:lstStyle/>
          <a:p>
            <a:pPr algn="just">
              <a:lnSpc>
                <a:spcPts val="3000"/>
              </a:lnSpc>
            </a:pPr>
            <a:r>
              <a:rPr lang="en-US" sz="3000">
                <a:solidFill>
                  <a:srgbClr val="3F7E44"/>
                </a:solidFill>
                <a:latin typeface="Rubik One"/>
                <a:ea typeface="Rubik One"/>
                <a:cs typeface="Rubik One"/>
                <a:sym typeface="Rubik One"/>
              </a:rPr>
              <a:t>SDG 13 (Penanganan Perubahan Iklim)</a:t>
            </a:r>
          </a:p>
        </p:txBody>
      </p:sp>
      <p:sp>
        <p:nvSpPr>
          <p:cNvPr name="TextBox 37" id="37"/>
          <p:cNvSpPr txBox="true"/>
          <p:nvPr/>
        </p:nvSpPr>
        <p:spPr>
          <a:xfrm rot="0">
            <a:off x="3131671" y="3870907"/>
            <a:ext cx="9339981" cy="656590"/>
          </a:xfrm>
          <a:prstGeom prst="rect">
            <a:avLst/>
          </a:prstGeom>
        </p:spPr>
        <p:txBody>
          <a:bodyPr anchor="t" rtlCol="false" tIns="0" lIns="0" bIns="0" rIns="0">
            <a:spAutoFit/>
          </a:bodyPr>
          <a:lstStyle/>
          <a:p>
            <a:pPr algn="just">
              <a:lnSpc>
                <a:spcPts val="2659"/>
              </a:lnSpc>
            </a:pPr>
            <a:r>
              <a:rPr lang="en-US" sz="1899" spc="47">
                <a:solidFill>
                  <a:srgbClr val="FFFFFF"/>
                </a:solidFill>
                <a:latin typeface="Bricolage Grotesque"/>
                <a:ea typeface="Bricolage Grotesque"/>
                <a:cs typeface="Bricolage Grotesque"/>
                <a:sym typeface="Bricolage Grotesque"/>
              </a:rPr>
              <a:t>BESS b</a:t>
            </a:r>
            <a:r>
              <a:rPr lang="en-US" sz="1899" spc="47">
                <a:solidFill>
                  <a:srgbClr val="FFFFFF"/>
                </a:solidFill>
                <a:latin typeface="Bricolage Grotesque"/>
                <a:ea typeface="Bricolage Grotesque"/>
                <a:cs typeface="Bricolage Grotesque"/>
                <a:sym typeface="Bricolage Grotesque"/>
              </a:rPr>
              <a:t>ertenaga surya membantu meratakan beban puncak, menekan biaya pengisian, serta mendorong pasokan energi kendaraan listrik yang lebih bersih.</a:t>
            </a:r>
          </a:p>
        </p:txBody>
      </p:sp>
      <p:sp>
        <p:nvSpPr>
          <p:cNvPr name="TextBox 38" id="38"/>
          <p:cNvSpPr txBox="true"/>
          <p:nvPr/>
        </p:nvSpPr>
        <p:spPr>
          <a:xfrm rot="0">
            <a:off x="3054661" y="5961942"/>
            <a:ext cx="9204328" cy="656590"/>
          </a:xfrm>
          <a:prstGeom prst="rect">
            <a:avLst/>
          </a:prstGeom>
        </p:spPr>
        <p:txBody>
          <a:bodyPr anchor="t" rtlCol="false" tIns="0" lIns="0" bIns="0" rIns="0">
            <a:spAutoFit/>
          </a:bodyPr>
          <a:lstStyle/>
          <a:p>
            <a:pPr algn="just">
              <a:lnSpc>
                <a:spcPts val="2659"/>
              </a:lnSpc>
            </a:pPr>
            <a:r>
              <a:rPr lang="en-US" sz="1899" spc="47">
                <a:solidFill>
                  <a:srgbClr val="FFFFFF"/>
                </a:solidFill>
                <a:latin typeface="Bricolage Grotesque"/>
                <a:ea typeface="Bricolage Grotesque"/>
                <a:cs typeface="Bricolage Grotesque"/>
                <a:sym typeface="Bricolage Grotesque"/>
              </a:rPr>
              <a:t>Tarif di</a:t>
            </a:r>
            <a:r>
              <a:rPr lang="en-US" sz="1899" spc="47">
                <a:solidFill>
                  <a:srgbClr val="FFFFFF"/>
                </a:solidFill>
                <a:latin typeface="Bricolage Grotesque"/>
                <a:ea typeface="Bricolage Grotesque"/>
                <a:cs typeface="Bricolage Grotesque"/>
                <a:sym typeface="Bricolage Grotesque"/>
              </a:rPr>
              <a:t>namis dan integrasi navigasi prediktif mendorong pengelolaan SPKLU yang lebih adaptif, inovatif, dan tanggap terhadap kebutuhan infrastruktur.</a:t>
            </a:r>
          </a:p>
        </p:txBody>
      </p:sp>
      <p:sp>
        <p:nvSpPr>
          <p:cNvPr name="TextBox 39" id="39"/>
          <p:cNvSpPr txBox="true"/>
          <p:nvPr/>
        </p:nvSpPr>
        <p:spPr>
          <a:xfrm rot="0">
            <a:off x="3054661" y="7960965"/>
            <a:ext cx="9620815" cy="656590"/>
          </a:xfrm>
          <a:prstGeom prst="rect">
            <a:avLst/>
          </a:prstGeom>
        </p:spPr>
        <p:txBody>
          <a:bodyPr anchor="t" rtlCol="false" tIns="0" lIns="0" bIns="0" rIns="0">
            <a:spAutoFit/>
          </a:bodyPr>
          <a:lstStyle/>
          <a:p>
            <a:pPr algn="just">
              <a:lnSpc>
                <a:spcPts val="2659"/>
              </a:lnSpc>
            </a:pPr>
            <a:r>
              <a:rPr lang="en-US" sz="1899" spc="47">
                <a:solidFill>
                  <a:srgbClr val="FFFFFF"/>
                </a:solidFill>
                <a:latin typeface="Bricolage Grotesque"/>
                <a:ea typeface="Bricolage Grotesque"/>
                <a:cs typeface="Bricolage Grotesque"/>
                <a:sym typeface="Bricolage Grotesque"/>
              </a:rPr>
              <a:t>Prediks</a:t>
            </a:r>
            <a:r>
              <a:rPr lang="en-US" sz="1899" spc="47">
                <a:solidFill>
                  <a:srgbClr val="FFFFFF"/>
                </a:solidFill>
                <a:latin typeface="Bricolage Grotesque"/>
                <a:ea typeface="Bricolage Grotesque"/>
                <a:cs typeface="Bricolage Grotesque"/>
                <a:sym typeface="Bricolage Grotesque"/>
              </a:rPr>
              <a:t>i dapat membantu mengurangi kebutuhan pembangkit fosil saat puncak, sekaligus mendukung keandalan pengisian EV dan penurunan emisi transportasi. </a:t>
            </a:r>
          </a:p>
        </p:txBody>
      </p:sp>
      <p:grpSp>
        <p:nvGrpSpPr>
          <p:cNvPr name="Group 40" id="40"/>
          <p:cNvGrpSpPr/>
          <p:nvPr/>
        </p:nvGrpSpPr>
        <p:grpSpPr>
          <a:xfrm rot="0">
            <a:off x="13212066" y="3452715"/>
            <a:ext cx="1880783" cy="5021367"/>
            <a:chOff x="0" y="0"/>
            <a:chExt cx="672733" cy="1796080"/>
          </a:xfrm>
        </p:grpSpPr>
        <p:sp>
          <p:nvSpPr>
            <p:cNvPr name="Freeform 41" id="41"/>
            <p:cNvSpPr/>
            <p:nvPr/>
          </p:nvSpPr>
          <p:spPr>
            <a:xfrm flipH="false" flipV="false" rot="0">
              <a:off x="0" y="0"/>
              <a:ext cx="672733" cy="1796080"/>
            </a:xfrm>
            <a:custGeom>
              <a:avLst/>
              <a:gdLst/>
              <a:ahLst/>
              <a:cxnLst/>
              <a:rect r="r" b="b" t="t" l="l"/>
              <a:pathLst>
                <a:path h="1796080" w="672733">
                  <a:moveTo>
                    <a:pt x="246980" y="0"/>
                  </a:moveTo>
                  <a:lnTo>
                    <a:pt x="425753" y="0"/>
                  </a:lnTo>
                  <a:cubicBezTo>
                    <a:pt x="491256" y="0"/>
                    <a:pt x="554076" y="26021"/>
                    <a:pt x="600394" y="72339"/>
                  </a:cubicBezTo>
                  <a:cubicBezTo>
                    <a:pt x="646712" y="118656"/>
                    <a:pt x="672733" y="181477"/>
                    <a:pt x="672733" y="246980"/>
                  </a:cubicBezTo>
                  <a:lnTo>
                    <a:pt x="672733" y="1549100"/>
                  </a:lnTo>
                  <a:cubicBezTo>
                    <a:pt x="672733" y="1685503"/>
                    <a:pt x="562156" y="1796080"/>
                    <a:pt x="425753" y="1796080"/>
                  </a:cubicBezTo>
                  <a:lnTo>
                    <a:pt x="246980" y="1796080"/>
                  </a:lnTo>
                  <a:cubicBezTo>
                    <a:pt x="110577" y="1796080"/>
                    <a:pt x="0" y="1685503"/>
                    <a:pt x="0" y="1549100"/>
                  </a:cubicBezTo>
                  <a:lnTo>
                    <a:pt x="0" y="246980"/>
                  </a:lnTo>
                  <a:cubicBezTo>
                    <a:pt x="0" y="110577"/>
                    <a:pt x="110577" y="0"/>
                    <a:pt x="246980" y="0"/>
                  </a:cubicBezTo>
                  <a:close/>
                </a:path>
              </a:pathLst>
            </a:custGeom>
            <a:ln w="19050" cap="rnd">
              <a:solidFill>
                <a:srgbClr val="00B58F"/>
              </a:solidFill>
              <a:prstDash val="solid"/>
              <a:round/>
            </a:ln>
          </p:spPr>
        </p:sp>
        <p:sp>
          <p:nvSpPr>
            <p:cNvPr name="TextBox 42" id="42"/>
            <p:cNvSpPr txBox="true"/>
            <p:nvPr/>
          </p:nvSpPr>
          <p:spPr>
            <a:xfrm>
              <a:off x="0" y="-38100"/>
              <a:ext cx="672733" cy="1834180"/>
            </a:xfrm>
            <a:prstGeom prst="rect">
              <a:avLst/>
            </a:prstGeom>
          </p:spPr>
          <p:txBody>
            <a:bodyPr anchor="ctr" rtlCol="false" tIns="50800" lIns="50800" bIns="50800" rIns="50800"/>
            <a:lstStyle/>
            <a:p>
              <a:pPr algn="ctr">
                <a:lnSpc>
                  <a:spcPts val="2659"/>
                </a:lnSpc>
                <a:spcBef>
                  <a:spcPct val="0"/>
                </a:spcBef>
              </a:pPr>
            </a:p>
          </p:txBody>
        </p:sp>
      </p:grpSp>
      <p:grpSp>
        <p:nvGrpSpPr>
          <p:cNvPr name="Group 43" id="43"/>
          <p:cNvGrpSpPr/>
          <p:nvPr/>
        </p:nvGrpSpPr>
        <p:grpSpPr>
          <a:xfrm rot="0">
            <a:off x="13462858" y="3088884"/>
            <a:ext cx="4218214" cy="5942820"/>
            <a:chOff x="0" y="0"/>
            <a:chExt cx="4507230" cy="6350000"/>
          </a:xfrm>
        </p:grpSpPr>
        <p:sp>
          <p:nvSpPr>
            <p:cNvPr name="Freeform 44" id="44"/>
            <p:cNvSpPr/>
            <p:nvPr/>
          </p:nvSpPr>
          <p:spPr>
            <a:xfrm flipH="false" flipV="false" rot="0">
              <a:off x="0" y="0"/>
              <a:ext cx="4505960" cy="6350000"/>
            </a:xfrm>
            <a:custGeom>
              <a:avLst/>
              <a:gdLst/>
              <a:ahLst/>
              <a:cxnLst/>
              <a:rect r="r" b="b" t="t" l="l"/>
              <a:pathLst>
                <a:path h="6350000" w="4505960">
                  <a:moveTo>
                    <a:pt x="0" y="561340"/>
                  </a:moveTo>
                  <a:lnTo>
                    <a:pt x="0" y="3961130"/>
                  </a:lnTo>
                  <a:cubicBezTo>
                    <a:pt x="0" y="4272280"/>
                    <a:pt x="252730" y="4523740"/>
                    <a:pt x="562610" y="4522470"/>
                  </a:cubicBezTo>
                  <a:cubicBezTo>
                    <a:pt x="873760" y="4521200"/>
                    <a:pt x="1126490" y="4773930"/>
                    <a:pt x="1125220" y="5085080"/>
                  </a:cubicBezTo>
                  <a:lnTo>
                    <a:pt x="1123950" y="5787390"/>
                  </a:lnTo>
                  <a:cubicBezTo>
                    <a:pt x="1123950" y="6098540"/>
                    <a:pt x="1375410" y="6350000"/>
                    <a:pt x="1685290" y="6350000"/>
                  </a:cubicBezTo>
                  <a:lnTo>
                    <a:pt x="3944620" y="6350000"/>
                  </a:lnTo>
                  <a:cubicBezTo>
                    <a:pt x="4254500" y="6350000"/>
                    <a:pt x="4505960" y="6098540"/>
                    <a:pt x="4505960" y="5788660"/>
                  </a:cubicBezTo>
                  <a:lnTo>
                    <a:pt x="4505960" y="2679700"/>
                  </a:lnTo>
                  <a:cubicBezTo>
                    <a:pt x="4505960" y="2494280"/>
                    <a:pt x="4414520" y="2321560"/>
                    <a:pt x="4262120" y="2217420"/>
                  </a:cubicBezTo>
                  <a:lnTo>
                    <a:pt x="1184910" y="99060"/>
                  </a:lnTo>
                  <a:cubicBezTo>
                    <a:pt x="1090930" y="34290"/>
                    <a:pt x="980440" y="0"/>
                    <a:pt x="866140" y="0"/>
                  </a:cubicBezTo>
                  <a:lnTo>
                    <a:pt x="561340" y="0"/>
                  </a:lnTo>
                  <a:cubicBezTo>
                    <a:pt x="251460" y="0"/>
                    <a:pt x="0" y="251460"/>
                    <a:pt x="0" y="561340"/>
                  </a:cubicBezTo>
                  <a:close/>
                </a:path>
              </a:pathLst>
            </a:custGeom>
            <a:blipFill>
              <a:blip r:embed="rId10"/>
              <a:stretch>
                <a:fillRect l="-56760" t="0" r="-56760" b="0"/>
              </a:stretch>
            </a:blipFill>
          </p:spPr>
        </p:sp>
      </p:grpSp>
      <p:grpSp>
        <p:nvGrpSpPr>
          <p:cNvPr name="Group 45" id="45"/>
          <p:cNvGrpSpPr/>
          <p:nvPr/>
        </p:nvGrpSpPr>
        <p:grpSpPr>
          <a:xfrm rot="5400000">
            <a:off x="13255240" y="7998696"/>
            <a:ext cx="1354140" cy="451667"/>
            <a:chOff x="0" y="0"/>
            <a:chExt cx="2884193" cy="962009"/>
          </a:xfrm>
        </p:grpSpPr>
        <p:sp>
          <p:nvSpPr>
            <p:cNvPr name="Freeform 46" id="46"/>
            <p:cNvSpPr/>
            <p:nvPr/>
          </p:nvSpPr>
          <p:spPr>
            <a:xfrm flipH="false" flipV="false" rot="0">
              <a:off x="32443" y="0"/>
              <a:ext cx="2819307" cy="962009"/>
            </a:xfrm>
            <a:custGeom>
              <a:avLst/>
              <a:gdLst/>
              <a:ahLst/>
              <a:cxnLst/>
              <a:rect r="r" b="b" t="t" l="l"/>
              <a:pathLst>
                <a:path h="962009" w="2819307">
                  <a:moveTo>
                    <a:pt x="342274" y="0"/>
                  </a:moveTo>
                  <a:lnTo>
                    <a:pt x="2680233" y="0"/>
                  </a:lnTo>
                  <a:cubicBezTo>
                    <a:pt x="2722161" y="0"/>
                    <a:pt x="2761851" y="18916"/>
                    <a:pt x="2788257" y="51483"/>
                  </a:cubicBezTo>
                  <a:cubicBezTo>
                    <a:pt x="2814664" y="84049"/>
                    <a:pt x="2824969" y="126792"/>
                    <a:pt x="2816304" y="167814"/>
                  </a:cubicBezTo>
                  <a:lnTo>
                    <a:pt x="2683997" y="794196"/>
                  </a:lnTo>
                  <a:cubicBezTo>
                    <a:pt x="2663335" y="892014"/>
                    <a:pt x="2577010" y="962009"/>
                    <a:pt x="2477033" y="962009"/>
                  </a:cubicBezTo>
                  <a:lnTo>
                    <a:pt x="139074" y="962009"/>
                  </a:lnTo>
                  <a:cubicBezTo>
                    <a:pt x="97146" y="962009"/>
                    <a:pt x="57456" y="943094"/>
                    <a:pt x="31050" y="910527"/>
                  </a:cubicBezTo>
                  <a:cubicBezTo>
                    <a:pt x="4643" y="877960"/>
                    <a:pt x="-5661" y="835218"/>
                    <a:pt x="3003" y="794196"/>
                  </a:cubicBezTo>
                  <a:lnTo>
                    <a:pt x="135311" y="167814"/>
                  </a:lnTo>
                  <a:cubicBezTo>
                    <a:pt x="155972" y="69996"/>
                    <a:pt x="242297" y="0"/>
                    <a:pt x="342274" y="0"/>
                  </a:cubicBezTo>
                  <a:close/>
                </a:path>
              </a:pathLst>
            </a:custGeom>
            <a:solidFill>
              <a:srgbClr val="00B58F"/>
            </a:solidFill>
          </p:spPr>
        </p:sp>
        <p:sp>
          <p:nvSpPr>
            <p:cNvPr name="TextBox 47" id="47"/>
            <p:cNvSpPr txBox="true"/>
            <p:nvPr/>
          </p:nvSpPr>
          <p:spPr>
            <a:xfrm>
              <a:off x="101600" y="-38100"/>
              <a:ext cx="2680993" cy="1000109"/>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2073035">
            <a:off x="15095130" y="3144212"/>
            <a:ext cx="2969491" cy="1004297"/>
            <a:chOff x="0" y="0"/>
            <a:chExt cx="4431354" cy="1498707"/>
          </a:xfrm>
        </p:grpSpPr>
        <p:sp>
          <p:nvSpPr>
            <p:cNvPr name="Freeform 49" id="49"/>
            <p:cNvSpPr/>
            <p:nvPr/>
          </p:nvSpPr>
          <p:spPr>
            <a:xfrm flipH="false" flipV="false" rot="0">
              <a:off x="18081" y="7989"/>
              <a:ext cx="4395191" cy="1490717"/>
            </a:xfrm>
            <a:custGeom>
              <a:avLst/>
              <a:gdLst/>
              <a:ahLst/>
              <a:cxnLst/>
              <a:rect r="r" b="b" t="t" l="l"/>
              <a:pathLst>
                <a:path h="1490717" w="4395191">
                  <a:moveTo>
                    <a:pt x="2219191" y="6618"/>
                  </a:moveTo>
                  <a:lnTo>
                    <a:pt x="4391678" y="1476111"/>
                  </a:lnTo>
                  <a:cubicBezTo>
                    <a:pt x="4394586" y="1478078"/>
                    <a:pt x="4395869" y="1481713"/>
                    <a:pt x="4394840" y="1485069"/>
                  </a:cubicBezTo>
                  <a:cubicBezTo>
                    <a:pt x="4393812" y="1488426"/>
                    <a:pt x="4390712" y="1490718"/>
                    <a:pt x="4387201" y="1490718"/>
                  </a:cubicBezTo>
                  <a:lnTo>
                    <a:pt x="7991" y="1490718"/>
                  </a:lnTo>
                  <a:cubicBezTo>
                    <a:pt x="4480" y="1490718"/>
                    <a:pt x="1380" y="1488426"/>
                    <a:pt x="352" y="1485069"/>
                  </a:cubicBezTo>
                  <a:cubicBezTo>
                    <a:pt x="-677" y="1481713"/>
                    <a:pt x="606" y="1478078"/>
                    <a:pt x="3514" y="1476111"/>
                  </a:cubicBezTo>
                  <a:lnTo>
                    <a:pt x="2176001" y="6618"/>
                  </a:lnTo>
                  <a:cubicBezTo>
                    <a:pt x="2189046" y="-2205"/>
                    <a:pt x="2206146" y="-2205"/>
                    <a:pt x="2219191" y="6618"/>
                  </a:cubicBezTo>
                  <a:close/>
                </a:path>
              </a:pathLst>
            </a:custGeom>
            <a:solidFill>
              <a:srgbClr val="00B58F"/>
            </a:solidFill>
          </p:spPr>
        </p:sp>
        <p:sp>
          <p:nvSpPr>
            <p:cNvPr name="TextBox 50" id="50"/>
            <p:cNvSpPr txBox="true"/>
            <p:nvPr/>
          </p:nvSpPr>
          <p:spPr>
            <a:xfrm>
              <a:off x="692399" y="657728"/>
              <a:ext cx="3046556" cy="733928"/>
            </a:xfrm>
            <a:prstGeom prst="rect">
              <a:avLst/>
            </a:prstGeom>
          </p:spPr>
          <p:txBody>
            <a:bodyPr anchor="ctr" rtlCol="false" tIns="50800" lIns="50800" bIns="50800" rIns="50800"/>
            <a:lstStyle/>
            <a:p>
              <a:pPr algn="ctr">
                <a:lnSpc>
                  <a:spcPts val="2659"/>
                </a:lnSpc>
              </a:pPr>
            </a:p>
          </p:txBody>
        </p:sp>
      </p:grpSp>
      <p:sp>
        <p:nvSpPr>
          <p:cNvPr name="TextBox 51" id="51"/>
          <p:cNvSpPr txBox="true"/>
          <p:nvPr/>
        </p:nvSpPr>
        <p:spPr>
          <a:xfrm rot="0">
            <a:off x="14877675" y="9322533"/>
            <a:ext cx="2381625" cy="240665"/>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- 25</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5952812" y="8474412"/>
            <a:ext cx="4559724" cy="447540"/>
            <a:chOff x="0" y="0"/>
            <a:chExt cx="4059375" cy="398431"/>
          </a:xfrm>
        </p:grpSpPr>
        <p:sp>
          <p:nvSpPr>
            <p:cNvPr name="Freeform 3" id="3"/>
            <p:cNvSpPr/>
            <p:nvPr/>
          </p:nvSpPr>
          <p:spPr>
            <a:xfrm flipH="false" flipV="false" rot="0">
              <a:off x="9868" y="0"/>
              <a:ext cx="4039639" cy="398431"/>
            </a:xfrm>
            <a:custGeom>
              <a:avLst/>
              <a:gdLst/>
              <a:ahLst/>
              <a:cxnLst/>
              <a:rect r="r" b="b" t="t" l="l"/>
              <a:pathLst>
                <a:path h="398431" w="4039639">
                  <a:moveTo>
                    <a:pt x="218800" y="0"/>
                  </a:moveTo>
                  <a:lnTo>
                    <a:pt x="4024039" y="0"/>
                  </a:lnTo>
                  <a:cubicBezTo>
                    <a:pt x="4029468" y="0"/>
                    <a:pt x="4034506" y="2822"/>
                    <a:pt x="4037342" y="7452"/>
                  </a:cubicBezTo>
                  <a:cubicBezTo>
                    <a:pt x="4040177" y="12081"/>
                    <a:pt x="4040403" y="17852"/>
                    <a:pt x="4037936" y="22688"/>
                  </a:cubicBezTo>
                  <a:lnTo>
                    <a:pt x="3857878" y="375743"/>
                  </a:lnTo>
                  <a:cubicBezTo>
                    <a:pt x="3850777" y="389666"/>
                    <a:pt x="3836468" y="398431"/>
                    <a:pt x="3820839" y="398431"/>
                  </a:cubicBezTo>
                  <a:lnTo>
                    <a:pt x="15600" y="398431"/>
                  </a:lnTo>
                  <a:cubicBezTo>
                    <a:pt x="10171" y="398431"/>
                    <a:pt x="5133" y="395608"/>
                    <a:pt x="2297" y="390979"/>
                  </a:cubicBezTo>
                  <a:cubicBezTo>
                    <a:pt x="-538" y="386350"/>
                    <a:pt x="-764" y="380579"/>
                    <a:pt x="1703" y="375743"/>
                  </a:cubicBezTo>
                  <a:lnTo>
                    <a:pt x="181761" y="22688"/>
                  </a:lnTo>
                  <a:cubicBezTo>
                    <a:pt x="188862" y="8765"/>
                    <a:pt x="203171" y="0"/>
                    <a:pt x="218800" y="0"/>
                  </a:cubicBezTo>
                  <a:close/>
                </a:path>
              </a:pathLst>
            </a:custGeom>
            <a:solidFill>
              <a:srgbClr val="EDF6F9"/>
            </a:solidFill>
          </p:spPr>
        </p:sp>
        <p:sp>
          <p:nvSpPr>
            <p:cNvPr name="TextBox 4" id="4"/>
            <p:cNvSpPr txBox="true"/>
            <p:nvPr/>
          </p:nvSpPr>
          <p:spPr>
            <a:xfrm>
              <a:off x="101600" y="-38100"/>
              <a:ext cx="385617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56527" y="8473564"/>
            <a:ext cx="2473138" cy="447540"/>
            <a:chOff x="0" y="0"/>
            <a:chExt cx="2201755" cy="398431"/>
          </a:xfrm>
        </p:grpSpPr>
        <p:sp>
          <p:nvSpPr>
            <p:cNvPr name="Freeform 6" id="6"/>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7" id="7"/>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- 26</a:t>
            </a:r>
          </a:p>
        </p:txBody>
      </p:sp>
      <p:sp>
        <p:nvSpPr>
          <p:cNvPr name="TextBox 9" id="9"/>
          <p:cNvSpPr txBox="true"/>
          <p:nvPr/>
        </p:nvSpPr>
        <p:spPr>
          <a:xfrm rot="0">
            <a:off x="2616363" y="4056909"/>
            <a:ext cx="13055274" cy="2344632"/>
          </a:xfrm>
          <a:prstGeom prst="rect">
            <a:avLst/>
          </a:prstGeom>
        </p:spPr>
        <p:txBody>
          <a:bodyPr anchor="t" rtlCol="false" tIns="0" lIns="0" bIns="0" rIns="0">
            <a:spAutoFit/>
          </a:bodyPr>
          <a:lstStyle/>
          <a:p>
            <a:pPr algn="ctr">
              <a:lnSpc>
                <a:spcPts val="9058"/>
              </a:lnSpc>
            </a:pPr>
            <a:r>
              <a:rPr lang="en-US" sz="9058">
                <a:solidFill>
                  <a:srgbClr val="0B132B"/>
                </a:solidFill>
                <a:latin typeface="Rubik One"/>
                <a:ea typeface="Rubik One"/>
                <a:cs typeface="Rubik One"/>
                <a:sym typeface="Rubik One"/>
              </a:rPr>
              <a:t>DASHBOARD </a:t>
            </a:r>
            <a:r>
              <a:rPr lang="en-US" sz="9058">
                <a:solidFill>
                  <a:srgbClr val="00B58F"/>
                </a:solidFill>
                <a:latin typeface="Rubik One"/>
                <a:ea typeface="Rubik One"/>
                <a:cs typeface="Rubik One"/>
                <a:sym typeface="Rubik One"/>
              </a:rPr>
              <a:t>DEPLOYMENT</a:t>
            </a:r>
          </a:p>
        </p:txBody>
      </p:sp>
      <p:grpSp>
        <p:nvGrpSpPr>
          <p:cNvPr name="Group 10" id="10"/>
          <p:cNvGrpSpPr/>
          <p:nvPr/>
        </p:nvGrpSpPr>
        <p:grpSpPr>
          <a:xfrm rot="0">
            <a:off x="7270483" y="3272198"/>
            <a:ext cx="3747034" cy="613261"/>
            <a:chOff x="0" y="0"/>
            <a:chExt cx="4996045" cy="817681"/>
          </a:xfrm>
        </p:grpSpPr>
        <p:grpSp>
          <p:nvGrpSpPr>
            <p:cNvPr name="Group 11" id="11"/>
            <p:cNvGrpSpPr/>
            <p:nvPr/>
          </p:nvGrpSpPr>
          <p:grpSpPr>
            <a:xfrm rot="0">
              <a:off x="802794" y="0"/>
              <a:ext cx="1140217" cy="813012"/>
              <a:chOff x="0" y="0"/>
              <a:chExt cx="407622" cy="290648"/>
            </a:xfrm>
          </p:grpSpPr>
          <p:sp>
            <p:nvSpPr>
              <p:cNvPr name="Freeform 12" id="12"/>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3" id="13"/>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4" id="14"/>
            <p:cNvGrpSpPr/>
            <p:nvPr/>
          </p:nvGrpSpPr>
          <p:grpSpPr>
            <a:xfrm rot="0">
              <a:off x="1586425" y="4669"/>
              <a:ext cx="1140217" cy="813012"/>
              <a:chOff x="0" y="0"/>
              <a:chExt cx="407622" cy="290648"/>
            </a:xfrm>
          </p:grpSpPr>
          <p:sp>
            <p:nvSpPr>
              <p:cNvPr name="Freeform 15" id="15"/>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6" id="16"/>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17" id="17"/>
            <p:cNvGrpSpPr/>
            <p:nvPr/>
          </p:nvGrpSpPr>
          <p:grpSpPr>
            <a:xfrm rot="0">
              <a:off x="2355240" y="4669"/>
              <a:ext cx="1140217" cy="813012"/>
              <a:chOff x="0" y="0"/>
              <a:chExt cx="407622" cy="290648"/>
            </a:xfrm>
          </p:grpSpPr>
          <p:sp>
            <p:nvSpPr>
              <p:cNvPr name="Freeform 18" id="18"/>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19" id="19"/>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0" id="20"/>
            <p:cNvGrpSpPr/>
            <p:nvPr/>
          </p:nvGrpSpPr>
          <p:grpSpPr>
            <a:xfrm rot="0">
              <a:off x="3087013" y="4669"/>
              <a:ext cx="1140217" cy="813012"/>
              <a:chOff x="0" y="0"/>
              <a:chExt cx="407622" cy="290648"/>
            </a:xfrm>
          </p:grpSpPr>
          <p:sp>
            <p:nvSpPr>
              <p:cNvPr name="Freeform 21" id="21"/>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22" id="22"/>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3" id="23"/>
            <p:cNvGrpSpPr/>
            <p:nvPr/>
          </p:nvGrpSpPr>
          <p:grpSpPr>
            <a:xfrm rot="0">
              <a:off x="3855828" y="4669"/>
              <a:ext cx="1140217" cy="813012"/>
              <a:chOff x="0" y="0"/>
              <a:chExt cx="407622" cy="290648"/>
            </a:xfrm>
          </p:grpSpPr>
          <p:sp>
            <p:nvSpPr>
              <p:cNvPr name="Freeform 24" id="24"/>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25" id="25"/>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nvGrpSpPr>
            <p:cNvPr name="Group 26" id="26"/>
            <p:cNvGrpSpPr/>
            <p:nvPr/>
          </p:nvGrpSpPr>
          <p:grpSpPr>
            <a:xfrm rot="0">
              <a:off x="0" y="0"/>
              <a:ext cx="1140217" cy="813012"/>
              <a:chOff x="0" y="0"/>
              <a:chExt cx="407622" cy="290648"/>
            </a:xfrm>
          </p:grpSpPr>
          <p:sp>
            <p:nvSpPr>
              <p:cNvPr name="Freeform 27" id="27"/>
              <p:cNvSpPr/>
              <p:nvPr/>
            </p:nvSpPr>
            <p:spPr>
              <a:xfrm flipH="false" flipV="false" rot="0">
                <a:off x="48956" y="0"/>
                <a:ext cx="309710" cy="290648"/>
              </a:xfrm>
              <a:custGeom>
                <a:avLst/>
                <a:gdLst/>
                <a:ahLst/>
                <a:cxnLst/>
                <a:rect r="r" b="b" t="t" l="l"/>
                <a:pathLst>
                  <a:path h="290648" w="309710">
                    <a:moveTo>
                      <a:pt x="256455" y="0"/>
                    </a:moveTo>
                    <a:lnTo>
                      <a:pt x="256455" y="0"/>
                    </a:lnTo>
                    <a:cubicBezTo>
                      <a:pt x="276307" y="0"/>
                      <a:pt x="294511" y="11042"/>
                      <a:pt x="303684" y="28647"/>
                    </a:cubicBezTo>
                    <a:cubicBezTo>
                      <a:pt x="312857" y="46253"/>
                      <a:pt x="311476" y="67499"/>
                      <a:pt x="300101" y="83769"/>
                    </a:cubicBezTo>
                    <a:lnTo>
                      <a:pt x="214031" y="206879"/>
                    </a:lnTo>
                    <a:cubicBezTo>
                      <a:pt x="177329" y="259376"/>
                      <a:pt x="117309" y="290648"/>
                      <a:pt x="53255" y="290648"/>
                    </a:cubicBezTo>
                    <a:lnTo>
                      <a:pt x="53255" y="290648"/>
                    </a:lnTo>
                    <a:cubicBezTo>
                      <a:pt x="33403" y="290648"/>
                      <a:pt x="15199" y="279606"/>
                      <a:pt x="6026" y="262001"/>
                    </a:cubicBezTo>
                    <a:cubicBezTo>
                      <a:pt x="-3147" y="244395"/>
                      <a:pt x="-1766" y="223149"/>
                      <a:pt x="9609" y="206879"/>
                    </a:cubicBezTo>
                    <a:lnTo>
                      <a:pt x="95679" y="83769"/>
                    </a:lnTo>
                    <a:cubicBezTo>
                      <a:pt x="132381" y="31272"/>
                      <a:pt x="192401" y="0"/>
                      <a:pt x="256455" y="0"/>
                    </a:cubicBezTo>
                    <a:close/>
                  </a:path>
                </a:pathLst>
              </a:custGeom>
              <a:solidFill>
                <a:srgbClr val="00B58F"/>
              </a:solidFill>
            </p:spPr>
          </p:sp>
          <p:sp>
            <p:nvSpPr>
              <p:cNvPr name="TextBox 28" id="28"/>
              <p:cNvSpPr txBox="true"/>
              <p:nvPr/>
            </p:nvSpPr>
            <p:spPr>
              <a:xfrm>
                <a:off x="101600" y="-38100"/>
                <a:ext cx="204422" cy="328748"/>
              </a:xfrm>
              <a:prstGeom prst="rect">
                <a:avLst/>
              </a:prstGeom>
            </p:spPr>
            <p:txBody>
              <a:bodyPr anchor="ctr" rtlCol="false" tIns="44466" lIns="44466" bIns="44466" rIns="44466"/>
              <a:lstStyle/>
              <a:p>
                <a:pPr algn="ctr">
                  <a:lnSpc>
                    <a:spcPts val="2659"/>
                  </a:lnSpc>
                </a:pPr>
              </a:p>
            </p:txBody>
          </p:sp>
        </p:grpSp>
      </p:grpSp>
      <p:grpSp>
        <p:nvGrpSpPr>
          <p:cNvPr name="Group 29" id="29"/>
          <p:cNvGrpSpPr/>
          <p:nvPr/>
        </p:nvGrpSpPr>
        <p:grpSpPr>
          <a:xfrm rot="0">
            <a:off x="11502671" y="9960324"/>
            <a:ext cx="9960587" cy="1142074"/>
            <a:chOff x="0" y="0"/>
            <a:chExt cx="2572779" cy="294993"/>
          </a:xfrm>
        </p:grpSpPr>
        <p:sp>
          <p:nvSpPr>
            <p:cNvPr name="Freeform 30" id="3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31" id="3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0">
            <a:off x="-5959063" y="-784283"/>
            <a:ext cx="9960587" cy="1142074"/>
            <a:chOff x="0" y="0"/>
            <a:chExt cx="2572779" cy="294993"/>
          </a:xfrm>
        </p:grpSpPr>
        <p:sp>
          <p:nvSpPr>
            <p:cNvPr name="Freeform 33" id="3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34" id="3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grpSp>
        <p:nvGrpSpPr>
          <p:cNvPr name="Group 2" id="2"/>
          <p:cNvGrpSpPr/>
          <p:nvPr/>
        </p:nvGrpSpPr>
        <p:grpSpPr>
          <a:xfrm rot="0">
            <a:off x="5952812" y="8474412"/>
            <a:ext cx="4559724" cy="447540"/>
            <a:chOff x="0" y="0"/>
            <a:chExt cx="4059375" cy="398431"/>
          </a:xfrm>
        </p:grpSpPr>
        <p:sp>
          <p:nvSpPr>
            <p:cNvPr name="Freeform 3" id="3"/>
            <p:cNvSpPr/>
            <p:nvPr/>
          </p:nvSpPr>
          <p:spPr>
            <a:xfrm flipH="false" flipV="false" rot="0">
              <a:off x="9868" y="0"/>
              <a:ext cx="4039639" cy="398431"/>
            </a:xfrm>
            <a:custGeom>
              <a:avLst/>
              <a:gdLst/>
              <a:ahLst/>
              <a:cxnLst/>
              <a:rect r="r" b="b" t="t" l="l"/>
              <a:pathLst>
                <a:path h="398431" w="4039639">
                  <a:moveTo>
                    <a:pt x="218800" y="0"/>
                  </a:moveTo>
                  <a:lnTo>
                    <a:pt x="4024039" y="0"/>
                  </a:lnTo>
                  <a:cubicBezTo>
                    <a:pt x="4029468" y="0"/>
                    <a:pt x="4034506" y="2822"/>
                    <a:pt x="4037342" y="7452"/>
                  </a:cubicBezTo>
                  <a:cubicBezTo>
                    <a:pt x="4040177" y="12081"/>
                    <a:pt x="4040403" y="17852"/>
                    <a:pt x="4037936" y="22688"/>
                  </a:cubicBezTo>
                  <a:lnTo>
                    <a:pt x="3857878" y="375743"/>
                  </a:lnTo>
                  <a:cubicBezTo>
                    <a:pt x="3850777" y="389666"/>
                    <a:pt x="3836468" y="398431"/>
                    <a:pt x="3820839" y="398431"/>
                  </a:cubicBezTo>
                  <a:lnTo>
                    <a:pt x="15600" y="398431"/>
                  </a:lnTo>
                  <a:cubicBezTo>
                    <a:pt x="10171" y="398431"/>
                    <a:pt x="5133" y="395608"/>
                    <a:pt x="2297" y="390979"/>
                  </a:cubicBezTo>
                  <a:cubicBezTo>
                    <a:pt x="-538" y="386350"/>
                    <a:pt x="-764" y="380579"/>
                    <a:pt x="1703" y="375743"/>
                  </a:cubicBezTo>
                  <a:lnTo>
                    <a:pt x="181761" y="22688"/>
                  </a:lnTo>
                  <a:cubicBezTo>
                    <a:pt x="188862" y="8765"/>
                    <a:pt x="203171" y="0"/>
                    <a:pt x="218800" y="0"/>
                  </a:cubicBezTo>
                  <a:close/>
                </a:path>
              </a:pathLst>
            </a:custGeom>
            <a:solidFill>
              <a:srgbClr val="EDF6F9"/>
            </a:solidFill>
          </p:spPr>
        </p:sp>
        <p:sp>
          <p:nvSpPr>
            <p:cNvPr name="TextBox 4" id="4"/>
            <p:cNvSpPr txBox="true"/>
            <p:nvPr/>
          </p:nvSpPr>
          <p:spPr>
            <a:xfrm>
              <a:off x="101600" y="-38100"/>
              <a:ext cx="3856175" cy="43653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956527" y="8473564"/>
            <a:ext cx="2473138" cy="447540"/>
            <a:chOff x="0" y="0"/>
            <a:chExt cx="2201755" cy="398431"/>
          </a:xfrm>
        </p:grpSpPr>
        <p:sp>
          <p:nvSpPr>
            <p:cNvPr name="Freeform 6" id="6"/>
            <p:cNvSpPr/>
            <p:nvPr/>
          </p:nvSpPr>
          <p:spPr>
            <a:xfrm flipH="false" flipV="false" rot="0">
              <a:off x="18194" y="0"/>
              <a:ext cx="2165368" cy="398431"/>
            </a:xfrm>
            <a:custGeom>
              <a:avLst/>
              <a:gdLst/>
              <a:ahLst/>
              <a:cxnLst/>
              <a:rect r="r" b="b" t="t" l="l"/>
              <a:pathLst>
                <a:path h="398431" w="2165368">
                  <a:moveTo>
                    <a:pt x="231962" y="0"/>
                  </a:moveTo>
                  <a:lnTo>
                    <a:pt x="2136605" y="0"/>
                  </a:lnTo>
                  <a:cubicBezTo>
                    <a:pt x="2146614" y="0"/>
                    <a:pt x="2155904" y="5204"/>
                    <a:pt x="2161132" y="13739"/>
                  </a:cubicBezTo>
                  <a:cubicBezTo>
                    <a:pt x="2166360" y="22274"/>
                    <a:pt x="2166775" y="32914"/>
                    <a:pt x="2162228" y="41830"/>
                  </a:cubicBezTo>
                  <a:lnTo>
                    <a:pt x="2001694" y="356601"/>
                  </a:lnTo>
                  <a:cubicBezTo>
                    <a:pt x="1988602" y="382271"/>
                    <a:pt x="1962221" y="398431"/>
                    <a:pt x="1933405" y="398431"/>
                  </a:cubicBezTo>
                  <a:lnTo>
                    <a:pt x="28762" y="398431"/>
                  </a:lnTo>
                  <a:cubicBezTo>
                    <a:pt x="18753" y="398431"/>
                    <a:pt x="9463" y="393227"/>
                    <a:pt x="4235" y="384692"/>
                  </a:cubicBezTo>
                  <a:cubicBezTo>
                    <a:pt x="-993" y="376157"/>
                    <a:pt x="-1408" y="365517"/>
                    <a:pt x="3139" y="356601"/>
                  </a:cubicBezTo>
                  <a:lnTo>
                    <a:pt x="163673" y="41830"/>
                  </a:lnTo>
                  <a:cubicBezTo>
                    <a:pt x="176764" y="16160"/>
                    <a:pt x="203146" y="0"/>
                    <a:pt x="231962" y="0"/>
                  </a:cubicBezTo>
                  <a:close/>
                </a:path>
              </a:pathLst>
            </a:custGeom>
            <a:solidFill>
              <a:srgbClr val="EDF6F9"/>
            </a:solidFill>
          </p:spPr>
        </p:sp>
        <p:sp>
          <p:nvSpPr>
            <p:cNvPr name="TextBox 7" id="7"/>
            <p:cNvSpPr txBox="true"/>
            <p:nvPr/>
          </p:nvSpPr>
          <p:spPr>
            <a:xfrm>
              <a:off x="101600" y="-38100"/>
              <a:ext cx="1998555" cy="436531"/>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- 27</a:t>
            </a:r>
          </a:p>
        </p:txBody>
      </p:sp>
      <p:grpSp>
        <p:nvGrpSpPr>
          <p:cNvPr name="Group 9" id="9"/>
          <p:cNvGrpSpPr/>
          <p:nvPr/>
        </p:nvGrpSpPr>
        <p:grpSpPr>
          <a:xfrm rot="0">
            <a:off x="-3150242" y="9960324"/>
            <a:ext cx="9960587" cy="1142074"/>
            <a:chOff x="0" y="0"/>
            <a:chExt cx="2572779" cy="294993"/>
          </a:xfrm>
        </p:grpSpPr>
        <p:sp>
          <p:nvSpPr>
            <p:cNvPr name="Freeform 10" id="10"/>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11" id="11"/>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4338615" y="-784283"/>
            <a:ext cx="12457569" cy="1142074"/>
            <a:chOff x="0" y="0"/>
            <a:chExt cx="3217739" cy="294993"/>
          </a:xfrm>
        </p:grpSpPr>
        <p:sp>
          <p:nvSpPr>
            <p:cNvPr name="Freeform 13" id="13"/>
            <p:cNvSpPr/>
            <p:nvPr/>
          </p:nvSpPr>
          <p:spPr>
            <a:xfrm flipH="false" flipV="false" rot="0">
              <a:off x="0" y="0"/>
              <a:ext cx="3217739" cy="294993"/>
            </a:xfrm>
            <a:custGeom>
              <a:avLst/>
              <a:gdLst/>
              <a:ahLst/>
              <a:cxnLst/>
              <a:rect r="r" b="b" t="t" l="l"/>
              <a:pathLst>
                <a:path h="294993" w="3217739">
                  <a:moveTo>
                    <a:pt x="37288" y="0"/>
                  </a:moveTo>
                  <a:lnTo>
                    <a:pt x="3180451" y="0"/>
                  </a:lnTo>
                  <a:cubicBezTo>
                    <a:pt x="3201045" y="0"/>
                    <a:pt x="3217739" y="16694"/>
                    <a:pt x="3217739" y="37288"/>
                  </a:cubicBezTo>
                  <a:lnTo>
                    <a:pt x="3217739" y="257705"/>
                  </a:lnTo>
                  <a:cubicBezTo>
                    <a:pt x="3217739" y="267595"/>
                    <a:pt x="3213811" y="277079"/>
                    <a:pt x="3206818" y="284072"/>
                  </a:cubicBezTo>
                  <a:cubicBezTo>
                    <a:pt x="3199825" y="291064"/>
                    <a:pt x="3190341" y="294993"/>
                    <a:pt x="3180451" y="294993"/>
                  </a:cubicBezTo>
                  <a:lnTo>
                    <a:pt x="37288" y="294993"/>
                  </a:lnTo>
                  <a:cubicBezTo>
                    <a:pt x="16694" y="294993"/>
                    <a:pt x="0" y="278299"/>
                    <a:pt x="0" y="257705"/>
                  </a:cubicBezTo>
                  <a:lnTo>
                    <a:pt x="0" y="37288"/>
                  </a:lnTo>
                  <a:cubicBezTo>
                    <a:pt x="0" y="16694"/>
                    <a:pt x="16694" y="0"/>
                    <a:pt x="37288" y="0"/>
                  </a:cubicBezTo>
                  <a:close/>
                </a:path>
              </a:pathLst>
            </a:custGeom>
            <a:ln w="19050" cap="rnd">
              <a:solidFill>
                <a:srgbClr val="00B58F"/>
              </a:solidFill>
              <a:prstDash val="solid"/>
              <a:round/>
            </a:ln>
          </p:spPr>
        </p:sp>
        <p:sp>
          <p:nvSpPr>
            <p:cNvPr name="TextBox 14" id="14"/>
            <p:cNvSpPr txBox="true"/>
            <p:nvPr/>
          </p:nvSpPr>
          <p:spPr>
            <a:xfrm>
              <a:off x="0" y="-38100"/>
              <a:ext cx="321773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5541011" y="1028700"/>
            <a:ext cx="7205979" cy="7167252"/>
            <a:chOff x="0" y="0"/>
            <a:chExt cx="9607972" cy="9556337"/>
          </a:xfrm>
        </p:grpSpPr>
        <p:grpSp>
          <p:nvGrpSpPr>
            <p:cNvPr name="Group 16" id="16"/>
            <p:cNvGrpSpPr/>
            <p:nvPr/>
          </p:nvGrpSpPr>
          <p:grpSpPr>
            <a:xfrm rot="0">
              <a:off x="0" y="0"/>
              <a:ext cx="9607972" cy="9556337"/>
              <a:chOff x="0" y="0"/>
              <a:chExt cx="635070" cy="631657"/>
            </a:xfrm>
          </p:grpSpPr>
          <p:sp>
            <p:nvSpPr>
              <p:cNvPr name="Freeform 17" id="17"/>
              <p:cNvSpPr/>
              <p:nvPr/>
            </p:nvSpPr>
            <p:spPr>
              <a:xfrm flipH="false" flipV="false" rot="0">
                <a:off x="0" y="0"/>
                <a:ext cx="635070" cy="631657"/>
              </a:xfrm>
              <a:custGeom>
                <a:avLst/>
                <a:gdLst/>
                <a:ahLst/>
                <a:cxnLst/>
                <a:rect r="r" b="b" t="t" l="l"/>
                <a:pathLst>
                  <a:path h="631657" w="635070">
                    <a:moveTo>
                      <a:pt x="31488" y="0"/>
                    </a:moveTo>
                    <a:lnTo>
                      <a:pt x="603582" y="0"/>
                    </a:lnTo>
                    <a:cubicBezTo>
                      <a:pt x="611933" y="0"/>
                      <a:pt x="619943" y="3317"/>
                      <a:pt x="625848" y="9223"/>
                    </a:cubicBezTo>
                    <a:cubicBezTo>
                      <a:pt x="631753" y="15128"/>
                      <a:pt x="635070" y="23137"/>
                      <a:pt x="635070" y="31488"/>
                    </a:cubicBezTo>
                    <a:lnTo>
                      <a:pt x="635070" y="600169"/>
                    </a:lnTo>
                    <a:cubicBezTo>
                      <a:pt x="635070" y="617560"/>
                      <a:pt x="620973" y="631657"/>
                      <a:pt x="603582" y="631657"/>
                    </a:cubicBezTo>
                    <a:lnTo>
                      <a:pt x="31488" y="631657"/>
                    </a:lnTo>
                    <a:cubicBezTo>
                      <a:pt x="23137" y="631657"/>
                      <a:pt x="15128" y="628340"/>
                      <a:pt x="9223" y="622435"/>
                    </a:cubicBezTo>
                    <a:cubicBezTo>
                      <a:pt x="3317" y="616530"/>
                      <a:pt x="0" y="608521"/>
                      <a:pt x="0" y="600169"/>
                    </a:cubicBezTo>
                    <a:lnTo>
                      <a:pt x="0" y="31488"/>
                    </a:lnTo>
                    <a:cubicBezTo>
                      <a:pt x="0" y="14098"/>
                      <a:pt x="14098" y="0"/>
                      <a:pt x="31488" y="0"/>
                    </a:cubicBezTo>
                    <a:close/>
                  </a:path>
                </a:pathLst>
              </a:custGeom>
              <a:solidFill>
                <a:srgbClr val="00B58F"/>
              </a:solidFill>
              <a:ln cap="sq">
                <a:noFill/>
                <a:prstDash val="solid"/>
                <a:miter/>
              </a:ln>
            </p:spPr>
          </p:sp>
          <p:sp>
            <p:nvSpPr>
              <p:cNvPr name="TextBox 18" id="18"/>
              <p:cNvSpPr txBox="true"/>
              <p:nvPr/>
            </p:nvSpPr>
            <p:spPr>
              <a:xfrm>
                <a:off x="0" y="-38100"/>
                <a:ext cx="635070" cy="669757"/>
              </a:xfrm>
              <a:prstGeom prst="rect">
                <a:avLst/>
              </a:prstGeom>
            </p:spPr>
            <p:txBody>
              <a:bodyPr anchor="ctr" rtlCol="false" tIns="50800" lIns="50800" bIns="50800" rIns="50800"/>
              <a:lstStyle/>
              <a:p>
                <a:pPr algn="ctr">
                  <a:lnSpc>
                    <a:spcPts val="2660"/>
                  </a:lnSpc>
                  <a:spcBef>
                    <a:spcPct val="0"/>
                  </a:spcBef>
                </a:pPr>
              </a:p>
            </p:txBody>
          </p:sp>
        </p:grpSp>
        <p:sp>
          <p:nvSpPr>
            <p:cNvPr name="Freeform 19" id="19"/>
            <p:cNvSpPr/>
            <p:nvPr/>
          </p:nvSpPr>
          <p:spPr>
            <a:xfrm flipH="false" flipV="false" rot="0">
              <a:off x="1049243" y="939950"/>
              <a:ext cx="7688687" cy="7688687"/>
            </a:xfrm>
            <a:custGeom>
              <a:avLst/>
              <a:gdLst/>
              <a:ahLst/>
              <a:cxnLst/>
              <a:rect r="r" b="b" t="t" l="l"/>
              <a:pathLst>
                <a:path h="7688687" w="7688687">
                  <a:moveTo>
                    <a:pt x="0" y="0"/>
                  </a:moveTo>
                  <a:lnTo>
                    <a:pt x="7688687" y="0"/>
                  </a:lnTo>
                  <a:lnTo>
                    <a:pt x="7688687" y="7688687"/>
                  </a:lnTo>
                  <a:lnTo>
                    <a:pt x="0" y="7688687"/>
                  </a:lnTo>
                  <a:lnTo>
                    <a:pt x="0" y="0"/>
                  </a:lnTo>
                  <a:close/>
                </a:path>
              </a:pathLst>
            </a:custGeom>
            <a:blipFill>
              <a:blip r:embed="rId2"/>
              <a:stretch>
                <a:fillRect l="0" t="0" r="0" b="0"/>
              </a:stretch>
            </a:blipFill>
          </p:spPr>
        </p:sp>
      </p:grpSp>
      <p:grpSp>
        <p:nvGrpSpPr>
          <p:cNvPr name="Group 20" id="20"/>
          <p:cNvGrpSpPr/>
          <p:nvPr/>
        </p:nvGrpSpPr>
        <p:grpSpPr>
          <a:xfrm rot="0">
            <a:off x="6589950" y="8474412"/>
            <a:ext cx="5108100" cy="909814"/>
            <a:chOff x="0" y="0"/>
            <a:chExt cx="6810800" cy="1213085"/>
          </a:xfrm>
        </p:grpSpPr>
        <p:sp>
          <p:nvSpPr>
            <p:cNvPr name="TextBox 21" id="21"/>
            <p:cNvSpPr txBox="true"/>
            <p:nvPr/>
          </p:nvSpPr>
          <p:spPr>
            <a:xfrm rot="0">
              <a:off x="0" y="-47625"/>
              <a:ext cx="6810800" cy="572681"/>
            </a:xfrm>
            <a:prstGeom prst="rect">
              <a:avLst/>
            </a:prstGeom>
          </p:spPr>
          <p:txBody>
            <a:bodyPr anchor="t" rtlCol="false" tIns="0" lIns="0" bIns="0" rIns="0">
              <a:spAutoFit/>
            </a:bodyPr>
            <a:lstStyle/>
            <a:p>
              <a:pPr algn="l" marL="0" indent="0" lvl="0">
                <a:lnSpc>
                  <a:spcPts val="3654"/>
                </a:lnSpc>
                <a:spcBef>
                  <a:spcPct val="0"/>
                </a:spcBef>
              </a:pPr>
              <a:r>
                <a:rPr lang="en-US" b="true" sz="2610" spc="65">
                  <a:solidFill>
                    <a:srgbClr val="0B132B"/>
                  </a:solidFill>
                  <a:latin typeface="Bricolage Grotesque Bold"/>
                  <a:ea typeface="Bricolage Grotesque Bold"/>
                  <a:cs typeface="Bricolage Grotesque Bold"/>
                  <a:sym typeface="Bricolage Grotesque Bold"/>
                </a:rPr>
                <a:t>Liv</a:t>
              </a:r>
              <a:r>
                <a:rPr lang="en-US" b="true" sz="2610" spc="65" strike="noStrike" u="none">
                  <a:solidFill>
                    <a:srgbClr val="0B132B"/>
                  </a:solidFill>
                  <a:latin typeface="Bricolage Grotesque Bold"/>
                  <a:ea typeface="Bricolage Grotesque Bold"/>
                  <a:cs typeface="Bricolage Grotesque Bold"/>
                  <a:sym typeface="Bricolage Grotesque Bold"/>
                </a:rPr>
                <a:t>e </a:t>
              </a:r>
              <a:r>
                <a:rPr lang="en-US" b="true" sz="2610" spc="65" strike="noStrike" u="none">
                  <a:solidFill>
                    <a:srgbClr val="0B132B"/>
                  </a:solidFill>
                  <a:latin typeface="Bricolage Grotesque Bold"/>
                  <a:ea typeface="Bricolage Grotesque Bold"/>
                  <a:cs typeface="Bricolage Grotesque Bold"/>
                  <a:sym typeface="Bricolage Grotesque Bold"/>
                </a:rPr>
                <a:t>Das</a:t>
              </a:r>
              <a:r>
                <a:rPr lang="en-US" b="true" sz="2610" spc="65" strike="noStrike" u="none">
                  <a:solidFill>
                    <a:srgbClr val="0B132B"/>
                  </a:solidFill>
                  <a:latin typeface="Bricolage Grotesque Bold"/>
                  <a:ea typeface="Bricolage Grotesque Bold"/>
                  <a:cs typeface="Bricolage Grotesque Bold"/>
                  <a:sym typeface="Bricolage Grotesque Bold"/>
                </a:rPr>
                <a:t>h</a:t>
              </a:r>
              <a:r>
                <a:rPr lang="en-US" b="true" sz="2610" spc="65" strike="noStrike" u="none">
                  <a:solidFill>
                    <a:srgbClr val="0B132B"/>
                  </a:solidFill>
                  <a:latin typeface="Bricolage Grotesque Bold"/>
                  <a:ea typeface="Bricolage Grotesque Bold"/>
                  <a:cs typeface="Bricolage Grotesque Bold"/>
                  <a:sym typeface="Bricolage Grotesque Bold"/>
                </a:rPr>
                <a:t>board</a:t>
              </a:r>
              <a:r>
                <a:rPr lang="en-US" b="true" sz="2610" spc="65" strike="noStrike" u="none">
                  <a:solidFill>
                    <a:srgbClr val="0B132B"/>
                  </a:solidFill>
                  <a:latin typeface="Bricolage Grotesque Bold"/>
                  <a:ea typeface="Bricolage Grotesque Bold"/>
                  <a:cs typeface="Bricolage Grotesque Bold"/>
                  <a:sym typeface="Bricolage Grotesque Bold"/>
                </a:rPr>
                <a:t> </a:t>
              </a:r>
              <a:r>
                <a:rPr lang="en-US" b="true" sz="2610" spc="65" strike="noStrike" u="none">
                  <a:solidFill>
                    <a:srgbClr val="0B132B"/>
                  </a:solidFill>
                  <a:latin typeface="Bricolage Grotesque Bold"/>
                  <a:ea typeface="Bricolage Grotesque Bold"/>
                  <a:cs typeface="Bricolage Grotesque Bold"/>
                  <a:sym typeface="Bricolage Grotesque Bold"/>
                </a:rPr>
                <a:t>&amp;</a:t>
              </a:r>
              <a:r>
                <a:rPr lang="en-US" b="true" sz="2610" spc="65" strike="noStrike" u="none">
                  <a:solidFill>
                    <a:srgbClr val="0B132B"/>
                  </a:solidFill>
                  <a:latin typeface="Bricolage Grotesque Bold"/>
                  <a:ea typeface="Bricolage Grotesque Bold"/>
                  <a:cs typeface="Bricolage Grotesque Bold"/>
                  <a:sym typeface="Bricolage Grotesque Bold"/>
                </a:rPr>
                <a:t> </a:t>
              </a:r>
              <a:r>
                <a:rPr lang="en-US" b="true" sz="2610" spc="65" strike="noStrike" u="none">
                  <a:solidFill>
                    <a:srgbClr val="0B132B"/>
                  </a:solidFill>
                  <a:latin typeface="Bricolage Grotesque Bold"/>
                  <a:ea typeface="Bricolage Grotesque Bold"/>
                  <a:cs typeface="Bricolage Grotesque Bold"/>
                  <a:sym typeface="Bricolage Grotesque Bold"/>
                </a:rPr>
                <a:t>R</a:t>
              </a:r>
              <a:r>
                <a:rPr lang="en-US" b="true" sz="2610" spc="65" strike="noStrike" u="none">
                  <a:solidFill>
                    <a:srgbClr val="0B132B"/>
                  </a:solidFill>
                  <a:latin typeface="Bricolage Grotesque Bold"/>
                  <a:ea typeface="Bricolage Grotesque Bold"/>
                  <a:cs typeface="Bricolage Grotesque Bold"/>
                  <a:sym typeface="Bricolage Grotesque Bold"/>
                </a:rPr>
                <a:t>e</a:t>
              </a:r>
              <a:r>
                <a:rPr lang="en-US" b="true" sz="2610" spc="65" strike="noStrike" u="none">
                  <a:solidFill>
                    <a:srgbClr val="0B132B"/>
                  </a:solidFill>
                  <a:latin typeface="Bricolage Grotesque Bold"/>
                  <a:ea typeface="Bricolage Grotesque Bold"/>
                  <a:cs typeface="Bricolage Grotesque Bold"/>
                  <a:sym typeface="Bricolage Grotesque Bold"/>
                </a:rPr>
                <a:t>po</a:t>
              </a:r>
              <a:r>
                <a:rPr lang="en-US" b="true" sz="2610" spc="65" strike="noStrike" u="none">
                  <a:solidFill>
                    <a:srgbClr val="0B132B"/>
                  </a:solidFill>
                  <a:latin typeface="Bricolage Grotesque Bold"/>
                  <a:ea typeface="Bricolage Grotesque Bold"/>
                  <a:cs typeface="Bricolage Grotesque Bold"/>
                  <a:sym typeface="Bricolage Grotesque Bold"/>
                </a:rPr>
                <a:t>s</a:t>
              </a:r>
              <a:r>
                <a:rPr lang="en-US" b="true" sz="2610" spc="65" strike="noStrike" u="none">
                  <a:solidFill>
                    <a:srgbClr val="0B132B"/>
                  </a:solidFill>
                  <a:latin typeface="Bricolage Grotesque Bold"/>
                  <a:ea typeface="Bricolage Grotesque Bold"/>
                  <a:cs typeface="Bricolage Grotesque Bold"/>
                  <a:sym typeface="Bricolage Grotesque Bold"/>
                </a:rPr>
                <a:t>i</a:t>
              </a:r>
              <a:r>
                <a:rPr lang="en-US" b="true" sz="2610" spc="65" strike="noStrike" u="none">
                  <a:solidFill>
                    <a:srgbClr val="0B132B"/>
                  </a:solidFill>
                  <a:latin typeface="Bricolage Grotesque Bold"/>
                  <a:ea typeface="Bricolage Grotesque Bold"/>
                  <a:cs typeface="Bricolage Grotesque Bold"/>
                  <a:sym typeface="Bricolage Grotesque Bold"/>
                </a:rPr>
                <a:t>t</a:t>
              </a:r>
              <a:r>
                <a:rPr lang="en-US" b="true" sz="2610" spc="65" strike="noStrike" u="none">
                  <a:solidFill>
                    <a:srgbClr val="0B132B"/>
                  </a:solidFill>
                  <a:latin typeface="Bricolage Grotesque Bold"/>
                  <a:ea typeface="Bricolage Grotesque Bold"/>
                  <a:cs typeface="Bricolage Grotesque Bold"/>
                  <a:sym typeface="Bricolage Grotesque Bold"/>
                </a:rPr>
                <a:t>o</a:t>
              </a:r>
              <a:r>
                <a:rPr lang="en-US" b="true" sz="2610" spc="65" strike="noStrike" u="none">
                  <a:solidFill>
                    <a:srgbClr val="0B132B"/>
                  </a:solidFill>
                  <a:latin typeface="Bricolage Grotesque Bold"/>
                  <a:ea typeface="Bricolage Grotesque Bold"/>
                  <a:cs typeface="Bricolage Grotesque Bold"/>
                  <a:sym typeface="Bricolage Grotesque Bold"/>
                </a:rPr>
                <a:t>r</a:t>
              </a:r>
              <a:r>
                <a:rPr lang="en-US" b="true" sz="2610" spc="65" strike="noStrike" u="none">
                  <a:solidFill>
                    <a:srgbClr val="0B132B"/>
                  </a:solidFill>
                  <a:latin typeface="Bricolage Grotesque Bold"/>
                  <a:ea typeface="Bricolage Grotesque Bold"/>
                  <a:cs typeface="Bricolage Grotesque Bold"/>
                  <a:sym typeface="Bricolage Grotesque Bold"/>
                </a:rPr>
                <a:t>y</a:t>
              </a:r>
            </a:p>
          </p:txBody>
        </p:sp>
        <p:sp>
          <p:nvSpPr>
            <p:cNvPr name="TextBox 22" id="22"/>
            <p:cNvSpPr txBox="true"/>
            <p:nvPr/>
          </p:nvSpPr>
          <p:spPr>
            <a:xfrm rot="0">
              <a:off x="0" y="640404"/>
              <a:ext cx="6272151" cy="572681"/>
            </a:xfrm>
            <a:prstGeom prst="rect">
              <a:avLst/>
            </a:prstGeom>
          </p:spPr>
          <p:txBody>
            <a:bodyPr anchor="t" rtlCol="false" tIns="0" lIns="0" bIns="0" rIns="0">
              <a:spAutoFit/>
            </a:bodyPr>
            <a:lstStyle/>
            <a:p>
              <a:pPr algn="just">
                <a:lnSpc>
                  <a:spcPts val="3654"/>
                </a:lnSpc>
              </a:pPr>
              <a:r>
                <a:rPr lang="en-US" sz="2610" spc="65">
                  <a:solidFill>
                    <a:srgbClr val="0B132B"/>
                  </a:solidFill>
                  <a:latin typeface="Bricolage Grotesque"/>
                  <a:ea typeface="Bricolage Grotesque"/>
                  <a:cs typeface="Bricolage Grotesque"/>
                  <a:sym typeface="Bricolage Grotesque"/>
                </a:rPr>
                <a:t>chargeiq-isfest.vercel.app</a:t>
              </a:r>
            </a:p>
          </p:txBody>
        </p:sp>
      </p:grpSp>
      <p:grpSp>
        <p:nvGrpSpPr>
          <p:cNvPr name="Group 23" id="23"/>
          <p:cNvGrpSpPr/>
          <p:nvPr/>
        </p:nvGrpSpPr>
        <p:grpSpPr>
          <a:xfrm rot="0">
            <a:off x="1028700" y="793061"/>
            <a:ext cx="4463067" cy="235560"/>
            <a:chOff x="0" y="0"/>
            <a:chExt cx="5950756" cy="314080"/>
          </a:xfrm>
        </p:grpSpPr>
        <p:sp>
          <p:nvSpPr>
            <p:cNvPr name="Freeform 24" id="24"/>
            <p:cNvSpPr/>
            <p:nvPr/>
          </p:nvSpPr>
          <p:spPr>
            <a:xfrm flipH="false" flipV="false" rot="0">
              <a:off x="0" y="20768"/>
              <a:ext cx="305848" cy="243566"/>
            </a:xfrm>
            <a:custGeom>
              <a:avLst/>
              <a:gdLst/>
              <a:ahLst/>
              <a:cxnLst/>
              <a:rect r="r" b="b" t="t" l="l"/>
              <a:pathLst>
                <a:path h="243566" w="305848">
                  <a:moveTo>
                    <a:pt x="0" y="0"/>
                  </a:moveTo>
                  <a:lnTo>
                    <a:pt x="305848" y="0"/>
                  </a:lnTo>
                  <a:lnTo>
                    <a:pt x="305848" y="243565"/>
                  </a:lnTo>
                  <a:lnTo>
                    <a:pt x="0" y="2435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5" id="25"/>
            <p:cNvSpPr txBox="true"/>
            <p:nvPr/>
          </p:nvSpPr>
          <p:spPr>
            <a:xfrm rot="0">
              <a:off x="432430" y="-38100"/>
              <a:ext cx="5518326" cy="352180"/>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DF6F9"/>
        </a:solidFill>
      </p:bgPr>
    </p:bg>
    <p:spTree>
      <p:nvGrpSpPr>
        <p:cNvPr id="1" name=""/>
        <p:cNvGrpSpPr/>
        <p:nvPr/>
      </p:nvGrpSpPr>
      <p:grpSpPr>
        <a:xfrm>
          <a:off x="0" y="0"/>
          <a:ext cx="0" cy="0"/>
          <a:chOff x="0" y="0"/>
          <a:chExt cx="0" cy="0"/>
        </a:xfrm>
      </p:grpSpPr>
      <p:sp>
        <p:nvSpPr>
          <p:cNvPr name="Freeform 2" id="2"/>
          <p:cNvSpPr/>
          <p:nvPr/>
        </p:nvSpPr>
        <p:spPr>
          <a:xfrm flipH="false" flipV="false" rot="0">
            <a:off x="10226750" y="1325479"/>
            <a:ext cx="268503" cy="213826"/>
          </a:xfrm>
          <a:custGeom>
            <a:avLst/>
            <a:gdLst/>
            <a:ahLst/>
            <a:cxnLst/>
            <a:rect r="r" b="b" t="t" l="l"/>
            <a:pathLst>
              <a:path h="213826" w="268503">
                <a:moveTo>
                  <a:pt x="0" y="0"/>
                </a:moveTo>
                <a:lnTo>
                  <a:pt x="268503" y="0"/>
                </a:lnTo>
                <a:lnTo>
                  <a:pt x="268503" y="213826"/>
                </a:lnTo>
                <a:lnTo>
                  <a:pt x="0" y="2138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64646" y="821953"/>
            <a:ext cx="4583015" cy="8032825"/>
            <a:chOff x="0" y="0"/>
            <a:chExt cx="1183774" cy="2074846"/>
          </a:xfrm>
        </p:grpSpPr>
        <p:sp>
          <p:nvSpPr>
            <p:cNvPr name="Freeform 4" id="4"/>
            <p:cNvSpPr/>
            <p:nvPr/>
          </p:nvSpPr>
          <p:spPr>
            <a:xfrm flipH="false" flipV="false" rot="0">
              <a:off x="0" y="0"/>
              <a:ext cx="1183774" cy="2074846"/>
            </a:xfrm>
            <a:custGeom>
              <a:avLst/>
              <a:gdLst/>
              <a:ahLst/>
              <a:cxnLst/>
              <a:rect r="r" b="b" t="t" l="l"/>
              <a:pathLst>
                <a:path h="2074846" w="1183774">
                  <a:moveTo>
                    <a:pt x="101356" y="0"/>
                  </a:moveTo>
                  <a:lnTo>
                    <a:pt x="1082418" y="0"/>
                  </a:lnTo>
                  <a:cubicBezTo>
                    <a:pt x="1138396" y="0"/>
                    <a:pt x="1183774" y="45379"/>
                    <a:pt x="1183774" y="101356"/>
                  </a:cubicBezTo>
                  <a:lnTo>
                    <a:pt x="1183774" y="1973490"/>
                  </a:lnTo>
                  <a:cubicBezTo>
                    <a:pt x="1183774" y="2029467"/>
                    <a:pt x="1138396" y="2074846"/>
                    <a:pt x="1082418" y="2074846"/>
                  </a:cubicBezTo>
                  <a:lnTo>
                    <a:pt x="101356" y="2074846"/>
                  </a:lnTo>
                  <a:cubicBezTo>
                    <a:pt x="74475" y="2074846"/>
                    <a:pt x="48694" y="2064167"/>
                    <a:pt x="29686" y="2045160"/>
                  </a:cubicBezTo>
                  <a:cubicBezTo>
                    <a:pt x="10679" y="2026152"/>
                    <a:pt x="0" y="2000372"/>
                    <a:pt x="0" y="1973490"/>
                  </a:cubicBezTo>
                  <a:lnTo>
                    <a:pt x="0" y="101356"/>
                  </a:lnTo>
                  <a:cubicBezTo>
                    <a:pt x="0" y="45379"/>
                    <a:pt x="45379" y="0"/>
                    <a:pt x="101356" y="0"/>
                  </a:cubicBezTo>
                  <a:close/>
                </a:path>
              </a:pathLst>
            </a:custGeom>
            <a:ln w="19050" cap="rnd">
              <a:solidFill>
                <a:srgbClr val="00B58F"/>
              </a:solidFill>
              <a:prstDash val="solid"/>
              <a:round/>
            </a:ln>
          </p:spPr>
        </p:sp>
        <p:sp>
          <p:nvSpPr>
            <p:cNvPr name="TextBox 5" id="5"/>
            <p:cNvSpPr txBox="true"/>
            <p:nvPr/>
          </p:nvSpPr>
          <p:spPr>
            <a:xfrm>
              <a:off x="0" y="-38100"/>
              <a:ext cx="1183774" cy="2112946"/>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839271" y="1042175"/>
            <a:ext cx="5329489" cy="8229600"/>
            <a:chOff x="0" y="0"/>
            <a:chExt cx="4112260" cy="6350000"/>
          </a:xfrm>
        </p:grpSpPr>
        <p:sp>
          <p:nvSpPr>
            <p:cNvPr name="Freeform 7" id="7"/>
            <p:cNvSpPr/>
            <p:nvPr/>
          </p:nvSpPr>
          <p:spPr>
            <a:xfrm flipH="false" flipV="false" rot="0">
              <a:off x="0" y="0"/>
              <a:ext cx="4112260" cy="6350000"/>
            </a:xfrm>
            <a:custGeom>
              <a:avLst/>
              <a:gdLst/>
              <a:ahLst/>
              <a:cxnLst/>
              <a:rect r="r" b="b" t="t" l="l"/>
              <a:pathLst>
                <a:path h="6350000" w="411226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4"/>
              <a:stretch>
                <a:fillRect l="-101975" t="0" r="-29794" b="0"/>
              </a:stretch>
            </a:blipFill>
          </p:spPr>
        </p:sp>
      </p:grpSp>
      <p:sp>
        <p:nvSpPr>
          <p:cNvPr name="Freeform 8" id="8"/>
          <p:cNvSpPr/>
          <p:nvPr/>
        </p:nvSpPr>
        <p:spPr>
          <a:xfrm flipH="false" flipV="false" rot="0">
            <a:off x="5666775" y="2709357"/>
            <a:ext cx="4188528" cy="6755690"/>
          </a:xfrm>
          <a:custGeom>
            <a:avLst/>
            <a:gdLst/>
            <a:ahLst/>
            <a:cxnLst/>
            <a:rect r="r" b="b" t="t" l="l"/>
            <a:pathLst>
              <a:path h="6755690" w="4188528">
                <a:moveTo>
                  <a:pt x="0" y="0"/>
                </a:moveTo>
                <a:lnTo>
                  <a:pt x="4188527" y="0"/>
                </a:lnTo>
                <a:lnTo>
                  <a:pt x="4188527" y="6755690"/>
                </a:lnTo>
                <a:lnTo>
                  <a:pt x="0" y="6755690"/>
                </a:lnTo>
                <a:lnTo>
                  <a:pt x="0" y="0"/>
                </a:lnTo>
                <a:close/>
              </a:path>
            </a:pathLst>
          </a:custGeom>
          <a:blipFill>
            <a:blip r:embed="rId5"/>
            <a:stretch>
              <a:fillRect l="0" t="0" r="0" b="0"/>
            </a:stretch>
          </a:blipFill>
        </p:spPr>
      </p:sp>
      <p:grpSp>
        <p:nvGrpSpPr>
          <p:cNvPr name="Group 9" id="9"/>
          <p:cNvGrpSpPr/>
          <p:nvPr/>
        </p:nvGrpSpPr>
        <p:grpSpPr>
          <a:xfrm rot="0">
            <a:off x="6315654" y="2901375"/>
            <a:ext cx="2879468" cy="6216744"/>
            <a:chOff x="0" y="0"/>
            <a:chExt cx="692799" cy="1495748"/>
          </a:xfrm>
        </p:grpSpPr>
        <p:sp>
          <p:nvSpPr>
            <p:cNvPr name="Freeform 10" id="10"/>
            <p:cNvSpPr/>
            <p:nvPr/>
          </p:nvSpPr>
          <p:spPr>
            <a:xfrm flipH="false" flipV="false" rot="0">
              <a:off x="0" y="0"/>
              <a:ext cx="692799" cy="1495748"/>
            </a:xfrm>
            <a:custGeom>
              <a:avLst/>
              <a:gdLst/>
              <a:ahLst/>
              <a:cxnLst/>
              <a:rect r="r" b="b" t="t" l="l"/>
              <a:pathLst>
                <a:path h="1495748" w="692799">
                  <a:moveTo>
                    <a:pt x="67217" y="0"/>
                  </a:moveTo>
                  <a:lnTo>
                    <a:pt x="625583" y="0"/>
                  </a:lnTo>
                  <a:cubicBezTo>
                    <a:pt x="662705" y="0"/>
                    <a:pt x="692799" y="30094"/>
                    <a:pt x="692799" y="67217"/>
                  </a:cubicBezTo>
                  <a:lnTo>
                    <a:pt x="692799" y="1428531"/>
                  </a:lnTo>
                  <a:cubicBezTo>
                    <a:pt x="692799" y="1465654"/>
                    <a:pt x="662705" y="1495748"/>
                    <a:pt x="625583" y="1495748"/>
                  </a:cubicBezTo>
                  <a:lnTo>
                    <a:pt x="67217" y="1495748"/>
                  </a:lnTo>
                  <a:cubicBezTo>
                    <a:pt x="49390" y="1495748"/>
                    <a:pt x="32293" y="1488666"/>
                    <a:pt x="19687" y="1476060"/>
                  </a:cubicBezTo>
                  <a:cubicBezTo>
                    <a:pt x="7082" y="1463455"/>
                    <a:pt x="0" y="1446358"/>
                    <a:pt x="0" y="1428531"/>
                  </a:cubicBezTo>
                  <a:lnTo>
                    <a:pt x="0" y="67217"/>
                  </a:lnTo>
                  <a:cubicBezTo>
                    <a:pt x="0" y="30094"/>
                    <a:pt x="30094" y="0"/>
                    <a:pt x="67217" y="0"/>
                  </a:cubicBezTo>
                  <a:close/>
                </a:path>
              </a:pathLst>
            </a:custGeom>
            <a:solidFill>
              <a:srgbClr val="FFFFFF"/>
            </a:solidFill>
          </p:spPr>
        </p:sp>
        <p:sp>
          <p:nvSpPr>
            <p:cNvPr name="TextBox 11" id="11"/>
            <p:cNvSpPr txBox="true"/>
            <p:nvPr/>
          </p:nvSpPr>
          <p:spPr>
            <a:xfrm>
              <a:off x="0" y="-38100"/>
              <a:ext cx="692799" cy="1533848"/>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6534911" y="6375480"/>
            <a:ext cx="2452255" cy="712208"/>
            <a:chOff x="0" y="0"/>
            <a:chExt cx="590012" cy="171357"/>
          </a:xfrm>
        </p:grpSpPr>
        <p:sp>
          <p:nvSpPr>
            <p:cNvPr name="Freeform 13" id="13"/>
            <p:cNvSpPr/>
            <p:nvPr/>
          </p:nvSpPr>
          <p:spPr>
            <a:xfrm flipH="false" flipV="false" rot="0">
              <a:off x="0" y="0"/>
              <a:ext cx="590012" cy="171357"/>
            </a:xfrm>
            <a:custGeom>
              <a:avLst/>
              <a:gdLst/>
              <a:ahLst/>
              <a:cxnLst/>
              <a:rect r="r" b="b" t="t" l="l"/>
              <a:pathLst>
                <a:path h="171357" w="590012">
                  <a:moveTo>
                    <a:pt x="31571" y="0"/>
                  </a:moveTo>
                  <a:lnTo>
                    <a:pt x="558441" y="0"/>
                  </a:lnTo>
                  <a:cubicBezTo>
                    <a:pt x="566814" y="0"/>
                    <a:pt x="574845" y="3326"/>
                    <a:pt x="580765" y="9247"/>
                  </a:cubicBezTo>
                  <a:cubicBezTo>
                    <a:pt x="586686" y="15167"/>
                    <a:pt x="590012" y="23198"/>
                    <a:pt x="590012" y="31571"/>
                  </a:cubicBezTo>
                  <a:lnTo>
                    <a:pt x="590012" y="139786"/>
                  </a:lnTo>
                  <a:cubicBezTo>
                    <a:pt x="590012" y="148160"/>
                    <a:pt x="586686" y="156190"/>
                    <a:pt x="580765" y="162110"/>
                  </a:cubicBezTo>
                  <a:cubicBezTo>
                    <a:pt x="574845" y="168031"/>
                    <a:pt x="566814" y="171357"/>
                    <a:pt x="558441" y="171357"/>
                  </a:cubicBezTo>
                  <a:lnTo>
                    <a:pt x="31571" y="171357"/>
                  </a:lnTo>
                  <a:cubicBezTo>
                    <a:pt x="23198" y="171357"/>
                    <a:pt x="15167" y="168031"/>
                    <a:pt x="9247" y="162110"/>
                  </a:cubicBezTo>
                  <a:cubicBezTo>
                    <a:pt x="3326" y="156190"/>
                    <a:pt x="0" y="148160"/>
                    <a:pt x="0" y="139786"/>
                  </a:cubicBezTo>
                  <a:lnTo>
                    <a:pt x="0" y="31571"/>
                  </a:lnTo>
                  <a:cubicBezTo>
                    <a:pt x="0" y="23198"/>
                    <a:pt x="3326" y="15167"/>
                    <a:pt x="9247" y="9247"/>
                  </a:cubicBezTo>
                  <a:cubicBezTo>
                    <a:pt x="15167" y="3326"/>
                    <a:pt x="23198" y="0"/>
                    <a:pt x="31571" y="0"/>
                  </a:cubicBezTo>
                  <a:close/>
                </a:path>
              </a:pathLst>
            </a:custGeom>
            <a:solidFill>
              <a:srgbClr val="00B58F"/>
            </a:solidFill>
            <a:ln cap="sq">
              <a:noFill/>
              <a:prstDash val="solid"/>
              <a:miter/>
            </a:ln>
          </p:spPr>
        </p:sp>
        <p:sp>
          <p:nvSpPr>
            <p:cNvPr name="TextBox 14" id="14"/>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534911" y="7255164"/>
            <a:ext cx="2452255" cy="712208"/>
            <a:chOff x="0" y="0"/>
            <a:chExt cx="590012" cy="171357"/>
          </a:xfrm>
        </p:grpSpPr>
        <p:sp>
          <p:nvSpPr>
            <p:cNvPr name="Freeform 16" id="16"/>
            <p:cNvSpPr/>
            <p:nvPr/>
          </p:nvSpPr>
          <p:spPr>
            <a:xfrm flipH="false" flipV="false" rot="0">
              <a:off x="0" y="0"/>
              <a:ext cx="590012" cy="171357"/>
            </a:xfrm>
            <a:custGeom>
              <a:avLst/>
              <a:gdLst/>
              <a:ahLst/>
              <a:cxnLst/>
              <a:rect r="r" b="b" t="t" l="l"/>
              <a:pathLst>
                <a:path h="171357" w="590012">
                  <a:moveTo>
                    <a:pt x="31571" y="0"/>
                  </a:moveTo>
                  <a:lnTo>
                    <a:pt x="558441" y="0"/>
                  </a:lnTo>
                  <a:cubicBezTo>
                    <a:pt x="566814" y="0"/>
                    <a:pt x="574845" y="3326"/>
                    <a:pt x="580765" y="9247"/>
                  </a:cubicBezTo>
                  <a:cubicBezTo>
                    <a:pt x="586686" y="15167"/>
                    <a:pt x="590012" y="23198"/>
                    <a:pt x="590012" y="31571"/>
                  </a:cubicBezTo>
                  <a:lnTo>
                    <a:pt x="590012" y="139786"/>
                  </a:lnTo>
                  <a:cubicBezTo>
                    <a:pt x="590012" y="148160"/>
                    <a:pt x="586686" y="156190"/>
                    <a:pt x="580765" y="162110"/>
                  </a:cubicBezTo>
                  <a:cubicBezTo>
                    <a:pt x="574845" y="168031"/>
                    <a:pt x="566814" y="171357"/>
                    <a:pt x="558441" y="171357"/>
                  </a:cubicBezTo>
                  <a:lnTo>
                    <a:pt x="31571" y="171357"/>
                  </a:lnTo>
                  <a:cubicBezTo>
                    <a:pt x="23198" y="171357"/>
                    <a:pt x="15167" y="168031"/>
                    <a:pt x="9247" y="162110"/>
                  </a:cubicBezTo>
                  <a:cubicBezTo>
                    <a:pt x="3326" y="156190"/>
                    <a:pt x="0" y="148160"/>
                    <a:pt x="0" y="139786"/>
                  </a:cubicBezTo>
                  <a:lnTo>
                    <a:pt x="0" y="31571"/>
                  </a:lnTo>
                  <a:cubicBezTo>
                    <a:pt x="0" y="23198"/>
                    <a:pt x="3326" y="15167"/>
                    <a:pt x="9247" y="9247"/>
                  </a:cubicBezTo>
                  <a:cubicBezTo>
                    <a:pt x="15167" y="3326"/>
                    <a:pt x="23198" y="0"/>
                    <a:pt x="31571" y="0"/>
                  </a:cubicBezTo>
                  <a:close/>
                </a:path>
              </a:pathLst>
            </a:custGeom>
            <a:solidFill>
              <a:srgbClr val="00B58F"/>
            </a:solidFill>
            <a:ln cap="sq">
              <a:noFill/>
              <a:prstDash val="solid"/>
              <a:miter/>
            </a:ln>
          </p:spPr>
        </p:sp>
        <p:sp>
          <p:nvSpPr>
            <p:cNvPr name="TextBox 17" id="17"/>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6534911" y="8134849"/>
            <a:ext cx="2452255" cy="712208"/>
            <a:chOff x="0" y="0"/>
            <a:chExt cx="590012" cy="171357"/>
          </a:xfrm>
        </p:grpSpPr>
        <p:sp>
          <p:nvSpPr>
            <p:cNvPr name="Freeform 19" id="19"/>
            <p:cNvSpPr/>
            <p:nvPr/>
          </p:nvSpPr>
          <p:spPr>
            <a:xfrm flipH="false" flipV="false" rot="0">
              <a:off x="0" y="0"/>
              <a:ext cx="590012" cy="171357"/>
            </a:xfrm>
            <a:custGeom>
              <a:avLst/>
              <a:gdLst/>
              <a:ahLst/>
              <a:cxnLst/>
              <a:rect r="r" b="b" t="t" l="l"/>
              <a:pathLst>
                <a:path h="171357" w="590012">
                  <a:moveTo>
                    <a:pt x="31571" y="0"/>
                  </a:moveTo>
                  <a:lnTo>
                    <a:pt x="558441" y="0"/>
                  </a:lnTo>
                  <a:cubicBezTo>
                    <a:pt x="566814" y="0"/>
                    <a:pt x="574845" y="3326"/>
                    <a:pt x="580765" y="9247"/>
                  </a:cubicBezTo>
                  <a:cubicBezTo>
                    <a:pt x="586686" y="15167"/>
                    <a:pt x="590012" y="23198"/>
                    <a:pt x="590012" y="31571"/>
                  </a:cubicBezTo>
                  <a:lnTo>
                    <a:pt x="590012" y="139786"/>
                  </a:lnTo>
                  <a:cubicBezTo>
                    <a:pt x="590012" y="148160"/>
                    <a:pt x="586686" y="156190"/>
                    <a:pt x="580765" y="162110"/>
                  </a:cubicBezTo>
                  <a:cubicBezTo>
                    <a:pt x="574845" y="168031"/>
                    <a:pt x="566814" y="171357"/>
                    <a:pt x="558441" y="171357"/>
                  </a:cubicBezTo>
                  <a:lnTo>
                    <a:pt x="31571" y="171357"/>
                  </a:lnTo>
                  <a:cubicBezTo>
                    <a:pt x="23198" y="171357"/>
                    <a:pt x="15167" y="168031"/>
                    <a:pt x="9247" y="162110"/>
                  </a:cubicBezTo>
                  <a:cubicBezTo>
                    <a:pt x="3326" y="156190"/>
                    <a:pt x="0" y="148160"/>
                    <a:pt x="0" y="139786"/>
                  </a:cubicBezTo>
                  <a:lnTo>
                    <a:pt x="0" y="31571"/>
                  </a:lnTo>
                  <a:cubicBezTo>
                    <a:pt x="0" y="23198"/>
                    <a:pt x="3326" y="15167"/>
                    <a:pt x="9247" y="9247"/>
                  </a:cubicBezTo>
                  <a:cubicBezTo>
                    <a:pt x="15167" y="3326"/>
                    <a:pt x="23198" y="0"/>
                    <a:pt x="31571" y="0"/>
                  </a:cubicBezTo>
                  <a:close/>
                </a:path>
              </a:pathLst>
            </a:custGeom>
            <a:solidFill>
              <a:srgbClr val="00B58F"/>
            </a:solidFill>
            <a:ln cap="sq">
              <a:noFill/>
              <a:prstDash val="solid"/>
              <a:miter/>
            </a:ln>
          </p:spPr>
        </p:sp>
        <p:sp>
          <p:nvSpPr>
            <p:cNvPr name="TextBox 20" id="20"/>
            <p:cNvSpPr txBox="true"/>
            <p:nvPr/>
          </p:nvSpPr>
          <p:spPr>
            <a:xfrm>
              <a:off x="0" y="-38100"/>
              <a:ext cx="590012" cy="209457"/>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3006848" y="8387483"/>
            <a:ext cx="467526" cy="490724"/>
          </a:xfrm>
          <a:custGeom>
            <a:avLst/>
            <a:gdLst/>
            <a:ahLst/>
            <a:cxnLst/>
            <a:rect r="r" b="b" t="t" l="l"/>
            <a:pathLst>
              <a:path h="490724" w="467526">
                <a:moveTo>
                  <a:pt x="0" y="0"/>
                </a:moveTo>
                <a:lnTo>
                  <a:pt x="467526" y="0"/>
                </a:lnTo>
                <a:lnTo>
                  <a:pt x="467526" y="490724"/>
                </a:lnTo>
                <a:lnTo>
                  <a:pt x="0" y="4907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2" id="22"/>
          <p:cNvGrpSpPr/>
          <p:nvPr/>
        </p:nvGrpSpPr>
        <p:grpSpPr>
          <a:xfrm rot="0">
            <a:off x="11502671" y="9960324"/>
            <a:ext cx="9960587" cy="1142074"/>
            <a:chOff x="0" y="0"/>
            <a:chExt cx="2572779" cy="294993"/>
          </a:xfrm>
        </p:grpSpPr>
        <p:sp>
          <p:nvSpPr>
            <p:cNvPr name="Freeform 23" id="23"/>
            <p:cNvSpPr/>
            <p:nvPr/>
          </p:nvSpPr>
          <p:spPr>
            <a:xfrm flipH="false" flipV="false" rot="0">
              <a:off x="0" y="0"/>
              <a:ext cx="2572779" cy="294993"/>
            </a:xfrm>
            <a:custGeom>
              <a:avLst/>
              <a:gdLst/>
              <a:ahLst/>
              <a:cxnLst/>
              <a:rect r="r" b="b" t="t" l="l"/>
              <a:pathLst>
                <a:path h="294993" w="2572779">
                  <a:moveTo>
                    <a:pt x="46635" y="0"/>
                  </a:moveTo>
                  <a:lnTo>
                    <a:pt x="2526144" y="0"/>
                  </a:lnTo>
                  <a:cubicBezTo>
                    <a:pt x="2551900" y="0"/>
                    <a:pt x="2572779" y="20879"/>
                    <a:pt x="2572779" y="46635"/>
                  </a:cubicBezTo>
                  <a:lnTo>
                    <a:pt x="2572779" y="248358"/>
                  </a:lnTo>
                  <a:cubicBezTo>
                    <a:pt x="2572779" y="260726"/>
                    <a:pt x="2567866" y="272588"/>
                    <a:pt x="2559120" y="281334"/>
                  </a:cubicBezTo>
                  <a:cubicBezTo>
                    <a:pt x="2550374" y="290080"/>
                    <a:pt x="2538512" y="294993"/>
                    <a:pt x="2526144" y="294993"/>
                  </a:cubicBezTo>
                  <a:lnTo>
                    <a:pt x="46635" y="294993"/>
                  </a:lnTo>
                  <a:cubicBezTo>
                    <a:pt x="20879" y="294993"/>
                    <a:pt x="0" y="274114"/>
                    <a:pt x="0" y="248358"/>
                  </a:cubicBezTo>
                  <a:lnTo>
                    <a:pt x="0" y="46635"/>
                  </a:lnTo>
                  <a:cubicBezTo>
                    <a:pt x="0" y="20879"/>
                    <a:pt x="20879" y="0"/>
                    <a:pt x="46635" y="0"/>
                  </a:cubicBezTo>
                  <a:close/>
                </a:path>
              </a:pathLst>
            </a:custGeom>
            <a:ln w="19050" cap="rnd">
              <a:solidFill>
                <a:srgbClr val="00B58F"/>
              </a:solidFill>
              <a:prstDash val="solid"/>
              <a:round/>
            </a:ln>
          </p:spPr>
        </p:sp>
        <p:sp>
          <p:nvSpPr>
            <p:cNvPr name="TextBox 24" id="24"/>
            <p:cNvSpPr txBox="true"/>
            <p:nvPr/>
          </p:nvSpPr>
          <p:spPr>
            <a:xfrm>
              <a:off x="0" y="-38100"/>
              <a:ext cx="2572779" cy="333093"/>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5959063" y="-784283"/>
            <a:ext cx="13801709" cy="1142074"/>
            <a:chOff x="0" y="0"/>
            <a:chExt cx="3564925" cy="294993"/>
          </a:xfrm>
        </p:grpSpPr>
        <p:sp>
          <p:nvSpPr>
            <p:cNvPr name="Freeform 26" id="26"/>
            <p:cNvSpPr/>
            <p:nvPr/>
          </p:nvSpPr>
          <p:spPr>
            <a:xfrm flipH="false" flipV="false" rot="0">
              <a:off x="0" y="0"/>
              <a:ext cx="3564925" cy="294993"/>
            </a:xfrm>
            <a:custGeom>
              <a:avLst/>
              <a:gdLst/>
              <a:ahLst/>
              <a:cxnLst/>
              <a:rect r="r" b="b" t="t" l="l"/>
              <a:pathLst>
                <a:path h="294993" w="3564925">
                  <a:moveTo>
                    <a:pt x="33656" y="0"/>
                  </a:moveTo>
                  <a:lnTo>
                    <a:pt x="3531269" y="0"/>
                  </a:lnTo>
                  <a:cubicBezTo>
                    <a:pt x="3549857" y="0"/>
                    <a:pt x="3564925" y="15068"/>
                    <a:pt x="3564925" y="33656"/>
                  </a:cubicBezTo>
                  <a:lnTo>
                    <a:pt x="3564925" y="261337"/>
                  </a:lnTo>
                  <a:cubicBezTo>
                    <a:pt x="3564925" y="279925"/>
                    <a:pt x="3549857" y="294993"/>
                    <a:pt x="3531269" y="294993"/>
                  </a:cubicBezTo>
                  <a:lnTo>
                    <a:pt x="33656" y="294993"/>
                  </a:lnTo>
                  <a:cubicBezTo>
                    <a:pt x="15068" y="294993"/>
                    <a:pt x="0" y="279925"/>
                    <a:pt x="0" y="261337"/>
                  </a:cubicBezTo>
                  <a:lnTo>
                    <a:pt x="0" y="33656"/>
                  </a:lnTo>
                  <a:cubicBezTo>
                    <a:pt x="0" y="15068"/>
                    <a:pt x="15068" y="0"/>
                    <a:pt x="33656" y="0"/>
                  </a:cubicBezTo>
                  <a:close/>
                </a:path>
              </a:pathLst>
            </a:custGeom>
            <a:ln w="19050" cap="rnd">
              <a:solidFill>
                <a:srgbClr val="00B58F"/>
              </a:solidFill>
              <a:prstDash val="solid"/>
              <a:round/>
            </a:ln>
          </p:spPr>
        </p:sp>
        <p:sp>
          <p:nvSpPr>
            <p:cNvPr name="TextBox 27" id="27"/>
            <p:cNvSpPr txBox="true"/>
            <p:nvPr/>
          </p:nvSpPr>
          <p:spPr>
            <a:xfrm>
              <a:off x="0" y="-38100"/>
              <a:ext cx="3564925" cy="333093"/>
            </a:xfrm>
            <a:prstGeom prst="rect">
              <a:avLst/>
            </a:prstGeom>
          </p:spPr>
          <p:txBody>
            <a:bodyPr anchor="ctr" rtlCol="false" tIns="50800" lIns="50800" bIns="50800" rIns="50800"/>
            <a:lstStyle/>
            <a:p>
              <a:pPr algn="ctr">
                <a:lnSpc>
                  <a:spcPts val="2659"/>
                </a:lnSpc>
                <a:spcBef>
                  <a:spcPct val="0"/>
                </a:spcBef>
              </a:pPr>
            </a:p>
          </p:txBody>
        </p:sp>
      </p:grpSp>
      <p:sp>
        <p:nvSpPr>
          <p:cNvPr name="Freeform 28" id="28"/>
          <p:cNvSpPr/>
          <p:nvPr/>
        </p:nvSpPr>
        <p:spPr>
          <a:xfrm flipH="false" flipV="false" rot="0">
            <a:off x="6434198" y="4021393"/>
            <a:ext cx="2653680" cy="816973"/>
          </a:xfrm>
          <a:custGeom>
            <a:avLst/>
            <a:gdLst/>
            <a:ahLst/>
            <a:cxnLst/>
            <a:rect r="r" b="b" t="t" l="l"/>
            <a:pathLst>
              <a:path h="816973" w="2653680">
                <a:moveTo>
                  <a:pt x="0" y="0"/>
                </a:moveTo>
                <a:lnTo>
                  <a:pt x="2653681" y="0"/>
                </a:lnTo>
                <a:lnTo>
                  <a:pt x="2653681" y="816972"/>
                </a:lnTo>
                <a:lnTo>
                  <a:pt x="0" y="816972"/>
                </a:lnTo>
                <a:lnTo>
                  <a:pt x="0" y="0"/>
                </a:lnTo>
                <a:close/>
              </a:path>
            </a:pathLst>
          </a:custGeom>
          <a:blipFill>
            <a:blip r:embed="rId8"/>
            <a:stretch>
              <a:fillRect l="-3129" t="0" r="-4084" b="-15815"/>
            </a:stretch>
          </a:blipFill>
        </p:spPr>
      </p:sp>
      <p:grpSp>
        <p:nvGrpSpPr>
          <p:cNvPr name="Group 29" id="29"/>
          <p:cNvGrpSpPr/>
          <p:nvPr/>
        </p:nvGrpSpPr>
        <p:grpSpPr>
          <a:xfrm rot="0">
            <a:off x="10154511" y="8536022"/>
            <a:ext cx="2262473" cy="637512"/>
            <a:chOff x="0" y="0"/>
            <a:chExt cx="595878" cy="167904"/>
          </a:xfrm>
        </p:grpSpPr>
        <p:sp>
          <p:nvSpPr>
            <p:cNvPr name="Freeform 30" id="30"/>
            <p:cNvSpPr/>
            <p:nvPr/>
          </p:nvSpPr>
          <p:spPr>
            <a:xfrm flipH="false" flipV="false" rot="0">
              <a:off x="0" y="0"/>
              <a:ext cx="595878" cy="167904"/>
            </a:xfrm>
            <a:custGeom>
              <a:avLst/>
              <a:gdLst/>
              <a:ahLst/>
              <a:cxnLst/>
              <a:rect r="r" b="b" t="t" l="l"/>
              <a:pathLst>
                <a:path h="167904" w="595878">
                  <a:moveTo>
                    <a:pt x="83952" y="0"/>
                  </a:moveTo>
                  <a:lnTo>
                    <a:pt x="511925" y="0"/>
                  </a:lnTo>
                  <a:cubicBezTo>
                    <a:pt x="534191" y="0"/>
                    <a:pt x="555544" y="8845"/>
                    <a:pt x="571289" y="24589"/>
                  </a:cubicBezTo>
                  <a:cubicBezTo>
                    <a:pt x="587033" y="40333"/>
                    <a:pt x="595878" y="61687"/>
                    <a:pt x="595878" y="83952"/>
                  </a:cubicBezTo>
                  <a:lnTo>
                    <a:pt x="595878" y="83952"/>
                  </a:lnTo>
                  <a:cubicBezTo>
                    <a:pt x="595878" y="130318"/>
                    <a:pt x="558291" y="167904"/>
                    <a:pt x="511925" y="167904"/>
                  </a:cubicBezTo>
                  <a:lnTo>
                    <a:pt x="83952" y="167904"/>
                  </a:lnTo>
                  <a:cubicBezTo>
                    <a:pt x="37587" y="167904"/>
                    <a:pt x="0" y="130318"/>
                    <a:pt x="0" y="83952"/>
                  </a:cubicBezTo>
                  <a:lnTo>
                    <a:pt x="0" y="83952"/>
                  </a:lnTo>
                  <a:cubicBezTo>
                    <a:pt x="0" y="37587"/>
                    <a:pt x="37587" y="0"/>
                    <a:pt x="83952" y="0"/>
                  </a:cubicBezTo>
                  <a:close/>
                </a:path>
              </a:pathLst>
            </a:custGeom>
            <a:solidFill>
              <a:srgbClr val="FFFFFF"/>
            </a:solidFill>
            <a:ln w="19050" cap="rnd">
              <a:solidFill>
                <a:srgbClr val="0B1E36"/>
              </a:solidFill>
              <a:prstDash val="solid"/>
              <a:round/>
            </a:ln>
          </p:spPr>
        </p:sp>
        <p:sp>
          <p:nvSpPr>
            <p:cNvPr name="TextBox 31" id="31"/>
            <p:cNvSpPr txBox="true"/>
            <p:nvPr/>
          </p:nvSpPr>
          <p:spPr>
            <a:xfrm>
              <a:off x="0" y="-38100"/>
              <a:ext cx="595878" cy="206004"/>
            </a:xfrm>
            <a:prstGeom prst="rect">
              <a:avLst/>
            </a:prstGeom>
          </p:spPr>
          <p:txBody>
            <a:bodyPr anchor="ctr" rtlCol="false" tIns="50800" lIns="50800" bIns="50800" rIns="50800"/>
            <a:lstStyle/>
            <a:p>
              <a:pPr algn="ctr">
                <a:lnSpc>
                  <a:spcPts val="2659"/>
                </a:lnSpc>
              </a:pPr>
              <a:r>
                <a:rPr lang="en-US" b="true" sz="1899">
                  <a:solidFill>
                    <a:srgbClr val="000000"/>
                  </a:solidFill>
                  <a:latin typeface="Bricolage Grotesque Bold"/>
                  <a:ea typeface="Bricolage Grotesque Bold"/>
                  <a:cs typeface="Bricolage Grotesque Bold"/>
                  <a:sym typeface="Bricolage Grotesque Bold"/>
                </a:rPr>
                <a:t>0.06776 RMSE</a:t>
              </a:r>
            </a:p>
          </p:txBody>
        </p:sp>
      </p:grpSp>
      <p:sp>
        <p:nvSpPr>
          <p:cNvPr name="TextBox 32" id="32"/>
          <p:cNvSpPr txBox="true"/>
          <p:nvPr/>
        </p:nvSpPr>
        <p:spPr>
          <a:xfrm rot="0">
            <a:off x="13617249" y="8396923"/>
            <a:ext cx="1524178" cy="198104"/>
          </a:xfrm>
          <a:prstGeom prst="rect">
            <a:avLst/>
          </a:prstGeom>
        </p:spPr>
        <p:txBody>
          <a:bodyPr anchor="t" rtlCol="false" tIns="0" lIns="0" bIns="0" rIns="0">
            <a:spAutoFit/>
          </a:bodyPr>
          <a:lstStyle/>
          <a:p>
            <a:pPr algn="l" marL="0" indent="0" lvl="0">
              <a:lnSpc>
                <a:spcPts val="1680"/>
              </a:lnSpc>
              <a:spcBef>
                <a:spcPct val="0"/>
              </a:spcBef>
            </a:pPr>
            <a:r>
              <a:rPr lang="en-US" sz="1200" spc="30">
                <a:solidFill>
                  <a:srgbClr val="FFFFFF"/>
                </a:solidFill>
                <a:latin typeface="Bricolage Grotesque"/>
                <a:ea typeface="Bricolage Grotesque"/>
                <a:cs typeface="Bricolage Grotesque"/>
                <a:sym typeface="Bricolage Grotesque"/>
              </a:rPr>
              <a:t>Visit Here</a:t>
            </a:r>
          </a:p>
        </p:txBody>
      </p:sp>
      <p:grpSp>
        <p:nvGrpSpPr>
          <p:cNvPr name="Group 33" id="33"/>
          <p:cNvGrpSpPr/>
          <p:nvPr/>
        </p:nvGrpSpPr>
        <p:grpSpPr>
          <a:xfrm rot="0">
            <a:off x="12843232" y="8559451"/>
            <a:ext cx="2262473" cy="637512"/>
            <a:chOff x="0" y="0"/>
            <a:chExt cx="595878" cy="167904"/>
          </a:xfrm>
        </p:grpSpPr>
        <p:sp>
          <p:nvSpPr>
            <p:cNvPr name="Freeform 34" id="34"/>
            <p:cNvSpPr/>
            <p:nvPr/>
          </p:nvSpPr>
          <p:spPr>
            <a:xfrm flipH="false" flipV="false" rot="0">
              <a:off x="0" y="0"/>
              <a:ext cx="595878" cy="167904"/>
            </a:xfrm>
            <a:custGeom>
              <a:avLst/>
              <a:gdLst/>
              <a:ahLst/>
              <a:cxnLst/>
              <a:rect r="r" b="b" t="t" l="l"/>
              <a:pathLst>
                <a:path h="167904" w="595878">
                  <a:moveTo>
                    <a:pt x="83952" y="0"/>
                  </a:moveTo>
                  <a:lnTo>
                    <a:pt x="511925" y="0"/>
                  </a:lnTo>
                  <a:cubicBezTo>
                    <a:pt x="534191" y="0"/>
                    <a:pt x="555544" y="8845"/>
                    <a:pt x="571289" y="24589"/>
                  </a:cubicBezTo>
                  <a:cubicBezTo>
                    <a:pt x="587033" y="40333"/>
                    <a:pt x="595878" y="61687"/>
                    <a:pt x="595878" y="83952"/>
                  </a:cubicBezTo>
                  <a:lnTo>
                    <a:pt x="595878" y="83952"/>
                  </a:lnTo>
                  <a:cubicBezTo>
                    <a:pt x="595878" y="130318"/>
                    <a:pt x="558291" y="167904"/>
                    <a:pt x="511925" y="167904"/>
                  </a:cubicBezTo>
                  <a:lnTo>
                    <a:pt x="83952" y="167904"/>
                  </a:lnTo>
                  <a:cubicBezTo>
                    <a:pt x="37587" y="167904"/>
                    <a:pt x="0" y="130318"/>
                    <a:pt x="0" y="83952"/>
                  </a:cubicBezTo>
                  <a:lnTo>
                    <a:pt x="0" y="83952"/>
                  </a:lnTo>
                  <a:cubicBezTo>
                    <a:pt x="0" y="37587"/>
                    <a:pt x="37587" y="0"/>
                    <a:pt x="83952" y="0"/>
                  </a:cubicBezTo>
                  <a:close/>
                </a:path>
              </a:pathLst>
            </a:custGeom>
            <a:solidFill>
              <a:srgbClr val="FFFFFF"/>
            </a:solidFill>
            <a:ln w="19050" cap="rnd">
              <a:solidFill>
                <a:srgbClr val="0B1E36"/>
              </a:solidFill>
              <a:prstDash val="solid"/>
              <a:round/>
            </a:ln>
          </p:spPr>
        </p:sp>
        <p:sp>
          <p:nvSpPr>
            <p:cNvPr name="TextBox 35" id="35"/>
            <p:cNvSpPr txBox="true"/>
            <p:nvPr/>
          </p:nvSpPr>
          <p:spPr>
            <a:xfrm>
              <a:off x="0" y="-38100"/>
              <a:ext cx="595878" cy="206004"/>
            </a:xfrm>
            <a:prstGeom prst="rect">
              <a:avLst/>
            </a:prstGeom>
          </p:spPr>
          <p:txBody>
            <a:bodyPr anchor="ctr" rtlCol="false" tIns="50800" lIns="50800" bIns="50800" rIns="50800"/>
            <a:lstStyle/>
            <a:p>
              <a:pPr algn="ctr">
                <a:lnSpc>
                  <a:spcPts val="2659"/>
                </a:lnSpc>
              </a:pPr>
              <a:r>
                <a:rPr lang="en-US" b="true" sz="1899">
                  <a:solidFill>
                    <a:srgbClr val="000000"/>
                  </a:solidFill>
                  <a:latin typeface="Bricolage Grotesque Bold"/>
                  <a:ea typeface="Bricolage Grotesque Bold"/>
                  <a:cs typeface="Bricolage Grotesque Bold"/>
                  <a:sym typeface="Bricolage Grotesque Bold"/>
                </a:rPr>
                <a:t>30-GBDT Stacking</a:t>
              </a:r>
            </a:p>
          </p:txBody>
        </p:sp>
      </p:grpSp>
      <p:grpSp>
        <p:nvGrpSpPr>
          <p:cNvPr name="Group 36" id="36"/>
          <p:cNvGrpSpPr/>
          <p:nvPr/>
        </p:nvGrpSpPr>
        <p:grpSpPr>
          <a:xfrm rot="0">
            <a:off x="15531952" y="8528301"/>
            <a:ext cx="2262473" cy="637512"/>
            <a:chOff x="0" y="0"/>
            <a:chExt cx="595878" cy="167904"/>
          </a:xfrm>
        </p:grpSpPr>
        <p:sp>
          <p:nvSpPr>
            <p:cNvPr name="Freeform 37" id="37"/>
            <p:cNvSpPr/>
            <p:nvPr/>
          </p:nvSpPr>
          <p:spPr>
            <a:xfrm flipH="false" flipV="false" rot="0">
              <a:off x="0" y="0"/>
              <a:ext cx="595878" cy="167904"/>
            </a:xfrm>
            <a:custGeom>
              <a:avLst/>
              <a:gdLst/>
              <a:ahLst/>
              <a:cxnLst/>
              <a:rect r="r" b="b" t="t" l="l"/>
              <a:pathLst>
                <a:path h="167904" w="595878">
                  <a:moveTo>
                    <a:pt x="83952" y="0"/>
                  </a:moveTo>
                  <a:lnTo>
                    <a:pt x="511925" y="0"/>
                  </a:lnTo>
                  <a:cubicBezTo>
                    <a:pt x="534191" y="0"/>
                    <a:pt x="555544" y="8845"/>
                    <a:pt x="571289" y="24589"/>
                  </a:cubicBezTo>
                  <a:cubicBezTo>
                    <a:pt x="587033" y="40333"/>
                    <a:pt x="595878" y="61687"/>
                    <a:pt x="595878" y="83952"/>
                  </a:cubicBezTo>
                  <a:lnTo>
                    <a:pt x="595878" y="83952"/>
                  </a:lnTo>
                  <a:cubicBezTo>
                    <a:pt x="595878" y="130318"/>
                    <a:pt x="558291" y="167904"/>
                    <a:pt x="511925" y="167904"/>
                  </a:cubicBezTo>
                  <a:lnTo>
                    <a:pt x="83952" y="167904"/>
                  </a:lnTo>
                  <a:cubicBezTo>
                    <a:pt x="37587" y="167904"/>
                    <a:pt x="0" y="130318"/>
                    <a:pt x="0" y="83952"/>
                  </a:cubicBezTo>
                  <a:lnTo>
                    <a:pt x="0" y="83952"/>
                  </a:lnTo>
                  <a:cubicBezTo>
                    <a:pt x="0" y="37587"/>
                    <a:pt x="37587" y="0"/>
                    <a:pt x="83952" y="0"/>
                  </a:cubicBezTo>
                  <a:close/>
                </a:path>
              </a:pathLst>
            </a:custGeom>
            <a:solidFill>
              <a:srgbClr val="FFFFFF"/>
            </a:solidFill>
            <a:ln w="19050" cap="rnd">
              <a:solidFill>
                <a:srgbClr val="0B1E36"/>
              </a:solidFill>
              <a:prstDash val="solid"/>
              <a:round/>
            </a:ln>
          </p:spPr>
        </p:sp>
        <p:sp>
          <p:nvSpPr>
            <p:cNvPr name="TextBox 38" id="38"/>
            <p:cNvSpPr txBox="true"/>
            <p:nvPr/>
          </p:nvSpPr>
          <p:spPr>
            <a:xfrm>
              <a:off x="0" y="-38100"/>
              <a:ext cx="595878" cy="206004"/>
            </a:xfrm>
            <a:prstGeom prst="rect">
              <a:avLst/>
            </a:prstGeom>
          </p:spPr>
          <p:txBody>
            <a:bodyPr anchor="ctr" rtlCol="false" tIns="50800" lIns="50800" bIns="50800" rIns="50800"/>
            <a:lstStyle/>
            <a:p>
              <a:pPr algn="ctr">
                <a:lnSpc>
                  <a:spcPts val="2659"/>
                </a:lnSpc>
              </a:pPr>
              <a:r>
                <a:rPr lang="en-US" b="true" sz="1899">
                  <a:solidFill>
                    <a:srgbClr val="000000"/>
                  </a:solidFill>
                  <a:latin typeface="Bricolage Grotesque Bold"/>
                  <a:ea typeface="Bricolage Grotesque Bold"/>
                  <a:cs typeface="Bricolage Grotesque Bold"/>
                  <a:sym typeface="Bricolage Grotesque Bold"/>
                </a:rPr>
                <a:t>SDGs 7,9, &amp; 13</a:t>
              </a:r>
            </a:p>
          </p:txBody>
        </p:sp>
      </p:grpSp>
      <p:sp>
        <p:nvSpPr>
          <p:cNvPr name="TextBox 39" id="39"/>
          <p:cNvSpPr txBox="true"/>
          <p:nvPr/>
        </p:nvSpPr>
        <p:spPr>
          <a:xfrm rot="0">
            <a:off x="10226750" y="1907825"/>
            <a:ext cx="7954983" cy="2113567"/>
          </a:xfrm>
          <a:prstGeom prst="rect">
            <a:avLst/>
          </a:prstGeom>
        </p:spPr>
        <p:txBody>
          <a:bodyPr anchor="t" rtlCol="false" tIns="0" lIns="0" bIns="0" rIns="0">
            <a:spAutoFit/>
          </a:bodyPr>
          <a:lstStyle/>
          <a:p>
            <a:pPr algn="l">
              <a:lnSpc>
                <a:spcPts val="8113"/>
              </a:lnSpc>
            </a:pPr>
            <a:r>
              <a:rPr lang="en-US" sz="8113">
                <a:solidFill>
                  <a:srgbClr val="112752"/>
                </a:solidFill>
                <a:latin typeface="Rubik One"/>
                <a:ea typeface="Rubik One"/>
                <a:cs typeface="Rubik One"/>
                <a:sym typeface="Rubik One"/>
              </a:rPr>
              <a:t>Thank You! &amp; QNA SESSION</a:t>
            </a:r>
          </a:p>
        </p:txBody>
      </p:sp>
      <p:sp>
        <p:nvSpPr>
          <p:cNvPr name="TextBox 40" id="40"/>
          <p:cNvSpPr txBox="true"/>
          <p:nvPr/>
        </p:nvSpPr>
        <p:spPr>
          <a:xfrm rot="0">
            <a:off x="11222400" y="6598052"/>
            <a:ext cx="5963683" cy="1313181"/>
          </a:xfrm>
          <a:prstGeom prst="rect">
            <a:avLst/>
          </a:prstGeom>
        </p:spPr>
        <p:txBody>
          <a:bodyPr anchor="t" rtlCol="false" tIns="0" lIns="0" bIns="0" rIns="0">
            <a:spAutoFit/>
          </a:bodyPr>
          <a:lstStyle/>
          <a:p>
            <a:pPr algn="ctr">
              <a:lnSpc>
                <a:spcPts val="5319"/>
              </a:lnSpc>
            </a:pPr>
            <a:r>
              <a:rPr lang="en-US" b="true" sz="3799" spc="94">
                <a:solidFill>
                  <a:srgbClr val="0B132B"/>
                </a:solidFill>
                <a:latin typeface="Bricolage Grotesque Ultra-Bold"/>
                <a:ea typeface="Bricolage Grotesque Ultra-Bold"/>
                <a:cs typeface="Bricolage Grotesque Ultra-Bold"/>
                <a:sym typeface="Bricolage Grotesque Ultra-Bold"/>
              </a:rPr>
              <a:t>“Smart Charging, </a:t>
            </a:r>
          </a:p>
          <a:p>
            <a:pPr algn="ctr">
              <a:lnSpc>
                <a:spcPts val="5319"/>
              </a:lnSpc>
            </a:pPr>
            <a:r>
              <a:rPr lang="en-US" b="true" sz="3799" spc="94">
                <a:solidFill>
                  <a:srgbClr val="0B132B"/>
                </a:solidFill>
                <a:latin typeface="Bricolage Grotesque Ultra-Bold"/>
                <a:ea typeface="Bricolage Grotesque Ultra-Bold"/>
                <a:cs typeface="Bricolage Grotesque Ultra-Bold"/>
                <a:sym typeface="Bricolage Grotesque Ultra-Bold"/>
              </a:rPr>
              <a:t>Zero Waiting”</a:t>
            </a:r>
          </a:p>
        </p:txBody>
      </p:sp>
      <p:sp>
        <p:nvSpPr>
          <p:cNvPr name="TextBox 41" id="41"/>
          <p:cNvSpPr txBox="true"/>
          <p:nvPr/>
        </p:nvSpPr>
        <p:spPr>
          <a:xfrm rot="0">
            <a:off x="10596793" y="1287379"/>
            <a:ext cx="4528310" cy="273729"/>
          </a:xfrm>
          <a:prstGeom prst="rect">
            <a:avLst/>
          </a:prstGeom>
        </p:spPr>
        <p:txBody>
          <a:bodyPr anchor="t" rtlCol="false" tIns="0" lIns="0" bIns="0" rIns="0">
            <a:spAutoFit/>
          </a:bodyPr>
          <a:lstStyle/>
          <a:p>
            <a:pPr algn="l">
              <a:lnSpc>
                <a:spcPts val="2239"/>
              </a:lnSpc>
            </a:pPr>
            <a:r>
              <a:rPr lang="en-US" sz="1599" spc="39" b="true">
                <a:solidFill>
                  <a:srgbClr val="0B132B"/>
                </a:solidFill>
                <a:latin typeface="Bricolage Grotesque Bold"/>
                <a:ea typeface="Bricolage Grotesque Bold"/>
                <a:cs typeface="Bricolage Grotesque Bold"/>
                <a:sym typeface="Bricolage Grotesque Bold"/>
              </a:rPr>
              <a:t>ISFEST 2026 • DATA COMPETITION UMN</a:t>
            </a:r>
          </a:p>
        </p:txBody>
      </p:sp>
      <p:sp>
        <p:nvSpPr>
          <p:cNvPr name="TextBox 42" id="42"/>
          <p:cNvSpPr txBox="true"/>
          <p:nvPr/>
        </p:nvSpPr>
        <p:spPr>
          <a:xfrm rot="0">
            <a:off x="6534911" y="6609674"/>
            <a:ext cx="2419918" cy="281919"/>
          </a:xfrm>
          <a:prstGeom prst="rect">
            <a:avLst/>
          </a:prstGeom>
        </p:spPr>
        <p:txBody>
          <a:bodyPr anchor="t" rtlCol="false" tIns="0" lIns="0" bIns="0" rIns="0">
            <a:spAutoFit/>
          </a:bodyPr>
          <a:lstStyle/>
          <a:p>
            <a:pPr algn="ctr">
              <a:lnSpc>
                <a:spcPts val="2100"/>
              </a:lnSpc>
            </a:pPr>
            <a:r>
              <a:rPr lang="en-US" sz="2100">
                <a:solidFill>
                  <a:srgbClr val="112752"/>
                </a:solidFill>
                <a:latin typeface="Rubik One"/>
                <a:ea typeface="Rubik One"/>
                <a:cs typeface="Rubik One"/>
                <a:sym typeface="Rubik One"/>
              </a:rPr>
              <a:t>Live Forecast</a:t>
            </a:r>
          </a:p>
        </p:txBody>
      </p:sp>
      <p:sp>
        <p:nvSpPr>
          <p:cNvPr name="TextBox 43" id="43"/>
          <p:cNvSpPr txBox="true"/>
          <p:nvPr/>
        </p:nvSpPr>
        <p:spPr>
          <a:xfrm rot="0">
            <a:off x="6567519" y="7489359"/>
            <a:ext cx="2387039" cy="281919"/>
          </a:xfrm>
          <a:prstGeom prst="rect">
            <a:avLst/>
          </a:prstGeom>
        </p:spPr>
        <p:txBody>
          <a:bodyPr anchor="t" rtlCol="false" tIns="0" lIns="0" bIns="0" rIns="0">
            <a:spAutoFit/>
          </a:bodyPr>
          <a:lstStyle/>
          <a:p>
            <a:pPr algn="ctr">
              <a:lnSpc>
                <a:spcPts val="2100"/>
              </a:lnSpc>
            </a:pPr>
            <a:r>
              <a:rPr lang="en-US" sz="2100">
                <a:solidFill>
                  <a:srgbClr val="112752"/>
                </a:solidFill>
                <a:latin typeface="Rubik One"/>
                <a:ea typeface="Rubik One"/>
                <a:cs typeface="Rubik One"/>
                <a:sym typeface="Rubik One"/>
              </a:rPr>
              <a:t>Smart Routing</a:t>
            </a:r>
          </a:p>
        </p:txBody>
      </p:sp>
      <p:sp>
        <p:nvSpPr>
          <p:cNvPr name="TextBox 44" id="44"/>
          <p:cNvSpPr txBox="true"/>
          <p:nvPr/>
        </p:nvSpPr>
        <p:spPr>
          <a:xfrm rot="0">
            <a:off x="6613651" y="8364176"/>
            <a:ext cx="2294775" cy="281919"/>
          </a:xfrm>
          <a:prstGeom prst="rect">
            <a:avLst/>
          </a:prstGeom>
        </p:spPr>
        <p:txBody>
          <a:bodyPr anchor="t" rtlCol="false" tIns="0" lIns="0" bIns="0" rIns="0">
            <a:spAutoFit/>
          </a:bodyPr>
          <a:lstStyle/>
          <a:p>
            <a:pPr algn="ctr">
              <a:lnSpc>
                <a:spcPts val="2100"/>
              </a:lnSpc>
            </a:pPr>
            <a:r>
              <a:rPr lang="en-US" sz="2100">
                <a:solidFill>
                  <a:srgbClr val="112752"/>
                </a:solidFill>
                <a:latin typeface="Rubik One"/>
                <a:ea typeface="Rubik One"/>
                <a:cs typeface="Rubik One"/>
                <a:sym typeface="Rubik One"/>
              </a:rPr>
              <a:t>Pre-Condition</a:t>
            </a:r>
          </a:p>
        </p:txBody>
      </p:sp>
      <p:sp>
        <p:nvSpPr>
          <p:cNvPr name="TextBox 45" id="45"/>
          <p:cNvSpPr txBox="true"/>
          <p:nvPr/>
        </p:nvSpPr>
        <p:spPr>
          <a:xfrm rot="0">
            <a:off x="14877675" y="9322533"/>
            <a:ext cx="2381625" cy="240621"/>
          </a:xfrm>
          <a:prstGeom prst="rect">
            <a:avLst/>
          </a:prstGeom>
        </p:spPr>
        <p:txBody>
          <a:bodyPr anchor="t" rtlCol="false" tIns="0" lIns="0" bIns="0" rIns="0">
            <a:spAutoFit/>
          </a:bodyPr>
          <a:lstStyle/>
          <a:p>
            <a:pPr algn="r">
              <a:lnSpc>
                <a:spcPts val="1960"/>
              </a:lnSpc>
            </a:pPr>
            <a:r>
              <a:rPr lang="en-US" sz="1400" spc="35">
                <a:solidFill>
                  <a:srgbClr val="0B132B"/>
                </a:solidFill>
                <a:latin typeface="Bricolage Grotesque"/>
                <a:ea typeface="Bricolage Grotesque"/>
                <a:cs typeface="Bricolage Grotesque"/>
                <a:sym typeface="Bricolage Grotesque"/>
              </a:rPr>
              <a:t>Page - 28</a:t>
            </a:r>
          </a:p>
        </p:txBody>
      </p:sp>
      <p:grpSp>
        <p:nvGrpSpPr>
          <p:cNvPr name="Group 46" id="46"/>
          <p:cNvGrpSpPr/>
          <p:nvPr/>
        </p:nvGrpSpPr>
        <p:grpSpPr>
          <a:xfrm rot="0">
            <a:off x="10452841" y="4221418"/>
            <a:ext cx="2176999" cy="1611025"/>
            <a:chOff x="0" y="0"/>
            <a:chExt cx="257783" cy="190765"/>
          </a:xfrm>
        </p:grpSpPr>
        <p:sp>
          <p:nvSpPr>
            <p:cNvPr name="Freeform 47" id="47"/>
            <p:cNvSpPr/>
            <p:nvPr/>
          </p:nvSpPr>
          <p:spPr>
            <a:xfrm flipH="false" flipV="false" rot="0">
              <a:off x="0" y="0"/>
              <a:ext cx="257783" cy="190765"/>
            </a:xfrm>
            <a:custGeom>
              <a:avLst/>
              <a:gdLst/>
              <a:ahLst/>
              <a:cxnLst/>
              <a:rect r="r" b="b" t="t" l="l"/>
              <a:pathLst>
                <a:path h="190765" w="257783">
                  <a:moveTo>
                    <a:pt x="35562" y="0"/>
                  </a:moveTo>
                  <a:lnTo>
                    <a:pt x="222221" y="0"/>
                  </a:lnTo>
                  <a:cubicBezTo>
                    <a:pt x="241861" y="0"/>
                    <a:pt x="257783" y="15922"/>
                    <a:pt x="257783" y="35562"/>
                  </a:cubicBezTo>
                  <a:lnTo>
                    <a:pt x="257783" y="155203"/>
                  </a:lnTo>
                  <a:cubicBezTo>
                    <a:pt x="257783" y="164634"/>
                    <a:pt x="254036" y="173680"/>
                    <a:pt x="247367" y="180349"/>
                  </a:cubicBezTo>
                  <a:cubicBezTo>
                    <a:pt x="240698" y="187018"/>
                    <a:pt x="231652" y="190765"/>
                    <a:pt x="222221" y="190765"/>
                  </a:cubicBezTo>
                  <a:lnTo>
                    <a:pt x="35562" y="190765"/>
                  </a:lnTo>
                  <a:cubicBezTo>
                    <a:pt x="15922" y="190765"/>
                    <a:pt x="0" y="174843"/>
                    <a:pt x="0" y="155203"/>
                  </a:cubicBezTo>
                  <a:lnTo>
                    <a:pt x="0" y="35562"/>
                  </a:lnTo>
                  <a:cubicBezTo>
                    <a:pt x="0" y="15922"/>
                    <a:pt x="15922" y="0"/>
                    <a:pt x="35562" y="0"/>
                  </a:cubicBezTo>
                  <a:close/>
                </a:path>
              </a:pathLst>
            </a:custGeom>
            <a:ln w="19050" cap="sq">
              <a:solidFill>
                <a:srgbClr val="00B58F"/>
              </a:solidFill>
              <a:prstDash val="solid"/>
              <a:miter/>
            </a:ln>
          </p:spPr>
        </p:sp>
        <p:sp>
          <p:nvSpPr>
            <p:cNvPr name="TextBox 48" id="48"/>
            <p:cNvSpPr txBox="true"/>
            <p:nvPr/>
          </p:nvSpPr>
          <p:spPr>
            <a:xfrm>
              <a:off x="0" y="-38100"/>
              <a:ext cx="257783" cy="228865"/>
            </a:xfrm>
            <a:prstGeom prst="rect">
              <a:avLst/>
            </a:prstGeom>
          </p:spPr>
          <p:txBody>
            <a:bodyPr anchor="ctr" rtlCol="false" tIns="59484" lIns="59484" bIns="59484" rIns="59484"/>
            <a:lstStyle/>
            <a:p>
              <a:pPr algn="ctr">
                <a:lnSpc>
                  <a:spcPts val="2659"/>
                </a:lnSpc>
                <a:spcBef>
                  <a:spcPct val="0"/>
                </a:spcBef>
              </a:pPr>
            </a:p>
          </p:txBody>
        </p:sp>
      </p:grpSp>
      <p:grpSp>
        <p:nvGrpSpPr>
          <p:cNvPr name="Group 49" id="49"/>
          <p:cNvGrpSpPr/>
          <p:nvPr/>
        </p:nvGrpSpPr>
        <p:grpSpPr>
          <a:xfrm rot="0">
            <a:off x="10637518" y="4396471"/>
            <a:ext cx="2370366" cy="1759054"/>
            <a:chOff x="0" y="0"/>
            <a:chExt cx="1095267" cy="812800"/>
          </a:xfrm>
        </p:grpSpPr>
        <p:sp>
          <p:nvSpPr>
            <p:cNvPr name="Freeform 50" id="50"/>
            <p:cNvSpPr/>
            <p:nvPr/>
          </p:nvSpPr>
          <p:spPr>
            <a:xfrm flipH="false" flipV="false" rot="0">
              <a:off x="0" y="0"/>
              <a:ext cx="1095267" cy="812800"/>
            </a:xfrm>
            <a:custGeom>
              <a:avLst/>
              <a:gdLst/>
              <a:ahLst/>
              <a:cxnLst/>
              <a:rect r="r" b="b" t="t" l="l"/>
              <a:pathLst>
                <a:path h="812800" w="1095267">
                  <a:moveTo>
                    <a:pt x="75121" y="0"/>
                  </a:moveTo>
                  <a:lnTo>
                    <a:pt x="1020146" y="0"/>
                  </a:lnTo>
                  <a:cubicBezTo>
                    <a:pt x="1061634" y="0"/>
                    <a:pt x="1095267" y="33633"/>
                    <a:pt x="1095267" y="75121"/>
                  </a:cubicBezTo>
                  <a:lnTo>
                    <a:pt x="1095267" y="737679"/>
                  </a:lnTo>
                  <a:cubicBezTo>
                    <a:pt x="1095267" y="757602"/>
                    <a:pt x="1087353" y="776710"/>
                    <a:pt x="1073265" y="790798"/>
                  </a:cubicBezTo>
                  <a:cubicBezTo>
                    <a:pt x="1059177" y="804886"/>
                    <a:pt x="1040069" y="812800"/>
                    <a:pt x="1020146" y="812800"/>
                  </a:cubicBezTo>
                  <a:lnTo>
                    <a:pt x="75121" y="812800"/>
                  </a:lnTo>
                  <a:cubicBezTo>
                    <a:pt x="55198" y="812800"/>
                    <a:pt x="36090" y="804886"/>
                    <a:pt x="22002" y="790798"/>
                  </a:cubicBezTo>
                  <a:cubicBezTo>
                    <a:pt x="7915" y="776710"/>
                    <a:pt x="0" y="757602"/>
                    <a:pt x="0" y="737679"/>
                  </a:cubicBezTo>
                  <a:lnTo>
                    <a:pt x="0" y="75121"/>
                  </a:lnTo>
                  <a:cubicBezTo>
                    <a:pt x="0" y="55198"/>
                    <a:pt x="7915" y="36090"/>
                    <a:pt x="22002" y="22002"/>
                  </a:cubicBezTo>
                  <a:cubicBezTo>
                    <a:pt x="36090" y="7915"/>
                    <a:pt x="55198" y="0"/>
                    <a:pt x="75121" y="0"/>
                  </a:cubicBezTo>
                  <a:close/>
                </a:path>
              </a:pathLst>
            </a:custGeom>
            <a:blipFill>
              <a:blip r:embed="rId9"/>
              <a:stretch>
                <a:fillRect l="-48243" t="-42499" r="-87188" b="-36151"/>
              </a:stretch>
            </a:blipFill>
          </p:spPr>
        </p:sp>
      </p:grpSp>
      <p:sp>
        <p:nvSpPr>
          <p:cNvPr name="TextBox 51" id="51"/>
          <p:cNvSpPr txBox="true"/>
          <p:nvPr/>
        </p:nvSpPr>
        <p:spPr>
          <a:xfrm rot="0">
            <a:off x="13364544" y="4154743"/>
            <a:ext cx="4429881" cy="553115"/>
          </a:xfrm>
          <a:prstGeom prst="rect">
            <a:avLst/>
          </a:prstGeom>
        </p:spPr>
        <p:txBody>
          <a:bodyPr anchor="t" rtlCol="false" tIns="0" lIns="0" bIns="0" rIns="0">
            <a:spAutoFit/>
          </a:bodyPr>
          <a:lstStyle/>
          <a:p>
            <a:pPr algn="l">
              <a:lnSpc>
                <a:spcPts val="4563"/>
              </a:lnSpc>
            </a:pPr>
            <a:r>
              <a:rPr lang="en-US" sz="3259" spc="81" b="true">
                <a:solidFill>
                  <a:srgbClr val="0B132B"/>
                </a:solidFill>
                <a:latin typeface="Bricolage Grotesque Bold"/>
                <a:ea typeface="Bricolage Grotesque Bold"/>
                <a:cs typeface="Bricolage Grotesque Bold"/>
                <a:sym typeface="Bricolage Grotesque Bold"/>
              </a:rPr>
              <a:t>MAKAN ITU PENTING</a:t>
            </a:r>
          </a:p>
        </p:txBody>
      </p:sp>
      <p:sp>
        <p:nvSpPr>
          <p:cNvPr name="TextBox 52" id="52"/>
          <p:cNvSpPr txBox="true"/>
          <p:nvPr/>
        </p:nvSpPr>
        <p:spPr>
          <a:xfrm rot="0">
            <a:off x="13367348" y="4712875"/>
            <a:ext cx="3265092" cy="421975"/>
          </a:xfrm>
          <a:prstGeom prst="rect">
            <a:avLst/>
          </a:prstGeom>
        </p:spPr>
        <p:txBody>
          <a:bodyPr anchor="t" rtlCol="false" tIns="0" lIns="0" bIns="0" rIns="0">
            <a:spAutoFit/>
          </a:bodyPr>
          <a:lstStyle/>
          <a:p>
            <a:pPr algn="l">
              <a:lnSpc>
                <a:spcPts val="3422"/>
              </a:lnSpc>
            </a:pPr>
            <a:r>
              <a:rPr lang="en-US" sz="2444" spc="61">
                <a:solidFill>
                  <a:srgbClr val="0B132B"/>
                </a:solidFill>
                <a:latin typeface="Bricolage Grotesque"/>
                <a:ea typeface="Bricolage Grotesque"/>
                <a:cs typeface="Bricolage Grotesque"/>
                <a:sym typeface="Bricolage Grotesque"/>
              </a:rPr>
              <a:t>Alfin Jayadi</a:t>
            </a:r>
          </a:p>
        </p:txBody>
      </p:sp>
      <p:sp>
        <p:nvSpPr>
          <p:cNvPr name="TextBox 53" id="53"/>
          <p:cNvSpPr txBox="true"/>
          <p:nvPr/>
        </p:nvSpPr>
        <p:spPr>
          <a:xfrm rot="0">
            <a:off x="13348085" y="5136781"/>
            <a:ext cx="3445132" cy="421975"/>
          </a:xfrm>
          <a:prstGeom prst="rect">
            <a:avLst/>
          </a:prstGeom>
        </p:spPr>
        <p:txBody>
          <a:bodyPr anchor="t" rtlCol="false" tIns="0" lIns="0" bIns="0" rIns="0">
            <a:spAutoFit/>
          </a:bodyPr>
          <a:lstStyle/>
          <a:p>
            <a:pPr algn="l">
              <a:lnSpc>
                <a:spcPts val="3422"/>
              </a:lnSpc>
            </a:pPr>
            <a:r>
              <a:rPr lang="en-US" sz="2444" spc="61">
                <a:solidFill>
                  <a:srgbClr val="0B132B"/>
                </a:solidFill>
                <a:latin typeface="Bricolage Grotesque"/>
                <a:ea typeface="Bricolage Grotesque"/>
                <a:cs typeface="Bricolage Grotesque"/>
                <a:sym typeface="Bricolage Grotesque"/>
              </a:rPr>
              <a:t>Muhammad Habib NA</a:t>
            </a:r>
          </a:p>
        </p:txBody>
      </p:sp>
      <p:sp>
        <p:nvSpPr>
          <p:cNvPr name="TextBox 54" id="54"/>
          <p:cNvSpPr txBox="true"/>
          <p:nvPr/>
        </p:nvSpPr>
        <p:spPr>
          <a:xfrm rot="0">
            <a:off x="13367348" y="5571831"/>
            <a:ext cx="3265092" cy="422005"/>
          </a:xfrm>
          <a:prstGeom prst="rect">
            <a:avLst/>
          </a:prstGeom>
        </p:spPr>
        <p:txBody>
          <a:bodyPr anchor="t" rtlCol="false" tIns="0" lIns="0" bIns="0" rIns="0">
            <a:spAutoFit/>
          </a:bodyPr>
          <a:lstStyle/>
          <a:p>
            <a:pPr algn="l">
              <a:lnSpc>
                <a:spcPts val="3422"/>
              </a:lnSpc>
            </a:pPr>
            <a:r>
              <a:rPr lang="en-US" sz="2444" spc="61">
                <a:solidFill>
                  <a:srgbClr val="0B132B"/>
                </a:solidFill>
                <a:latin typeface="Bricolage Grotesque"/>
                <a:ea typeface="Bricolage Grotesque"/>
                <a:cs typeface="Bricolage Grotesque"/>
                <a:sym typeface="Bricolage Grotesque"/>
              </a:rPr>
              <a:t>Rizki Piji Fathoni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DAHV1nOo0lw</dc:identifier>
  <dcterms:modified xsi:type="dcterms:W3CDTF">2011-08-01T06:04:30Z</dcterms:modified>
  <cp:revision>1</cp:revision>
  <dc:title>MAKAN ITU PENTING_Penyisihan_Datcom</dc:title>
</cp:coreProperties>
</file>